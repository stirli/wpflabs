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9" d="100"/>
          <a:sy n="89" d="100"/>
        </p:scale>
        <p:origin x="-1099" y="-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96C48-5035-49D5-8122-722B8145B125}" type="datetimeFigureOut">
              <a:rPr lang="ru-RU" smtClean="0"/>
              <a:t>02.11.2016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DFA33-CF0B-4286-B8DB-E70563CFE3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6329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96C48-5035-49D5-8122-722B8145B125}" type="datetimeFigureOut">
              <a:rPr lang="ru-RU" smtClean="0"/>
              <a:t>02.11.2016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DFA33-CF0B-4286-B8DB-E70563CFE3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4700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96C48-5035-49D5-8122-722B8145B125}" type="datetimeFigureOut">
              <a:rPr lang="ru-RU" smtClean="0"/>
              <a:t>02.11.2016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DFA33-CF0B-4286-B8DB-E70563CFE3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6827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96C48-5035-49D5-8122-722B8145B125}" type="datetimeFigureOut">
              <a:rPr lang="ru-RU" smtClean="0"/>
              <a:t>02.11.2016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DFA33-CF0B-4286-B8DB-E70563CFE3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1768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96C48-5035-49D5-8122-722B8145B125}" type="datetimeFigureOut">
              <a:rPr lang="ru-RU" smtClean="0"/>
              <a:t>02.11.2016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DFA33-CF0B-4286-B8DB-E70563CFE3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2664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96C48-5035-49D5-8122-722B8145B125}" type="datetimeFigureOut">
              <a:rPr lang="ru-RU" smtClean="0"/>
              <a:t>02.11.2016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DFA33-CF0B-4286-B8DB-E70563CFE3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5280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96C48-5035-49D5-8122-722B8145B125}" type="datetimeFigureOut">
              <a:rPr lang="ru-RU" smtClean="0"/>
              <a:t>02.11.2016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DFA33-CF0B-4286-B8DB-E70563CFE3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308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96C48-5035-49D5-8122-722B8145B125}" type="datetimeFigureOut">
              <a:rPr lang="ru-RU" smtClean="0"/>
              <a:t>02.11.2016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DFA33-CF0B-4286-B8DB-E70563CFE3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2476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96C48-5035-49D5-8122-722B8145B125}" type="datetimeFigureOut">
              <a:rPr lang="ru-RU" smtClean="0"/>
              <a:t>02.11.2016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DFA33-CF0B-4286-B8DB-E70563CFE3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7455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96C48-5035-49D5-8122-722B8145B125}" type="datetimeFigureOut">
              <a:rPr lang="ru-RU" smtClean="0"/>
              <a:t>02.11.2016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DFA33-CF0B-4286-B8DB-E70563CFE3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2163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96C48-5035-49D5-8122-722B8145B125}" type="datetimeFigureOut">
              <a:rPr lang="ru-RU" smtClean="0"/>
              <a:t>02.11.2016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DFA33-CF0B-4286-B8DB-E70563CFE3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621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196C48-5035-49D5-8122-722B8145B125}" type="datetimeFigureOut">
              <a:rPr lang="ru-RU" smtClean="0"/>
              <a:t>02.11.2016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DDFA33-CF0B-4286-B8DB-E70563CFE3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4753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/>
              <a:t>Работа с </a:t>
            </a:r>
            <a:r>
              <a:rPr lang="en-GB" b="1" dirty="0"/>
              <a:t>Entity </a:t>
            </a:r>
            <a:r>
              <a:rPr lang="en-GB" b="1" dirty="0" smtClean="0"/>
              <a:t>Framework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1701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Способы взаимодействия с БД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dirty="0" err="1" smtClean="0"/>
              <a:t>Database</a:t>
            </a:r>
            <a:r>
              <a:rPr lang="ru-RU" b="1" dirty="0" smtClean="0"/>
              <a:t> </a:t>
            </a:r>
            <a:r>
              <a:rPr lang="ru-RU" b="1" dirty="0" err="1"/>
              <a:t>first</a:t>
            </a:r>
            <a:r>
              <a:rPr lang="ru-RU" dirty="0"/>
              <a:t>: </a:t>
            </a:r>
            <a:r>
              <a:rPr lang="ru-RU" dirty="0" err="1"/>
              <a:t>Entity</a:t>
            </a:r>
            <a:r>
              <a:rPr lang="ru-RU" dirty="0"/>
              <a:t> </a:t>
            </a:r>
            <a:r>
              <a:rPr lang="ru-RU" dirty="0" err="1"/>
              <a:t>Framework</a:t>
            </a:r>
            <a:r>
              <a:rPr lang="ru-RU" dirty="0"/>
              <a:t> создает набор классов, которые отражают модель конкретной базы данных</a:t>
            </a:r>
          </a:p>
          <a:p>
            <a:r>
              <a:rPr lang="ru-RU" b="1" dirty="0" err="1"/>
              <a:t>Model</a:t>
            </a:r>
            <a:r>
              <a:rPr lang="ru-RU" b="1" dirty="0"/>
              <a:t> </a:t>
            </a:r>
            <a:r>
              <a:rPr lang="ru-RU" b="1" dirty="0" err="1"/>
              <a:t>first</a:t>
            </a:r>
            <a:r>
              <a:rPr lang="ru-RU" dirty="0"/>
              <a:t>: сначала разработчик создает модель базы данных, по которой затем </a:t>
            </a:r>
            <a:r>
              <a:rPr lang="ru-RU" dirty="0" err="1"/>
              <a:t>Entity</a:t>
            </a:r>
            <a:r>
              <a:rPr lang="ru-RU" dirty="0"/>
              <a:t> </a:t>
            </a:r>
            <a:r>
              <a:rPr lang="ru-RU" dirty="0" err="1"/>
              <a:t>Framework</a:t>
            </a:r>
            <a:r>
              <a:rPr lang="ru-RU" dirty="0"/>
              <a:t> создает реальную базу данных на сервере.</a:t>
            </a:r>
          </a:p>
          <a:p>
            <a:r>
              <a:rPr lang="ru-RU" b="1" dirty="0" err="1"/>
              <a:t>Code</a:t>
            </a:r>
            <a:r>
              <a:rPr lang="ru-RU" b="1" dirty="0"/>
              <a:t> </a:t>
            </a:r>
            <a:r>
              <a:rPr lang="ru-RU" b="1" dirty="0" err="1"/>
              <a:t>first</a:t>
            </a:r>
            <a:r>
              <a:rPr lang="ru-RU" dirty="0"/>
              <a:t>: разработчик создает класс модели данных, которые будут храниться в </a:t>
            </a:r>
            <a:r>
              <a:rPr lang="ru-RU" dirty="0" smtClean="0"/>
              <a:t>БД, </a:t>
            </a:r>
            <a:r>
              <a:rPr lang="ru-RU" dirty="0"/>
              <a:t>а затем </a:t>
            </a:r>
            <a:r>
              <a:rPr lang="ru-RU" dirty="0" err="1"/>
              <a:t>Entity</a:t>
            </a:r>
            <a:r>
              <a:rPr lang="ru-RU" dirty="0"/>
              <a:t> </a:t>
            </a:r>
            <a:r>
              <a:rPr lang="ru-RU" dirty="0" err="1"/>
              <a:t>Framework</a:t>
            </a:r>
            <a:r>
              <a:rPr lang="ru-RU" dirty="0"/>
              <a:t> по этой модели генерирует базу данных и ее таблицы</a:t>
            </a:r>
          </a:p>
        </p:txBody>
      </p:sp>
    </p:spTree>
    <p:extLst>
      <p:ext uri="{BB962C8B-B14F-4D97-AF65-F5344CB8AC3E}">
        <p14:creationId xmlns:p14="http://schemas.microsoft.com/office/powerpoint/2010/main" val="4258014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Autofit/>
          </a:bodyPr>
          <a:lstStyle/>
          <a:p>
            <a:r>
              <a:rPr lang="ru-RU" sz="2800" b="1" dirty="0" smtClean="0"/>
              <a:t>Совместимые с </a:t>
            </a:r>
            <a:r>
              <a:rPr lang="ru-RU" sz="2800" b="1" dirty="0" err="1" smtClean="0"/>
              <a:t>Entity</a:t>
            </a:r>
            <a:r>
              <a:rPr lang="ru-RU" sz="2800" b="1" dirty="0" smtClean="0"/>
              <a:t> </a:t>
            </a:r>
            <a:r>
              <a:rPr lang="ru-RU" sz="2800" b="1" dirty="0" err="1" smtClean="0"/>
              <a:t>Framework</a:t>
            </a:r>
            <a:r>
              <a:rPr lang="ru-RU" sz="2800" b="1" dirty="0" smtClean="0"/>
              <a:t> поставщики данных</a:t>
            </a:r>
            <a:endParaRPr lang="ru-RU" sz="2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196752"/>
            <a:ext cx="8784976" cy="5400600"/>
          </a:xfrm>
        </p:spPr>
        <p:txBody>
          <a:bodyPr>
            <a:normAutofit fontScale="55000" lnSpcReduction="20000"/>
          </a:bodyPr>
          <a:lstStyle/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ru-RU" b="1" i="1" dirty="0" smtClean="0"/>
              <a:t>Поставщики </a:t>
            </a:r>
            <a:r>
              <a:rPr lang="ru-RU" b="1" i="1" dirty="0"/>
              <a:t>данных (</a:t>
            </a:r>
            <a:r>
              <a:rPr lang="ru-RU" b="1" i="1" dirty="0" err="1"/>
              <a:t>data</a:t>
            </a:r>
            <a:r>
              <a:rPr lang="ru-RU" b="1" i="1" dirty="0"/>
              <a:t> </a:t>
            </a:r>
            <a:r>
              <a:rPr lang="ru-RU" b="1" i="1" dirty="0" err="1"/>
              <a:t>providers</a:t>
            </a:r>
            <a:r>
              <a:rPr lang="ru-RU" b="1" i="1" dirty="0"/>
              <a:t>)</a:t>
            </a:r>
            <a:r>
              <a:rPr lang="ru-RU" dirty="0"/>
              <a:t> организуют взаимодействие между сущностными классами и системой управления базами данных (</a:t>
            </a:r>
            <a:r>
              <a:rPr lang="ru-RU" dirty="0" smtClean="0"/>
              <a:t>СУБД) (например</a:t>
            </a:r>
            <a:r>
              <a:rPr lang="ru-RU" dirty="0"/>
              <a:t>, какой код C# нужно сгенерировать из базы данных при использовании подхода </a:t>
            </a:r>
            <a:r>
              <a:rPr lang="ru-RU" dirty="0" err="1"/>
              <a:t>Database-First</a:t>
            </a:r>
            <a:r>
              <a:rPr lang="ru-RU" dirty="0"/>
              <a:t>, или какой код SQL нужно создать, при отображении графической модели EDMX на базу </a:t>
            </a:r>
            <a:r>
              <a:rPr lang="ru-RU" dirty="0" smtClean="0"/>
              <a:t>данных).</a:t>
            </a:r>
            <a:endParaRPr lang="ru-RU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ru-RU" dirty="0" err="1"/>
              <a:t>Visual</a:t>
            </a:r>
            <a:r>
              <a:rPr lang="ru-RU" dirty="0"/>
              <a:t> </a:t>
            </a:r>
            <a:r>
              <a:rPr lang="ru-RU" dirty="0" err="1"/>
              <a:t>Studio</a:t>
            </a:r>
            <a:r>
              <a:rPr lang="ru-RU" dirty="0"/>
              <a:t> по умолчанию поставляется поставщиком данных </a:t>
            </a:r>
            <a:r>
              <a:rPr lang="ru-RU" b="1" dirty="0" err="1"/>
              <a:t>SqlClient</a:t>
            </a:r>
            <a:r>
              <a:rPr lang="ru-RU" dirty="0"/>
              <a:t>, что позволяет получить доступ к большинству версий СУБД SQL </a:t>
            </a:r>
            <a:r>
              <a:rPr lang="ru-RU" dirty="0" err="1"/>
              <a:t>Server</a:t>
            </a:r>
            <a:r>
              <a:rPr lang="ru-RU" dirty="0"/>
              <a:t>: 2005, 2008, 2010, 2012, 2014. </a:t>
            </a:r>
            <a:endParaRPr lang="ru-RU" dirty="0" smtClean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ru-RU" dirty="0" smtClean="0"/>
              <a:t>Начиная </a:t>
            </a:r>
            <a:r>
              <a:rPr lang="ru-RU" dirty="0"/>
              <a:t>с версии </a:t>
            </a:r>
            <a:r>
              <a:rPr lang="ru-RU" dirty="0" err="1"/>
              <a:t>Visual</a:t>
            </a:r>
            <a:r>
              <a:rPr lang="ru-RU" dirty="0"/>
              <a:t> </a:t>
            </a:r>
            <a:r>
              <a:rPr lang="ru-RU" dirty="0" err="1"/>
              <a:t>Studio</a:t>
            </a:r>
            <a:r>
              <a:rPr lang="ru-RU" dirty="0"/>
              <a:t> 2010, </a:t>
            </a:r>
            <a:r>
              <a:rPr lang="ru-RU" dirty="0" err="1"/>
              <a:t>Microsoft</a:t>
            </a:r>
            <a:r>
              <a:rPr lang="ru-RU" dirty="0"/>
              <a:t> отказалась от поддержки SQL </a:t>
            </a:r>
            <a:r>
              <a:rPr lang="ru-RU" dirty="0" err="1"/>
              <a:t>Server</a:t>
            </a:r>
            <a:r>
              <a:rPr lang="ru-RU" dirty="0"/>
              <a:t> 2000. Можно также создать приложение, обращающееся к SQL </a:t>
            </a:r>
            <a:r>
              <a:rPr lang="ru-RU" dirty="0" err="1"/>
              <a:t>Server</a:t>
            </a:r>
            <a:r>
              <a:rPr lang="ru-RU" dirty="0"/>
              <a:t> </a:t>
            </a:r>
            <a:r>
              <a:rPr lang="ru-RU" dirty="0" err="1" smtClean="0"/>
              <a:t>Compact</a:t>
            </a:r>
            <a:r>
              <a:rPr lang="ru-RU" dirty="0" smtClean="0"/>
              <a:t>(этот </a:t>
            </a:r>
            <a:r>
              <a:rPr lang="ru-RU" dirty="0"/>
              <a:t>провайдер имеет некоторые строгие ограничения, такие как неспособность поддерживать схемы с одинаковыми именами </a:t>
            </a:r>
            <a:r>
              <a:rPr lang="ru-RU" dirty="0" smtClean="0"/>
              <a:t>ограничений)</a:t>
            </a:r>
            <a:endParaRPr lang="ru-RU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ru-RU" dirty="0" smtClean="0"/>
              <a:t>Поставщики данных </a:t>
            </a:r>
            <a:r>
              <a:rPr lang="ru-RU" dirty="0" err="1"/>
              <a:t>Entity</a:t>
            </a:r>
            <a:r>
              <a:rPr lang="ru-RU" dirty="0"/>
              <a:t> </a:t>
            </a:r>
            <a:r>
              <a:rPr lang="ru-RU" dirty="0" err="1"/>
              <a:t>Framework</a:t>
            </a:r>
            <a:r>
              <a:rPr lang="ru-RU" dirty="0"/>
              <a:t> поддерживаются следующими СУБД: </a:t>
            </a:r>
            <a:r>
              <a:rPr lang="ru-RU" dirty="0" err="1"/>
              <a:t>MySQL</a:t>
            </a:r>
            <a:r>
              <a:rPr lang="ru-RU" dirty="0"/>
              <a:t>, </a:t>
            </a:r>
            <a:r>
              <a:rPr lang="ru-RU" dirty="0" err="1"/>
              <a:t>Oracle</a:t>
            </a:r>
            <a:r>
              <a:rPr lang="ru-RU" dirty="0"/>
              <a:t>, </a:t>
            </a:r>
            <a:r>
              <a:rPr lang="ru-RU" dirty="0" err="1"/>
              <a:t>Progress</a:t>
            </a:r>
            <a:r>
              <a:rPr lang="ru-RU" dirty="0"/>
              <a:t>, </a:t>
            </a:r>
            <a:r>
              <a:rPr lang="ru-RU" dirty="0" err="1"/>
              <a:t>VistaDB</a:t>
            </a:r>
            <a:r>
              <a:rPr lang="ru-RU" dirty="0"/>
              <a:t>, </a:t>
            </a:r>
            <a:r>
              <a:rPr lang="ru-RU" dirty="0" err="1"/>
              <a:t>Devart</a:t>
            </a:r>
            <a:r>
              <a:rPr lang="ru-RU" dirty="0"/>
              <a:t>, </a:t>
            </a:r>
            <a:r>
              <a:rPr lang="ru-RU" dirty="0" err="1"/>
              <a:t>OpenLink</a:t>
            </a:r>
            <a:r>
              <a:rPr lang="ru-RU" dirty="0"/>
              <a:t>, SQL </a:t>
            </a:r>
            <a:r>
              <a:rPr lang="ru-RU" dirty="0" err="1"/>
              <a:t>Anywhere</a:t>
            </a:r>
            <a:r>
              <a:rPr lang="ru-RU" dirty="0"/>
              <a:t>, </a:t>
            </a:r>
            <a:r>
              <a:rPr lang="ru-RU" dirty="0" err="1"/>
              <a:t>Sybase</a:t>
            </a:r>
            <a:r>
              <a:rPr lang="ru-RU" dirty="0"/>
              <a:t>, </a:t>
            </a:r>
            <a:r>
              <a:rPr lang="ru-RU" dirty="0" err="1"/>
              <a:t>SQLite</a:t>
            </a:r>
            <a:r>
              <a:rPr lang="ru-RU" dirty="0"/>
              <a:t>, </a:t>
            </a:r>
            <a:r>
              <a:rPr lang="ru-RU" dirty="0" err="1"/>
              <a:t>Synergex</a:t>
            </a:r>
            <a:r>
              <a:rPr lang="ru-RU" dirty="0"/>
              <a:t>, </a:t>
            </a:r>
            <a:r>
              <a:rPr lang="ru-RU" dirty="0" err="1"/>
              <a:t>Firebird</a:t>
            </a:r>
            <a:r>
              <a:rPr lang="ru-RU" dirty="0"/>
              <a:t> и </a:t>
            </a:r>
            <a:r>
              <a:rPr lang="ru-RU" dirty="0" err="1"/>
              <a:t>PostgreSQL</a:t>
            </a:r>
            <a:r>
              <a:rPr lang="ru-RU" dirty="0"/>
              <a:t> (через поставщик </a:t>
            </a:r>
            <a:r>
              <a:rPr lang="ru-RU" dirty="0" err="1"/>
              <a:t>Npgsql</a:t>
            </a:r>
            <a:r>
              <a:rPr lang="ru-RU" dirty="0"/>
              <a:t>).</a:t>
            </a: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ru-RU" dirty="0" smtClean="0"/>
              <a:t>Нет базы </a:t>
            </a:r>
            <a:r>
              <a:rPr lang="ru-RU" dirty="0"/>
              <a:t>данных </a:t>
            </a:r>
            <a:r>
              <a:rPr lang="ru-RU" dirty="0" err="1"/>
              <a:t>Access</a:t>
            </a:r>
            <a:r>
              <a:rPr lang="ru-RU" dirty="0"/>
              <a:t> </a:t>
            </a:r>
            <a:r>
              <a:rPr lang="ru-RU" dirty="0" err="1"/>
              <a:t>Microsoft</a:t>
            </a:r>
            <a:r>
              <a:rPr lang="ru-RU" dirty="0"/>
              <a:t>. </a:t>
            </a:r>
            <a:endParaRPr lang="ru-RU" dirty="0" smtClean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ru-RU" dirty="0" err="1" smtClean="0"/>
              <a:t>Entity</a:t>
            </a:r>
            <a:r>
              <a:rPr lang="ru-RU" dirty="0" smtClean="0"/>
              <a:t> </a:t>
            </a:r>
            <a:r>
              <a:rPr lang="ru-RU" dirty="0" err="1"/>
              <a:t>Framework</a:t>
            </a:r>
            <a:r>
              <a:rPr lang="ru-RU" dirty="0"/>
              <a:t> не поддерживает старые технологии и методы доступа, такие как </a:t>
            </a:r>
            <a:r>
              <a:rPr lang="ru-RU" dirty="0" err="1"/>
              <a:t>Open</a:t>
            </a:r>
            <a:r>
              <a:rPr lang="ru-RU" dirty="0"/>
              <a:t> </a:t>
            </a:r>
            <a:r>
              <a:rPr lang="ru-RU" dirty="0" err="1"/>
              <a:t>Database</a:t>
            </a:r>
            <a:r>
              <a:rPr lang="ru-RU" dirty="0"/>
              <a:t> </a:t>
            </a:r>
            <a:r>
              <a:rPr lang="ru-RU" dirty="0" err="1"/>
              <a:t>Connectivity</a:t>
            </a:r>
            <a:r>
              <a:rPr lang="ru-RU" dirty="0"/>
              <a:t> (ODBC). </a:t>
            </a:r>
            <a:r>
              <a:rPr lang="ru-RU" dirty="0" smtClean="0"/>
              <a:t>(чтобы </a:t>
            </a:r>
            <a:r>
              <a:rPr lang="ru-RU" dirty="0"/>
              <a:t>получить поддержку </a:t>
            </a:r>
            <a:r>
              <a:rPr lang="ru-RU" dirty="0" err="1"/>
              <a:t>Entity</a:t>
            </a:r>
            <a:r>
              <a:rPr lang="ru-RU" dirty="0"/>
              <a:t> </a:t>
            </a:r>
            <a:r>
              <a:rPr lang="ru-RU" dirty="0" err="1"/>
              <a:t>Framework</a:t>
            </a:r>
            <a:r>
              <a:rPr lang="ru-RU" dirty="0"/>
              <a:t> для конкретной базы данных, </a:t>
            </a:r>
            <a:r>
              <a:rPr lang="ru-RU" dirty="0" smtClean="0"/>
              <a:t>можно </a:t>
            </a:r>
            <a:r>
              <a:rPr lang="ru-RU" dirty="0"/>
              <a:t>создать EF-совместимый провайдер для </a:t>
            </a:r>
            <a:r>
              <a:rPr lang="ru-RU" dirty="0" smtClean="0"/>
              <a:t>нее).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81741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rmAutofit/>
          </a:bodyPr>
          <a:lstStyle/>
          <a:p>
            <a:r>
              <a:rPr lang="ru-RU" sz="2400" i="1" dirty="0"/>
              <a:t>Типы подходов для работы с </a:t>
            </a:r>
            <a:r>
              <a:rPr lang="ru-RU" sz="2400" i="1" dirty="0" err="1"/>
              <a:t>Entity</a:t>
            </a:r>
            <a:r>
              <a:rPr lang="ru-RU" sz="2400" i="1" dirty="0"/>
              <a:t> </a:t>
            </a:r>
            <a:r>
              <a:rPr lang="ru-RU" sz="2400" i="1" dirty="0" err="1"/>
              <a:t>Framework</a:t>
            </a:r>
            <a:endParaRPr lang="ru-RU" sz="2400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0887961"/>
              </p:ext>
            </p:extLst>
          </p:nvPr>
        </p:nvGraphicFramePr>
        <p:xfrm>
          <a:off x="179513" y="764705"/>
          <a:ext cx="8784975" cy="5832647"/>
        </p:xfrm>
        <a:graphic>
          <a:graphicData uri="http://schemas.openxmlformats.org/drawingml/2006/table">
            <a:tbl>
              <a:tblPr/>
              <a:tblGrid>
                <a:gridCol w="720079"/>
                <a:gridCol w="792088"/>
                <a:gridCol w="432048"/>
                <a:gridCol w="6840760"/>
              </a:tblGrid>
              <a:tr h="504055"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/>
                        </a:rPr>
                        <a:t>Использование БД</a:t>
                      </a:r>
                    </a:p>
                  </a:txBody>
                  <a:tcPr marL="12312" marR="12312" marT="12312" marB="12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/>
                        </a:rPr>
                        <a:t>Ориентация подхода</a:t>
                      </a:r>
                    </a:p>
                  </a:txBody>
                  <a:tcPr marL="12312" marR="12312" marT="12312" marB="12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/>
                        </a:rPr>
                        <a:t>Подход</a:t>
                      </a:r>
                    </a:p>
                  </a:txBody>
                  <a:tcPr marL="12312" marR="12312" marT="12312" marB="12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/>
                        </a:rPr>
                        <a:t>Описание</a:t>
                      </a:r>
                    </a:p>
                  </a:txBody>
                  <a:tcPr marL="12312" marR="12312" marT="12312" marB="12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58849">
                <a:tc>
                  <a:txBody>
                    <a:bodyPr/>
                    <a:lstStyle/>
                    <a:p>
                      <a:pPr algn="l"/>
                      <a:r>
                        <a:rPr lang="ru-RU" sz="1400" b="0" dirty="0">
                          <a:solidFill>
                            <a:schemeClr val="tx1"/>
                          </a:solidFill>
                          <a:effectLst/>
                        </a:rPr>
                        <a:t>Новая БД</a:t>
                      </a:r>
                    </a:p>
                  </a:txBody>
                  <a:tcPr marL="12312" marR="12312" marT="12312" marB="12312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0" dirty="0">
                          <a:solidFill>
                            <a:schemeClr val="tx1"/>
                          </a:solidFill>
                          <a:effectLst/>
                        </a:rPr>
                        <a:t>На графическую модель</a:t>
                      </a:r>
                    </a:p>
                  </a:txBody>
                  <a:tcPr marL="12312" marR="12312" marT="12312" marB="12312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0" dirty="0" err="1" smtClean="0">
                          <a:solidFill>
                            <a:schemeClr val="tx1"/>
                          </a:solidFill>
                          <a:effectLst/>
                          <a:latin typeface="inherit"/>
                        </a:rPr>
                        <a:t>Model-First</a:t>
                      </a:r>
                      <a:endParaRPr lang="en-GB" sz="14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2312" marR="12312" marT="12312" marB="12312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base"/>
                      <a:r>
                        <a:rPr lang="ru-RU" sz="1400" b="0" dirty="0" smtClean="0">
                          <a:solidFill>
                            <a:schemeClr val="tx1"/>
                          </a:solidFill>
                          <a:effectLst/>
                          <a:latin typeface="inherit"/>
                        </a:rPr>
                        <a:t>Для создания новой базы </a:t>
                      </a:r>
                      <a:r>
                        <a:rPr lang="ru-RU" sz="1400" b="0" dirty="0">
                          <a:solidFill>
                            <a:schemeClr val="tx1"/>
                          </a:solidFill>
                          <a:effectLst/>
                          <a:latin typeface="inherit"/>
                        </a:rPr>
                        <a:t>данных и </a:t>
                      </a:r>
                      <a:r>
                        <a:rPr lang="ru-RU" sz="1400" b="0" dirty="0" smtClean="0">
                          <a:solidFill>
                            <a:schemeClr val="tx1"/>
                          </a:solidFill>
                          <a:effectLst/>
                          <a:latin typeface="inherit"/>
                        </a:rPr>
                        <a:t>хотите </a:t>
                      </a:r>
                      <a:r>
                        <a:rPr lang="ru-RU" sz="1400" b="0" dirty="0">
                          <a:solidFill>
                            <a:schemeClr val="tx1"/>
                          </a:solidFill>
                          <a:effectLst/>
                          <a:latin typeface="inherit"/>
                        </a:rPr>
                        <a:t>увидеть дизайн базы в </a:t>
                      </a:r>
                      <a:r>
                        <a:rPr lang="ru-RU" sz="1400" b="0" dirty="0" smtClean="0">
                          <a:solidFill>
                            <a:schemeClr val="tx1"/>
                          </a:solidFill>
                          <a:effectLst/>
                          <a:latin typeface="inherit"/>
                        </a:rPr>
                        <a:t>графическом.</a:t>
                      </a:r>
                    </a:p>
                    <a:p>
                      <a:pPr algn="just" fontAlgn="base">
                        <a:buFont typeface="Arial"/>
                        <a:buChar char="•"/>
                      </a:pPr>
                      <a:r>
                        <a:rPr lang="ru-RU" sz="1400" b="0" dirty="0" smtClean="0">
                          <a:solidFill>
                            <a:schemeClr val="tx1"/>
                          </a:solidFill>
                          <a:effectLst/>
                          <a:latin typeface="inherit"/>
                        </a:rPr>
                        <a:t>создать </a:t>
                      </a:r>
                      <a:r>
                        <a:rPr lang="ru-RU" sz="1400" b="0" dirty="0">
                          <a:solidFill>
                            <a:schemeClr val="tx1"/>
                          </a:solidFill>
                          <a:effectLst/>
                          <a:latin typeface="inherit"/>
                        </a:rPr>
                        <a:t>модель, используя графический конструктор EDMX.</a:t>
                      </a:r>
                    </a:p>
                    <a:p>
                      <a:pPr algn="just" fontAlgn="base">
                        <a:buFont typeface="Arial"/>
                        <a:buChar char="•"/>
                      </a:pPr>
                      <a:r>
                        <a:rPr lang="ru-RU" sz="1400" b="0" dirty="0" smtClean="0">
                          <a:solidFill>
                            <a:schemeClr val="tx1"/>
                          </a:solidFill>
                          <a:effectLst/>
                          <a:latin typeface="inherit"/>
                        </a:rPr>
                        <a:t>генерируете </a:t>
                      </a:r>
                      <a:r>
                        <a:rPr lang="ru-RU" sz="1400" b="0" dirty="0">
                          <a:solidFill>
                            <a:schemeClr val="tx1"/>
                          </a:solidFill>
                          <a:effectLst/>
                          <a:latin typeface="inherit"/>
                        </a:rPr>
                        <a:t>базу данных на основе этой модели.</a:t>
                      </a:r>
                    </a:p>
                    <a:p>
                      <a:pPr algn="just" fontAlgn="base">
                        <a:buFont typeface="Arial"/>
                        <a:buChar char="•"/>
                      </a:pPr>
                      <a:r>
                        <a:rPr lang="ru-RU" sz="1400" b="0" dirty="0" err="1">
                          <a:solidFill>
                            <a:schemeClr val="tx1"/>
                          </a:solidFill>
                          <a:effectLst/>
                          <a:latin typeface="inherit"/>
                        </a:rPr>
                        <a:t>Entity</a:t>
                      </a:r>
                      <a:r>
                        <a:rPr lang="ru-RU" sz="1400" b="0" dirty="0">
                          <a:solidFill>
                            <a:schemeClr val="tx1"/>
                          </a:solidFill>
                          <a:effectLst/>
                          <a:latin typeface="inherit"/>
                        </a:rPr>
                        <a:t> </a:t>
                      </a:r>
                      <a:r>
                        <a:rPr lang="ru-RU" sz="1400" b="0" dirty="0" err="1">
                          <a:solidFill>
                            <a:schemeClr val="tx1"/>
                          </a:solidFill>
                          <a:effectLst/>
                          <a:latin typeface="inherit"/>
                        </a:rPr>
                        <a:t>Framework</a:t>
                      </a:r>
                      <a:r>
                        <a:rPr lang="ru-RU" sz="1400" b="0" dirty="0">
                          <a:solidFill>
                            <a:schemeClr val="tx1"/>
                          </a:solidFill>
                          <a:effectLst/>
                          <a:latin typeface="inherit"/>
                        </a:rPr>
                        <a:t> автоматически генерирует классы, необходимые для взаимодействия с базой данных.</a:t>
                      </a:r>
                    </a:p>
                  </a:txBody>
                  <a:tcPr marL="12312" marR="12312" marT="12312" marB="12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81553">
                <a:tc>
                  <a:txBody>
                    <a:bodyPr/>
                    <a:lstStyle/>
                    <a:p>
                      <a:pPr algn="l"/>
                      <a:r>
                        <a:rPr lang="ru-RU" sz="1400" b="0">
                          <a:solidFill>
                            <a:schemeClr val="tx1"/>
                          </a:solidFill>
                          <a:effectLst/>
                        </a:rPr>
                        <a:t>Существующая БД</a:t>
                      </a:r>
                    </a:p>
                  </a:txBody>
                  <a:tcPr marL="12312" marR="12312" marT="12312" marB="12312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0" dirty="0">
                          <a:solidFill>
                            <a:schemeClr val="tx1"/>
                          </a:solidFill>
                          <a:effectLst/>
                        </a:rPr>
                        <a:t>На графическую модель</a:t>
                      </a:r>
                    </a:p>
                  </a:txBody>
                  <a:tcPr marL="12312" marR="12312" marT="12312" marB="12312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b="0" dirty="0">
                          <a:solidFill>
                            <a:schemeClr val="tx1"/>
                          </a:solidFill>
                          <a:effectLst/>
                        </a:rPr>
                        <a:t>Database-First</a:t>
                      </a:r>
                    </a:p>
                  </a:txBody>
                  <a:tcPr marL="12312" marR="12312" marT="12312" marB="12312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base"/>
                      <a:r>
                        <a:rPr lang="ru-RU" sz="1400" b="0" dirty="0" smtClean="0">
                          <a:solidFill>
                            <a:schemeClr val="tx1"/>
                          </a:solidFill>
                          <a:effectLst/>
                          <a:latin typeface="inherit"/>
                        </a:rPr>
                        <a:t>Уже есть </a:t>
                      </a:r>
                      <a:r>
                        <a:rPr lang="ru-RU" sz="1400" b="0" dirty="0">
                          <a:solidFill>
                            <a:schemeClr val="tx1"/>
                          </a:solidFill>
                          <a:effectLst/>
                          <a:latin typeface="inherit"/>
                        </a:rPr>
                        <a:t>база данных и </a:t>
                      </a:r>
                      <a:r>
                        <a:rPr lang="ru-RU" sz="1400" b="0" dirty="0" smtClean="0">
                          <a:solidFill>
                            <a:schemeClr val="tx1"/>
                          </a:solidFill>
                          <a:effectLst/>
                          <a:latin typeface="inherit"/>
                        </a:rPr>
                        <a:t>хотите </a:t>
                      </a:r>
                      <a:r>
                        <a:rPr lang="ru-RU" sz="1400" b="0" dirty="0">
                          <a:solidFill>
                            <a:schemeClr val="tx1"/>
                          </a:solidFill>
                          <a:effectLst/>
                          <a:latin typeface="inherit"/>
                        </a:rPr>
                        <a:t>манипулировать ею используя графический </a:t>
                      </a:r>
                      <a:r>
                        <a:rPr lang="ru-RU" sz="1400" b="0" dirty="0" smtClean="0">
                          <a:solidFill>
                            <a:schemeClr val="tx1"/>
                          </a:solidFill>
                          <a:effectLst/>
                          <a:latin typeface="inherit"/>
                        </a:rPr>
                        <a:t>редактор.</a:t>
                      </a:r>
                    </a:p>
                    <a:p>
                      <a:pPr algn="just" fontAlgn="base">
                        <a:buFont typeface="Arial"/>
                        <a:buChar char="•"/>
                      </a:pPr>
                      <a:r>
                        <a:rPr lang="ru-RU" sz="1400" b="0" dirty="0" smtClean="0">
                          <a:solidFill>
                            <a:schemeClr val="tx1"/>
                          </a:solidFill>
                          <a:effectLst/>
                          <a:latin typeface="inherit"/>
                        </a:rPr>
                        <a:t>генерируете </a:t>
                      </a:r>
                      <a:r>
                        <a:rPr lang="ru-RU" sz="1400" b="0" dirty="0">
                          <a:solidFill>
                            <a:schemeClr val="tx1"/>
                          </a:solidFill>
                          <a:effectLst/>
                          <a:latin typeface="inherit"/>
                        </a:rPr>
                        <a:t>модель EDMX из существующей базы данных.</a:t>
                      </a:r>
                    </a:p>
                    <a:p>
                      <a:pPr algn="just" fontAlgn="base">
                        <a:buFont typeface="Arial"/>
                        <a:buChar char="•"/>
                      </a:pPr>
                      <a:r>
                        <a:rPr lang="ru-RU" sz="1400" b="0" dirty="0" err="1">
                          <a:solidFill>
                            <a:schemeClr val="tx1"/>
                          </a:solidFill>
                          <a:effectLst/>
                          <a:latin typeface="inherit"/>
                        </a:rPr>
                        <a:t>Entity</a:t>
                      </a:r>
                      <a:r>
                        <a:rPr lang="ru-RU" sz="1400" b="0" dirty="0">
                          <a:solidFill>
                            <a:schemeClr val="tx1"/>
                          </a:solidFill>
                          <a:effectLst/>
                          <a:latin typeface="inherit"/>
                        </a:rPr>
                        <a:t> </a:t>
                      </a:r>
                      <a:r>
                        <a:rPr lang="ru-RU" sz="1400" b="0" dirty="0" err="1">
                          <a:solidFill>
                            <a:schemeClr val="tx1"/>
                          </a:solidFill>
                          <a:effectLst/>
                          <a:latin typeface="inherit"/>
                        </a:rPr>
                        <a:t>Framework</a:t>
                      </a:r>
                      <a:r>
                        <a:rPr lang="ru-RU" sz="1400" b="0" dirty="0">
                          <a:solidFill>
                            <a:schemeClr val="tx1"/>
                          </a:solidFill>
                          <a:effectLst/>
                          <a:latin typeface="inherit"/>
                        </a:rPr>
                        <a:t> автоматически генерирует классы, необходимые для взаимодействия с базой данных.</a:t>
                      </a:r>
                    </a:p>
                  </a:txBody>
                  <a:tcPr marL="12312" marR="12312" marT="12312" marB="12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83891">
                <a:tc>
                  <a:txBody>
                    <a:bodyPr/>
                    <a:lstStyle/>
                    <a:p>
                      <a:pPr algn="l"/>
                      <a:r>
                        <a:rPr lang="ru-RU" sz="1400" b="0">
                          <a:solidFill>
                            <a:schemeClr val="tx1"/>
                          </a:solidFill>
                          <a:effectLst/>
                        </a:rPr>
                        <a:t>Новая БД</a:t>
                      </a:r>
                    </a:p>
                  </a:txBody>
                  <a:tcPr marL="12312" marR="12312" marT="12312" marB="12312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0">
                          <a:solidFill>
                            <a:schemeClr val="tx1"/>
                          </a:solidFill>
                          <a:effectLst/>
                        </a:rPr>
                        <a:t>На код</a:t>
                      </a:r>
                    </a:p>
                  </a:txBody>
                  <a:tcPr marL="12312" marR="12312" marT="12312" marB="12312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b="0" dirty="0" smtClean="0">
                          <a:solidFill>
                            <a:schemeClr val="tx1"/>
                          </a:solidFill>
                          <a:effectLst/>
                        </a:rPr>
                        <a:t>Code-First</a:t>
                      </a:r>
                      <a:endParaRPr lang="en-GB" sz="14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2312" marR="12312" marT="12312" marB="12312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base"/>
                      <a:r>
                        <a:rPr lang="ru-RU" sz="1400" b="0" dirty="0" smtClean="0">
                          <a:solidFill>
                            <a:schemeClr val="tx1"/>
                          </a:solidFill>
                          <a:effectLst/>
                          <a:latin typeface="inherit"/>
                        </a:rPr>
                        <a:t>Если необходимо создать новую базу данных и предпочитаете работать с кодом</a:t>
                      </a:r>
                    </a:p>
                    <a:p>
                      <a:pPr algn="just" fontAlgn="base">
                        <a:buFont typeface="Arial"/>
                        <a:buChar char="•"/>
                      </a:pPr>
                      <a:r>
                        <a:rPr lang="ru-RU" sz="1400" b="0" dirty="0" smtClean="0">
                          <a:solidFill>
                            <a:schemeClr val="tx1"/>
                          </a:solidFill>
                          <a:effectLst/>
                          <a:latin typeface="inherit"/>
                        </a:rPr>
                        <a:t>вручную создаете классы, которые определяют данные в каждой таблице базы данных.</a:t>
                      </a:r>
                    </a:p>
                    <a:p>
                      <a:pPr algn="just" fontAlgn="base">
                        <a:buFont typeface="Arial"/>
                        <a:buChar char="•"/>
                      </a:pPr>
                      <a:r>
                        <a:rPr lang="ru-RU" sz="1400" b="0" dirty="0" smtClean="0">
                          <a:solidFill>
                            <a:schemeClr val="tx1"/>
                          </a:solidFill>
                          <a:effectLst/>
                          <a:latin typeface="inherit"/>
                        </a:rPr>
                        <a:t>определяете отношения между таблицами с помощью различных атрибутов и виртуальных методов.</a:t>
                      </a:r>
                    </a:p>
                    <a:p>
                      <a:pPr algn="just" fontAlgn="base">
                        <a:buFont typeface="Arial"/>
                        <a:buChar char="•"/>
                      </a:pPr>
                      <a:r>
                        <a:rPr lang="ru-RU" sz="1400" b="0" dirty="0" smtClean="0">
                          <a:solidFill>
                            <a:schemeClr val="tx1"/>
                          </a:solidFill>
                          <a:effectLst/>
                          <a:latin typeface="inherit"/>
                        </a:rPr>
                        <a:t>При необходимости, также настраиваете детали подключения (например, строку подключения).</a:t>
                      </a:r>
                    </a:p>
                    <a:p>
                      <a:pPr algn="just" fontAlgn="base">
                        <a:buFont typeface="Arial"/>
                        <a:buChar char="•"/>
                      </a:pPr>
                      <a:r>
                        <a:rPr lang="ru-RU" sz="1400" b="0" dirty="0" err="1" smtClean="0">
                          <a:solidFill>
                            <a:schemeClr val="tx1"/>
                          </a:solidFill>
                          <a:effectLst/>
                          <a:latin typeface="inherit"/>
                        </a:rPr>
                        <a:t>Entity</a:t>
                      </a:r>
                      <a:r>
                        <a:rPr lang="ru-RU" sz="1400" b="0" dirty="0" smtClean="0">
                          <a:solidFill>
                            <a:schemeClr val="tx1"/>
                          </a:solidFill>
                          <a:effectLst/>
                          <a:latin typeface="inherit"/>
                        </a:rPr>
                        <a:t> </a:t>
                      </a:r>
                      <a:r>
                        <a:rPr lang="ru-RU" sz="1400" b="0" dirty="0" err="1" smtClean="0">
                          <a:solidFill>
                            <a:schemeClr val="tx1"/>
                          </a:solidFill>
                          <a:effectLst/>
                          <a:latin typeface="inherit"/>
                        </a:rPr>
                        <a:t>Framework</a:t>
                      </a:r>
                      <a:r>
                        <a:rPr lang="ru-RU" sz="1400" b="0" dirty="0" smtClean="0">
                          <a:solidFill>
                            <a:schemeClr val="tx1"/>
                          </a:solidFill>
                          <a:effectLst/>
                          <a:latin typeface="inherit"/>
                        </a:rPr>
                        <a:t> автоматически формирует базу данных во время выполнения.</a:t>
                      </a:r>
                      <a:endParaRPr lang="ru-RU" sz="1400" b="0" dirty="0">
                        <a:solidFill>
                          <a:schemeClr val="tx1"/>
                        </a:solidFill>
                        <a:effectLst/>
                        <a:latin typeface="inherit"/>
                      </a:endParaRPr>
                    </a:p>
                  </a:txBody>
                  <a:tcPr marL="12312" marR="12312" marT="12312" marB="12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53591">
                <a:tc>
                  <a:txBody>
                    <a:bodyPr/>
                    <a:lstStyle/>
                    <a:p>
                      <a:pPr algn="l"/>
                      <a:r>
                        <a:rPr lang="ru-RU" sz="1400" b="0">
                          <a:solidFill>
                            <a:schemeClr val="tx1"/>
                          </a:solidFill>
                          <a:effectLst/>
                        </a:rPr>
                        <a:t>Существующая БД</a:t>
                      </a:r>
                    </a:p>
                  </a:txBody>
                  <a:tcPr marL="12312" marR="12312" marT="12312" marB="12312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0">
                          <a:solidFill>
                            <a:schemeClr val="tx1"/>
                          </a:solidFill>
                          <a:effectLst/>
                        </a:rPr>
                        <a:t>На код</a:t>
                      </a:r>
                    </a:p>
                  </a:txBody>
                  <a:tcPr marL="12312" marR="12312" marT="12312" marB="12312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b="0" dirty="0">
                          <a:solidFill>
                            <a:schemeClr val="tx1"/>
                          </a:solidFill>
                          <a:effectLst/>
                        </a:rPr>
                        <a:t>Code-First (Code-Second)</a:t>
                      </a:r>
                    </a:p>
                  </a:txBody>
                  <a:tcPr marL="12312" marR="12312" marT="12312" marB="12312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base"/>
                      <a:r>
                        <a:rPr lang="ru-RU" sz="1400" b="0" dirty="0">
                          <a:solidFill>
                            <a:schemeClr val="tx1"/>
                          </a:solidFill>
                          <a:effectLst/>
                          <a:latin typeface="inherit"/>
                        </a:rPr>
                        <a:t>Если для существующей базы данных </a:t>
                      </a:r>
                      <a:r>
                        <a:rPr lang="ru-RU" sz="1400" b="0" dirty="0" smtClean="0">
                          <a:solidFill>
                            <a:schemeClr val="tx1"/>
                          </a:solidFill>
                          <a:effectLst/>
                          <a:latin typeface="inherit"/>
                        </a:rPr>
                        <a:t>хотите </a:t>
                      </a:r>
                      <a:r>
                        <a:rPr lang="ru-RU" sz="1400" b="0" dirty="0">
                          <a:solidFill>
                            <a:schemeClr val="tx1"/>
                          </a:solidFill>
                          <a:effectLst/>
                          <a:latin typeface="inherit"/>
                        </a:rPr>
                        <a:t>вручную создать модель в </a:t>
                      </a:r>
                      <a:r>
                        <a:rPr lang="ru-RU" sz="1400" b="0" dirty="0" smtClean="0">
                          <a:solidFill>
                            <a:schemeClr val="tx1"/>
                          </a:solidFill>
                          <a:effectLst/>
                          <a:latin typeface="inherit"/>
                        </a:rPr>
                        <a:t>коде.</a:t>
                      </a:r>
                      <a:endParaRPr lang="ru-RU" sz="1400" b="0" dirty="0">
                        <a:solidFill>
                          <a:schemeClr val="tx1"/>
                        </a:solidFill>
                        <a:effectLst/>
                        <a:latin typeface="inherit"/>
                      </a:endParaRPr>
                    </a:p>
                    <a:p>
                      <a:pPr algn="just" fontAlgn="base">
                        <a:buFont typeface="Arial"/>
                        <a:buChar char="•"/>
                      </a:pPr>
                      <a:r>
                        <a:rPr lang="ru-RU" sz="1400" b="0" dirty="0" smtClean="0">
                          <a:solidFill>
                            <a:schemeClr val="tx1"/>
                          </a:solidFill>
                          <a:effectLst/>
                          <a:latin typeface="inherit"/>
                        </a:rPr>
                        <a:t>перепроектируете </a:t>
                      </a:r>
                      <a:r>
                        <a:rPr lang="ru-RU" sz="1400" b="0" dirty="0">
                          <a:solidFill>
                            <a:schemeClr val="tx1"/>
                          </a:solidFill>
                          <a:effectLst/>
                          <a:latin typeface="inherit"/>
                        </a:rPr>
                        <a:t>классы, которые определяют данные для каждой таблицы в базе данных с помощью кода.</a:t>
                      </a:r>
                    </a:p>
                    <a:p>
                      <a:pPr algn="just" fontAlgn="base">
                        <a:buFont typeface="Arial"/>
                        <a:buChar char="•"/>
                      </a:pPr>
                      <a:r>
                        <a:rPr lang="ru-RU" sz="1400" b="0" dirty="0" smtClean="0">
                          <a:solidFill>
                            <a:schemeClr val="tx1"/>
                          </a:solidFill>
                          <a:effectLst/>
                          <a:latin typeface="inherit"/>
                        </a:rPr>
                        <a:t>отображаете </a:t>
                      </a:r>
                      <a:r>
                        <a:rPr lang="ru-RU" sz="1400" b="0" dirty="0">
                          <a:solidFill>
                            <a:schemeClr val="tx1"/>
                          </a:solidFill>
                          <a:effectLst/>
                          <a:latin typeface="inherit"/>
                        </a:rPr>
                        <a:t>отношения между таблицами в базе данных на код модели.</a:t>
                      </a:r>
                    </a:p>
                  </a:txBody>
                  <a:tcPr marL="12312" marR="12312" marT="12312" marB="12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1023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4262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2583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97001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78264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6527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6350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296</Words>
  <Application>Microsoft Office PowerPoint</Application>
  <PresentationFormat>Экран (4:3)</PresentationFormat>
  <Paragraphs>44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Тема Office</vt:lpstr>
      <vt:lpstr>Работа с Entity Framework</vt:lpstr>
      <vt:lpstr>Способы взаимодействия с БД</vt:lpstr>
      <vt:lpstr>Совместимые с Entity Framework поставщики данных</vt:lpstr>
      <vt:lpstr>Типы подходов для работы с Entity Framework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Sony</dc:creator>
  <cp:lastModifiedBy>Sony</cp:lastModifiedBy>
  <cp:revision>7</cp:revision>
  <dcterms:created xsi:type="dcterms:W3CDTF">2016-11-02T18:54:55Z</dcterms:created>
  <dcterms:modified xsi:type="dcterms:W3CDTF">2016-11-02T20:59:15Z</dcterms:modified>
</cp:coreProperties>
</file>