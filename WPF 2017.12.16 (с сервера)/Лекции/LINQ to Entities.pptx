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099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ED899-C9B3-4CDA-AE92-92A009ED18F2}" type="datetimeFigureOut">
              <a:rPr lang="ru-RU" smtClean="0"/>
              <a:t>03.11.2016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7EC2-77A0-43DB-B36E-54FEB1047E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505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ED899-C9B3-4CDA-AE92-92A009ED18F2}" type="datetimeFigureOut">
              <a:rPr lang="ru-RU" smtClean="0"/>
              <a:t>03.11.2016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7EC2-77A0-43DB-B36E-54FEB1047E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814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ED899-C9B3-4CDA-AE92-92A009ED18F2}" type="datetimeFigureOut">
              <a:rPr lang="ru-RU" smtClean="0"/>
              <a:t>03.11.2016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7EC2-77A0-43DB-B36E-54FEB1047E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918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ED899-C9B3-4CDA-AE92-92A009ED18F2}" type="datetimeFigureOut">
              <a:rPr lang="ru-RU" smtClean="0"/>
              <a:t>03.11.2016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7EC2-77A0-43DB-B36E-54FEB1047E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1138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ED899-C9B3-4CDA-AE92-92A009ED18F2}" type="datetimeFigureOut">
              <a:rPr lang="ru-RU" smtClean="0"/>
              <a:t>03.11.2016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7EC2-77A0-43DB-B36E-54FEB1047E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726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ED899-C9B3-4CDA-AE92-92A009ED18F2}" type="datetimeFigureOut">
              <a:rPr lang="ru-RU" smtClean="0"/>
              <a:t>03.11.2016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7EC2-77A0-43DB-B36E-54FEB1047E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3749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ED899-C9B3-4CDA-AE92-92A009ED18F2}" type="datetimeFigureOut">
              <a:rPr lang="ru-RU" smtClean="0"/>
              <a:t>03.11.2016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7EC2-77A0-43DB-B36E-54FEB1047E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519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ED899-C9B3-4CDA-AE92-92A009ED18F2}" type="datetimeFigureOut">
              <a:rPr lang="ru-RU" smtClean="0"/>
              <a:t>03.11.2016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7EC2-77A0-43DB-B36E-54FEB1047E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315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ED899-C9B3-4CDA-AE92-92A009ED18F2}" type="datetimeFigureOut">
              <a:rPr lang="ru-RU" smtClean="0"/>
              <a:t>03.11.2016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7EC2-77A0-43DB-B36E-54FEB1047E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800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ED899-C9B3-4CDA-AE92-92A009ED18F2}" type="datetimeFigureOut">
              <a:rPr lang="ru-RU" smtClean="0"/>
              <a:t>03.11.2016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7EC2-77A0-43DB-B36E-54FEB1047E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48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ED899-C9B3-4CDA-AE92-92A009ED18F2}" type="datetimeFigureOut">
              <a:rPr lang="ru-RU" smtClean="0"/>
              <a:t>03.11.2016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7EC2-77A0-43DB-B36E-54FEB1047E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517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ED899-C9B3-4CDA-AE92-92A009ED18F2}" type="datetimeFigureOut">
              <a:rPr lang="ru-RU" smtClean="0"/>
              <a:t>03.11.2016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37EC2-77A0-43DB-B36E-54FEB1047E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024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professorweb.ru/my/ADO_NET/base/level3/3_1.ph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professorweb.ru/my/LINQ/linq_sql/level12/12_1.php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professorweb.ru/my/LINQ/linq_sql/level9/9_3.php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LINQ to </a:t>
            </a:r>
            <a:r>
              <a:rPr lang="en-GB" b="1" dirty="0" smtClean="0"/>
              <a:t>Entities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7608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LINQ </a:t>
            </a:r>
            <a:r>
              <a:rPr lang="ru-RU" b="1" dirty="0" err="1"/>
              <a:t>to</a:t>
            </a:r>
            <a:r>
              <a:rPr lang="ru-RU" b="1" dirty="0"/>
              <a:t> </a:t>
            </a:r>
            <a:r>
              <a:rPr lang="ru-RU" b="1" dirty="0" err="1"/>
              <a:t>Entities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688632"/>
          </a:xfrm>
        </p:spPr>
        <p:txBody>
          <a:bodyPr>
            <a:normAutofit fontScale="55000" lnSpcReduction="20000"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dirty="0"/>
              <a:t>LINQ </a:t>
            </a:r>
            <a:r>
              <a:rPr lang="ru-RU" dirty="0" err="1"/>
              <a:t>to</a:t>
            </a:r>
            <a:r>
              <a:rPr lang="ru-RU" dirty="0"/>
              <a:t> SQL — это система объектно-реляционного отображения начального уровня. </a:t>
            </a:r>
            <a:endParaRPr lang="en-US" dirty="0" smtClean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b="1" dirty="0" smtClean="0"/>
              <a:t>LINQ </a:t>
            </a:r>
            <a:r>
              <a:rPr lang="ru-RU" b="1" dirty="0" err="1"/>
              <a:t>to</a:t>
            </a:r>
            <a:r>
              <a:rPr lang="ru-RU" b="1" dirty="0"/>
              <a:t> </a:t>
            </a:r>
            <a:r>
              <a:rPr lang="ru-RU" b="1" dirty="0" err="1"/>
              <a:t>Entities</a:t>
            </a:r>
            <a:r>
              <a:rPr lang="ru-RU" dirty="0"/>
              <a:t> — это часть платформы ADO.NET </a:t>
            </a:r>
            <a:r>
              <a:rPr lang="ru-RU" dirty="0" err="1"/>
              <a:t>Entity</a:t>
            </a:r>
            <a:r>
              <a:rPr lang="ru-RU" dirty="0"/>
              <a:t> </a:t>
            </a:r>
            <a:r>
              <a:rPr lang="ru-RU" dirty="0" err="1"/>
              <a:t>Framework</a:t>
            </a:r>
            <a:r>
              <a:rPr lang="ru-RU" dirty="0"/>
              <a:t>, предоставляющая более высокую гибкость и больше средств, чем LINQ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smtClean="0"/>
              <a:t>SQL.</a:t>
            </a:r>
            <a:endParaRPr lang="ru-RU" dirty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dirty="0"/>
              <a:t>API-интерфейс </a:t>
            </a:r>
            <a:r>
              <a:rPr lang="ru-RU" dirty="0" err="1">
                <a:hlinkClick r:id="rId2"/>
              </a:rPr>
              <a:t>Entity</a:t>
            </a:r>
            <a:r>
              <a:rPr lang="ru-RU" dirty="0">
                <a:hlinkClick r:id="rId2"/>
              </a:rPr>
              <a:t> </a:t>
            </a:r>
            <a:r>
              <a:rPr lang="ru-RU" dirty="0" err="1">
                <a:hlinkClick r:id="rId2"/>
              </a:rPr>
              <a:t>Framework</a:t>
            </a:r>
            <a:r>
              <a:rPr lang="ru-RU" dirty="0"/>
              <a:t> спроектирован для работы с любыми базами данных, поддерживающими ADO (а не только с SQL </a:t>
            </a:r>
            <a:r>
              <a:rPr lang="ru-RU" dirty="0" err="1"/>
              <a:t>Server</a:t>
            </a:r>
            <a:r>
              <a:rPr lang="ru-RU" dirty="0"/>
              <a:t>), и даже включает собственный диалект независимого от поставщика языка SQL, который можно применять в качестве альтернативы LINQ. </a:t>
            </a:r>
            <a:endParaRPr lang="en-US" dirty="0" smtClean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LINQ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Entities</a:t>
            </a:r>
            <a:r>
              <a:rPr lang="ru-RU" dirty="0"/>
              <a:t> позволяет </a:t>
            </a:r>
            <a:endParaRPr lang="en-US" dirty="0" smtClean="0"/>
          </a:p>
          <a:p>
            <a:pPr lvl="1"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работать </a:t>
            </a:r>
            <a:r>
              <a:rPr lang="ru-RU" dirty="0"/>
              <a:t>с объектами, которые представляют информацию из базы </a:t>
            </a:r>
            <a:r>
              <a:rPr lang="ru-RU" dirty="0" smtClean="0"/>
              <a:t>данных,</a:t>
            </a:r>
            <a:endParaRPr lang="en-US" dirty="0" smtClean="0"/>
          </a:p>
          <a:p>
            <a:pPr lvl="1"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выполнять </a:t>
            </a:r>
            <a:r>
              <a:rPr lang="ru-RU" dirty="0"/>
              <a:t>LINQ-запросы, </a:t>
            </a:r>
            <a:endParaRPr lang="en-US" dirty="0" smtClean="0"/>
          </a:p>
          <a:p>
            <a:pPr lvl="1"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изменять </a:t>
            </a:r>
            <a:r>
              <a:rPr lang="ru-RU" dirty="0"/>
              <a:t>значения, добавлять </a:t>
            </a:r>
            <a:endParaRPr lang="en-US" dirty="0" smtClean="0"/>
          </a:p>
          <a:p>
            <a:pPr lvl="1"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удалять </a:t>
            </a:r>
            <a:r>
              <a:rPr lang="ru-RU" dirty="0"/>
              <a:t>объекты. </a:t>
            </a:r>
            <a:endParaRPr lang="en-US" dirty="0" smtClean="0"/>
          </a:p>
          <a:p>
            <a:pPr lvl="1"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предусматривает </a:t>
            </a:r>
            <a:r>
              <a:rPr lang="ru-RU" dirty="0"/>
              <a:t>генерацию классов, отображающих содержимое базы данных на объекты — то, что делается при создании </a:t>
            </a:r>
            <a:r>
              <a:rPr lang="ru-RU" b="1" dirty="0"/>
              <a:t>сущностной модели данных (</a:t>
            </a:r>
            <a:r>
              <a:rPr lang="ru-RU" b="1" dirty="0" err="1"/>
              <a:t>entity</a:t>
            </a:r>
            <a:r>
              <a:rPr lang="ru-RU" b="1" dirty="0"/>
              <a:t> </a:t>
            </a:r>
            <a:r>
              <a:rPr lang="ru-RU" b="1" dirty="0" err="1"/>
              <a:t>data</a:t>
            </a:r>
            <a:r>
              <a:rPr lang="ru-RU" b="1" dirty="0"/>
              <a:t> </a:t>
            </a:r>
            <a:r>
              <a:rPr lang="ru-RU" b="1" dirty="0" err="1"/>
              <a:t>model</a:t>
            </a:r>
            <a:r>
              <a:rPr lang="ru-RU" b="1" dirty="0"/>
              <a:t> — EDM)</a:t>
            </a:r>
            <a:r>
              <a:rPr lang="ru-RU" dirty="0"/>
              <a:t>. </a:t>
            </a:r>
            <a:endParaRPr lang="en-US" dirty="0"/>
          </a:p>
          <a:p>
            <a:pPr lvl="1" fontAlgn="base"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 lvl="1"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Модель </a:t>
            </a:r>
            <a:r>
              <a:rPr lang="ru-RU" dirty="0"/>
              <a:t>EDM состоит из набора объектов и свойств, которые используются для взаимодействия с данными.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447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b="1" dirty="0" err="1" smtClean="0"/>
              <a:t>ObjectContext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832648"/>
          </a:xfrm>
        </p:spPr>
        <p:txBody>
          <a:bodyPr>
            <a:normAutofit fontScale="62500" lnSpcReduction="20000"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Класс </a:t>
            </a:r>
            <a:r>
              <a:rPr lang="ru-RU" dirty="0" err="1"/>
              <a:t>ObjectContext</a:t>
            </a:r>
            <a:r>
              <a:rPr lang="ru-RU" dirty="0"/>
              <a:t> — это ключ для доступа к сущностной модели данных и эквивалент класса </a:t>
            </a:r>
            <a:r>
              <a:rPr lang="ru-RU" dirty="0" err="1">
                <a:hlinkClick r:id="rId2"/>
              </a:rPr>
              <a:t>DataContext</a:t>
            </a:r>
            <a:r>
              <a:rPr lang="ru-RU" dirty="0"/>
              <a:t> из LINQ </a:t>
            </a:r>
            <a:r>
              <a:rPr lang="ru-RU" dirty="0" err="1"/>
              <a:t>to</a:t>
            </a:r>
            <a:r>
              <a:rPr lang="ru-RU" dirty="0"/>
              <a:t> SQL. </a:t>
            </a:r>
            <a:endParaRPr lang="en-US" dirty="0" smtClean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Класс </a:t>
            </a:r>
            <a:r>
              <a:rPr lang="ru-RU" dirty="0" err="1"/>
              <a:t>ObjectContext</a:t>
            </a:r>
            <a:r>
              <a:rPr lang="ru-RU" dirty="0"/>
              <a:t> </a:t>
            </a:r>
            <a:endParaRPr lang="en-US" dirty="0" smtClean="0"/>
          </a:p>
          <a:p>
            <a:pPr lvl="1"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отвечает за</a:t>
            </a:r>
            <a:r>
              <a:rPr lang="en-US" dirty="0" smtClean="0"/>
              <a:t> </a:t>
            </a:r>
            <a:r>
              <a:rPr lang="ru-RU" dirty="0" smtClean="0"/>
              <a:t>создание </a:t>
            </a:r>
            <a:r>
              <a:rPr lang="ru-RU" dirty="0"/>
              <a:t>и управление соединением с базой данных, </a:t>
            </a:r>
            <a:endParaRPr lang="en-US" dirty="0" smtClean="0"/>
          </a:p>
          <a:p>
            <a:pPr lvl="1"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отслеживает </a:t>
            </a:r>
            <a:r>
              <a:rPr lang="ru-RU" dirty="0"/>
              <a:t>изменения и управляет постоянством. </a:t>
            </a:r>
            <a:endParaRPr lang="en-US" dirty="0" smtClean="0"/>
          </a:p>
          <a:p>
            <a:pPr lvl="1"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класс </a:t>
            </a:r>
            <a:r>
              <a:rPr lang="ru-RU" dirty="0" err="1"/>
              <a:t>ObjectContext</a:t>
            </a:r>
            <a:r>
              <a:rPr lang="ru-RU" dirty="0"/>
              <a:t> </a:t>
            </a:r>
            <a:r>
              <a:rPr lang="ru-RU" dirty="0">
                <a:solidFill>
                  <a:srgbClr val="FF0000"/>
                </a:solidFill>
              </a:rPr>
              <a:t>соединяет</a:t>
            </a:r>
            <a:r>
              <a:rPr lang="ru-RU" dirty="0"/>
              <a:t> с базой данных, когда создается новый экземпляр </a:t>
            </a:r>
            <a:r>
              <a:rPr lang="ru-RU" dirty="0" err="1"/>
              <a:t>NorthwindEntities</a:t>
            </a:r>
            <a:r>
              <a:rPr lang="ru-RU" dirty="0"/>
              <a:t>, и этот же класс </a:t>
            </a:r>
            <a:r>
              <a:rPr lang="ru-RU" dirty="0">
                <a:solidFill>
                  <a:srgbClr val="FF0000"/>
                </a:solidFill>
              </a:rPr>
              <a:t>отслеживает изменения</a:t>
            </a:r>
            <a:r>
              <a:rPr lang="ru-RU" dirty="0"/>
              <a:t>, которые вносятся в объект </a:t>
            </a:r>
            <a:r>
              <a:rPr lang="ru-RU" dirty="0" err="1"/>
              <a:t>Customer</a:t>
            </a:r>
            <a:r>
              <a:rPr lang="ru-RU" dirty="0"/>
              <a:t>, а также транслирует их в оператор SQL, сохраняющий изменения по вызову метода </a:t>
            </a:r>
            <a:r>
              <a:rPr lang="ru-RU" dirty="0" err="1"/>
              <a:t>SaveChanges</a:t>
            </a:r>
            <a:r>
              <a:rPr lang="ru-RU" dirty="0"/>
              <a:t>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dirty="0"/>
              <a:t>Обычно используется класс, унаследованный от </a:t>
            </a:r>
            <a:r>
              <a:rPr lang="ru-RU" dirty="0" err="1"/>
              <a:t>ObjectContext</a:t>
            </a:r>
            <a:r>
              <a:rPr lang="ru-RU" dirty="0"/>
              <a:t>, который создается при генерации EDM из базы данных. </a:t>
            </a:r>
            <a:endParaRPr lang="en-US" dirty="0" smtClean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Имя </a:t>
            </a:r>
            <a:r>
              <a:rPr lang="ru-RU" dirty="0"/>
              <a:t>класса выбирается на основе имени базы данных — в форме [База </a:t>
            </a:r>
            <a:r>
              <a:rPr lang="ru-RU" dirty="0" smtClean="0"/>
              <a:t>данных]</a:t>
            </a:r>
            <a:r>
              <a:rPr lang="ru-RU" dirty="0" err="1" smtClean="0"/>
              <a:t>Entities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ru-RU" dirty="0" smtClean="0"/>
              <a:t>для </a:t>
            </a:r>
            <a:r>
              <a:rPr lang="ru-RU" dirty="0"/>
              <a:t>базы данных </a:t>
            </a:r>
            <a:r>
              <a:rPr lang="ru-RU" dirty="0" err="1"/>
              <a:t>Northwind</a:t>
            </a:r>
            <a:r>
              <a:rPr lang="ru-RU" dirty="0"/>
              <a:t> предусмотрен класс </a:t>
            </a:r>
            <a:r>
              <a:rPr lang="ru-RU" dirty="0" err="1" smtClean="0"/>
              <a:t>NorthwindEntities</a:t>
            </a:r>
            <a:r>
              <a:rPr lang="en-US" dirty="0" smtClean="0"/>
              <a:t>)</a:t>
            </a:r>
            <a:r>
              <a:rPr lang="ru-RU" dirty="0" smtClean="0"/>
              <a:t>.</a:t>
            </a:r>
            <a:endParaRPr lang="ru-RU" dirty="0"/>
          </a:p>
          <a:p>
            <a:pPr marL="0" indent="0" fontAlgn="base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dirty="0"/>
              <a:t>Производный класс [</a:t>
            </a:r>
            <a:r>
              <a:rPr lang="ru-RU" dirty="0" err="1"/>
              <a:t>База_данных</a:t>
            </a:r>
            <a:r>
              <a:rPr lang="ru-RU" dirty="0"/>
              <a:t>]</a:t>
            </a:r>
            <a:r>
              <a:rPr lang="ru-RU" dirty="0" err="1"/>
              <a:t>Entities</a:t>
            </a:r>
            <a:r>
              <a:rPr lang="ru-RU" dirty="0"/>
              <a:t> для каждой таблицы базы, выбранной при создании EDM, будет иметь свойство </a:t>
            </a:r>
            <a:r>
              <a:rPr lang="ru-RU" dirty="0" err="1"/>
              <a:t>ObjectSet</a:t>
            </a:r>
            <a:r>
              <a:rPr lang="ru-RU" dirty="0"/>
              <a:t>&lt;T&gt;, представляющее таблицу, причем T здесь — это тип сущностного класса, созданного для представления записи в таблице. </a:t>
            </a:r>
          </a:p>
        </p:txBody>
      </p:sp>
    </p:spTree>
    <p:extLst>
      <p:ext uri="{BB962C8B-B14F-4D97-AF65-F5344CB8AC3E}">
        <p14:creationId xmlns:p14="http://schemas.microsoft.com/office/powerpoint/2010/main" val="72248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Сущностные классы </a:t>
            </a:r>
            <a:r>
              <a:rPr lang="ru-RU" b="1" dirty="0" err="1" smtClean="0"/>
              <a:t>Entity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832648"/>
          </a:xfrm>
        </p:spPr>
        <p:txBody>
          <a:bodyPr>
            <a:normAutofit fontScale="77500" lnSpcReduction="20000"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Сущностные </a:t>
            </a:r>
            <a:r>
              <a:rPr lang="ru-RU" dirty="0"/>
              <a:t>классы в </a:t>
            </a:r>
            <a:r>
              <a:rPr lang="ru-RU" dirty="0" err="1"/>
              <a:t>Entity</a:t>
            </a:r>
            <a:r>
              <a:rPr lang="ru-RU" dirty="0"/>
              <a:t> </a:t>
            </a:r>
            <a:r>
              <a:rPr lang="ru-RU" dirty="0" err="1"/>
              <a:t>Framework</a:t>
            </a:r>
            <a:r>
              <a:rPr lang="ru-RU" dirty="0"/>
              <a:t> имеют много общего с классами LINQ </a:t>
            </a:r>
            <a:r>
              <a:rPr lang="ru-RU" dirty="0" err="1"/>
              <a:t>to</a:t>
            </a:r>
            <a:r>
              <a:rPr lang="ru-RU" dirty="0"/>
              <a:t> SQL. Это типы .NET, которые представляют собой отображение на реляционную структуру базы данных.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Сущностные </a:t>
            </a:r>
            <a:r>
              <a:rPr lang="ru-RU" dirty="0"/>
              <a:t>классы </a:t>
            </a:r>
            <a:r>
              <a:rPr lang="ru-RU" dirty="0" smtClean="0"/>
              <a:t>обнаруживаются </a:t>
            </a:r>
            <a:r>
              <a:rPr lang="ru-RU" dirty="0"/>
              <a:t>по наличию классов и объектов, имеющих имена таблиц базы данных в форме существительного единственного числа. </a:t>
            </a:r>
            <a:endParaRPr lang="en-US" dirty="0" smtClean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Мастер </a:t>
            </a:r>
            <a:r>
              <a:rPr lang="ru-RU" dirty="0"/>
              <a:t>построения сущностной модели имеет опцию поддержки имен таблиц во множественном числе при создании сущностных классов, поэтому, когда он находит таблицу базы под названием </a:t>
            </a:r>
            <a:r>
              <a:rPr lang="ru-RU" dirty="0" err="1"/>
              <a:t>Customers</a:t>
            </a:r>
            <a:r>
              <a:rPr lang="ru-RU" dirty="0"/>
              <a:t>, то создает сущностный класс по имени </a:t>
            </a:r>
            <a:r>
              <a:rPr lang="ru-RU" dirty="0" err="1"/>
              <a:t>Customer</a:t>
            </a:r>
            <a:r>
              <a:rPr lang="ru-RU" dirty="0"/>
              <a:t> для представления элемента таблицы. Тот же подход обеспечивается опцией </a:t>
            </a:r>
            <a:r>
              <a:rPr lang="ru-RU" dirty="0">
                <a:solidFill>
                  <a:srgbClr val="FF0000"/>
                </a:solidFill>
              </a:rPr>
              <a:t>/</a:t>
            </a:r>
            <a:r>
              <a:rPr lang="ru-RU" dirty="0" err="1">
                <a:solidFill>
                  <a:srgbClr val="FF0000"/>
                </a:solidFill>
              </a:rPr>
              <a:t>pluralize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/>
              <a:t>утилиты </a:t>
            </a:r>
            <a:r>
              <a:rPr lang="ru-RU" dirty="0" err="1">
                <a:hlinkClick r:id="rId2"/>
              </a:rPr>
              <a:t>SQLMetal</a:t>
            </a:r>
            <a:r>
              <a:rPr lang="ru-RU" dirty="0"/>
              <a:t> и это обеспечивает значительное повышение читабельности кода.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023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Ассоциации </a:t>
            </a:r>
            <a:r>
              <a:rPr lang="ru-RU" b="1" dirty="0" err="1" smtClean="0"/>
              <a:t>Entity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688632"/>
          </a:xfrm>
        </p:spPr>
        <p:txBody>
          <a:bodyPr>
            <a:normAutofit fontScale="70000" lnSpcReduction="20000"/>
          </a:bodyPr>
          <a:lstStyle/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Ассоциация —отношения </a:t>
            </a:r>
            <a:r>
              <a:rPr lang="ru-RU" dirty="0"/>
              <a:t>первичного ключа к внешнему ключу между двумя сущностными классами. </a:t>
            </a:r>
            <a:endParaRPr lang="en-US" dirty="0" smtClean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dirty="0" smtClean="0"/>
              <a:t>При </a:t>
            </a:r>
            <a:r>
              <a:rPr lang="ru-RU" dirty="0"/>
              <a:t>отношении "один ко многим" результатом ассоциации является то, что родительский класс, включающий в себя первичный ключ, содержит коллекцию дочерних классов, имеющих внешний ключ.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dirty="0"/>
              <a:t>Коллекция сохраняется в </a:t>
            </a:r>
            <a:r>
              <a:rPr lang="ru-RU" dirty="0" err="1"/>
              <a:t>EntityCollection</a:t>
            </a:r>
            <a:r>
              <a:rPr lang="ru-RU" dirty="0"/>
              <a:t>&lt;T&gt;, где T — тип дочернего сущностного класса. В отношении "многие ко многим" каждый сущностный класс поддерживает </a:t>
            </a:r>
            <a:r>
              <a:rPr lang="ru-RU" dirty="0" err="1"/>
              <a:t>EntityCollection</a:t>
            </a:r>
            <a:r>
              <a:rPr lang="ru-RU" dirty="0"/>
              <a:t>&lt;T&gt;, где T — тип противоположной сущности в отношении.</a:t>
            </a:r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dirty="0"/>
              <a:t>Коллекции сущностей доступны через общедоступные свойства по имени внешнего ключа. </a:t>
            </a:r>
            <a:endParaRPr lang="en-US" dirty="0" smtClean="0"/>
          </a:p>
          <a:p>
            <a:pPr fontAlgn="base">
              <a:spcBef>
                <a:spcPts val="600"/>
              </a:spcBef>
              <a:spcAft>
                <a:spcPts val="600"/>
              </a:spcAft>
            </a:pPr>
            <a:r>
              <a:rPr lang="ru-RU" b="1" dirty="0" smtClean="0">
                <a:solidFill>
                  <a:srgbClr val="FF0000"/>
                </a:solidFill>
              </a:rPr>
              <a:t>Преимущество </a:t>
            </a:r>
            <a:r>
              <a:rPr lang="ru-RU" b="1" dirty="0">
                <a:solidFill>
                  <a:srgbClr val="FF0000"/>
                </a:solidFill>
              </a:rPr>
              <a:t>ассоциаций </a:t>
            </a:r>
            <a:r>
              <a:rPr lang="ru-RU" dirty="0"/>
              <a:t>между сущностными типами </a:t>
            </a:r>
            <a:r>
              <a:rPr lang="en-US" dirty="0" smtClean="0"/>
              <a:t>-</a:t>
            </a:r>
            <a:r>
              <a:rPr lang="ru-RU" dirty="0" smtClean="0"/>
              <a:t> </a:t>
            </a:r>
            <a:r>
              <a:rPr lang="ru-RU" dirty="0"/>
              <a:t>позволяют прозрачно выполнять навигацию по данным, не принимая во внимание того факта, что они могут быть распределены среди множества таблиц или даже множества баз данных.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933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16632"/>
            <a:ext cx="8712968" cy="6552728"/>
          </a:xfrm>
        </p:spPr>
        <p:txBody>
          <a:bodyPr>
            <a:normAutofit fontScale="40000" lnSpcReduction="20000"/>
          </a:bodyPr>
          <a:lstStyle/>
          <a:p>
            <a:pPr marL="0" indent="0" fontAlgn="base">
              <a:buNone/>
            </a:pPr>
            <a:r>
              <a:rPr lang="ru-RU" dirty="0"/>
              <a:t>Для выполнения вставки необходимо предпринять четыре </a:t>
            </a:r>
            <a:r>
              <a:rPr lang="ru-RU" dirty="0" smtClean="0"/>
              <a:t>шага</a:t>
            </a:r>
            <a:r>
              <a:rPr lang="en-US" dirty="0" smtClean="0"/>
              <a:t>:</a:t>
            </a:r>
          </a:p>
          <a:p>
            <a:pPr fontAlgn="base"/>
            <a:r>
              <a:rPr lang="ru-RU" dirty="0" smtClean="0"/>
              <a:t>создание </a:t>
            </a:r>
            <a:r>
              <a:rPr lang="ru-RU" dirty="0" err="1"/>
              <a:t>ObjectContext</a:t>
            </a:r>
            <a:r>
              <a:rPr lang="ru-RU" dirty="0"/>
              <a:t>. </a:t>
            </a:r>
            <a:endParaRPr lang="en-US" dirty="0" smtClean="0"/>
          </a:p>
          <a:p>
            <a:pPr fontAlgn="base"/>
            <a:r>
              <a:rPr lang="ru-RU" dirty="0" smtClean="0"/>
              <a:t>Получив </a:t>
            </a:r>
            <a:r>
              <a:rPr lang="ru-RU" dirty="0"/>
              <a:t>объектный контекст, можно создать новый экземпляр сущностного </a:t>
            </a:r>
            <a:r>
              <a:rPr lang="ru-RU" dirty="0" smtClean="0"/>
              <a:t>типа </a:t>
            </a:r>
            <a:r>
              <a:rPr lang="ru-RU" dirty="0"/>
              <a:t>и наполнить данными его поля. </a:t>
            </a:r>
            <a:endParaRPr lang="en-US" dirty="0" smtClean="0"/>
          </a:p>
          <a:p>
            <a:pPr fontAlgn="base"/>
            <a:r>
              <a:rPr lang="ru-RU" dirty="0" smtClean="0"/>
              <a:t>Заполненный </a:t>
            </a:r>
            <a:r>
              <a:rPr lang="ru-RU" dirty="0"/>
              <a:t>сущностный тип затем добавляется к </a:t>
            </a:r>
            <a:r>
              <a:rPr lang="ru-RU" dirty="0" err="1" smtClean="0"/>
              <a:t>ObjectSet</a:t>
            </a:r>
            <a:r>
              <a:rPr lang="ru-RU" dirty="0" smtClean="0"/>
              <a:t>&lt;T</a:t>
            </a:r>
            <a:r>
              <a:rPr lang="en-US" dirty="0" smtClean="0"/>
              <a:t>&gt;</a:t>
            </a:r>
          </a:p>
          <a:p>
            <a:pPr fontAlgn="base"/>
            <a:r>
              <a:rPr lang="ru-RU" dirty="0" smtClean="0"/>
              <a:t>сохранение </a:t>
            </a:r>
            <a:r>
              <a:rPr lang="ru-RU" dirty="0"/>
              <a:t>новых данных посредством метода </a:t>
            </a:r>
            <a:r>
              <a:rPr lang="ru-RU" dirty="0" err="1"/>
              <a:t>SaveChanges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dirty="0">
                <a:solidFill>
                  <a:srgbClr val="00B050"/>
                </a:solidFill>
              </a:rPr>
              <a:t>// 1. Создание </a:t>
            </a:r>
            <a:r>
              <a:rPr lang="en-US" dirty="0" err="1">
                <a:solidFill>
                  <a:srgbClr val="00B050"/>
                </a:solidFill>
              </a:rPr>
              <a:t>ObjectContext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NorthwindEntities</a:t>
            </a:r>
            <a:r>
              <a:rPr lang="en-US" dirty="0"/>
              <a:t> context = new </a:t>
            </a:r>
            <a:r>
              <a:rPr lang="en-US" dirty="0" err="1"/>
              <a:t>NorthwindEntities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ru-RU" dirty="0" smtClean="0">
                <a:solidFill>
                  <a:srgbClr val="00B050"/>
                </a:solidFill>
              </a:rPr>
              <a:t>           </a:t>
            </a:r>
            <a:r>
              <a:rPr lang="ru-RU" dirty="0">
                <a:solidFill>
                  <a:srgbClr val="00B050"/>
                </a:solidFill>
              </a:rPr>
              <a:t>// 2. Создание экземпляра сущностного объекта</a:t>
            </a:r>
          </a:p>
          <a:p>
            <a:pPr marL="0" indent="0">
              <a:buNone/>
            </a:pPr>
            <a:r>
              <a:rPr lang="en-US" dirty="0"/>
              <a:t>            Customer </a:t>
            </a:r>
            <a:r>
              <a:rPr lang="en-US" dirty="0" err="1"/>
              <a:t>cust</a:t>
            </a:r>
            <a:r>
              <a:rPr lang="en-US" dirty="0"/>
              <a:t> = new Customer</a:t>
            </a:r>
          </a:p>
          <a:p>
            <a:pPr marL="0" indent="0">
              <a:buNone/>
            </a:pPr>
            <a:r>
              <a:rPr lang="en-US" dirty="0"/>
              <a:t>            {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CustomerID</a:t>
            </a:r>
            <a:r>
              <a:rPr lang="en-US" dirty="0"/>
              <a:t> = "ERH85",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CompanyName</a:t>
            </a:r>
            <a:r>
              <a:rPr lang="en-US" dirty="0"/>
              <a:t> = "</a:t>
            </a:r>
            <a:r>
              <a:rPr lang="en-US" dirty="0" err="1"/>
              <a:t>ProfessorWeb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ContactName</a:t>
            </a:r>
            <a:r>
              <a:rPr lang="en-US" dirty="0"/>
              <a:t> = "</a:t>
            </a:r>
            <a:r>
              <a:rPr lang="ru-RU" dirty="0"/>
              <a:t>Александр Ерохин",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ContactTitle</a:t>
            </a:r>
            <a:r>
              <a:rPr lang="en-US" dirty="0"/>
              <a:t> = "Owner",</a:t>
            </a:r>
          </a:p>
          <a:p>
            <a:pPr marL="0" indent="0">
              <a:buNone/>
            </a:pPr>
            <a:r>
              <a:rPr lang="en-US" dirty="0"/>
              <a:t>                Address = "1017 Maple Leaf",</a:t>
            </a:r>
          </a:p>
          <a:p>
            <a:pPr marL="0" indent="0">
              <a:buNone/>
            </a:pPr>
            <a:r>
              <a:rPr lang="en-US" dirty="0"/>
              <a:t>                City = "Moscow",</a:t>
            </a:r>
          </a:p>
          <a:p>
            <a:pPr marL="0" indent="0">
              <a:buNone/>
            </a:pPr>
            <a:r>
              <a:rPr lang="en-US" dirty="0"/>
              <a:t>                Region = "MC",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PostalCode</a:t>
            </a:r>
            <a:r>
              <a:rPr lang="en-US" dirty="0"/>
              <a:t> = "555555",</a:t>
            </a:r>
          </a:p>
          <a:p>
            <a:pPr marL="0" indent="0">
              <a:buNone/>
            </a:pPr>
            <a:r>
              <a:rPr lang="en-US" dirty="0"/>
              <a:t>                Country = "Russia",</a:t>
            </a:r>
          </a:p>
          <a:p>
            <a:pPr marL="0" indent="0">
              <a:buNone/>
            </a:pPr>
            <a:r>
              <a:rPr lang="en-US" dirty="0"/>
              <a:t>                Phone = "+7(800)123-4567",</a:t>
            </a:r>
          </a:p>
          <a:p>
            <a:pPr marL="0" indent="0">
              <a:buNone/>
            </a:pPr>
            <a:r>
              <a:rPr lang="en-US" dirty="0"/>
              <a:t>                Fax = "None"</a:t>
            </a:r>
          </a:p>
          <a:p>
            <a:pPr marL="0" indent="0">
              <a:buNone/>
            </a:pPr>
            <a:r>
              <a:rPr lang="en-US" dirty="0"/>
              <a:t>            };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            </a:t>
            </a:r>
            <a:r>
              <a:rPr lang="ru-RU" dirty="0">
                <a:solidFill>
                  <a:srgbClr val="00B050"/>
                </a:solidFill>
              </a:rPr>
              <a:t>// 3. Добавление сущностного объекта в таблицу </a:t>
            </a:r>
            <a:r>
              <a:rPr lang="ru-RU" dirty="0" err="1">
                <a:solidFill>
                  <a:srgbClr val="00B050"/>
                </a:solidFill>
              </a:rPr>
              <a:t>Customers</a:t>
            </a:r>
            <a:endParaRPr lang="ru-RU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context.Customers.AddObject</a:t>
            </a:r>
            <a:r>
              <a:rPr lang="en-US" dirty="0"/>
              <a:t>(</a:t>
            </a:r>
            <a:r>
              <a:rPr lang="en-US" dirty="0" err="1"/>
              <a:t>cust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            </a:t>
            </a:r>
            <a:r>
              <a:rPr lang="ru-RU" dirty="0">
                <a:solidFill>
                  <a:srgbClr val="00B050"/>
                </a:solidFill>
              </a:rPr>
              <a:t>// 4. Вызов метода </a:t>
            </a:r>
            <a:r>
              <a:rPr lang="en-US" dirty="0" err="1">
                <a:solidFill>
                  <a:srgbClr val="00B050"/>
                </a:solidFill>
              </a:rPr>
              <a:t>SaveChanges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context.SaveChanges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            </a:t>
            </a:r>
            <a:r>
              <a:rPr lang="ru-RU" dirty="0">
                <a:solidFill>
                  <a:srgbClr val="00B050"/>
                </a:solidFill>
              </a:rPr>
              <a:t>// Проверяем наличие вставленной записи</a:t>
            </a:r>
          </a:p>
          <a:p>
            <a:pPr marL="0" indent="0">
              <a:buNone/>
            </a:pPr>
            <a:r>
              <a:rPr lang="en-US" dirty="0"/>
              <a:t>            Customer </a:t>
            </a:r>
            <a:r>
              <a:rPr lang="en-US" dirty="0" err="1"/>
              <a:t>getcust</a:t>
            </a:r>
            <a:r>
              <a:rPr lang="en-US" dirty="0"/>
              <a:t> = (from c in </a:t>
            </a:r>
            <a:r>
              <a:rPr lang="en-US" dirty="0" err="1"/>
              <a:t>context.Customers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where </a:t>
            </a:r>
            <a:r>
              <a:rPr lang="en-US" dirty="0" err="1"/>
              <a:t>c.CustomerID</a:t>
            </a:r>
            <a:r>
              <a:rPr lang="en-US" dirty="0"/>
              <a:t> == "ERH85"</a:t>
            </a:r>
          </a:p>
          <a:p>
            <a:pPr marL="0" indent="0">
              <a:buNone/>
            </a:pPr>
            <a:r>
              <a:rPr lang="en-US" dirty="0"/>
              <a:t>                             select c).</a:t>
            </a:r>
            <a:r>
              <a:rPr lang="en-US" dirty="0" err="1"/>
              <a:t>SingleOrDefault</a:t>
            </a:r>
            <a:r>
              <a:rPr lang="en-US" dirty="0"/>
              <a:t>&lt;Customer&gt;();</a:t>
            </a:r>
          </a:p>
          <a:p>
            <a:pPr marL="0" indent="0">
              <a:buNone/>
            </a:pPr>
            <a:r>
              <a:rPr lang="ru-RU" dirty="0" smtClean="0"/>
              <a:t>            </a:t>
            </a:r>
            <a:r>
              <a:rPr lang="ru-RU" dirty="0" err="1"/>
              <a:t>Console.WriteLine</a:t>
            </a:r>
            <a:r>
              <a:rPr lang="ru-RU" dirty="0"/>
              <a:t>("\n Новый заказчик {0} вставлен в базу данных",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getcust</a:t>
            </a:r>
            <a:r>
              <a:rPr lang="en-US" dirty="0"/>
              <a:t> == null ? "</a:t>
            </a:r>
            <a:r>
              <a:rPr lang="ru-RU" dirty="0"/>
              <a:t>не" : "успешно");</a:t>
            </a: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724128" y="980728"/>
            <a:ext cx="2915816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base">
              <a:buAutoNum type="arabicParenR"/>
            </a:pPr>
            <a:r>
              <a:rPr lang="ru-RU" sz="1400" dirty="0" smtClean="0">
                <a:latin typeface="Inconsolata"/>
              </a:rPr>
              <a:t>строится </a:t>
            </a:r>
            <a:r>
              <a:rPr lang="ru-RU" sz="1400" dirty="0" err="1">
                <a:latin typeface="Inconsolata"/>
              </a:rPr>
              <a:t>ObjectContext</a:t>
            </a:r>
            <a:r>
              <a:rPr lang="ru-RU" sz="1400" dirty="0">
                <a:latin typeface="Inconsolata"/>
              </a:rPr>
              <a:t> за счет создания нового экземпляра производного класса </a:t>
            </a:r>
            <a:r>
              <a:rPr lang="ru-RU" sz="1400" dirty="0" err="1" smtClean="0">
                <a:latin typeface="Inconsolata"/>
              </a:rPr>
              <a:t>NorthwindEntities</a:t>
            </a:r>
            <a:r>
              <a:rPr lang="ru-RU" sz="1400" dirty="0" smtClean="0">
                <a:latin typeface="Inconsolata"/>
              </a:rPr>
              <a:t>.</a:t>
            </a:r>
            <a:endParaRPr lang="en-US" sz="1400" dirty="0" smtClean="0">
              <a:latin typeface="Inconsolata"/>
            </a:endParaRPr>
          </a:p>
          <a:p>
            <a:pPr marL="342900" indent="-342900" algn="just" fontAlgn="base">
              <a:buAutoNum type="arabicParenR"/>
            </a:pPr>
            <a:r>
              <a:rPr lang="ru-RU" sz="1400" dirty="0" smtClean="0">
                <a:latin typeface="Inconsolata"/>
              </a:rPr>
              <a:t>создается </a:t>
            </a:r>
            <a:r>
              <a:rPr lang="ru-RU" sz="1400" dirty="0">
                <a:latin typeface="Inconsolata"/>
              </a:rPr>
              <a:t>новый экземпляр сущностного типа </a:t>
            </a:r>
            <a:r>
              <a:rPr lang="ru-RU" sz="1400" dirty="0" err="1">
                <a:latin typeface="Inconsolata"/>
              </a:rPr>
              <a:t>Customer</a:t>
            </a:r>
            <a:r>
              <a:rPr lang="ru-RU" sz="1400" dirty="0">
                <a:latin typeface="Inconsolata"/>
              </a:rPr>
              <a:t> и применяется инициализация объекта для заполнения полей. </a:t>
            </a:r>
            <a:endParaRPr lang="en-US" sz="1400" dirty="0" smtClean="0">
              <a:latin typeface="Inconsolata"/>
            </a:endParaRPr>
          </a:p>
          <a:p>
            <a:pPr marL="342900" indent="-342900" algn="just" fontAlgn="base">
              <a:buAutoNum type="arabicParenR"/>
            </a:pPr>
            <a:r>
              <a:rPr lang="ru-RU" sz="1400" dirty="0" smtClean="0">
                <a:latin typeface="Inconsolata"/>
              </a:rPr>
              <a:t>в </a:t>
            </a:r>
            <a:r>
              <a:rPr lang="ru-RU" sz="1400" dirty="0">
                <a:latin typeface="Inconsolata"/>
              </a:rPr>
              <a:t>коллекцию </a:t>
            </a:r>
            <a:r>
              <a:rPr lang="ru-RU" sz="1400" dirty="0" err="1">
                <a:latin typeface="Inconsolata"/>
              </a:rPr>
              <a:t>Customers</a:t>
            </a:r>
            <a:r>
              <a:rPr lang="ru-RU" sz="1400" dirty="0">
                <a:latin typeface="Inconsolata"/>
              </a:rPr>
              <a:t> добавляется новый экземпляр </a:t>
            </a:r>
            <a:r>
              <a:rPr lang="ru-RU" sz="1400" dirty="0" err="1">
                <a:latin typeface="Inconsolata"/>
              </a:rPr>
              <a:t>Customer</a:t>
            </a:r>
            <a:r>
              <a:rPr lang="ru-RU" sz="1400" dirty="0">
                <a:latin typeface="Inconsolata"/>
              </a:rPr>
              <a:t> вызовом метода </a:t>
            </a:r>
            <a:r>
              <a:rPr lang="ru-RU" sz="1400" dirty="0" err="1">
                <a:latin typeface="Inconsolata"/>
              </a:rPr>
              <a:t>AddObject</a:t>
            </a:r>
            <a:r>
              <a:rPr lang="ru-RU" sz="1400" dirty="0">
                <a:latin typeface="Inconsolata"/>
              </a:rPr>
              <a:t> свойства </a:t>
            </a:r>
            <a:r>
              <a:rPr lang="ru-RU" sz="1400" dirty="0" err="1">
                <a:latin typeface="Inconsolata"/>
              </a:rPr>
              <a:t>Customers</a:t>
            </a:r>
            <a:r>
              <a:rPr lang="ru-RU" sz="1400" dirty="0">
                <a:latin typeface="Inconsolata"/>
              </a:rPr>
              <a:t> объекта </a:t>
            </a:r>
            <a:r>
              <a:rPr lang="ru-RU" sz="1400" dirty="0" err="1">
                <a:latin typeface="Inconsolata"/>
              </a:rPr>
              <a:t>ObjectContext</a:t>
            </a:r>
            <a:r>
              <a:rPr lang="ru-RU" sz="1400" dirty="0">
                <a:latin typeface="Inconsolata"/>
              </a:rPr>
              <a:t>. Это свойство в базе данных имеет тип </a:t>
            </a:r>
            <a:r>
              <a:rPr lang="ru-RU" sz="1400" dirty="0" err="1">
                <a:latin typeface="Inconsolata"/>
              </a:rPr>
              <a:t>ObjectSet</a:t>
            </a:r>
            <a:r>
              <a:rPr lang="ru-RU" sz="1400" dirty="0">
                <a:latin typeface="Inconsolata"/>
              </a:rPr>
              <a:t>&lt;</a:t>
            </a:r>
            <a:r>
              <a:rPr lang="ru-RU" sz="1400" dirty="0" err="1">
                <a:latin typeface="Inconsolata"/>
              </a:rPr>
              <a:t>Customer</a:t>
            </a:r>
            <a:r>
              <a:rPr lang="ru-RU" sz="1400" dirty="0">
                <a:latin typeface="Inconsolata"/>
              </a:rPr>
              <a:t>&gt;. </a:t>
            </a:r>
            <a:endParaRPr lang="en-US" sz="1400" dirty="0" smtClean="0">
              <a:latin typeface="Inconsolata"/>
            </a:endParaRPr>
          </a:p>
          <a:p>
            <a:pPr marL="342900" indent="-342900" algn="just" fontAlgn="base">
              <a:buAutoNum type="arabicParenR"/>
            </a:pPr>
            <a:r>
              <a:rPr lang="ru-RU" sz="1400" dirty="0" smtClean="0">
                <a:latin typeface="Inconsolata"/>
              </a:rPr>
              <a:t>вызывается </a:t>
            </a:r>
            <a:r>
              <a:rPr lang="ru-RU" sz="1400" dirty="0">
                <a:latin typeface="Inconsolata"/>
              </a:rPr>
              <a:t>метод </a:t>
            </a:r>
            <a:r>
              <a:rPr lang="ru-RU" sz="1400" dirty="0" err="1">
                <a:latin typeface="Inconsolata"/>
              </a:rPr>
              <a:t>SaveChanges</a:t>
            </a:r>
            <a:r>
              <a:rPr lang="ru-RU" sz="1400" dirty="0">
                <a:latin typeface="Inconsolata"/>
              </a:rPr>
              <a:t> для сохранения новой записи в базе данных.</a:t>
            </a:r>
          </a:p>
          <a:p>
            <a:pPr algn="just" fontAlgn="base"/>
            <a:r>
              <a:rPr lang="ru-RU" sz="1400" dirty="0">
                <a:latin typeface="Inconsolata"/>
              </a:rPr>
              <a:t>В оставшейся части кода данные запрашиваются, чтобы убедиться, что новая запись была создана.</a:t>
            </a:r>
            <a:endParaRPr lang="ru-RU" sz="1400" b="0" i="0" dirty="0">
              <a:effectLst/>
              <a:latin typeface="Inconsolata"/>
            </a:endParaRPr>
          </a:p>
        </p:txBody>
      </p:sp>
      <p:cxnSp>
        <p:nvCxnSpPr>
          <p:cNvPr id="6" name="Прямая со стрелкой 5"/>
          <p:cNvCxnSpPr/>
          <p:nvPr/>
        </p:nvCxnSpPr>
        <p:spPr>
          <a:xfrm flipH="1">
            <a:off x="2843808" y="1124744"/>
            <a:ext cx="3024336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H="1">
            <a:off x="3059832" y="1988840"/>
            <a:ext cx="26642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H="1">
            <a:off x="3275856" y="3068960"/>
            <a:ext cx="2448272" cy="1872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>
            <a:off x="2411760" y="4797152"/>
            <a:ext cx="3312368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415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Autofit/>
          </a:bodyPr>
          <a:lstStyle/>
          <a:p>
            <a:r>
              <a:rPr lang="ru-RU" sz="2800" b="1" dirty="0"/>
              <a:t>Создание частично заполненных сущностных </a:t>
            </a:r>
            <a:r>
              <a:rPr lang="ru-RU" sz="2800" b="1" dirty="0" smtClean="0"/>
              <a:t>типов</a:t>
            </a:r>
            <a:endParaRPr lang="en-US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708364"/>
            <a:ext cx="8229600" cy="3923738"/>
          </a:xfrm>
        </p:spPr>
        <p:txBody>
          <a:bodyPr>
            <a:normAutofit/>
          </a:bodyPr>
          <a:lstStyle/>
          <a:p>
            <a:pPr fontAlgn="base"/>
            <a:r>
              <a:rPr lang="ru-RU" sz="2000" dirty="0" smtClean="0"/>
              <a:t>Сущностные </a:t>
            </a:r>
            <a:r>
              <a:rPr lang="ru-RU" sz="2000" dirty="0"/>
              <a:t>типы </a:t>
            </a:r>
            <a:r>
              <a:rPr lang="ru-RU" sz="2000" dirty="0" err="1"/>
              <a:t>Entity</a:t>
            </a:r>
            <a:r>
              <a:rPr lang="ru-RU" sz="2000" dirty="0"/>
              <a:t> </a:t>
            </a:r>
            <a:r>
              <a:rPr lang="ru-RU" sz="2000" dirty="0" err="1"/>
              <a:t>Framework</a:t>
            </a:r>
            <a:r>
              <a:rPr lang="ru-RU" sz="2000" dirty="0"/>
              <a:t> включают статический метод по имени </a:t>
            </a:r>
            <a:r>
              <a:rPr lang="ru-RU" sz="2000" b="1" dirty="0" err="1"/>
              <a:t>Create</a:t>
            </a:r>
            <a:r>
              <a:rPr lang="ru-RU" sz="2000" b="1" dirty="0"/>
              <a:t>[T]</a:t>
            </a:r>
            <a:r>
              <a:rPr lang="ru-RU" sz="2000" dirty="0"/>
              <a:t>, </a:t>
            </a:r>
            <a:endParaRPr lang="en-US" sz="2000" dirty="0" smtClean="0"/>
          </a:p>
          <a:p>
            <a:pPr lvl="1" fontAlgn="base"/>
            <a:r>
              <a:rPr lang="ru-RU" sz="2000" dirty="0" smtClean="0"/>
              <a:t>где </a:t>
            </a:r>
            <a:r>
              <a:rPr lang="ru-RU" sz="2000" dirty="0"/>
              <a:t>[T] — имя типа. </a:t>
            </a:r>
            <a:endParaRPr lang="en-US" sz="2000" dirty="0" smtClean="0"/>
          </a:p>
          <a:p>
            <a:pPr marL="457200" lvl="1" indent="0" fontAlgn="base">
              <a:buNone/>
            </a:pPr>
            <a:endParaRPr lang="en-US" sz="2000" dirty="0" smtClean="0"/>
          </a:p>
          <a:p>
            <a:pPr marL="457200" lvl="1" indent="0" fontAlgn="base">
              <a:buNone/>
            </a:pPr>
            <a:r>
              <a:rPr lang="ru-RU" sz="2000" dirty="0" smtClean="0"/>
              <a:t>Например</a:t>
            </a:r>
            <a:r>
              <a:rPr lang="ru-RU" sz="2000" dirty="0"/>
              <a:t>, сущностный тип </a:t>
            </a:r>
            <a:r>
              <a:rPr lang="ru-RU" sz="2000" dirty="0" err="1"/>
              <a:t>Customer</a:t>
            </a:r>
            <a:r>
              <a:rPr lang="ru-RU" sz="2000" dirty="0"/>
              <a:t> будет включать метод под названием </a:t>
            </a:r>
            <a:r>
              <a:rPr lang="ru-RU" sz="2000" dirty="0" err="1"/>
              <a:t>CreateCustomer</a:t>
            </a:r>
            <a:r>
              <a:rPr lang="ru-RU" sz="2000" dirty="0"/>
              <a:t>, а тип </a:t>
            </a:r>
            <a:r>
              <a:rPr lang="ru-RU" sz="2000" dirty="0" err="1"/>
              <a:t>Order</a:t>
            </a:r>
            <a:r>
              <a:rPr lang="ru-RU" sz="2000" dirty="0"/>
              <a:t> — метод по имени </a:t>
            </a:r>
            <a:r>
              <a:rPr lang="ru-RU" sz="2000" dirty="0" err="1"/>
              <a:t>CreateOrder</a:t>
            </a:r>
            <a:r>
              <a:rPr lang="ru-RU" sz="2000" dirty="0"/>
              <a:t>. Эти методы имеют параметры для каждого поля сущностного типа, которое не допускает значения </a:t>
            </a:r>
            <a:r>
              <a:rPr lang="ru-RU" sz="2000" dirty="0" err="1"/>
              <a:t>null</a:t>
            </a:r>
            <a:r>
              <a:rPr lang="ru-RU" sz="2000" dirty="0"/>
              <a:t>. </a:t>
            </a:r>
            <a:r>
              <a:rPr lang="en-US" sz="2000" dirty="0" smtClean="0"/>
              <a:t>(</a:t>
            </a:r>
            <a:r>
              <a:rPr lang="ru-RU" sz="2000" dirty="0" smtClean="0"/>
              <a:t>Н</a:t>
            </a:r>
            <a:r>
              <a:rPr lang="ru-RU" sz="2000" dirty="0"/>
              <a:t>о</a:t>
            </a:r>
            <a:r>
              <a:rPr lang="ru-RU" sz="2000" dirty="0" smtClean="0"/>
              <a:t> надо значения </a:t>
            </a:r>
            <a:r>
              <a:rPr lang="ru-RU" sz="2000" dirty="0" err="1" smtClean="0"/>
              <a:t>null</a:t>
            </a:r>
            <a:r>
              <a:rPr lang="ru-RU" sz="2000" dirty="0" smtClean="0"/>
              <a:t>):</a:t>
            </a:r>
            <a:endParaRPr lang="ru-RU" sz="2000" dirty="0"/>
          </a:p>
          <a:p>
            <a:endParaRPr lang="en-US" dirty="0"/>
          </a:p>
        </p:txBody>
      </p:sp>
      <p:pic>
        <p:nvPicPr>
          <p:cNvPr id="1026" name="Picture 2" descr="Таблица Customers базы данных Northwi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822" y="3933056"/>
            <a:ext cx="3872816" cy="2518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6649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88640"/>
            <a:ext cx="8640960" cy="655272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/*Преимущество </a:t>
            </a:r>
            <a:r>
              <a:rPr lang="ru-RU" dirty="0">
                <a:solidFill>
                  <a:srgbClr val="00B050"/>
                </a:solidFill>
              </a:rPr>
              <a:t>использования метода </a:t>
            </a:r>
            <a:r>
              <a:rPr lang="ru-RU" dirty="0" err="1">
                <a:solidFill>
                  <a:srgbClr val="00B050"/>
                </a:solidFill>
              </a:rPr>
              <a:t>Create</a:t>
            </a:r>
            <a:r>
              <a:rPr lang="ru-RU" dirty="0">
                <a:solidFill>
                  <a:srgbClr val="00B050"/>
                </a:solidFill>
              </a:rPr>
              <a:t>[T] состоит в том, что он позволяет избежать исключений при попытке сохранить сущностный тип со значением </a:t>
            </a:r>
            <a:r>
              <a:rPr lang="ru-RU" dirty="0" err="1">
                <a:solidFill>
                  <a:srgbClr val="00B050"/>
                </a:solidFill>
              </a:rPr>
              <a:t>null</a:t>
            </a:r>
            <a:r>
              <a:rPr lang="ru-RU" dirty="0">
                <a:solidFill>
                  <a:srgbClr val="00B050"/>
                </a:solidFill>
              </a:rPr>
              <a:t> в не допускающем </a:t>
            </a:r>
            <a:r>
              <a:rPr lang="ru-RU" dirty="0" err="1">
                <a:solidFill>
                  <a:srgbClr val="00B050"/>
                </a:solidFill>
              </a:rPr>
              <a:t>null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smtClean="0">
                <a:solidFill>
                  <a:srgbClr val="00B050"/>
                </a:solidFill>
              </a:rPr>
              <a:t>поле*/</a:t>
            </a:r>
            <a:endParaRPr lang="en-US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// Создание </a:t>
            </a:r>
            <a:r>
              <a:rPr lang="en-US" dirty="0" err="1">
                <a:solidFill>
                  <a:srgbClr val="00B050"/>
                </a:solidFill>
              </a:rPr>
              <a:t>ObjectContext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NorthwindEntities</a:t>
            </a:r>
            <a:r>
              <a:rPr lang="en-US" dirty="0"/>
              <a:t> context = new </a:t>
            </a:r>
            <a:r>
              <a:rPr lang="en-US" dirty="0" err="1"/>
              <a:t>NorthwindEntities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Создание экземпляра сущностного объекта</a:t>
            </a:r>
          </a:p>
          <a:p>
            <a:pPr marL="0" indent="0">
              <a:buNone/>
            </a:pPr>
            <a:r>
              <a:rPr lang="en-US" dirty="0"/>
              <a:t>            Customer </a:t>
            </a:r>
            <a:r>
              <a:rPr lang="en-US" dirty="0" err="1"/>
              <a:t>cust</a:t>
            </a:r>
            <a:r>
              <a:rPr lang="en-US" dirty="0"/>
              <a:t> = </a:t>
            </a:r>
            <a:r>
              <a:rPr lang="en-US" dirty="0" err="1"/>
              <a:t>Customer.CreateCustomer</a:t>
            </a:r>
            <a:r>
              <a:rPr lang="en-US" dirty="0"/>
              <a:t>("ERH85", "</a:t>
            </a:r>
            <a:r>
              <a:rPr lang="en-US" dirty="0" err="1"/>
              <a:t>ProfessorWeb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            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cust.ContactName</a:t>
            </a:r>
            <a:r>
              <a:rPr lang="en-US" dirty="0"/>
              <a:t> = "</a:t>
            </a:r>
            <a:r>
              <a:rPr lang="ru-RU" dirty="0"/>
              <a:t>Александр Ерохин";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cust.ContactTitle</a:t>
            </a:r>
            <a:r>
              <a:rPr lang="en-US" dirty="0"/>
              <a:t> = "Owner";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cust.Address</a:t>
            </a:r>
            <a:r>
              <a:rPr lang="en-US" dirty="0"/>
              <a:t> = "1017 Maple Leaf";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cust.City</a:t>
            </a:r>
            <a:r>
              <a:rPr lang="en-US" dirty="0"/>
              <a:t> = "Moscow";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cust.Region</a:t>
            </a:r>
            <a:r>
              <a:rPr lang="en-US" dirty="0"/>
              <a:t> = "MC";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cust.PostalCode</a:t>
            </a:r>
            <a:r>
              <a:rPr lang="en-US" dirty="0"/>
              <a:t> = "555555";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cust.Country</a:t>
            </a:r>
            <a:r>
              <a:rPr lang="en-US" dirty="0"/>
              <a:t> = "Russia";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cust.Phone</a:t>
            </a:r>
            <a:r>
              <a:rPr lang="en-US" dirty="0"/>
              <a:t> = "+7(800)123-4567";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cust.Fax</a:t>
            </a:r>
            <a:r>
              <a:rPr lang="en-US" dirty="0"/>
              <a:t> = "None";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Добавление сущностного объекта в таблицу </a:t>
            </a:r>
            <a:r>
              <a:rPr lang="ru-RU" dirty="0" err="1">
                <a:solidFill>
                  <a:srgbClr val="00B050"/>
                </a:solidFill>
              </a:rPr>
              <a:t>Customers</a:t>
            </a:r>
            <a:endParaRPr lang="ru-RU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context.Customers.AddObject</a:t>
            </a:r>
            <a:r>
              <a:rPr lang="en-US" dirty="0"/>
              <a:t>(</a:t>
            </a:r>
            <a:r>
              <a:rPr lang="en-US" dirty="0" err="1"/>
              <a:t>cust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Вызов метода </a:t>
            </a:r>
            <a:r>
              <a:rPr lang="en-US" dirty="0" err="1">
                <a:solidFill>
                  <a:srgbClr val="00B050"/>
                </a:solidFill>
              </a:rPr>
              <a:t>SaveChanges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context.SaveChanges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Проверяем наличие вставленной записи</a:t>
            </a:r>
          </a:p>
          <a:p>
            <a:pPr marL="0" indent="0">
              <a:buNone/>
            </a:pPr>
            <a:r>
              <a:rPr lang="en-US" dirty="0"/>
              <a:t>            Customer </a:t>
            </a:r>
            <a:r>
              <a:rPr lang="en-US" dirty="0" err="1"/>
              <a:t>getcust</a:t>
            </a:r>
            <a:r>
              <a:rPr lang="en-US" dirty="0"/>
              <a:t> = (from c in </a:t>
            </a:r>
            <a:r>
              <a:rPr lang="en-US" dirty="0" err="1"/>
              <a:t>context.Customers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where </a:t>
            </a:r>
            <a:r>
              <a:rPr lang="en-US" dirty="0" err="1"/>
              <a:t>c.CustomerID</a:t>
            </a:r>
            <a:r>
              <a:rPr lang="en-US" dirty="0"/>
              <a:t> == "ERH85"</a:t>
            </a:r>
          </a:p>
          <a:p>
            <a:pPr marL="0" indent="0">
              <a:buNone/>
            </a:pPr>
            <a:r>
              <a:rPr lang="en-US" dirty="0"/>
              <a:t>                             select c).</a:t>
            </a:r>
            <a:r>
              <a:rPr lang="en-US" dirty="0" err="1"/>
              <a:t>SingleOrDefault</a:t>
            </a:r>
            <a:r>
              <a:rPr lang="en-US" dirty="0"/>
              <a:t>&lt;Customer&gt;();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            </a:t>
            </a:r>
            <a:r>
              <a:rPr lang="ru-RU" dirty="0" err="1"/>
              <a:t>Console.WriteLine</a:t>
            </a:r>
            <a:r>
              <a:rPr lang="ru-RU" dirty="0"/>
              <a:t>("\n Новый заказчик {0} вставлен в базу данных",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getcust</a:t>
            </a:r>
            <a:r>
              <a:rPr lang="en-US" dirty="0"/>
              <a:t> == null ? "</a:t>
            </a:r>
            <a:r>
              <a:rPr lang="ru-RU" dirty="0"/>
              <a:t>не" : "успешно");</a:t>
            </a: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012160" y="1988840"/>
            <a:ext cx="269979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Inconsolata"/>
              </a:rPr>
              <a:t>создан </a:t>
            </a:r>
            <a:r>
              <a:rPr lang="ru-RU" sz="1400" dirty="0">
                <a:latin typeface="Inconsolata"/>
              </a:rPr>
              <a:t>новый экземпляр </a:t>
            </a:r>
            <a:r>
              <a:rPr lang="ru-RU" sz="1400" dirty="0" err="1">
                <a:latin typeface="Inconsolata"/>
              </a:rPr>
              <a:t>Customer</a:t>
            </a:r>
            <a:r>
              <a:rPr lang="ru-RU" sz="1400" dirty="0">
                <a:latin typeface="Inconsolata"/>
              </a:rPr>
              <a:t> с использованием метода </a:t>
            </a:r>
            <a:r>
              <a:rPr lang="ru-RU" sz="1400" dirty="0" err="1">
                <a:latin typeface="Inconsolata"/>
              </a:rPr>
              <a:t>CreateCustomer</a:t>
            </a:r>
            <a:r>
              <a:rPr lang="ru-RU" sz="1400" dirty="0">
                <a:latin typeface="Inconsolata"/>
              </a:rPr>
              <a:t>, которому переданы значения двух полей, не допускающие </a:t>
            </a:r>
            <a:r>
              <a:rPr lang="ru-RU" sz="1400" dirty="0" err="1">
                <a:latin typeface="Inconsolata"/>
              </a:rPr>
              <a:t>null</a:t>
            </a:r>
            <a:r>
              <a:rPr lang="ru-RU" sz="1400" dirty="0">
                <a:latin typeface="Inconsolata"/>
              </a:rPr>
              <a:t>. </a:t>
            </a:r>
            <a:endParaRPr lang="ru-RU" sz="1400" dirty="0" smtClean="0">
              <a:latin typeface="Inconsolata"/>
            </a:endParaRPr>
          </a:p>
          <a:p>
            <a:r>
              <a:rPr lang="ru-RU" sz="1400" dirty="0" smtClean="0">
                <a:latin typeface="Inconsolata"/>
              </a:rPr>
              <a:t>Затем </a:t>
            </a:r>
            <a:r>
              <a:rPr lang="ru-RU" sz="1400" dirty="0">
                <a:latin typeface="Inconsolata"/>
              </a:rPr>
              <a:t>с помощью общедоступных свойств типа </a:t>
            </a:r>
            <a:r>
              <a:rPr lang="ru-RU" sz="1400" dirty="0" err="1">
                <a:latin typeface="Inconsolata"/>
              </a:rPr>
              <a:t>Customer</a:t>
            </a:r>
            <a:r>
              <a:rPr lang="ru-RU" sz="1400" dirty="0">
                <a:latin typeface="Inconsolata"/>
              </a:rPr>
              <a:t> устанавливаются другие необходимые значения.</a:t>
            </a:r>
            <a:endParaRPr lang="en-US" sz="1400" dirty="0"/>
          </a:p>
        </p:txBody>
      </p:sp>
      <p:cxnSp>
        <p:nvCxnSpPr>
          <p:cNvPr id="6" name="Прямая со стрелкой 5"/>
          <p:cNvCxnSpPr/>
          <p:nvPr/>
        </p:nvCxnSpPr>
        <p:spPr>
          <a:xfrm flipH="1" flipV="1">
            <a:off x="3635896" y="1628800"/>
            <a:ext cx="2376264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310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Вставка присоединенных сущностных </a:t>
            </a:r>
            <a:r>
              <a:rPr lang="ru-RU" sz="2800" b="1" dirty="0" smtClean="0"/>
              <a:t>объектов</a:t>
            </a:r>
            <a:endParaRPr lang="en-US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606698"/>
            <a:ext cx="8784976" cy="6134670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ru-RU" sz="1400" dirty="0" smtClean="0">
                <a:solidFill>
                  <a:srgbClr val="00B050"/>
                </a:solidFill>
              </a:rPr>
              <a:t>*/Класс </a:t>
            </a:r>
            <a:r>
              <a:rPr lang="ru-RU" sz="1400" dirty="0" err="1">
                <a:solidFill>
                  <a:srgbClr val="00B050"/>
                </a:solidFill>
              </a:rPr>
              <a:t>ObjectContext</a:t>
            </a:r>
            <a:r>
              <a:rPr lang="ru-RU" sz="1400" dirty="0">
                <a:solidFill>
                  <a:srgbClr val="00B050"/>
                </a:solidFill>
              </a:rPr>
              <a:t> обнаруживает присоединения между сущностными объектами и гарантирует их автоматическое сохранение в базе данных с помощью метода </a:t>
            </a:r>
            <a:r>
              <a:rPr lang="ru-RU" sz="1400" dirty="0" err="1">
                <a:solidFill>
                  <a:srgbClr val="00B050"/>
                </a:solidFill>
              </a:rPr>
              <a:t>SaveChanges</a:t>
            </a:r>
            <a:r>
              <a:rPr lang="ru-RU" sz="1400" dirty="0">
                <a:solidFill>
                  <a:srgbClr val="00B050"/>
                </a:solidFill>
              </a:rPr>
              <a:t>. </a:t>
            </a:r>
            <a:r>
              <a:rPr lang="ru-RU" sz="1400" dirty="0" smtClean="0">
                <a:solidFill>
                  <a:srgbClr val="00B050"/>
                </a:solidFill>
              </a:rPr>
              <a:t>сущностные </a:t>
            </a:r>
            <a:r>
              <a:rPr lang="ru-RU" sz="1400" dirty="0">
                <a:solidFill>
                  <a:srgbClr val="00B050"/>
                </a:solidFill>
              </a:rPr>
              <a:t>объекты присоединяются тогда, когда между ними существует отношение внешнего </a:t>
            </a:r>
            <a:r>
              <a:rPr lang="ru-RU" sz="1400" dirty="0" smtClean="0">
                <a:solidFill>
                  <a:srgbClr val="00B050"/>
                </a:solidFill>
              </a:rPr>
              <a:t>ключа*/</a:t>
            </a:r>
            <a:endParaRPr lang="ru-RU" sz="1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ru-RU" sz="1400" dirty="0">
                <a:solidFill>
                  <a:srgbClr val="00B050"/>
                </a:solidFill>
              </a:rPr>
              <a:t>// Создание </a:t>
            </a:r>
            <a:r>
              <a:rPr lang="en-US" sz="1400" dirty="0" err="1">
                <a:solidFill>
                  <a:srgbClr val="00B050"/>
                </a:solidFill>
              </a:rPr>
              <a:t>ObjectContext</a:t>
            </a:r>
            <a:endParaRPr lang="en-US" sz="1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NorthwindEntities</a:t>
            </a:r>
            <a:r>
              <a:rPr lang="en-US" sz="1400" dirty="0"/>
              <a:t> context = new </a:t>
            </a:r>
            <a:r>
              <a:rPr lang="en-US" sz="1400" dirty="0" err="1"/>
              <a:t>NorthwindEntities</a:t>
            </a:r>
            <a:r>
              <a:rPr lang="en-US" sz="1400" dirty="0" smtClean="0"/>
              <a:t>();</a:t>
            </a:r>
            <a:endParaRPr lang="en-US" sz="1400" dirty="0"/>
          </a:p>
          <a:p>
            <a:pPr marL="0" indent="0">
              <a:buNone/>
            </a:pPr>
            <a:r>
              <a:rPr lang="ru-RU" sz="1400" dirty="0">
                <a:solidFill>
                  <a:srgbClr val="00B050"/>
                </a:solidFill>
              </a:rPr>
              <a:t>            // Создание экземпляра сущностного объекта</a:t>
            </a:r>
          </a:p>
          <a:p>
            <a:pPr marL="0" indent="0">
              <a:buNone/>
            </a:pPr>
            <a:r>
              <a:rPr lang="en-US" sz="1400" dirty="0"/>
              <a:t>            Customer </a:t>
            </a:r>
            <a:r>
              <a:rPr lang="en-US" sz="1400" dirty="0" err="1"/>
              <a:t>cust</a:t>
            </a:r>
            <a:r>
              <a:rPr lang="en-US" sz="1400" dirty="0"/>
              <a:t> = new </a:t>
            </a:r>
            <a:r>
              <a:rPr lang="en-US" sz="1400" dirty="0" smtClean="0"/>
              <a:t>Customer {</a:t>
            </a:r>
            <a:r>
              <a:rPr lang="en-US" sz="1400" dirty="0" err="1" smtClean="0"/>
              <a:t>CustomerID</a:t>
            </a:r>
            <a:r>
              <a:rPr lang="en-US" sz="1400" dirty="0" smtClean="0"/>
              <a:t> </a:t>
            </a:r>
            <a:r>
              <a:rPr lang="en-US" sz="1400" dirty="0"/>
              <a:t>= "ERH85</a:t>
            </a:r>
            <a:r>
              <a:rPr lang="en-US" sz="1400" dirty="0" smtClean="0"/>
              <a:t>", </a:t>
            </a:r>
            <a:r>
              <a:rPr lang="en-US" sz="1400" dirty="0" err="1" smtClean="0"/>
              <a:t>CompanyName</a:t>
            </a:r>
            <a:r>
              <a:rPr lang="en-US" sz="1400" dirty="0" smtClean="0"/>
              <a:t> </a:t>
            </a:r>
            <a:r>
              <a:rPr lang="en-US" sz="1400" dirty="0"/>
              <a:t>= "</a:t>
            </a:r>
            <a:r>
              <a:rPr lang="en-US" sz="1400" dirty="0" err="1"/>
              <a:t>ProfessorWeb</a:t>
            </a:r>
            <a:r>
              <a:rPr lang="en-US" sz="1400" dirty="0"/>
              <a:t>",</a:t>
            </a:r>
          </a:p>
          <a:p>
            <a:pPr marL="0" indent="0">
              <a:buNone/>
            </a:pPr>
            <a:r>
              <a:rPr lang="en-US" sz="1400" dirty="0"/>
              <a:t>                </a:t>
            </a:r>
            <a:r>
              <a:rPr lang="en-US" sz="1400" dirty="0" err="1"/>
              <a:t>ContactName</a:t>
            </a:r>
            <a:r>
              <a:rPr lang="en-US" sz="1400" dirty="0"/>
              <a:t> = "</a:t>
            </a:r>
            <a:r>
              <a:rPr lang="ru-RU" sz="1400" dirty="0"/>
              <a:t>Александр Ерохин</a:t>
            </a:r>
            <a:r>
              <a:rPr lang="ru-RU" sz="1400" dirty="0" smtClean="0"/>
              <a:t>",</a:t>
            </a:r>
            <a:r>
              <a:rPr lang="en-US" sz="1400" dirty="0" smtClean="0"/>
              <a:t> </a:t>
            </a:r>
            <a:r>
              <a:rPr lang="en-US" sz="1400" dirty="0" err="1" smtClean="0"/>
              <a:t>ContactTitle</a:t>
            </a:r>
            <a:r>
              <a:rPr lang="en-US" sz="1400" dirty="0" smtClean="0"/>
              <a:t> </a:t>
            </a:r>
            <a:r>
              <a:rPr lang="en-US" sz="1400" dirty="0"/>
              <a:t>= "Owner</a:t>
            </a:r>
            <a:r>
              <a:rPr lang="en-US" sz="1400" dirty="0" smtClean="0"/>
              <a:t>", </a:t>
            </a:r>
            <a:r>
              <a:rPr lang="en-US" sz="1400" dirty="0"/>
              <a:t>Address = "1017 Maple Leaf</a:t>
            </a:r>
            <a:r>
              <a:rPr lang="en-US" sz="1400" dirty="0" smtClean="0"/>
              <a:t>", </a:t>
            </a:r>
            <a:endParaRPr lang="ru-RU" sz="1400" dirty="0" smtClean="0"/>
          </a:p>
          <a:p>
            <a:pPr marL="0" indent="0">
              <a:buNone/>
            </a:pPr>
            <a:r>
              <a:rPr lang="en-US" sz="1400" dirty="0" smtClean="0"/>
              <a:t>               </a:t>
            </a:r>
            <a:r>
              <a:rPr lang="en-US" sz="1400" dirty="0"/>
              <a:t>City = "Moscow</a:t>
            </a:r>
            <a:r>
              <a:rPr lang="en-US" sz="1400" dirty="0" smtClean="0"/>
              <a:t>", </a:t>
            </a:r>
            <a:r>
              <a:rPr lang="en-US" sz="1400" dirty="0"/>
              <a:t>Region = "MC</a:t>
            </a:r>
            <a:r>
              <a:rPr lang="en-US" sz="1400" dirty="0" smtClean="0"/>
              <a:t>", </a:t>
            </a:r>
            <a:r>
              <a:rPr lang="en-US" sz="1400" dirty="0" err="1" smtClean="0"/>
              <a:t>PostalCode</a:t>
            </a:r>
            <a:r>
              <a:rPr lang="en-US" sz="1400" dirty="0" smtClean="0"/>
              <a:t> </a:t>
            </a:r>
            <a:r>
              <a:rPr lang="en-US" sz="1400" dirty="0"/>
              <a:t>= "555555</a:t>
            </a:r>
            <a:r>
              <a:rPr lang="en-US" sz="1400" dirty="0" smtClean="0"/>
              <a:t>", </a:t>
            </a:r>
            <a:r>
              <a:rPr lang="en-US" sz="1400" dirty="0"/>
              <a:t>Country = "Russia</a:t>
            </a:r>
            <a:r>
              <a:rPr lang="en-US" sz="1400" dirty="0" smtClean="0"/>
              <a:t>",</a:t>
            </a:r>
            <a:endParaRPr lang="ru-RU" sz="1400" dirty="0" smtClean="0"/>
          </a:p>
          <a:p>
            <a:pPr marL="0" indent="0">
              <a:buNone/>
            </a:pPr>
            <a:r>
              <a:rPr lang="ru-RU" sz="1400" dirty="0"/>
              <a:t> </a:t>
            </a:r>
            <a:r>
              <a:rPr lang="ru-RU" sz="1400" dirty="0" smtClean="0"/>
              <a:t>             </a:t>
            </a:r>
            <a:r>
              <a:rPr lang="en-US" sz="1400" dirty="0" smtClean="0"/>
              <a:t> </a:t>
            </a:r>
            <a:r>
              <a:rPr lang="en-US" sz="1400" dirty="0"/>
              <a:t>Phone = "+7(800)123-4567</a:t>
            </a:r>
            <a:r>
              <a:rPr lang="en-US" sz="1400" dirty="0" smtClean="0"/>
              <a:t>",  </a:t>
            </a:r>
            <a:r>
              <a:rPr lang="en-US" sz="1400" dirty="0"/>
              <a:t>Fax = "None",</a:t>
            </a:r>
          </a:p>
          <a:p>
            <a:pPr marL="0" indent="0">
              <a:buNone/>
            </a:pPr>
            <a:r>
              <a:rPr lang="en-US" sz="1400" dirty="0"/>
              <a:t>                Orders = </a:t>
            </a:r>
            <a:r>
              <a:rPr lang="en-US" sz="1400" dirty="0" smtClean="0"/>
              <a:t>{  </a:t>
            </a:r>
            <a:r>
              <a:rPr lang="en-US" sz="1400" dirty="0"/>
              <a:t>new Order </a:t>
            </a:r>
            <a:r>
              <a:rPr lang="en-US" sz="1400" dirty="0" smtClean="0"/>
              <a:t>{ </a:t>
            </a:r>
            <a:r>
              <a:rPr lang="en-US" sz="1400" dirty="0" err="1"/>
              <a:t>CustomerID</a:t>
            </a:r>
            <a:r>
              <a:rPr lang="en-US" sz="1400" dirty="0"/>
              <a:t> = "ERH85</a:t>
            </a:r>
            <a:r>
              <a:rPr lang="en-US" sz="1400" dirty="0" smtClean="0"/>
              <a:t>", </a:t>
            </a:r>
            <a:r>
              <a:rPr lang="en-US" sz="1400" dirty="0" err="1" smtClean="0"/>
              <a:t>EmployeeID</a:t>
            </a:r>
            <a:r>
              <a:rPr lang="en-US" sz="1400" dirty="0" smtClean="0"/>
              <a:t> </a:t>
            </a:r>
            <a:r>
              <a:rPr lang="en-US" sz="1400" dirty="0"/>
              <a:t>= 4,</a:t>
            </a:r>
          </a:p>
          <a:p>
            <a:pPr marL="0" indent="0">
              <a:buNone/>
            </a:pPr>
            <a:r>
              <a:rPr lang="en-US" sz="1400" dirty="0"/>
              <a:t>                    </a:t>
            </a:r>
            <a:r>
              <a:rPr lang="en-US" sz="1400" dirty="0" err="1"/>
              <a:t>OrderDate</a:t>
            </a:r>
            <a:r>
              <a:rPr lang="en-US" sz="1400" dirty="0"/>
              <a:t> = </a:t>
            </a:r>
            <a:r>
              <a:rPr lang="en-US" sz="1400" dirty="0" err="1"/>
              <a:t>DateTime.Now</a:t>
            </a:r>
            <a:r>
              <a:rPr lang="en-US" sz="1400" dirty="0" smtClean="0"/>
              <a:t>,  </a:t>
            </a:r>
            <a:r>
              <a:rPr lang="en-US" sz="1400" dirty="0" err="1"/>
              <a:t>RequiredDate</a:t>
            </a:r>
            <a:r>
              <a:rPr lang="en-US" sz="1400" dirty="0"/>
              <a:t> = </a:t>
            </a:r>
            <a:r>
              <a:rPr lang="en-US" sz="1400" dirty="0" err="1"/>
              <a:t>DateTime.Now.AddDays</a:t>
            </a:r>
            <a:r>
              <a:rPr lang="en-US" sz="1400" dirty="0"/>
              <a:t>(7),</a:t>
            </a:r>
          </a:p>
          <a:p>
            <a:pPr marL="0" indent="0">
              <a:buNone/>
            </a:pPr>
            <a:r>
              <a:rPr lang="en-US" sz="1400" dirty="0"/>
              <a:t>                    </a:t>
            </a:r>
            <a:r>
              <a:rPr lang="en-US" sz="1400" dirty="0" err="1"/>
              <a:t>ShipVia</a:t>
            </a:r>
            <a:r>
              <a:rPr lang="en-US" sz="1400" dirty="0"/>
              <a:t> = 3</a:t>
            </a:r>
            <a:r>
              <a:rPr lang="en-US" sz="1400" dirty="0" smtClean="0"/>
              <a:t>,  Freight </a:t>
            </a:r>
            <a:r>
              <a:rPr lang="en-US" sz="1400" dirty="0"/>
              <a:t>= new Decimal(24.66),</a:t>
            </a:r>
          </a:p>
          <a:p>
            <a:pPr marL="0" indent="0">
              <a:buNone/>
            </a:pPr>
            <a:r>
              <a:rPr lang="en-US" sz="1400" dirty="0"/>
              <a:t>                    </a:t>
            </a:r>
            <a:r>
              <a:rPr lang="en-US" sz="1400" dirty="0" err="1"/>
              <a:t>ShipName</a:t>
            </a:r>
            <a:r>
              <a:rPr lang="en-US" sz="1400" dirty="0"/>
              <a:t> = "Lawn Wranglers</a:t>
            </a:r>
            <a:r>
              <a:rPr lang="en-US" sz="1400" dirty="0" smtClean="0"/>
              <a:t>", </a:t>
            </a:r>
            <a:r>
              <a:rPr lang="en-US" sz="1400" dirty="0" err="1"/>
              <a:t>ShipAddress</a:t>
            </a:r>
            <a:r>
              <a:rPr lang="en-US" sz="1400" dirty="0"/>
              <a:t> = "1017 Maple Leaf Way",</a:t>
            </a:r>
          </a:p>
          <a:p>
            <a:pPr marL="0" indent="0">
              <a:buNone/>
            </a:pPr>
            <a:r>
              <a:rPr lang="en-US" sz="1400" dirty="0"/>
              <a:t>                    </a:t>
            </a:r>
            <a:r>
              <a:rPr lang="en-US" sz="1400" dirty="0" err="1"/>
              <a:t>ShipCity</a:t>
            </a:r>
            <a:r>
              <a:rPr lang="en-US" sz="1400" dirty="0"/>
              <a:t> = "Ft. Worth</a:t>
            </a:r>
            <a:r>
              <a:rPr lang="en-US" sz="1400" dirty="0" smtClean="0"/>
              <a:t>",  </a:t>
            </a:r>
            <a:r>
              <a:rPr lang="en-US" sz="1400" dirty="0" err="1"/>
              <a:t>ShipRegion</a:t>
            </a:r>
            <a:r>
              <a:rPr lang="en-US" sz="1400" dirty="0"/>
              <a:t> = "TX</a:t>
            </a:r>
            <a:r>
              <a:rPr lang="en-US" sz="1400" dirty="0" smtClean="0"/>
              <a:t>", </a:t>
            </a:r>
            <a:r>
              <a:rPr lang="en-US" sz="1400" dirty="0" err="1"/>
              <a:t>ShipPostalCode</a:t>
            </a:r>
            <a:r>
              <a:rPr lang="en-US" sz="1400" dirty="0"/>
              <a:t> = "76104</a:t>
            </a:r>
            <a:r>
              <a:rPr lang="en-US" sz="1400" dirty="0" smtClean="0"/>
              <a:t>",</a:t>
            </a:r>
            <a:endParaRPr lang="ru-RU" sz="1400" dirty="0" smtClean="0"/>
          </a:p>
          <a:p>
            <a:pPr marL="0" indent="0">
              <a:buNone/>
            </a:pPr>
            <a:r>
              <a:rPr lang="en-US" sz="1400" dirty="0" smtClean="0"/>
              <a:t>                    </a:t>
            </a:r>
            <a:r>
              <a:rPr lang="en-US" sz="1400" dirty="0" err="1"/>
              <a:t>ShipCountry</a:t>
            </a:r>
            <a:r>
              <a:rPr lang="en-US" sz="1400" dirty="0"/>
              <a:t> = "USA</a:t>
            </a:r>
            <a:r>
              <a:rPr lang="en-US" sz="1400" dirty="0" smtClean="0"/>
              <a:t>"                  }                }            </a:t>
            </a:r>
            <a:r>
              <a:rPr lang="en-US" sz="1400" dirty="0"/>
              <a:t>};</a:t>
            </a:r>
          </a:p>
          <a:p>
            <a:pPr marL="0" indent="0">
              <a:buNone/>
            </a:pPr>
            <a:r>
              <a:rPr lang="ru-RU" sz="1400" dirty="0" smtClean="0">
                <a:solidFill>
                  <a:srgbClr val="00B050"/>
                </a:solidFill>
              </a:rPr>
              <a:t>            </a:t>
            </a:r>
            <a:r>
              <a:rPr lang="ru-RU" sz="1400" dirty="0">
                <a:solidFill>
                  <a:srgbClr val="00B050"/>
                </a:solidFill>
              </a:rPr>
              <a:t>// Добавление сущностного объекта в таблицу </a:t>
            </a:r>
            <a:r>
              <a:rPr lang="ru-RU" sz="1400" dirty="0" err="1">
                <a:solidFill>
                  <a:srgbClr val="00B050"/>
                </a:solidFill>
              </a:rPr>
              <a:t>Customers</a:t>
            </a:r>
            <a:endParaRPr lang="ru-RU" sz="1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context.Customers.AddObject</a:t>
            </a:r>
            <a:r>
              <a:rPr lang="en-US" sz="1400" dirty="0"/>
              <a:t>(</a:t>
            </a:r>
            <a:r>
              <a:rPr lang="en-US" sz="1400" dirty="0" err="1"/>
              <a:t>cust</a:t>
            </a:r>
            <a:r>
              <a:rPr lang="en-US" sz="1400" dirty="0"/>
              <a:t>);</a:t>
            </a:r>
          </a:p>
          <a:p>
            <a:pPr marL="0" indent="0">
              <a:buNone/>
            </a:pPr>
            <a:r>
              <a:rPr lang="ru-RU" sz="1400" dirty="0" smtClean="0">
                <a:solidFill>
                  <a:srgbClr val="00B050"/>
                </a:solidFill>
              </a:rPr>
              <a:t>            </a:t>
            </a:r>
            <a:r>
              <a:rPr lang="ru-RU" sz="1400" dirty="0">
                <a:solidFill>
                  <a:srgbClr val="00B050"/>
                </a:solidFill>
              </a:rPr>
              <a:t>// Сохранить изменения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context.SaveChanges</a:t>
            </a:r>
            <a:r>
              <a:rPr lang="en-US" sz="1400" dirty="0"/>
              <a:t>();</a:t>
            </a:r>
          </a:p>
          <a:p>
            <a:pPr marL="0" indent="0">
              <a:buNone/>
            </a:pPr>
            <a:r>
              <a:rPr lang="ru-RU" sz="1400" dirty="0" smtClean="0">
                <a:solidFill>
                  <a:srgbClr val="00B050"/>
                </a:solidFill>
              </a:rPr>
              <a:t>            </a:t>
            </a:r>
            <a:r>
              <a:rPr lang="ru-RU" sz="1400" dirty="0">
                <a:solidFill>
                  <a:srgbClr val="00B050"/>
                </a:solidFill>
              </a:rPr>
              <a:t>// Проверяем наличие вставленной записи</a:t>
            </a:r>
          </a:p>
          <a:p>
            <a:pPr marL="0" indent="0">
              <a:buNone/>
            </a:pPr>
            <a:r>
              <a:rPr lang="en-US" sz="1400" dirty="0"/>
              <a:t>            Customer </a:t>
            </a:r>
            <a:r>
              <a:rPr lang="en-US" sz="1400" dirty="0" err="1"/>
              <a:t>getcust</a:t>
            </a:r>
            <a:r>
              <a:rPr lang="en-US" sz="1400" dirty="0"/>
              <a:t> = (from c in </a:t>
            </a:r>
            <a:r>
              <a:rPr lang="en-US" sz="1400" dirty="0" err="1"/>
              <a:t>context.Customers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       </a:t>
            </a:r>
            <a:r>
              <a:rPr lang="en-US" sz="1400" dirty="0" smtClean="0"/>
              <a:t> </a:t>
            </a:r>
            <a:r>
              <a:rPr lang="en-US" sz="1400" dirty="0"/>
              <a:t>where </a:t>
            </a:r>
            <a:r>
              <a:rPr lang="en-US" sz="1400" dirty="0" err="1"/>
              <a:t>c.CustomerID</a:t>
            </a:r>
            <a:r>
              <a:rPr lang="en-US" sz="1400" dirty="0"/>
              <a:t> == "ERH85</a:t>
            </a:r>
            <a:r>
              <a:rPr lang="en-US" sz="1400" dirty="0" smtClean="0"/>
              <a:t>" </a:t>
            </a:r>
            <a:r>
              <a:rPr lang="en-US" sz="1400" dirty="0"/>
              <a:t>select c).</a:t>
            </a:r>
            <a:r>
              <a:rPr lang="en-US" sz="1400" dirty="0" err="1"/>
              <a:t>SingleOrDefault</a:t>
            </a:r>
            <a:r>
              <a:rPr lang="en-US" sz="1400" dirty="0"/>
              <a:t>&lt;Customer&gt;();</a:t>
            </a:r>
          </a:p>
          <a:p>
            <a:pPr marL="0" indent="0">
              <a:buNone/>
            </a:pPr>
            <a:r>
              <a:rPr lang="en-US" sz="1400" dirty="0" smtClean="0"/>
              <a:t>            </a:t>
            </a:r>
            <a:r>
              <a:rPr lang="en-US" sz="1400" dirty="0" err="1"/>
              <a:t>foreach</a:t>
            </a:r>
            <a:r>
              <a:rPr lang="en-US" sz="1400" dirty="0"/>
              <a:t> (Order o in </a:t>
            </a:r>
            <a:r>
              <a:rPr lang="en-US" sz="1400" dirty="0" err="1"/>
              <a:t>getcust.Orders</a:t>
            </a:r>
            <a:r>
              <a:rPr lang="en-US" sz="1400" dirty="0" smtClean="0"/>
              <a:t>)                </a:t>
            </a:r>
            <a:r>
              <a:rPr lang="en-US" sz="1400" dirty="0" err="1"/>
              <a:t>Console.WriteLine</a:t>
            </a:r>
            <a:r>
              <a:rPr lang="en-US" sz="1400" dirty="0"/>
              <a:t>("\n  {0} - {1} ", </a:t>
            </a:r>
            <a:r>
              <a:rPr lang="en-US" sz="1400" dirty="0" err="1"/>
              <a:t>o.CustomerID</a:t>
            </a:r>
            <a:r>
              <a:rPr lang="en-US" sz="1400" dirty="0"/>
              <a:t>, </a:t>
            </a:r>
            <a:r>
              <a:rPr lang="en-US" sz="1400" dirty="0" err="1"/>
              <a:t>o.OrderDate</a:t>
            </a:r>
            <a:r>
              <a:rPr lang="en-US" sz="1400" dirty="0"/>
              <a:t>);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020272" y="2780928"/>
            <a:ext cx="175736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smtClean="0">
                <a:latin typeface="Inconsolata"/>
              </a:rPr>
              <a:t>создается </a:t>
            </a:r>
            <a:r>
              <a:rPr lang="ru-RU" sz="1200" dirty="0">
                <a:latin typeface="Inconsolata"/>
              </a:rPr>
              <a:t>новый объект </a:t>
            </a:r>
            <a:r>
              <a:rPr lang="ru-RU" sz="1200" dirty="0" err="1">
                <a:latin typeface="Inconsolata"/>
              </a:rPr>
              <a:t>Customer</a:t>
            </a:r>
            <a:r>
              <a:rPr lang="ru-RU" sz="1200" dirty="0">
                <a:latin typeface="Inconsolata"/>
              </a:rPr>
              <a:t>, а свойство-коллекция </a:t>
            </a:r>
            <a:r>
              <a:rPr lang="ru-RU" sz="1200" dirty="0" err="1">
                <a:latin typeface="Inconsolata"/>
              </a:rPr>
              <a:t>Orders</a:t>
            </a:r>
            <a:r>
              <a:rPr lang="ru-RU" sz="1200" dirty="0">
                <a:latin typeface="Inconsolata"/>
              </a:rPr>
              <a:t> инициализируется единственным новым заказом. </a:t>
            </a:r>
            <a:endParaRPr lang="ru-RU" sz="1200" dirty="0" smtClean="0">
              <a:latin typeface="Inconsolata"/>
            </a:endParaRPr>
          </a:p>
          <a:p>
            <a:r>
              <a:rPr lang="ru-RU" sz="1200" dirty="0" smtClean="0">
                <a:latin typeface="Inconsolata"/>
              </a:rPr>
              <a:t>При </a:t>
            </a:r>
            <a:r>
              <a:rPr lang="ru-RU" sz="1200" dirty="0">
                <a:latin typeface="Inconsolata"/>
              </a:rPr>
              <a:t>вызове метода </a:t>
            </a:r>
            <a:r>
              <a:rPr lang="ru-RU" sz="1200" dirty="0" err="1">
                <a:latin typeface="Inconsolata"/>
              </a:rPr>
              <a:t>SaveChanges</a:t>
            </a:r>
            <a:r>
              <a:rPr lang="ru-RU" sz="1200" dirty="0">
                <a:latin typeface="Inconsolata"/>
              </a:rPr>
              <a:t> объект </a:t>
            </a:r>
            <a:r>
              <a:rPr lang="ru-RU" sz="1200" dirty="0" err="1">
                <a:latin typeface="Inconsolata"/>
              </a:rPr>
              <a:t>ObjectContext</a:t>
            </a:r>
            <a:r>
              <a:rPr lang="ru-RU" sz="1200" dirty="0">
                <a:latin typeface="Inconsolata"/>
              </a:rPr>
              <a:t> сохраняет и </a:t>
            </a:r>
            <a:r>
              <a:rPr lang="ru-RU" sz="1200" dirty="0" err="1">
                <a:latin typeface="Inconsolata"/>
              </a:rPr>
              <a:t>Customers</a:t>
            </a:r>
            <a:r>
              <a:rPr lang="ru-RU" sz="1200" dirty="0">
                <a:latin typeface="Inconsolata"/>
              </a:rPr>
              <a:t>, и </a:t>
            </a:r>
            <a:r>
              <a:rPr lang="ru-RU" sz="1200" dirty="0" err="1">
                <a:latin typeface="Inconsolata"/>
              </a:rPr>
              <a:t>Orders</a:t>
            </a:r>
            <a:r>
              <a:rPr lang="ru-RU" sz="1200" dirty="0">
                <a:latin typeface="Inconsolata"/>
              </a:rPr>
              <a:t>. Явно добавлять </a:t>
            </a:r>
            <a:r>
              <a:rPr lang="ru-RU" sz="1200" dirty="0" err="1">
                <a:latin typeface="Inconsolata"/>
              </a:rPr>
              <a:t>Order</a:t>
            </a:r>
            <a:r>
              <a:rPr lang="ru-RU" sz="1200" dirty="0">
                <a:latin typeface="Inconsolata"/>
              </a:rPr>
              <a:t> в коллекцию </a:t>
            </a:r>
            <a:r>
              <a:rPr lang="ru-RU" sz="1200" dirty="0" err="1">
                <a:latin typeface="Inconsolata"/>
              </a:rPr>
              <a:t>Orders</a:t>
            </a:r>
            <a:r>
              <a:rPr lang="ru-RU" sz="1200" dirty="0">
                <a:latin typeface="Inconsolata"/>
              </a:rPr>
              <a:t> типа </a:t>
            </a:r>
            <a:r>
              <a:rPr lang="ru-RU" sz="1200" dirty="0" err="1">
                <a:latin typeface="Inconsolata"/>
              </a:rPr>
              <a:t>ObjectSet</a:t>
            </a:r>
            <a:r>
              <a:rPr lang="ru-RU" sz="1200" dirty="0">
                <a:latin typeface="Inconsolata"/>
              </a:rPr>
              <a:t> не понадобится.</a:t>
            </a:r>
            <a:endParaRPr lang="en-US" sz="1200" dirty="0"/>
          </a:p>
        </p:txBody>
      </p:sp>
      <p:cxnSp>
        <p:nvCxnSpPr>
          <p:cNvPr id="6" name="Прямая со стрелкой 5"/>
          <p:cNvCxnSpPr/>
          <p:nvPr/>
        </p:nvCxnSpPr>
        <p:spPr>
          <a:xfrm flipH="1" flipV="1">
            <a:off x="2771800" y="2276872"/>
            <a:ext cx="4248472" cy="720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H="1" flipV="1">
            <a:off x="2699792" y="3356992"/>
            <a:ext cx="4392488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H="1">
            <a:off x="2411760" y="4797152"/>
            <a:ext cx="4680520" cy="720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516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Autofit/>
          </a:bodyPr>
          <a:lstStyle/>
          <a:p>
            <a:pPr fontAlgn="base"/>
            <a:r>
              <a:rPr lang="ru-RU" sz="2000" dirty="0"/>
              <a:t>Создавать присоединенные объекты вместе подобным образом не </a:t>
            </a:r>
            <a:r>
              <a:rPr lang="ru-RU" sz="2000" dirty="0" smtClean="0"/>
              <a:t>обязательно</a:t>
            </a:r>
            <a:r>
              <a:rPr lang="en-US" sz="2000" dirty="0" smtClean="0"/>
              <a:t>-</a:t>
            </a:r>
            <a:r>
              <a:rPr lang="ru-RU" sz="2000" dirty="0" smtClean="0"/>
              <a:t>их можно </a:t>
            </a:r>
            <a:r>
              <a:rPr lang="ru-RU" sz="2000" dirty="0"/>
              <a:t>создавать отдельно и затем ассоциировать друг с </a:t>
            </a:r>
            <a:r>
              <a:rPr lang="ru-RU" sz="2000" dirty="0" smtClean="0"/>
              <a:t>другом</a:t>
            </a:r>
            <a:r>
              <a:rPr lang="en-US" sz="2000" dirty="0" smtClean="0"/>
              <a:t> (</a:t>
            </a:r>
            <a:r>
              <a:rPr lang="ru-RU" sz="2000" dirty="0" smtClean="0"/>
              <a:t>видоизмененная </a:t>
            </a:r>
            <a:r>
              <a:rPr lang="ru-RU" sz="2000" dirty="0"/>
              <a:t>часть предыдущего </a:t>
            </a:r>
            <a:r>
              <a:rPr lang="ru-RU" sz="2000" dirty="0" smtClean="0"/>
              <a:t>примера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61662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...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// </a:t>
            </a:r>
            <a:r>
              <a:rPr lang="ru-RU" dirty="0">
                <a:solidFill>
                  <a:srgbClr val="00B050"/>
                </a:solidFill>
              </a:rPr>
              <a:t>Создание объекта </a:t>
            </a:r>
            <a:r>
              <a:rPr lang="en-US" dirty="0">
                <a:solidFill>
                  <a:srgbClr val="00B050"/>
                </a:solidFill>
              </a:rPr>
              <a:t>Customer</a:t>
            </a:r>
          </a:p>
          <a:p>
            <a:pPr marL="0" indent="0">
              <a:buNone/>
            </a:pPr>
            <a:r>
              <a:rPr lang="en-US" dirty="0"/>
              <a:t>            Customer </a:t>
            </a:r>
            <a:r>
              <a:rPr lang="en-US" dirty="0" err="1"/>
              <a:t>cust</a:t>
            </a:r>
            <a:r>
              <a:rPr lang="en-US" dirty="0"/>
              <a:t> = new Customer</a:t>
            </a:r>
          </a:p>
          <a:p>
            <a:pPr marL="0" indent="0">
              <a:buNone/>
            </a:pPr>
            <a:r>
              <a:rPr lang="en-US" dirty="0"/>
              <a:t>            {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CustomerID</a:t>
            </a:r>
            <a:r>
              <a:rPr lang="en-US" dirty="0"/>
              <a:t> = "ERH85</a:t>
            </a:r>
            <a:r>
              <a:rPr lang="en-US" dirty="0" smtClean="0"/>
              <a:t>",  </a:t>
            </a:r>
            <a:r>
              <a:rPr lang="en-US" dirty="0" err="1"/>
              <a:t>CompanyName</a:t>
            </a:r>
            <a:r>
              <a:rPr lang="en-US" dirty="0"/>
              <a:t> = "</a:t>
            </a:r>
            <a:r>
              <a:rPr lang="en-US" dirty="0" err="1"/>
              <a:t>ProfessorWeb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ContactName</a:t>
            </a:r>
            <a:r>
              <a:rPr lang="en-US" dirty="0"/>
              <a:t> = "</a:t>
            </a:r>
            <a:r>
              <a:rPr lang="ru-RU" dirty="0"/>
              <a:t>Александр Ерохин</a:t>
            </a:r>
            <a:r>
              <a:rPr lang="ru-RU" dirty="0" smtClean="0"/>
              <a:t>",</a:t>
            </a:r>
            <a:r>
              <a:rPr lang="en-US" dirty="0" smtClean="0"/>
              <a:t> </a:t>
            </a:r>
            <a:r>
              <a:rPr lang="en-US" dirty="0" err="1"/>
              <a:t>ContactTitle</a:t>
            </a:r>
            <a:r>
              <a:rPr lang="en-US" dirty="0"/>
              <a:t> = "Owner",</a:t>
            </a:r>
          </a:p>
          <a:p>
            <a:pPr marL="0" indent="0">
              <a:buNone/>
            </a:pPr>
            <a:r>
              <a:rPr lang="en-US" dirty="0"/>
              <a:t>                Address = "1017 Maple Leaf</a:t>
            </a:r>
            <a:r>
              <a:rPr lang="en-US" dirty="0" smtClean="0"/>
              <a:t>", </a:t>
            </a:r>
            <a:r>
              <a:rPr lang="en-US" dirty="0"/>
              <a:t>City = "Moscow</a:t>
            </a:r>
            <a:r>
              <a:rPr lang="en-US" dirty="0" smtClean="0"/>
              <a:t>", </a:t>
            </a:r>
            <a:r>
              <a:rPr lang="en-US" dirty="0"/>
              <a:t>Region = "MC",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PostalCode</a:t>
            </a:r>
            <a:r>
              <a:rPr lang="en-US" dirty="0"/>
              <a:t> = "555555</a:t>
            </a:r>
            <a:r>
              <a:rPr lang="en-US" dirty="0" smtClean="0"/>
              <a:t>", </a:t>
            </a:r>
            <a:r>
              <a:rPr lang="en-US" dirty="0"/>
              <a:t>Country = "Russia</a:t>
            </a:r>
            <a:r>
              <a:rPr lang="en-US" dirty="0" smtClean="0"/>
              <a:t>", </a:t>
            </a:r>
            <a:r>
              <a:rPr lang="en-US" dirty="0"/>
              <a:t>Phone = "+7(800)123-4567",</a:t>
            </a:r>
          </a:p>
          <a:p>
            <a:pPr marL="0" indent="0">
              <a:buNone/>
            </a:pPr>
            <a:r>
              <a:rPr lang="en-US" dirty="0"/>
              <a:t>                Fax = "None"                </a:t>
            </a:r>
          </a:p>
          <a:p>
            <a:pPr marL="0" indent="0">
              <a:buNone/>
            </a:pPr>
            <a:r>
              <a:rPr lang="en-US" dirty="0"/>
              <a:t>            };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            </a:t>
            </a:r>
            <a:r>
              <a:rPr lang="ru-RU" dirty="0">
                <a:solidFill>
                  <a:srgbClr val="00B050"/>
                </a:solidFill>
              </a:rPr>
              <a:t>// Создание объекта </a:t>
            </a:r>
            <a:r>
              <a:rPr lang="en-US" dirty="0">
                <a:solidFill>
                  <a:srgbClr val="00B050"/>
                </a:solidFill>
              </a:rPr>
              <a:t>Order</a:t>
            </a:r>
          </a:p>
          <a:p>
            <a:pPr marL="0" indent="0">
              <a:buNone/>
            </a:pPr>
            <a:r>
              <a:rPr lang="en-US" dirty="0"/>
              <a:t>            Order </a:t>
            </a:r>
            <a:r>
              <a:rPr lang="en-US" dirty="0" err="1"/>
              <a:t>order</a:t>
            </a:r>
            <a:r>
              <a:rPr lang="en-US" dirty="0"/>
              <a:t> = new Order {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CustomerID</a:t>
            </a:r>
            <a:r>
              <a:rPr lang="en-US" dirty="0"/>
              <a:t> = "ERH85</a:t>
            </a:r>
            <a:r>
              <a:rPr lang="en-US" dirty="0" smtClean="0"/>
              <a:t>", </a:t>
            </a:r>
            <a:r>
              <a:rPr lang="en-US" dirty="0" err="1"/>
              <a:t>EmployeeID</a:t>
            </a:r>
            <a:r>
              <a:rPr lang="en-US" dirty="0"/>
              <a:t> = 4</a:t>
            </a:r>
            <a:r>
              <a:rPr lang="en-US" dirty="0" smtClean="0"/>
              <a:t>,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OrderDate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DateTime.Now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RequiredDate</a:t>
            </a:r>
            <a:r>
              <a:rPr lang="en-US" dirty="0"/>
              <a:t> = </a:t>
            </a:r>
            <a:r>
              <a:rPr lang="en-US" dirty="0" err="1"/>
              <a:t>DateTime.Now.AddDays</a:t>
            </a:r>
            <a:r>
              <a:rPr lang="en-US" dirty="0"/>
              <a:t>(7),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ShipVia</a:t>
            </a:r>
            <a:r>
              <a:rPr lang="en-US" dirty="0"/>
              <a:t> = 3</a:t>
            </a:r>
            <a:r>
              <a:rPr lang="en-US" dirty="0" smtClean="0"/>
              <a:t>, </a:t>
            </a:r>
            <a:r>
              <a:rPr lang="en-US" dirty="0"/>
              <a:t>Freight = new Decimal(24.66),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ShipName</a:t>
            </a:r>
            <a:r>
              <a:rPr lang="en-US" dirty="0"/>
              <a:t> = "Lawn Wranglers</a:t>
            </a:r>
            <a:r>
              <a:rPr lang="en-US" dirty="0" smtClean="0"/>
              <a:t>", </a:t>
            </a:r>
            <a:r>
              <a:rPr lang="en-US" dirty="0" err="1"/>
              <a:t>ShipAddress</a:t>
            </a:r>
            <a:r>
              <a:rPr lang="en-US" dirty="0"/>
              <a:t> = "1017 Maple Leaf Way",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ShipCity</a:t>
            </a:r>
            <a:r>
              <a:rPr lang="en-US" dirty="0"/>
              <a:t> = "Ft. Worth</a:t>
            </a:r>
            <a:r>
              <a:rPr lang="en-US" dirty="0" smtClean="0"/>
              <a:t>", </a:t>
            </a:r>
            <a:r>
              <a:rPr lang="en-US" dirty="0" err="1"/>
              <a:t>ShipRegion</a:t>
            </a:r>
            <a:r>
              <a:rPr lang="en-US" dirty="0"/>
              <a:t> = "TX",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ShipPostalCode</a:t>
            </a:r>
            <a:r>
              <a:rPr lang="en-US" dirty="0"/>
              <a:t> = "76104</a:t>
            </a:r>
            <a:r>
              <a:rPr lang="en-US" dirty="0" smtClean="0"/>
              <a:t>", </a:t>
            </a:r>
            <a:r>
              <a:rPr lang="en-US" dirty="0" err="1"/>
              <a:t>ShipCountry</a:t>
            </a:r>
            <a:r>
              <a:rPr lang="en-US" dirty="0"/>
              <a:t> = "USA"</a:t>
            </a:r>
          </a:p>
          <a:p>
            <a:pPr marL="0" indent="0">
              <a:buNone/>
            </a:pPr>
            <a:r>
              <a:rPr lang="en-US" dirty="0"/>
              <a:t>                };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            </a:t>
            </a:r>
            <a:r>
              <a:rPr lang="ru-RU" dirty="0">
                <a:solidFill>
                  <a:srgbClr val="00B050"/>
                </a:solidFill>
              </a:rPr>
              <a:t>// Присоединить </a:t>
            </a:r>
            <a:r>
              <a:rPr lang="en-US" dirty="0">
                <a:solidFill>
                  <a:srgbClr val="00B050"/>
                </a:solidFill>
              </a:rPr>
              <a:t>Order </a:t>
            </a:r>
            <a:r>
              <a:rPr lang="ru-RU" dirty="0">
                <a:solidFill>
                  <a:srgbClr val="00B050"/>
                </a:solidFill>
              </a:rPr>
              <a:t>к </a:t>
            </a:r>
            <a:r>
              <a:rPr lang="en-US" dirty="0">
                <a:solidFill>
                  <a:srgbClr val="00B050"/>
                </a:solidFill>
              </a:rPr>
              <a:t>Customer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cust.Orders.Add</a:t>
            </a:r>
            <a:r>
              <a:rPr lang="en-US" dirty="0"/>
              <a:t>(order);</a:t>
            </a:r>
          </a:p>
          <a:p>
            <a:pPr marL="0" indent="0">
              <a:buNone/>
            </a:pPr>
            <a:r>
              <a:rPr lang="en-US" dirty="0"/>
              <a:t>...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092280" y="4941168"/>
            <a:ext cx="1712989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ru-RU" sz="1300" dirty="0" smtClean="0">
                <a:latin typeface="Inconsolata"/>
              </a:rPr>
              <a:t>При </a:t>
            </a:r>
            <a:r>
              <a:rPr lang="ru-RU" sz="1300" dirty="0">
                <a:latin typeface="Inconsolata"/>
              </a:rPr>
              <a:t>вызове метода </a:t>
            </a:r>
            <a:r>
              <a:rPr lang="ru-RU" sz="1300" dirty="0" err="1">
                <a:latin typeface="Inconsolata"/>
              </a:rPr>
              <a:t>SaveChanges</a:t>
            </a:r>
            <a:r>
              <a:rPr lang="ru-RU" sz="1300" dirty="0">
                <a:latin typeface="Inconsolata"/>
              </a:rPr>
              <a:t> объект </a:t>
            </a:r>
            <a:r>
              <a:rPr lang="ru-RU" sz="1300" dirty="0" err="1">
                <a:latin typeface="Inconsolata"/>
              </a:rPr>
              <a:t>ObjectContext</a:t>
            </a:r>
            <a:r>
              <a:rPr lang="ru-RU" sz="1300" dirty="0">
                <a:latin typeface="Inconsolata"/>
              </a:rPr>
              <a:t> обнаруживает новый </a:t>
            </a:r>
            <a:r>
              <a:rPr lang="ru-RU" sz="1300" dirty="0" err="1">
                <a:latin typeface="Inconsolata"/>
              </a:rPr>
              <a:t>Order</a:t>
            </a:r>
            <a:r>
              <a:rPr lang="ru-RU" sz="1300" dirty="0">
                <a:latin typeface="Inconsolata"/>
              </a:rPr>
              <a:t> и сохраняет его в базе данных</a:t>
            </a:r>
            <a:r>
              <a:rPr lang="ru-RU" sz="1300" dirty="0" smtClean="0">
                <a:latin typeface="Inconsolata"/>
              </a:rPr>
              <a:t>.</a:t>
            </a:r>
            <a:endParaRPr lang="ru-RU" sz="1300" dirty="0">
              <a:latin typeface="Inconsolata"/>
            </a:endParaRPr>
          </a:p>
        </p:txBody>
      </p:sp>
    </p:spTree>
    <p:extLst>
      <p:ext uri="{BB962C8B-B14F-4D97-AF65-F5344CB8AC3E}">
        <p14:creationId xmlns:p14="http://schemas.microsoft.com/office/powerpoint/2010/main" val="1856682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fontAlgn="base"/>
            <a:r>
              <a:rPr lang="ru-RU" sz="2400" b="1" dirty="0"/>
              <a:t>Базовые запросы</a:t>
            </a:r>
            <a:br>
              <a:rPr lang="ru-RU" sz="2400" b="1" dirty="0"/>
            </a:br>
            <a:endParaRPr lang="en-US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 smtClean="0"/>
              <a:t>Запросы LINQ </a:t>
            </a:r>
            <a:r>
              <a:rPr lang="ru-RU" sz="1800" dirty="0" err="1"/>
              <a:t>to</a:t>
            </a:r>
            <a:r>
              <a:rPr lang="ru-RU" sz="1800" dirty="0"/>
              <a:t> </a:t>
            </a:r>
            <a:r>
              <a:rPr lang="ru-RU" sz="1800" dirty="0" err="1"/>
              <a:t>Entities</a:t>
            </a:r>
            <a:r>
              <a:rPr lang="ru-RU" sz="1800" dirty="0"/>
              <a:t> возвращают </a:t>
            </a:r>
            <a:r>
              <a:rPr lang="ru-RU" sz="1800" dirty="0" err="1"/>
              <a:t>IQueryable</a:t>
            </a:r>
            <a:r>
              <a:rPr lang="ru-RU" sz="1800" dirty="0"/>
              <a:t>&lt;T&gt;. Результат запроса LINQ </a:t>
            </a:r>
            <a:r>
              <a:rPr lang="ru-RU" sz="1800" dirty="0" err="1"/>
              <a:t>to</a:t>
            </a:r>
            <a:r>
              <a:rPr lang="ru-RU" sz="1800" dirty="0"/>
              <a:t> </a:t>
            </a:r>
            <a:r>
              <a:rPr lang="ru-RU" sz="1800" dirty="0" err="1"/>
              <a:t>Entities</a:t>
            </a:r>
            <a:r>
              <a:rPr lang="ru-RU" sz="1800" dirty="0"/>
              <a:t> можно использовать точно так же, как запрос LINQ </a:t>
            </a:r>
            <a:r>
              <a:rPr lang="ru-RU" sz="1800" dirty="0" err="1"/>
              <a:t>to</a:t>
            </a:r>
            <a:r>
              <a:rPr lang="ru-RU" sz="1800" dirty="0"/>
              <a:t> SQL. </a:t>
            </a:r>
            <a:endParaRPr lang="en-US" sz="1800" dirty="0" smtClean="0"/>
          </a:p>
          <a:p>
            <a:pPr marL="0" indent="0">
              <a:buNone/>
            </a:pPr>
            <a:r>
              <a:rPr lang="ru-RU" sz="1800" dirty="0">
                <a:solidFill>
                  <a:srgbClr val="00B050"/>
                </a:solidFill>
              </a:rPr>
              <a:t>// Создание </a:t>
            </a:r>
            <a:r>
              <a:rPr lang="en-US" sz="1800" dirty="0" err="1">
                <a:solidFill>
                  <a:srgbClr val="00B050"/>
                </a:solidFill>
              </a:rPr>
              <a:t>ObjectContext</a:t>
            </a:r>
            <a:endParaRPr lang="en-US" sz="18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1800" dirty="0"/>
              <a:t>            </a:t>
            </a:r>
            <a:r>
              <a:rPr lang="en-US" sz="1800" dirty="0" err="1"/>
              <a:t>NorthwindEntities</a:t>
            </a:r>
            <a:r>
              <a:rPr lang="en-US" sz="1800" dirty="0"/>
              <a:t> context = new </a:t>
            </a:r>
            <a:r>
              <a:rPr lang="en-US" sz="1800" dirty="0" err="1"/>
              <a:t>NorthwindEntities</a:t>
            </a:r>
            <a:r>
              <a:rPr lang="en-US" sz="1800" dirty="0"/>
              <a:t>();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   </a:t>
            </a:r>
            <a:r>
              <a:rPr lang="en-US" sz="1800" dirty="0" err="1"/>
              <a:t>IQueryable</a:t>
            </a:r>
            <a:r>
              <a:rPr lang="en-US" sz="1800" dirty="0"/>
              <a:t>&lt;Customer&gt; </a:t>
            </a:r>
            <a:r>
              <a:rPr lang="en-US" sz="1800" dirty="0" err="1"/>
              <a:t>custs</a:t>
            </a:r>
            <a:r>
              <a:rPr lang="en-US" sz="1800" dirty="0"/>
              <a:t> = </a:t>
            </a:r>
            <a:r>
              <a:rPr lang="en-US" sz="1800" dirty="0" err="1"/>
              <a:t>context.Customers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                                       .Where(c =&gt; </a:t>
            </a:r>
            <a:r>
              <a:rPr lang="en-US" sz="1800" dirty="0" err="1"/>
              <a:t>c.City</a:t>
            </a:r>
            <a:r>
              <a:rPr lang="en-US" sz="1800" dirty="0"/>
              <a:t> == "London")</a:t>
            </a:r>
          </a:p>
          <a:p>
            <a:pPr marL="0" indent="0">
              <a:buNone/>
            </a:pPr>
            <a:r>
              <a:rPr lang="en-US" sz="1800" dirty="0"/>
              <a:t>                                                .Select(c =&gt; c);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   </a:t>
            </a:r>
            <a:r>
              <a:rPr lang="en-US" sz="1800" dirty="0" err="1"/>
              <a:t>foreach</a:t>
            </a:r>
            <a:r>
              <a:rPr lang="en-US" sz="1800" dirty="0"/>
              <a:t> (Customer </a:t>
            </a:r>
            <a:r>
              <a:rPr lang="en-US" sz="1800" dirty="0" err="1"/>
              <a:t>cust</a:t>
            </a:r>
            <a:r>
              <a:rPr lang="en-US" sz="1800" dirty="0"/>
              <a:t> in </a:t>
            </a:r>
            <a:r>
              <a:rPr lang="en-US" sz="1800" dirty="0" err="1"/>
              <a:t>custs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                </a:t>
            </a:r>
            <a:r>
              <a:rPr lang="en-US" sz="1800" dirty="0" err="1"/>
              <a:t>Console.WriteLine</a:t>
            </a:r>
            <a:r>
              <a:rPr lang="en-US" sz="1800" dirty="0"/>
              <a:t>("</a:t>
            </a:r>
            <a:r>
              <a:rPr lang="ru-RU" sz="1800" dirty="0"/>
              <a:t>Заказчик: {0} ",</a:t>
            </a:r>
            <a:r>
              <a:rPr lang="en-US" sz="1800" dirty="0" err="1"/>
              <a:t>cust.CompanyName</a:t>
            </a:r>
            <a:r>
              <a:rPr lang="en-US" sz="1800" dirty="0"/>
              <a:t>);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444208" y="5085184"/>
            <a:ext cx="255577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Inconsolata"/>
              </a:rPr>
              <a:t>запрос </a:t>
            </a:r>
            <a:r>
              <a:rPr lang="ru-RU" sz="1400" dirty="0">
                <a:latin typeface="Inconsolata"/>
              </a:rPr>
              <a:t>выполняется с использованием свойства </a:t>
            </a:r>
            <a:r>
              <a:rPr lang="ru-RU" sz="1400" dirty="0" err="1">
                <a:latin typeface="Inconsolata"/>
              </a:rPr>
              <a:t>Customers</a:t>
            </a:r>
            <a:r>
              <a:rPr lang="ru-RU" sz="1400" dirty="0">
                <a:latin typeface="Inconsolata"/>
              </a:rPr>
              <a:t> объекта </a:t>
            </a:r>
            <a:r>
              <a:rPr lang="ru-RU" sz="1400" dirty="0" err="1">
                <a:latin typeface="Inconsolata"/>
              </a:rPr>
              <a:t>ObjectContext</a:t>
            </a:r>
            <a:r>
              <a:rPr lang="ru-RU" sz="1400" dirty="0">
                <a:latin typeface="Inconsolata"/>
              </a:rPr>
              <a:t> в качестве источника, а результатом является </a:t>
            </a:r>
            <a:r>
              <a:rPr lang="ru-RU" sz="1400" dirty="0" err="1">
                <a:latin typeface="Inconsolata"/>
              </a:rPr>
              <a:t>IQueryable</a:t>
            </a:r>
            <a:r>
              <a:rPr lang="ru-RU" sz="1400" dirty="0">
                <a:latin typeface="Inconsolata"/>
              </a:rPr>
              <a:t>&lt;</a:t>
            </a:r>
            <a:r>
              <a:rPr lang="ru-RU" sz="1400" dirty="0" err="1">
                <a:latin typeface="Inconsolata"/>
              </a:rPr>
              <a:t>Customer</a:t>
            </a:r>
            <a:r>
              <a:rPr lang="ru-RU" sz="1400" dirty="0" smtClean="0">
                <a:latin typeface="Inconsolata"/>
              </a:rPr>
              <a:t>&gt;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466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pPr fontAlgn="base"/>
            <a:r>
              <a:rPr lang="ru-RU" b="1" dirty="0"/>
              <a:t>Скомпилированные запросы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832648"/>
          </a:xfrm>
        </p:spPr>
        <p:txBody>
          <a:bodyPr>
            <a:normAutofit fontScale="47500" lnSpcReduction="20000"/>
          </a:bodyPr>
          <a:lstStyle/>
          <a:p>
            <a:r>
              <a:rPr lang="ru-RU" dirty="0" smtClean="0"/>
              <a:t>Для </a:t>
            </a:r>
            <a:r>
              <a:rPr lang="ru-RU" dirty="0"/>
              <a:t>повышения производительности LINQ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Entities</a:t>
            </a:r>
            <a:r>
              <a:rPr lang="ru-RU" dirty="0"/>
              <a:t> поддерживает скомпилированные запросы. Статический метод </a:t>
            </a:r>
            <a:r>
              <a:rPr lang="ru-RU" dirty="0" err="1"/>
              <a:t>CompiledQuerу.Compile</a:t>
            </a:r>
            <a:r>
              <a:rPr lang="ru-RU" dirty="0"/>
              <a:t> получает запрос и возвращает </a:t>
            </a:r>
            <a:r>
              <a:rPr lang="ru-RU" dirty="0" err="1"/>
              <a:t>Func</a:t>
            </a:r>
            <a:r>
              <a:rPr lang="ru-RU" dirty="0"/>
              <a:t>, принимающий </a:t>
            </a:r>
            <a:r>
              <a:rPr lang="ru-RU" dirty="0" err="1"/>
              <a:t>ObjectContext</a:t>
            </a:r>
            <a:r>
              <a:rPr lang="ru-RU" dirty="0"/>
              <a:t> и до 16 параметров запроса. </a:t>
            </a:r>
            <a:endParaRPr lang="en-GB" dirty="0" smtClean="0"/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// </a:t>
            </a:r>
            <a:r>
              <a:rPr lang="ru-RU" dirty="0">
                <a:solidFill>
                  <a:srgbClr val="00B050"/>
                </a:solidFill>
              </a:rPr>
              <a:t>Создание </a:t>
            </a:r>
            <a:r>
              <a:rPr lang="en-US" dirty="0" err="1">
                <a:solidFill>
                  <a:srgbClr val="00B050"/>
                </a:solidFill>
              </a:rPr>
              <a:t>ObjectContext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NorthwindEntities</a:t>
            </a:r>
            <a:r>
              <a:rPr lang="en-US" dirty="0"/>
              <a:t> context = new </a:t>
            </a:r>
            <a:r>
              <a:rPr lang="en-US" dirty="0" err="1"/>
              <a:t>NorthwindEntities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            </a:t>
            </a:r>
            <a:r>
              <a:rPr lang="ru-RU" dirty="0">
                <a:solidFill>
                  <a:srgbClr val="00B050"/>
                </a:solidFill>
              </a:rPr>
              <a:t>// Запросить лондонских заказчиков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IQueryable</a:t>
            </a:r>
            <a:r>
              <a:rPr lang="en-US" dirty="0"/>
              <a:t>&lt;Customer&gt; </a:t>
            </a:r>
            <a:r>
              <a:rPr lang="en-US" dirty="0" err="1"/>
              <a:t>londonCustomers</a:t>
            </a:r>
            <a:r>
              <a:rPr lang="en-US" dirty="0"/>
              <a:t> = from customer in </a:t>
            </a:r>
            <a:r>
              <a:rPr lang="en-US" dirty="0" err="1"/>
              <a:t>context.Customers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where </a:t>
            </a:r>
            <a:r>
              <a:rPr lang="en-US" dirty="0" err="1"/>
              <a:t>customer.City</a:t>
            </a:r>
            <a:r>
              <a:rPr lang="en-US" dirty="0"/>
              <a:t> == "LONDON"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select customer;</a:t>
            </a:r>
          </a:p>
          <a:p>
            <a:pPr marL="0" indent="0">
              <a:buNone/>
            </a:pPr>
            <a:r>
              <a:rPr lang="en-US" dirty="0" smtClean="0"/>
              <a:t>            </a:t>
            </a:r>
            <a:r>
              <a:rPr lang="en-US" dirty="0" err="1"/>
              <a:t>foreach</a:t>
            </a:r>
            <a:r>
              <a:rPr lang="en-US" dirty="0"/>
              <a:t> (Customer </a:t>
            </a:r>
            <a:r>
              <a:rPr lang="en-US" dirty="0" err="1"/>
              <a:t>cust</a:t>
            </a:r>
            <a:r>
              <a:rPr lang="en-US" dirty="0"/>
              <a:t> in </a:t>
            </a:r>
            <a:r>
              <a:rPr lang="en-US" dirty="0" err="1"/>
              <a:t>londonCustomers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  {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Заказчик из Лондона: {0}", </a:t>
            </a:r>
            <a:r>
              <a:rPr lang="en-US" dirty="0" err="1"/>
              <a:t>cust.CompanyName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    }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            </a:t>
            </a:r>
            <a:r>
              <a:rPr lang="ru-RU" dirty="0">
                <a:solidFill>
                  <a:srgbClr val="00B050"/>
                </a:solidFill>
              </a:rPr>
              <a:t>// Запросить парижских заказчиков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IQueryable</a:t>
            </a:r>
            <a:r>
              <a:rPr lang="en-US" dirty="0"/>
              <a:t>&lt;Customer&gt; </a:t>
            </a:r>
            <a:r>
              <a:rPr lang="en-US" dirty="0" err="1"/>
              <a:t>parisCustomers</a:t>
            </a:r>
            <a:r>
              <a:rPr lang="en-US" dirty="0"/>
              <a:t> = from customer in </a:t>
            </a:r>
            <a:r>
              <a:rPr lang="en-US" dirty="0" err="1"/>
              <a:t>context.Customers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where </a:t>
            </a:r>
            <a:r>
              <a:rPr lang="en-US" dirty="0" err="1"/>
              <a:t>customer.City</a:t>
            </a:r>
            <a:r>
              <a:rPr lang="en-US" dirty="0"/>
              <a:t> == "PARIS"</a:t>
            </a:r>
          </a:p>
          <a:p>
            <a:pPr marL="0" indent="0">
              <a:buNone/>
            </a:pPr>
            <a:r>
              <a:rPr lang="en-US" dirty="0"/>
              <a:t>                                                  select customer;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smtClean="0"/>
              <a:t>            </a:t>
            </a:r>
            <a:r>
              <a:rPr lang="en-US" dirty="0" err="1"/>
              <a:t>foreach</a:t>
            </a:r>
            <a:r>
              <a:rPr lang="en-US" dirty="0"/>
              <a:t> (Customer </a:t>
            </a:r>
            <a:r>
              <a:rPr lang="en-US" dirty="0" err="1"/>
              <a:t>cust</a:t>
            </a:r>
            <a:r>
              <a:rPr lang="en-US" dirty="0"/>
              <a:t> in </a:t>
            </a:r>
            <a:r>
              <a:rPr lang="en-US" dirty="0" err="1"/>
              <a:t>parisCustomers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  {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Заказчик из Парижа: {0}", </a:t>
            </a:r>
            <a:r>
              <a:rPr lang="en-US" dirty="0" err="1"/>
              <a:t>cust.CompanyName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    }</a:t>
            </a:r>
            <a:r>
              <a:rPr lang="ru-RU" dirty="0"/>
              <a:t/>
            </a:r>
            <a:br>
              <a:rPr lang="ru-RU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283968" y="6021288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>
                <a:latin typeface="Inconsolata"/>
              </a:rPr>
              <a:t>Для каждого города определяется один и тот же запрос, меняется только название. 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7014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556796"/>
          </a:xfrm>
        </p:spPr>
        <p:txBody>
          <a:bodyPr>
            <a:normAutofit/>
          </a:bodyPr>
          <a:lstStyle/>
          <a:p>
            <a:r>
              <a:rPr lang="ru-RU" sz="1800" dirty="0"/>
              <a:t>Чтобы создать скомпилированную версию запроса из предыдущего примера, вызывается метод </a:t>
            </a:r>
            <a:r>
              <a:rPr lang="ru-RU" sz="1800" b="1" dirty="0" err="1" smtClean="0"/>
              <a:t>CompiledQuery.Compile</a:t>
            </a:r>
            <a:r>
              <a:rPr lang="ru-RU" sz="1800" dirty="0" smtClean="0"/>
              <a:t>. </a:t>
            </a:r>
            <a:r>
              <a:rPr lang="ru-RU" sz="1800" dirty="0"/>
              <a:t>Первый аргумент — всегда </a:t>
            </a:r>
            <a:r>
              <a:rPr lang="ru-RU" sz="1800" dirty="0" err="1"/>
              <a:t>ObjectContext</a:t>
            </a:r>
            <a:r>
              <a:rPr lang="ru-RU" sz="1800" dirty="0"/>
              <a:t> для сущностной модели данных. Последний аргумент — это результат </a:t>
            </a:r>
            <a:r>
              <a:rPr lang="ru-RU" sz="1800" dirty="0" smtClean="0"/>
              <a:t>опроса</a:t>
            </a:r>
            <a:r>
              <a:rPr lang="en-GB" sz="1800" dirty="0" smtClean="0"/>
              <a:t> (</a:t>
            </a:r>
            <a:r>
              <a:rPr lang="ru-RU" sz="1800" dirty="0" smtClean="0"/>
              <a:t>в </a:t>
            </a:r>
            <a:r>
              <a:rPr lang="ru-RU" sz="1800" dirty="0"/>
              <a:t>данном случае </a:t>
            </a:r>
            <a:r>
              <a:rPr lang="ru-RU" sz="1800" dirty="0" err="1"/>
              <a:t>IQueryable</a:t>
            </a:r>
            <a:r>
              <a:rPr lang="ru-RU" sz="1800" dirty="0"/>
              <a:t>&lt;</a:t>
            </a:r>
            <a:r>
              <a:rPr lang="ru-RU" sz="1800" dirty="0" err="1"/>
              <a:t>Customer</a:t>
            </a:r>
            <a:r>
              <a:rPr lang="ru-RU" sz="1800" dirty="0" smtClean="0"/>
              <a:t>&gt;</a:t>
            </a:r>
            <a:r>
              <a:rPr lang="en-GB" sz="1800" dirty="0" smtClean="0"/>
              <a:t>)</a:t>
            </a:r>
            <a:r>
              <a:rPr lang="ru-RU" sz="1800" dirty="0" smtClean="0"/>
              <a:t>. </a:t>
            </a:r>
            <a:r>
              <a:rPr lang="ru-RU" sz="1800" dirty="0"/>
              <a:t>Прочие аргументы — параметры, которые необходимо передать запросу, чтобы сделать его многократно </a:t>
            </a:r>
            <a:r>
              <a:rPr lang="ru-RU" sz="1800" dirty="0" smtClean="0"/>
              <a:t>используемым</a:t>
            </a:r>
            <a:endParaRPr lang="en-GB" sz="1800" dirty="0" smtClean="0"/>
          </a:p>
          <a:p>
            <a:pPr marL="0" indent="0">
              <a:buNone/>
            </a:pPr>
            <a:r>
              <a:rPr lang="ru-RU" sz="1800" dirty="0" smtClean="0"/>
              <a:t> </a:t>
            </a:r>
            <a:endParaRPr lang="en-GB" sz="1800" dirty="0" smtClean="0"/>
          </a:p>
          <a:p>
            <a:pPr marL="0" indent="0">
              <a:buNone/>
            </a:pPr>
            <a:r>
              <a:rPr lang="en-US" sz="1800" dirty="0" err="1" smtClean="0"/>
              <a:t>Func</a:t>
            </a:r>
            <a:r>
              <a:rPr lang="en-US" sz="1800" dirty="0" smtClean="0"/>
              <a:t>&lt;</a:t>
            </a:r>
            <a:r>
              <a:rPr lang="en-US" sz="1800" dirty="0" err="1" smtClean="0"/>
              <a:t>NorthwindEntities</a:t>
            </a:r>
            <a:r>
              <a:rPr lang="en-US" sz="1800" dirty="0"/>
              <a:t>, string, </a:t>
            </a:r>
            <a:r>
              <a:rPr lang="en-US" sz="1800" dirty="0" err="1"/>
              <a:t>IQueryable</a:t>
            </a:r>
            <a:r>
              <a:rPr lang="en-US" sz="1800" dirty="0"/>
              <a:t>&lt;Customer&gt;&gt; </a:t>
            </a:r>
            <a:r>
              <a:rPr lang="en-US" sz="1800" dirty="0" err="1"/>
              <a:t>compiledQuery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       = </a:t>
            </a:r>
            <a:r>
              <a:rPr lang="en-US" sz="1800" dirty="0" err="1"/>
              <a:t>CompiledQuery.Compile</a:t>
            </a:r>
            <a:r>
              <a:rPr lang="en-US" sz="1800" dirty="0"/>
              <a:t>&lt;</a:t>
            </a:r>
            <a:r>
              <a:rPr lang="en-US" sz="1800" dirty="0" err="1"/>
              <a:t>NorthwindEntities</a:t>
            </a:r>
            <a:r>
              <a:rPr lang="en-US" sz="1800" dirty="0"/>
              <a:t>, string, </a:t>
            </a:r>
            <a:r>
              <a:rPr lang="en-US" sz="1800" dirty="0" err="1"/>
              <a:t>IQueryable</a:t>
            </a:r>
            <a:r>
              <a:rPr lang="en-US" sz="1800" dirty="0"/>
              <a:t>&lt;Customer&gt;&gt;(</a:t>
            </a:r>
          </a:p>
          <a:p>
            <a:pPr marL="0" indent="0">
              <a:buNone/>
            </a:pPr>
            <a:r>
              <a:rPr lang="en-US" sz="1800" dirty="0"/>
              <a:t>                    (</a:t>
            </a:r>
            <a:r>
              <a:rPr lang="en-US" sz="1800" dirty="0" err="1"/>
              <a:t>ctx</a:t>
            </a:r>
            <a:r>
              <a:rPr lang="en-US" sz="1800" dirty="0"/>
              <a:t>, city) =&gt;</a:t>
            </a:r>
          </a:p>
          <a:p>
            <a:pPr marL="0" indent="0">
              <a:buNone/>
            </a:pPr>
            <a:r>
              <a:rPr lang="en-US" sz="1800" dirty="0"/>
              <a:t>                        from customer in </a:t>
            </a:r>
            <a:r>
              <a:rPr lang="en-US" sz="1800" dirty="0" err="1"/>
              <a:t>ctx.Customers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               where </a:t>
            </a:r>
            <a:r>
              <a:rPr lang="en-US" sz="1800" dirty="0" err="1"/>
              <a:t>customer.City</a:t>
            </a:r>
            <a:r>
              <a:rPr lang="en-US" sz="1800" dirty="0"/>
              <a:t> == city</a:t>
            </a:r>
          </a:p>
          <a:p>
            <a:pPr marL="0" indent="0">
              <a:buNone/>
            </a:pPr>
            <a:r>
              <a:rPr lang="en-US" sz="1800" dirty="0"/>
              <a:t>                        select customer);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090857" y="4365104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dirty="0">
                <a:latin typeface="Inconsolata"/>
              </a:rPr>
              <a:t>Возвращаемым типом метода </a:t>
            </a:r>
            <a:r>
              <a:rPr lang="ru-RU" sz="1600" dirty="0" err="1">
                <a:latin typeface="Inconsolata"/>
              </a:rPr>
              <a:t>Compile</a:t>
            </a:r>
            <a:r>
              <a:rPr lang="ru-RU" sz="1600" dirty="0">
                <a:latin typeface="Inconsolata"/>
              </a:rPr>
              <a:t> является </a:t>
            </a:r>
            <a:r>
              <a:rPr lang="ru-RU" sz="1600" dirty="0" err="1">
                <a:latin typeface="Inconsolata"/>
              </a:rPr>
              <a:t>Func</a:t>
            </a:r>
            <a:r>
              <a:rPr lang="ru-RU" sz="1600" dirty="0">
                <a:latin typeface="Inconsolata"/>
              </a:rPr>
              <a:t>, строго типизированный в соответствии с типами, указанными для метода </a:t>
            </a:r>
            <a:r>
              <a:rPr lang="ru-RU" sz="1600" dirty="0" err="1">
                <a:latin typeface="Inconsolata"/>
              </a:rPr>
              <a:t>Compile</a:t>
            </a:r>
            <a:r>
              <a:rPr lang="ru-RU" sz="1600" dirty="0">
                <a:latin typeface="Inconsolata"/>
              </a:rPr>
              <a:t>. В нашем случае получается </a:t>
            </a:r>
            <a:r>
              <a:rPr lang="ru-RU" sz="1600" dirty="0" err="1">
                <a:latin typeface="Inconsolata"/>
              </a:rPr>
              <a:t>Func</a:t>
            </a:r>
            <a:r>
              <a:rPr lang="ru-RU" sz="1600" dirty="0">
                <a:latin typeface="Inconsolata"/>
              </a:rPr>
              <a:t>&lt;</a:t>
            </a:r>
            <a:r>
              <a:rPr lang="ru-RU" sz="1600" dirty="0" err="1">
                <a:latin typeface="Inconsolata"/>
              </a:rPr>
              <a:t>NorthwindEntities</a:t>
            </a:r>
            <a:r>
              <a:rPr lang="ru-RU" sz="1600" dirty="0">
                <a:latin typeface="Inconsolata"/>
              </a:rPr>
              <a:t>, </a:t>
            </a:r>
            <a:r>
              <a:rPr lang="ru-RU" sz="1600" dirty="0" err="1">
                <a:latin typeface="Inconsolata"/>
              </a:rPr>
              <a:t>String</a:t>
            </a:r>
            <a:r>
              <a:rPr lang="ru-RU" sz="1600" dirty="0">
                <a:latin typeface="Inconsolata"/>
              </a:rPr>
              <a:t>, </a:t>
            </a:r>
            <a:r>
              <a:rPr lang="ru-RU" sz="1600" dirty="0" err="1">
                <a:latin typeface="Inconsolata"/>
              </a:rPr>
              <a:t>IQueryable</a:t>
            </a:r>
            <a:r>
              <a:rPr lang="ru-RU" sz="1600" dirty="0">
                <a:latin typeface="Inconsolata"/>
              </a:rPr>
              <a:t>&lt;</a:t>
            </a:r>
            <a:r>
              <a:rPr lang="ru-RU" sz="1600" dirty="0" err="1">
                <a:latin typeface="Inconsolata"/>
              </a:rPr>
              <a:t>Customer</a:t>
            </a:r>
            <a:r>
              <a:rPr lang="ru-RU" sz="1600" dirty="0">
                <a:latin typeface="Inconsolata"/>
              </a:rPr>
              <a:t>&gt;&gt;. Теперь для повторного использования запроса просто вызывается функция и передаются </a:t>
            </a:r>
            <a:r>
              <a:rPr lang="ru-RU" sz="1600" dirty="0" smtClean="0">
                <a:latin typeface="Inconsolata"/>
              </a:rPr>
              <a:t>параметры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54906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60649"/>
            <a:ext cx="8229600" cy="518457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// Создание </a:t>
            </a:r>
            <a:r>
              <a:rPr lang="en-US" dirty="0" err="1">
                <a:solidFill>
                  <a:srgbClr val="00B050"/>
                </a:solidFill>
              </a:rPr>
              <a:t>ObjectContext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NorthwindEntities</a:t>
            </a:r>
            <a:r>
              <a:rPr lang="en-US" dirty="0"/>
              <a:t> context = new </a:t>
            </a:r>
            <a:r>
              <a:rPr lang="en-US" dirty="0" err="1"/>
              <a:t>NorthwindEntities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Скомпилированный запрос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Func</a:t>
            </a:r>
            <a:r>
              <a:rPr lang="en-US" dirty="0"/>
              <a:t>&lt;</a:t>
            </a:r>
            <a:r>
              <a:rPr lang="en-US" dirty="0" err="1"/>
              <a:t>NorthwindEntities</a:t>
            </a:r>
            <a:r>
              <a:rPr lang="en-US" dirty="0"/>
              <a:t>, string, </a:t>
            </a:r>
            <a:r>
              <a:rPr lang="en-US" dirty="0" err="1"/>
              <a:t>IQueryable</a:t>
            </a:r>
            <a:r>
              <a:rPr lang="en-US" dirty="0"/>
              <a:t>&lt;Customer&gt;&gt; </a:t>
            </a:r>
            <a:r>
              <a:rPr lang="en-US" dirty="0" err="1"/>
              <a:t>compiledQuery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= </a:t>
            </a:r>
            <a:r>
              <a:rPr lang="en-US" dirty="0" err="1"/>
              <a:t>CompiledQuery.Compile</a:t>
            </a:r>
            <a:r>
              <a:rPr lang="en-US" dirty="0"/>
              <a:t>&lt;</a:t>
            </a:r>
            <a:r>
              <a:rPr lang="en-US" dirty="0" err="1"/>
              <a:t>NorthwindEntities</a:t>
            </a:r>
            <a:r>
              <a:rPr lang="en-US" dirty="0"/>
              <a:t>, string, </a:t>
            </a:r>
            <a:r>
              <a:rPr lang="en-US" dirty="0" err="1"/>
              <a:t>IQueryable</a:t>
            </a:r>
            <a:r>
              <a:rPr lang="en-US" dirty="0"/>
              <a:t>&lt;Customer&gt;&gt;(</a:t>
            </a:r>
          </a:p>
          <a:p>
            <a:pPr marL="0" indent="0">
              <a:buNone/>
            </a:pPr>
            <a:r>
              <a:rPr lang="en-US" dirty="0"/>
              <a:t>                    (</a:t>
            </a:r>
            <a:r>
              <a:rPr lang="en-US" dirty="0" err="1"/>
              <a:t>ctx</a:t>
            </a:r>
            <a:r>
              <a:rPr lang="en-US" dirty="0"/>
              <a:t>, city) =&gt;</a:t>
            </a:r>
          </a:p>
          <a:p>
            <a:pPr marL="0" indent="0">
              <a:buNone/>
            </a:pPr>
            <a:r>
              <a:rPr lang="en-US" dirty="0"/>
              <a:t>                        from customer in </a:t>
            </a:r>
            <a:r>
              <a:rPr lang="en-US" dirty="0" err="1"/>
              <a:t>ctx.Customers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where </a:t>
            </a:r>
            <a:r>
              <a:rPr lang="en-US" dirty="0" err="1"/>
              <a:t>customer.City</a:t>
            </a:r>
            <a:r>
              <a:rPr lang="en-US" dirty="0"/>
              <a:t> == city</a:t>
            </a:r>
          </a:p>
          <a:p>
            <a:pPr marL="0" indent="0">
              <a:buNone/>
            </a:pPr>
            <a:r>
              <a:rPr lang="en-US" dirty="0"/>
              <a:t>                        select customer);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Интересующие города</a:t>
            </a:r>
          </a:p>
          <a:p>
            <a:pPr marL="0" indent="0">
              <a:buNone/>
            </a:pPr>
            <a:r>
              <a:rPr lang="en-US" dirty="0"/>
              <a:t>            string[] cities = new string[] { "London", "Paris" 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foreach</a:t>
            </a:r>
            <a:r>
              <a:rPr lang="en-US" dirty="0"/>
              <a:t> (string city in cities)</a:t>
            </a:r>
          </a:p>
          <a:p>
            <a:pPr marL="0" indent="0">
              <a:buNone/>
            </a:pPr>
            <a:r>
              <a:rPr lang="en-US" dirty="0"/>
              <a:t>            {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IQueryable</a:t>
            </a:r>
            <a:r>
              <a:rPr lang="en-US" dirty="0"/>
              <a:t>&lt;Customer&gt; </a:t>
            </a:r>
            <a:r>
              <a:rPr lang="en-US" dirty="0" err="1"/>
              <a:t>custs</a:t>
            </a:r>
            <a:r>
              <a:rPr lang="en-US" dirty="0"/>
              <a:t> = </a:t>
            </a:r>
            <a:r>
              <a:rPr lang="en-US" dirty="0" err="1"/>
              <a:t>compiledQuery</a:t>
            </a:r>
            <a:r>
              <a:rPr lang="en-US" dirty="0"/>
              <a:t>(context, city);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foreach</a:t>
            </a:r>
            <a:r>
              <a:rPr lang="en-US" dirty="0"/>
              <a:t> (Customer c in </a:t>
            </a:r>
            <a:r>
              <a:rPr lang="en-US" dirty="0" err="1"/>
              <a:t>custs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Заказчик из {0} : {1}", </a:t>
            </a:r>
            <a:r>
              <a:rPr lang="en-US" dirty="0" err="1"/>
              <a:t>c.City</a:t>
            </a:r>
            <a:r>
              <a:rPr lang="en-US" dirty="0"/>
              <a:t>, </a:t>
            </a:r>
            <a:r>
              <a:rPr lang="en-US" dirty="0" err="1"/>
              <a:t>c.CompanyName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    }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635896" y="5085184"/>
            <a:ext cx="543609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Inconsolata"/>
              </a:rPr>
              <a:t>определяем </a:t>
            </a:r>
            <a:r>
              <a:rPr lang="ru-RU" sz="1400" dirty="0">
                <a:latin typeface="Inconsolata"/>
              </a:rPr>
              <a:t>функцию компилированного запроса и затем вызываем ее для каждого интересующего нас города. </a:t>
            </a:r>
            <a:endParaRPr lang="en-GB" sz="1400" dirty="0" smtClean="0">
              <a:latin typeface="Inconsolata"/>
            </a:endParaRPr>
          </a:p>
          <a:p>
            <a:r>
              <a:rPr lang="ru-RU" sz="1400" dirty="0" smtClean="0">
                <a:latin typeface="Inconsolata"/>
              </a:rPr>
              <a:t>Запрос </a:t>
            </a:r>
            <a:r>
              <a:rPr lang="ru-RU" sz="1400" dirty="0">
                <a:latin typeface="Inconsolata"/>
              </a:rPr>
              <a:t>компилируется при первом его использовании, что обеспечивает повышение производительности, — особенно для сложных запросов.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83775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897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Просмотр оператора </a:t>
            </a:r>
            <a:r>
              <a:rPr lang="ru-RU" b="1" dirty="0" smtClean="0"/>
              <a:t>SQL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829" y="933613"/>
            <a:ext cx="8765651" cy="314346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// </a:t>
            </a:r>
            <a:r>
              <a:rPr lang="ru-RU" dirty="0">
                <a:solidFill>
                  <a:srgbClr val="00B050"/>
                </a:solidFill>
              </a:rPr>
              <a:t>Создание </a:t>
            </a:r>
            <a:r>
              <a:rPr lang="en-US" dirty="0" err="1">
                <a:solidFill>
                  <a:srgbClr val="00B050"/>
                </a:solidFill>
              </a:rPr>
              <a:t>ObjectContext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NorthwindEntities</a:t>
            </a:r>
            <a:r>
              <a:rPr lang="en-US" dirty="0"/>
              <a:t> context = new </a:t>
            </a:r>
            <a:r>
              <a:rPr lang="en-US" dirty="0" err="1"/>
              <a:t>NorthwindEntities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Запросить лондонских заказчиков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IQueryable</a:t>
            </a:r>
            <a:r>
              <a:rPr lang="en-US" dirty="0"/>
              <a:t>&lt;Customer&gt; </a:t>
            </a:r>
            <a:r>
              <a:rPr lang="en-US" dirty="0" err="1"/>
              <a:t>londonCustomers</a:t>
            </a:r>
            <a:r>
              <a:rPr lang="en-US" dirty="0"/>
              <a:t> = from customer in </a:t>
            </a:r>
            <a:r>
              <a:rPr lang="en-US" dirty="0" err="1"/>
              <a:t>context.Customers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where </a:t>
            </a:r>
            <a:r>
              <a:rPr lang="en-US" dirty="0" err="1"/>
              <a:t>customer.City</a:t>
            </a:r>
            <a:r>
              <a:rPr lang="en-US" dirty="0"/>
              <a:t> == "LONDON"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select customer;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Удостовериться, что соединение с базой данных открыто</a:t>
            </a:r>
          </a:p>
          <a:p>
            <a:pPr marL="0" indent="0">
              <a:buNone/>
            </a:pPr>
            <a:r>
              <a:rPr lang="en-US" dirty="0"/>
              <a:t>            if (</a:t>
            </a:r>
            <a:r>
              <a:rPr lang="en-US" dirty="0" err="1"/>
              <a:t>context.Connection.State</a:t>
            </a:r>
            <a:r>
              <a:rPr lang="en-US" dirty="0"/>
              <a:t> != </a:t>
            </a:r>
            <a:r>
              <a:rPr lang="en-US" dirty="0" err="1"/>
              <a:t>ConnectionState.Open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context.Connection.Open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</a:t>
            </a:r>
            <a:r>
              <a:rPr lang="ru-RU" dirty="0" err="1">
                <a:solidFill>
                  <a:srgbClr val="00B050"/>
                </a:solidFill>
              </a:rPr>
              <a:t>Отобразиь</a:t>
            </a:r>
            <a:r>
              <a:rPr lang="ru-RU" dirty="0">
                <a:solidFill>
                  <a:srgbClr val="00B050"/>
                </a:solidFill>
              </a:rPr>
              <a:t> оператор </a:t>
            </a:r>
            <a:r>
              <a:rPr lang="en-US" dirty="0">
                <a:solidFill>
                  <a:srgbClr val="00B050"/>
                </a:solidFill>
              </a:rPr>
              <a:t>SQL</a:t>
            </a:r>
          </a:p>
          <a:p>
            <a:pPr marL="0" indent="0">
              <a:buNone/>
            </a:pPr>
            <a:r>
              <a:rPr lang="en-US" dirty="0"/>
              <a:t>            string </a:t>
            </a:r>
            <a:r>
              <a:rPr lang="en-US" dirty="0" err="1"/>
              <a:t>sql</a:t>
            </a:r>
            <a:r>
              <a:rPr lang="en-US" dirty="0"/>
              <a:t> = (</a:t>
            </a:r>
            <a:r>
              <a:rPr lang="en-US" dirty="0" err="1"/>
              <a:t>londonCustomers</a:t>
            </a:r>
            <a:r>
              <a:rPr lang="en-US" dirty="0"/>
              <a:t> as </a:t>
            </a:r>
            <a:r>
              <a:rPr lang="en-US" dirty="0" err="1"/>
              <a:t>ObjectQuery</a:t>
            </a:r>
            <a:r>
              <a:rPr lang="en-US" dirty="0"/>
              <a:t>).</a:t>
            </a:r>
            <a:r>
              <a:rPr lang="en-US" dirty="0" err="1"/>
              <a:t>ToTraceString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</a:t>
            </a:r>
            <a:r>
              <a:rPr lang="en-US" dirty="0" err="1"/>
              <a:t>sql</a:t>
            </a:r>
            <a:r>
              <a:rPr lang="en-US" dirty="0"/>
              <a:t>);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796136" y="2204864"/>
            <a:ext cx="3240361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ru-RU" sz="1400" dirty="0" smtClean="0">
                <a:latin typeface="Inconsolata"/>
              </a:rPr>
              <a:t>не </a:t>
            </a:r>
            <a:r>
              <a:rPr lang="ru-RU" sz="1400" dirty="0">
                <a:latin typeface="Inconsolata"/>
              </a:rPr>
              <a:t>имея открытого соединения, вы получите исключение, если попытаетесь получить оператор SQL из запроса.</a:t>
            </a:r>
          </a:p>
          <a:p>
            <a:pPr algn="just" fontAlgn="base"/>
            <a:r>
              <a:rPr lang="ru-RU" sz="1400" dirty="0">
                <a:latin typeface="Inconsolata"/>
              </a:rPr>
              <a:t>Чтобы получить оператор SQL, результирующее перечисление из LINQ-запроса </a:t>
            </a:r>
            <a:r>
              <a:rPr lang="ru-RU" sz="1400" dirty="0" err="1">
                <a:latin typeface="Inconsolata"/>
              </a:rPr>
              <a:t>IQueryable</a:t>
            </a:r>
            <a:r>
              <a:rPr lang="ru-RU" sz="1400" dirty="0">
                <a:latin typeface="Inconsolata"/>
              </a:rPr>
              <a:t>&lt;</a:t>
            </a:r>
            <a:r>
              <a:rPr lang="ru-RU" sz="1400" dirty="0" err="1">
                <a:latin typeface="Inconsolata"/>
              </a:rPr>
              <a:t>Customer</a:t>
            </a:r>
            <a:r>
              <a:rPr lang="ru-RU" sz="1400" dirty="0">
                <a:latin typeface="Inconsolata"/>
              </a:rPr>
              <a:t>&gt; приводится к </a:t>
            </a:r>
            <a:r>
              <a:rPr lang="ru-RU" sz="1400" dirty="0" err="1">
                <a:latin typeface="Inconsolata"/>
              </a:rPr>
              <a:t>ObjectQuery</a:t>
            </a:r>
            <a:r>
              <a:rPr lang="ru-RU" sz="1400" dirty="0">
                <a:latin typeface="Inconsolata"/>
              </a:rPr>
              <a:t> и вызывается метод </a:t>
            </a:r>
            <a:r>
              <a:rPr lang="ru-RU" sz="1400" dirty="0" err="1">
                <a:latin typeface="Inconsolata"/>
              </a:rPr>
              <a:t>ToTraceString</a:t>
            </a:r>
            <a:r>
              <a:rPr lang="ru-RU" sz="1400" dirty="0">
                <a:latin typeface="Inconsolata"/>
              </a:rPr>
              <a:t>. Он возвращает строку, содержащую оператор SQL, в который транслируется запрос, и строка затем выводится на консоль. </a:t>
            </a:r>
            <a:endParaRPr lang="ru-RU" sz="1400" b="0" i="0" dirty="0">
              <a:effectLst/>
              <a:latin typeface="Inconsolata"/>
            </a:endParaRPr>
          </a:p>
        </p:txBody>
      </p:sp>
      <p:pic>
        <p:nvPicPr>
          <p:cNvPr id="2050" name="Picture 2" descr="Отображение оператора SQL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383" b="14605"/>
          <a:stretch/>
        </p:blipFill>
        <p:spPr bwMode="auto">
          <a:xfrm>
            <a:off x="755576" y="4365104"/>
            <a:ext cx="3480321" cy="206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355976" y="836712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 smtClean="0">
                <a:latin typeface="Inconsolata"/>
              </a:rPr>
              <a:t>предпочтительнее </a:t>
            </a:r>
            <a:r>
              <a:rPr lang="ru-RU" sz="1200" dirty="0">
                <a:latin typeface="Inconsolata"/>
              </a:rPr>
              <a:t>пользоваться инструментом профилирования </a:t>
            </a:r>
            <a:r>
              <a:rPr lang="ru-RU" sz="1200" b="1" dirty="0">
                <a:latin typeface="Inconsolata"/>
              </a:rPr>
              <a:t>SQL </a:t>
            </a:r>
            <a:r>
              <a:rPr lang="ru-RU" sz="1200" b="1" dirty="0" err="1">
                <a:latin typeface="Inconsolata"/>
              </a:rPr>
              <a:t>Server</a:t>
            </a:r>
            <a:r>
              <a:rPr lang="ru-RU" sz="1200" b="1" dirty="0">
                <a:latin typeface="Inconsolata"/>
              </a:rPr>
              <a:t> </a:t>
            </a:r>
            <a:r>
              <a:rPr lang="ru-RU" sz="1200" b="1" dirty="0" err="1" smtClean="0">
                <a:latin typeface="Inconsolata"/>
              </a:rPr>
              <a:t>Profiler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2840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Загрузка связанных </a:t>
            </a:r>
            <a:r>
              <a:rPr lang="ru-RU" b="1" dirty="0" smtClean="0"/>
              <a:t>объектов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71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"Ленивая" </a:t>
            </a:r>
            <a:r>
              <a:rPr lang="ru-RU" b="1" dirty="0" smtClean="0"/>
              <a:t>загрузка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836713"/>
            <a:ext cx="8470776" cy="4817278"/>
          </a:xfrm>
        </p:spPr>
        <p:txBody>
          <a:bodyPr>
            <a:normAutofit fontScale="47500" lnSpcReduction="20000"/>
          </a:bodyPr>
          <a:lstStyle/>
          <a:p>
            <a:pPr marL="0" indent="0" fontAlgn="base">
              <a:buNone/>
            </a:pPr>
            <a:r>
              <a:rPr lang="ru-RU" dirty="0" smtClean="0"/>
              <a:t>"</a:t>
            </a:r>
            <a:r>
              <a:rPr lang="ru-RU" dirty="0"/>
              <a:t>Ленивая" загрузка объектов является поведением по умолчанию LINQ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Entities</a:t>
            </a:r>
            <a:r>
              <a:rPr lang="ru-RU" dirty="0"/>
              <a:t>. Связанные объекты загружаются из базы данных, только когда происходит обращение к ассоциированному свойству сущностного типа. То, что не нужно, никогда не загружается — это называется стратегией </a:t>
            </a:r>
            <a:r>
              <a:rPr lang="ru-RU" b="1" dirty="0"/>
              <a:t>оперативной (</a:t>
            </a:r>
            <a:r>
              <a:rPr lang="ru-RU" b="1" dirty="0" err="1"/>
              <a:t>just-in-time</a:t>
            </a:r>
            <a:r>
              <a:rPr lang="ru-RU" b="1" dirty="0"/>
              <a:t>) загрузки</a:t>
            </a:r>
            <a:r>
              <a:rPr lang="ru-RU" dirty="0"/>
              <a:t>, но это означает возможность получить неожиданно большое количество запросов SQL, генерируемых кодом.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/</a:t>
            </a:r>
            <a:r>
              <a:rPr lang="en-GB" dirty="0" smtClean="0">
                <a:solidFill>
                  <a:srgbClr val="00B050"/>
                </a:solidFill>
              </a:rPr>
              <a:t>/</a:t>
            </a:r>
            <a:r>
              <a:rPr lang="ru-RU" dirty="0" smtClean="0">
                <a:solidFill>
                  <a:srgbClr val="00B050"/>
                </a:solidFill>
              </a:rPr>
              <a:t>Создание </a:t>
            </a:r>
            <a:r>
              <a:rPr lang="en-US" dirty="0" err="1">
                <a:solidFill>
                  <a:srgbClr val="00B050"/>
                </a:solidFill>
              </a:rPr>
              <a:t>ObjectContext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NorthwindEntities</a:t>
            </a:r>
            <a:r>
              <a:rPr lang="en-US" dirty="0"/>
              <a:t> context = new </a:t>
            </a:r>
            <a:r>
              <a:rPr lang="en-US" dirty="0" err="1"/>
              <a:t>NorthwindEntities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IQueryable</a:t>
            </a:r>
            <a:r>
              <a:rPr lang="en-US" dirty="0"/>
              <a:t>&lt;Customer&gt; </a:t>
            </a:r>
            <a:r>
              <a:rPr lang="en-US" dirty="0" err="1"/>
              <a:t>custs</a:t>
            </a:r>
            <a:r>
              <a:rPr lang="en-US" dirty="0"/>
              <a:t> = from c in </a:t>
            </a:r>
            <a:r>
              <a:rPr lang="en-US" dirty="0" err="1"/>
              <a:t>context.Customers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where </a:t>
            </a:r>
            <a:r>
              <a:rPr lang="en-US" dirty="0" err="1"/>
              <a:t>c.Country</a:t>
            </a:r>
            <a:r>
              <a:rPr lang="en-US" dirty="0"/>
              <a:t> == "UK" &amp;&amp; </a:t>
            </a:r>
            <a:r>
              <a:rPr lang="en-US" dirty="0" err="1"/>
              <a:t>c.City</a:t>
            </a:r>
            <a:r>
              <a:rPr lang="en-US" dirty="0"/>
              <a:t> == "London"</a:t>
            </a:r>
          </a:p>
          <a:p>
            <a:pPr marL="0" indent="0">
              <a:buNone/>
            </a:pPr>
            <a:r>
              <a:rPr lang="en-US" dirty="0"/>
              <a:t>                                         </a:t>
            </a:r>
            <a:r>
              <a:rPr lang="en-US" dirty="0" err="1"/>
              <a:t>orderby</a:t>
            </a:r>
            <a:r>
              <a:rPr lang="en-US" dirty="0"/>
              <a:t> </a:t>
            </a:r>
            <a:r>
              <a:rPr lang="en-US" dirty="0" err="1"/>
              <a:t>c.CustomerID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select c;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foreach</a:t>
            </a:r>
            <a:r>
              <a:rPr lang="en-US" dirty="0"/>
              <a:t> (Customer </a:t>
            </a:r>
            <a:r>
              <a:rPr lang="en-US" dirty="0" err="1"/>
              <a:t>cust</a:t>
            </a:r>
            <a:r>
              <a:rPr lang="en-US" dirty="0"/>
              <a:t> in </a:t>
            </a:r>
            <a:r>
              <a:rPr lang="en-US" dirty="0" err="1"/>
              <a:t>custs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  {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Console.WriteLine</a:t>
            </a:r>
            <a:r>
              <a:rPr lang="en-US" dirty="0"/>
              <a:t>("{0} - {1}", </a:t>
            </a:r>
            <a:r>
              <a:rPr lang="en-US" dirty="0" err="1"/>
              <a:t>cust.CompanyName</a:t>
            </a:r>
            <a:r>
              <a:rPr lang="en-US" dirty="0"/>
              <a:t>, </a:t>
            </a:r>
            <a:r>
              <a:rPr lang="en-US" dirty="0" err="1"/>
              <a:t>cust.ContactName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        Order </a:t>
            </a:r>
            <a:r>
              <a:rPr lang="en-US" dirty="0" err="1"/>
              <a:t>firstOrder</a:t>
            </a:r>
            <a:r>
              <a:rPr lang="en-US" dirty="0"/>
              <a:t> = </a:t>
            </a:r>
            <a:r>
              <a:rPr lang="en-US" dirty="0" err="1"/>
              <a:t>cust.Orders.First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Console.WriteLine</a:t>
            </a:r>
            <a:r>
              <a:rPr lang="en-US" dirty="0"/>
              <a:t>("    {0}", </a:t>
            </a:r>
            <a:r>
              <a:rPr lang="en-US" dirty="0" err="1"/>
              <a:t>firstOrder.OrderID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    }</a:t>
            </a: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Эффект от ленивой загрузки объектов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13"/>
          <a:stretch/>
        </p:blipFill>
        <p:spPr bwMode="auto">
          <a:xfrm>
            <a:off x="5652120" y="4365104"/>
            <a:ext cx="3408313" cy="264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784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Отключение ленивой загрузки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pPr fontAlgn="base"/>
            <a:r>
              <a:rPr lang="ru-RU" sz="1800" dirty="0" smtClean="0"/>
              <a:t>необходимо </a:t>
            </a:r>
            <a:r>
              <a:rPr lang="ru-RU" sz="1800" dirty="0"/>
              <a:t>установить опцию в </a:t>
            </a:r>
            <a:r>
              <a:rPr lang="ru-RU" sz="1800" dirty="0" err="1" smtClean="0"/>
              <a:t>ObjectContext</a:t>
            </a:r>
            <a:r>
              <a:rPr lang="ru-RU" sz="1800" dirty="0" smtClean="0"/>
              <a:t>:</a:t>
            </a:r>
          </a:p>
          <a:p>
            <a:pPr fontAlgn="base"/>
            <a:endParaRPr lang="ru-RU" sz="1800" dirty="0"/>
          </a:p>
          <a:p>
            <a:pPr marL="0" indent="0">
              <a:buNone/>
            </a:pPr>
            <a:r>
              <a:rPr lang="en-US" sz="1800" dirty="0" err="1"/>
              <a:t>context.ContextOptions.LazyLoadingEnabled</a:t>
            </a:r>
            <a:r>
              <a:rPr lang="en-US" sz="1800" dirty="0"/>
              <a:t> = false</a:t>
            </a:r>
            <a:r>
              <a:rPr lang="en-US" sz="1800" dirty="0" smtClean="0"/>
              <a:t>;</a:t>
            </a:r>
            <a:endParaRPr lang="ru-RU" sz="1800" dirty="0" smtClean="0"/>
          </a:p>
          <a:p>
            <a:pPr marL="0" indent="0">
              <a:buNone/>
            </a:pPr>
            <a:endParaRPr lang="en-US" sz="1800" dirty="0" smtClean="0"/>
          </a:p>
          <a:p>
            <a:r>
              <a:rPr lang="ru-RU" sz="1800" dirty="0"/>
              <a:t>При отключенной ленивой загрузке попытка обратиться к связанному сущностному объекту приводит к генерации </a:t>
            </a:r>
            <a:r>
              <a:rPr lang="ru-RU" sz="1800" dirty="0" smtClean="0"/>
              <a:t>исключения.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8445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b="1" dirty="0"/>
              <a:t>Немедленная </a:t>
            </a:r>
            <a:r>
              <a:rPr lang="ru-RU" b="1" dirty="0" smtClean="0"/>
              <a:t>загрузка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688632"/>
          </a:xfrm>
        </p:spPr>
        <p:txBody>
          <a:bodyPr>
            <a:normAutofit fontScale="70000" lnSpcReduction="20000"/>
          </a:bodyPr>
          <a:lstStyle/>
          <a:p>
            <a:pPr fontAlgn="base"/>
            <a:r>
              <a:rPr lang="ru-RU" dirty="0" smtClean="0"/>
              <a:t>Когда </a:t>
            </a:r>
            <a:r>
              <a:rPr lang="ru-RU" dirty="0"/>
              <a:t>точно известно, какие данные понадобятся в </a:t>
            </a:r>
            <a:r>
              <a:rPr lang="ru-RU" dirty="0" smtClean="0"/>
              <a:t>коде можно </a:t>
            </a:r>
            <a:r>
              <a:rPr lang="ru-RU" dirty="0"/>
              <a:t>в качестве части запроса LINQ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Entities</a:t>
            </a:r>
            <a:r>
              <a:rPr lang="ru-RU" dirty="0"/>
              <a:t> использовать </a:t>
            </a:r>
            <a:r>
              <a:rPr lang="ru-RU" b="1" dirty="0"/>
              <a:t>метод </a:t>
            </a:r>
            <a:r>
              <a:rPr lang="ru-RU" b="1" dirty="0" err="1"/>
              <a:t>Include</a:t>
            </a:r>
            <a:r>
              <a:rPr lang="ru-RU" dirty="0"/>
              <a:t> для загрузки связанных сущностных объектов. </a:t>
            </a:r>
            <a:endParaRPr lang="ru-RU" dirty="0" smtClean="0"/>
          </a:p>
          <a:p>
            <a:pPr fontAlgn="base"/>
            <a:r>
              <a:rPr lang="ru-RU" dirty="0" smtClean="0"/>
              <a:t>Метод </a:t>
            </a:r>
            <a:r>
              <a:rPr lang="ru-RU" b="1" dirty="0" err="1"/>
              <a:t>Include</a:t>
            </a:r>
            <a:r>
              <a:rPr lang="ru-RU" dirty="0"/>
              <a:t> применяется к запросу указанием имени свойства ассоциации между запрашиваемым типом и типом, который требуется загрузить в виде </a:t>
            </a:r>
            <a:r>
              <a:rPr lang="ru-RU" dirty="0" smtClean="0"/>
              <a:t>строки.</a:t>
            </a:r>
            <a:endParaRPr lang="ru-RU" dirty="0"/>
          </a:p>
          <a:p>
            <a:pPr marL="0" indent="0">
              <a:buNone/>
            </a:pPr>
            <a:r>
              <a:rPr lang="en-US" dirty="0" smtClean="0"/>
              <a:t>...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</a:t>
            </a:r>
          </a:p>
          <a:p>
            <a:pPr marL="0" indent="0">
              <a:buNone/>
            </a:pPr>
            <a:r>
              <a:rPr lang="en-US" dirty="0" err="1"/>
              <a:t>IQueryable</a:t>
            </a:r>
            <a:r>
              <a:rPr lang="en-US" dirty="0"/>
              <a:t>&lt;Customer&gt; </a:t>
            </a:r>
            <a:r>
              <a:rPr lang="en-US" dirty="0" err="1"/>
              <a:t>custs</a:t>
            </a:r>
            <a:r>
              <a:rPr lang="en-US" dirty="0"/>
              <a:t> = from c in </a:t>
            </a:r>
            <a:r>
              <a:rPr lang="en-US" dirty="0" err="1"/>
              <a:t>context.Customers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.Include("Orders")</a:t>
            </a:r>
          </a:p>
          <a:p>
            <a:pPr marL="0" indent="0">
              <a:buNone/>
            </a:pPr>
            <a:r>
              <a:rPr lang="en-US" dirty="0"/>
              <a:t>                                         where </a:t>
            </a:r>
            <a:r>
              <a:rPr lang="en-US" dirty="0" err="1"/>
              <a:t>c.Country</a:t>
            </a:r>
            <a:r>
              <a:rPr lang="en-US" dirty="0"/>
              <a:t> == "UK" &amp;&amp; </a:t>
            </a:r>
            <a:r>
              <a:rPr lang="en-US" dirty="0" err="1"/>
              <a:t>c.City</a:t>
            </a:r>
            <a:r>
              <a:rPr lang="en-US" dirty="0"/>
              <a:t> == "London"</a:t>
            </a:r>
          </a:p>
          <a:p>
            <a:pPr marL="0" indent="0">
              <a:buNone/>
            </a:pPr>
            <a:r>
              <a:rPr lang="en-US" dirty="0"/>
              <a:t>                                         </a:t>
            </a:r>
            <a:r>
              <a:rPr lang="en-US" dirty="0" err="1"/>
              <a:t>orderby</a:t>
            </a:r>
            <a:r>
              <a:rPr lang="en-US" dirty="0"/>
              <a:t> </a:t>
            </a:r>
            <a:r>
              <a:rPr lang="en-US" dirty="0" err="1"/>
              <a:t>c.CustomerID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select c;</a:t>
            </a:r>
          </a:p>
          <a:p>
            <a:pPr marL="0" indent="0">
              <a:buNone/>
            </a:pPr>
            <a:r>
              <a:rPr lang="en-US" dirty="0" smtClean="0"/>
              <a:t>...</a:t>
            </a:r>
          </a:p>
          <a:p>
            <a:pPr marL="0" indent="0">
              <a:buNone/>
            </a:pPr>
            <a:r>
              <a:rPr lang="ru-RU" dirty="0"/>
              <a:t>Скомпилировав и запустив этот преобразованный пример, получится тот же результат, что и у кода из предыдущего примера, но в базу данных будет отправлен только </a:t>
            </a:r>
            <a:r>
              <a:rPr lang="ru-RU" dirty="0">
                <a:solidFill>
                  <a:srgbClr val="FF0000"/>
                </a:solidFill>
              </a:rPr>
              <a:t>один запрос</a:t>
            </a:r>
            <a:r>
              <a:rPr lang="ru-RU" dirty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84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Немедленно загружать можно любое количество связанных сущностных типов, применяя метод </a:t>
            </a:r>
            <a:r>
              <a:rPr lang="ru-RU" dirty="0" err="1"/>
              <a:t>Include</a:t>
            </a:r>
            <a:r>
              <a:rPr lang="ru-RU" dirty="0"/>
              <a:t> к каждому необходимому типу. </a:t>
            </a:r>
            <a:endParaRPr lang="ru-RU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// Создание </a:t>
            </a:r>
            <a:r>
              <a:rPr lang="en-US" dirty="0" err="1">
                <a:solidFill>
                  <a:srgbClr val="00B050"/>
                </a:solidFill>
              </a:rPr>
              <a:t>ObjectContext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NorthwindEntities</a:t>
            </a:r>
            <a:r>
              <a:rPr lang="en-US" dirty="0"/>
              <a:t> context = new </a:t>
            </a:r>
            <a:r>
              <a:rPr lang="en-US" dirty="0" err="1"/>
              <a:t>NorthwindEntities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IQueryable</a:t>
            </a:r>
            <a:r>
              <a:rPr lang="en-US" dirty="0"/>
              <a:t>&lt;Order&gt; orders = </a:t>
            </a:r>
            <a:r>
              <a:rPr lang="en-US" dirty="0" err="1" smtClean="0"/>
              <a:t>context.Orders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.Include("Shipper")</a:t>
            </a:r>
          </a:p>
          <a:p>
            <a:pPr marL="0" indent="0">
              <a:buNone/>
            </a:pPr>
            <a:r>
              <a:rPr lang="en-US" dirty="0" smtClean="0"/>
              <a:t>                </a:t>
            </a:r>
            <a:r>
              <a:rPr lang="en-US" dirty="0"/>
              <a:t>.Include("Customer")</a:t>
            </a:r>
          </a:p>
          <a:p>
            <a:pPr marL="0" indent="0">
              <a:buNone/>
            </a:pPr>
            <a:r>
              <a:rPr lang="en-US" dirty="0"/>
              <a:t>                .Where(c =&gt; </a:t>
            </a:r>
            <a:r>
              <a:rPr lang="en-US" dirty="0" err="1"/>
              <a:t>c.ShipCountry</a:t>
            </a:r>
            <a:r>
              <a:rPr lang="en-US" dirty="0"/>
              <a:t> == "France")</a:t>
            </a:r>
          </a:p>
          <a:p>
            <a:pPr marL="0" indent="0">
              <a:buNone/>
            </a:pPr>
            <a:r>
              <a:rPr lang="en-US" dirty="0"/>
              <a:t>                .Select(c =&gt; c);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foreach</a:t>
            </a:r>
            <a:r>
              <a:rPr lang="en-US" dirty="0"/>
              <a:t> (Order </a:t>
            </a:r>
            <a:r>
              <a:rPr lang="en-US" dirty="0" err="1"/>
              <a:t>ord</a:t>
            </a:r>
            <a:r>
              <a:rPr lang="en-US" dirty="0"/>
              <a:t> in orders)</a:t>
            </a:r>
          </a:p>
          <a:p>
            <a:pPr marL="0" indent="0">
              <a:buNone/>
            </a:pPr>
            <a:r>
              <a:rPr lang="en-US" dirty="0"/>
              <a:t>            {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en-US" dirty="0" err="1"/>
              <a:t>OrderID</a:t>
            </a:r>
            <a:r>
              <a:rPr lang="en-US" dirty="0"/>
              <a:t>: {0}, Shipper: {1}, Contact: {2}",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ord.OrderID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ord.Shipper.CompanyName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ord.Customer.ContactName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    }</a:t>
            </a:r>
          </a:p>
        </p:txBody>
      </p:sp>
    </p:spTree>
    <p:extLst>
      <p:ext uri="{BB962C8B-B14F-4D97-AF65-F5344CB8AC3E}">
        <p14:creationId xmlns:p14="http://schemas.microsoft.com/office/powerpoint/2010/main" val="296428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50311"/>
            <a:ext cx="8229600" cy="658409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Явная </a:t>
            </a:r>
            <a:r>
              <a:rPr lang="ru-RU" b="1" dirty="0" smtClean="0"/>
              <a:t>загрузка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908720"/>
            <a:ext cx="8784976" cy="5760640"/>
          </a:xfrm>
        </p:spPr>
        <p:txBody>
          <a:bodyPr>
            <a:normAutofit fontScale="40000" lnSpcReduction="20000"/>
          </a:bodyPr>
          <a:lstStyle/>
          <a:p>
            <a:pPr marL="0" indent="0" fontAlgn="base">
              <a:buNone/>
            </a:pPr>
            <a:r>
              <a:rPr lang="ru-RU" sz="3500" dirty="0" smtClean="0"/>
              <a:t>Если</a:t>
            </a:r>
            <a:r>
              <a:rPr lang="ru-RU" dirty="0" smtClean="0"/>
              <a:t> </a:t>
            </a:r>
            <a:r>
              <a:rPr lang="ru-RU" sz="3500" dirty="0"/>
              <a:t>необходим полный контроль, то лучше всего подойдет явная загрузка. Загружаемые связанные объекты указываются с использованием метода </a:t>
            </a:r>
            <a:r>
              <a:rPr lang="ru-RU" sz="3500" b="1" dirty="0" err="1"/>
              <a:t>EntityCollection.Load</a:t>
            </a:r>
            <a:r>
              <a:rPr lang="ru-RU" sz="3500" dirty="0" smtClean="0"/>
              <a:t>.</a:t>
            </a:r>
            <a:endParaRPr lang="ru-RU" sz="3500" dirty="0"/>
          </a:p>
          <a:p>
            <a:pPr marL="0" indent="0">
              <a:buNone/>
            </a:pPr>
            <a:r>
              <a:rPr lang="ru-RU" sz="3500" dirty="0">
                <a:solidFill>
                  <a:srgbClr val="00B050"/>
                </a:solidFill>
              </a:rPr>
              <a:t>// Создание </a:t>
            </a:r>
            <a:r>
              <a:rPr lang="en-US" sz="3500" dirty="0" err="1">
                <a:solidFill>
                  <a:srgbClr val="00B050"/>
                </a:solidFill>
              </a:rPr>
              <a:t>ObjectContext</a:t>
            </a:r>
            <a:endParaRPr lang="en-US" sz="35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3500" dirty="0"/>
              <a:t>            </a:t>
            </a:r>
            <a:r>
              <a:rPr lang="en-US" sz="3500" dirty="0" err="1"/>
              <a:t>NorthwindEntities</a:t>
            </a:r>
            <a:r>
              <a:rPr lang="en-US" sz="3500" dirty="0"/>
              <a:t> context = new </a:t>
            </a:r>
            <a:r>
              <a:rPr lang="en-US" sz="3500" dirty="0" err="1"/>
              <a:t>NorthwindEntities</a:t>
            </a:r>
            <a:r>
              <a:rPr lang="en-US" sz="3500" dirty="0"/>
              <a:t>();</a:t>
            </a:r>
          </a:p>
          <a:p>
            <a:pPr marL="0" indent="0">
              <a:buNone/>
            </a:pPr>
            <a:r>
              <a:rPr lang="ru-RU" sz="3500" dirty="0" smtClean="0">
                <a:solidFill>
                  <a:srgbClr val="00B050"/>
                </a:solidFill>
              </a:rPr>
              <a:t>            </a:t>
            </a:r>
            <a:r>
              <a:rPr lang="ru-RU" sz="3500" dirty="0">
                <a:solidFill>
                  <a:srgbClr val="00B050"/>
                </a:solidFill>
              </a:rPr>
              <a:t>// Отключить ленивую загрузку</a:t>
            </a:r>
          </a:p>
          <a:p>
            <a:pPr marL="0" indent="0">
              <a:buNone/>
            </a:pPr>
            <a:r>
              <a:rPr lang="en-US" sz="3500" dirty="0"/>
              <a:t>            </a:t>
            </a:r>
            <a:r>
              <a:rPr lang="en-US" sz="3500" dirty="0" err="1"/>
              <a:t>context.ContextOptions.LazyLoadingEnabled</a:t>
            </a:r>
            <a:r>
              <a:rPr lang="en-US" sz="3500" dirty="0"/>
              <a:t> = false;</a:t>
            </a:r>
          </a:p>
          <a:p>
            <a:pPr marL="0" indent="0">
              <a:buNone/>
            </a:pPr>
            <a:r>
              <a:rPr lang="en-US" sz="3500" dirty="0" smtClean="0"/>
              <a:t>            </a:t>
            </a:r>
            <a:r>
              <a:rPr lang="en-US" sz="3500" dirty="0" err="1"/>
              <a:t>IQueryable</a:t>
            </a:r>
            <a:r>
              <a:rPr lang="en-US" sz="3500" dirty="0"/>
              <a:t>&lt;Customer&gt; </a:t>
            </a:r>
            <a:r>
              <a:rPr lang="en-US" sz="3500" dirty="0" err="1"/>
              <a:t>custs</a:t>
            </a:r>
            <a:r>
              <a:rPr lang="en-US" sz="3500" dirty="0"/>
              <a:t> = </a:t>
            </a:r>
            <a:r>
              <a:rPr lang="en-US" sz="3500" dirty="0" err="1"/>
              <a:t>context.Customers</a:t>
            </a:r>
            <a:endParaRPr lang="en-US" sz="3500" dirty="0"/>
          </a:p>
          <a:p>
            <a:pPr marL="0" indent="0">
              <a:buNone/>
            </a:pPr>
            <a:r>
              <a:rPr lang="en-US" sz="3500" dirty="0"/>
              <a:t>                .Where(c =&gt; </a:t>
            </a:r>
            <a:r>
              <a:rPr lang="en-US" sz="3500" dirty="0" err="1"/>
              <a:t>c.Country</a:t>
            </a:r>
            <a:r>
              <a:rPr lang="en-US" sz="3500" dirty="0"/>
              <a:t> == "UK" &amp;&amp; </a:t>
            </a:r>
            <a:r>
              <a:rPr lang="en-US" sz="3500" dirty="0" err="1"/>
              <a:t>c.City</a:t>
            </a:r>
            <a:r>
              <a:rPr lang="en-US" sz="3500" dirty="0"/>
              <a:t> == "London")</a:t>
            </a:r>
          </a:p>
          <a:p>
            <a:pPr marL="0" indent="0">
              <a:buNone/>
            </a:pPr>
            <a:r>
              <a:rPr lang="en-US" sz="3500" dirty="0"/>
              <a:t>                .</a:t>
            </a:r>
            <a:r>
              <a:rPr lang="en-US" sz="3500" dirty="0" err="1"/>
              <a:t>OrderBy</a:t>
            </a:r>
            <a:r>
              <a:rPr lang="en-US" sz="3500" dirty="0"/>
              <a:t>(c =&gt; </a:t>
            </a:r>
            <a:r>
              <a:rPr lang="en-US" sz="3500" dirty="0" err="1"/>
              <a:t>c.CustomerID</a:t>
            </a:r>
            <a:r>
              <a:rPr lang="en-US" sz="3500" dirty="0"/>
              <a:t>)</a:t>
            </a:r>
          </a:p>
          <a:p>
            <a:pPr marL="0" indent="0">
              <a:buNone/>
            </a:pPr>
            <a:r>
              <a:rPr lang="en-US" sz="3500" dirty="0"/>
              <a:t>                .Select(c =&gt; c);</a:t>
            </a:r>
          </a:p>
          <a:p>
            <a:pPr marL="0" indent="0">
              <a:buNone/>
            </a:pPr>
            <a:r>
              <a:rPr lang="ru-RU" sz="3500" dirty="0" smtClean="0">
                <a:solidFill>
                  <a:srgbClr val="00B050"/>
                </a:solidFill>
              </a:rPr>
              <a:t>            </a:t>
            </a:r>
            <a:r>
              <a:rPr lang="ru-RU" sz="3500" dirty="0">
                <a:solidFill>
                  <a:srgbClr val="00B050"/>
                </a:solidFill>
              </a:rPr>
              <a:t>// Выполнить явную загрузку заказов для каждого заказчика</a:t>
            </a:r>
          </a:p>
          <a:p>
            <a:pPr marL="0" indent="0">
              <a:buNone/>
            </a:pPr>
            <a:r>
              <a:rPr lang="en-US" sz="3500" dirty="0"/>
              <a:t>            </a:t>
            </a:r>
            <a:r>
              <a:rPr lang="en-US" sz="3500" dirty="0" err="1"/>
              <a:t>foreach</a:t>
            </a:r>
            <a:r>
              <a:rPr lang="en-US" sz="3500" dirty="0"/>
              <a:t> (Customer </a:t>
            </a:r>
            <a:r>
              <a:rPr lang="en-US" sz="3500" dirty="0" err="1"/>
              <a:t>cust</a:t>
            </a:r>
            <a:r>
              <a:rPr lang="en-US" sz="3500" dirty="0"/>
              <a:t> in </a:t>
            </a:r>
            <a:r>
              <a:rPr lang="en-US" sz="3500" dirty="0" err="1"/>
              <a:t>custs</a:t>
            </a:r>
            <a:r>
              <a:rPr lang="en-US" sz="3500" dirty="0"/>
              <a:t>)</a:t>
            </a:r>
          </a:p>
          <a:p>
            <a:pPr marL="0" indent="0">
              <a:buNone/>
            </a:pPr>
            <a:r>
              <a:rPr lang="en-US" sz="3500" dirty="0"/>
              <a:t>            </a:t>
            </a:r>
            <a:r>
              <a:rPr lang="en-US" sz="3500" dirty="0" smtClean="0"/>
              <a:t>{                </a:t>
            </a:r>
            <a:r>
              <a:rPr lang="en-US" sz="3500" dirty="0"/>
              <a:t>if (</a:t>
            </a:r>
            <a:r>
              <a:rPr lang="en-US" sz="3500" dirty="0" err="1"/>
              <a:t>cust.CompanyName</a:t>
            </a:r>
            <a:r>
              <a:rPr lang="en-US" sz="3500" dirty="0"/>
              <a:t> != "North/South")</a:t>
            </a:r>
          </a:p>
          <a:p>
            <a:pPr marL="0" indent="0">
              <a:buNone/>
            </a:pPr>
            <a:r>
              <a:rPr lang="en-US" sz="3500" dirty="0"/>
              <a:t>                </a:t>
            </a:r>
            <a:r>
              <a:rPr lang="en-US" sz="3500" dirty="0" smtClean="0"/>
              <a:t>{                    </a:t>
            </a:r>
            <a:r>
              <a:rPr lang="en-US" sz="3500" dirty="0" err="1"/>
              <a:t>cust.Orders.Load</a:t>
            </a:r>
            <a:r>
              <a:rPr lang="en-US" sz="3500" dirty="0" smtClean="0"/>
              <a:t>();                </a:t>
            </a:r>
            <a:r>
              <a:rPr lang="en-US" sz="3500" dirty="0"/>
              <a:t>}</a:t>
            </a:r>
          </a:p>
          <a:p>
            <a:pPr marL="0" indent="0">
              <a:buNone/>
            </a:pPr>
            <a:r>
              <a:rPr lang="en-US" sz="3500" dirty="0"/>
              <a:t>            }</a:t>
            </a:r>
          </a:p>
          <a:p>
            <a:pPr marL="0" indent="0">
              <a:buNone/>
            </a:pPr>
            <a:r>
              <a:rPr lang="en-US" sz="3500" dirty="0" smtClean="0"/>
              <a:t>            </a:t>
            </a:r>
            <a:r>
              <a:rPr lang="en-US" sz="3500" dirty="0" err="1"/>
              <a:t>foreach</a:t>
            </a:r>
            <a:r>
              <a:rPr lang="en-US" sz="3500" dirty="0"/>
              <a:t> (Customer </a:t>
            </a:r>
            <a:r>
              <a:rPr lang="en-US" sz="3500" dirty="0" err="1"/>
              <a:t>cust</a:t>
            </a:r>
            <a:r>
              <a:rPr lang="en-US" sz="3500" dirty="0"/>
              <a:t> in </a:t>
            </a:r>
            <a:r>
              <a:rPr lang="en-US" sz="3500" dirty="0" err="1"/>
              <a:t>custs</a:t>
            </a:r>
            <a:r>
              <a:rPr lang="en-US" sz="3500" dirty="0"/>
              <a:t>)</a:t>
            </a:r>
          </a:p>
          <a:p>
            <a:pPr marL="0" indent="0">
              <a:buNone/>
            </a:pPr>
            <a:r>
              <a:rPr lang="en-US" sz="3500" dirty="0"/>
              <a:t>            {</a:t>
            </a:r>
          </a:p>
          <a:p>
            <a:pPr marL="0" indent="0">
              <a:buNone/>
            </a:pPr>
            <a:r>
              <a:rPr lang="en-US" sz="3500" dirty="0"/>
              <a:t>                </a:t>
            </a:r>
            <a:r>
              <a:rPr lang="en-US" sz="3500" dirty="0" err="1"/>
              <a:t>Console.WriteLine</a:t>
            </a:r>
            <a:r>
              <a:rPr lang="en-US" sz="3500" dirty="0"/>
              <a:t>("{0} - {1}", </a:t>
            </a:r>
            <a:r>
              <a:rPr lang="en-US" sz="3500" dirty="0" err="1"/>
              <a:t>cust.CompanyName</a:t>
            </a:r>
            <a:r>
              <a:rPr lang="en-US" sz="3500" dirty="0"/>
              <a:t>, </a:t>
            </a:r>
            <a:r>
              <a:rPr lang="en-US" sz="3500" dirty="0" err="1"/>
              <a:t>cust.ContactName</a:t>
            </a:r>
            <a:r>
              <a:rPr lang="en-US" sz="3500" dirty="0"/>
              <a:t>);</a:t>
            </a:r>
          </a:p>
          <a:p>
            <a:pPr marL="0" indent="0">
              <a:buNone/>
            </a:pPr>
            <a:r>
              <a:rPr lang="ru-RU" sz="3500" dirty="0"/>
              <a:t>                </a:t>
            </a:r>
            <a:r>
              <a:rPr lang="ru-RU" sz="3500" dirty="0">
                <a:solidFill>
                  <a:srgbClr val="00B050"/>
                </a:solidFill>
              </a:rPr>
              <a:t>// проверить загрузку заказов для каждого заказчика</a:t>
            </a:r>
          </a:p>
          <a:p>
            <a:pPr marL="0" indent="0">
              <a:buNone/>
            </a:pPr>
            <a:r>
              <a:rPr lang="en-US" sz="3500" dirty="0"/>
              <a:t>                if (</a:t>
            </a:r>
            <a:r>
              <a:rPr lang="en-US" sz="3500" dirty="0" err="1"/>
              <a:t>cust.Orders.IsLoaded</a:t>
            </a:r>
            <a:r>
              <a:rPr lang="en-US" sz="3500" dirty="0"/>
              <a:t>)</a:t>
            </a:r>
          </a:p>
          <a:p>
            <a:pPr marL="0" indent="0">
              <a:buNone/>
            </a:pPr>
            <a:r>
              <a:rPr lang="en-US" sz="3500" dirty="0"/>
              <a:t>                {</a:t>
            </a:r>
          </a:p>
          <a:p>
            <a:pPr marL="0" indent="0">
              <a:buNone/>
            </a:pPr>
            <a:r>
              <a:rPr lang="en-US" sz="3500" dirty="0"/>
              <a:t>                    Order </a:t>
            </a:r>
            <a:r>
              <a:rPr lang="en-US" sz="3500" dirty="0" err="1"/>
              <a:t>firstOrder</a:t>
            </a:r>
            <a:r>
              <a:rPr lang="en-US" sz="3500" dirty="0"/>
              <a:t> = </a:t>
            </a:r>
            <a:r>
              <a:rPr lang="en-US" sz="3500" dirty="0" err="1"/>
              <a:t>cust.Orders.First</a:t>
            </a:r>
            <a:r>
              <a:rPr lang="en-US" sz="3500" dirty="0"/>
              <a:t>();</a:t>
            </a:r>
          </a:p>
          <a:p>
            <a:pPr marL="0" indent="0">
              <a:buNone/>
            </a:pPr>
            <a:r>
              <a:rPr lang="en-US" sz="3500" dirty="0"/>
              <a:t>                    </a:t>
            </a:r>
            <a:r>
              <a:rPr lang="en-US" sz="3500" dirty="0" err="1"/>
              <a:t>Console.WriteLine</a:t>
            </a:r>
            <a:r>
              <a:rPr lang="en-US" sz="3500" dirty="0"/>
              <a:t>("    {0}", </a:t>
            </a:r>
            <a:r>
              <a:rPr lang="en-US" sz="3500" dirty="0" err="1"/>
              <a:t>firstOrder.OrderID</a:t>
            </a:r>
            <a:r>
              <a:rPr lang="en-US" sz="3500" dirty="0"/>
              <a:t>);</a:t>
            </a:r>
          </a:p>
          <a:p>
            <a:pPr marL="0" indent="0">
              <a:buNone/>
            </a:pPr>
            <a:r>
              <a:rPr lang="en-US" sz="3500" dirty="0"/>
              <a:t>                }</a:t>
            </a:r>
          </a:p>
          <a:p>
            <a:pPr marL="0" indent="0">
              <a:buNone/>
            </a:pPr>
            <a:r>
              <a:rPr lang="en-US" sz="3500" dirty="0"/>
              <a:t>                </a:t>
            </a:r>
            <a:r>
              <a:rPr lang="en-US" sz="3500" dirty="0" smtClean="0"/>
              <a:t>else                </a:t>
            </a:r>
            <a:r>
              <a:rPr lang="en-US" sz="3500" dirty="0"/>
              <a:t>{</a:t>
            </a:r>
          </a:p>
          <a:p>
            <a:pPr marL="0" indent="0">
              <a:buNone/>
            </a:pPr>
            <a:r>
              <a:rPr lang="ru-RU" sz="3500" dirty="0"/>
              <a:t>                    </a:t>
            </a:r>
            <a:r>
              <a:rPr lang="ru-RU" sz="3500" dirty="0" err="1"/>
              <a:t>Console.WriteLine</a:t>
            </a:r>
            <a:r>
              <a:rPr lang="ru-RU" sz="3500" dirty="0"/>
              <a:t>("   Данные заказа не загружены</a:t>
            </a:r>
            <a:r>
              <a:rPr lang="ru-RU" sz="3500" dirty="0" smtClean="0"/>
              <a:t>");</a:t>
            </a:r>
            <a:r>
              <a:rPr lang="en-US" sz="3500" dirty="0" smtClean="0"/>
              <a:t>                }            </a:t>
            </a:r>
            <a:r>
              <a:rPr lang="en-US" sz="3500" dirty="0"/>
              <a:t>}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796136" y="1340768"/>
            <a:ext cx="320384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ru-RU" sz="1400" dirty="0">
                <a:latin typeface="Inconsolata"/>
              </a:rPr>
              <a:t>Для использования явной загрузки ленивая загрузка должна быть отключена. В противном случае </a:t>
            </a:r>
            <a:r>
              <a:rPr lang="ru-RU" sz="1400" dirty="0" err="1">
                <a:latin typeface="Inconsolata"/>
              </a:rPr>
              <a:t>Entity</a:t>
            </a:r>
            <a:r>
              <a:rPr lang="ru-RU" sz="1400" dirty="0">
                <a:latin typeface="Inconsolata"/>
              </a:rPr>
              <a:t> </a:t>
            </a:r>
            <a:r>
              <a:rPr lang="ru-RU" sz="1400" dirty="0" err="1">
                <a:latin typeface="Inconsolata"/>
              </a:rPr>
              <a:t>Framework</a:t>
            </a:r>
            <a:r>
              <a:rPr lang="ru-RU" sz="1400" dirty="0">
                <a:latin typeface="Inconsolata"/>
              </a:rPr>
              <a:t> все равно загрузит связанные объекты автоматически.</a:t>
            </a:r>
          </a:p>
          <a:p>
            <a:pPr algn="just" fontAlgn="base"/>
            <a:r>
              <a:rPr lang="ru-RU" sz="1400" dirty="0" smtClean="0">
                <a:latin typeface="Inconsolata"/>
              </a:rPr>
              <a:t>Использование </a:t>
            </a:r>
            <a:r>
              <a:rPr lang="ru-RU" sz="1400" dirty="0">
                <a:latin typeface="Inconsolata"/>
              </a:rPr>
              <a:t>явной загрузки может быть чревато ошибками, если только тщательно не проверить загруженные объекты перед тем, как к ним обращаться. Но если необходим полный контроль над загружаемыми данными, то это — </a:t>
            </a:r>
            <a:r>
              <a:rPr lang="ru-RU" sz="1400" dirty="0">
                <a:solidFill>
                  <a:srgbClr val="FF0000"/>
                </a:solidFill>
                <a:latin typeface="Inconsolata"/>
              </a:rPr>
              <a:t>идеальное решение.</a:t>
            </a:r>
            <a:endParaRPr lang="ru-RU" sz="1400" b="0" i="0" dirty="0">
              <a:solidFill>
                <a:srgbClr val="FF0000"/>
              </a:solidFill>
              <a:effectLst/>
              <a:latin typeface="Inconsolata"/>
            </a:endParaRPr>
          </a:p>
        </p:txBody>
      </p:sp>
    </p:spTree>
    <p:extLst>
      <p:ext uri="{BB962C8B-B14F-4D97-AF65-F5344CB8AC3E}">
        <p14:creationId xmlns:p14="http://schemas.microsoft.com/office/powerpoint/2010/main" val="140013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Опрос </a:t>
            </a:r>
            <a:r>
              <a:rPr lang="ru-RU" b="1" dirty="0" smtClean="0"/>
              <a:t>представлений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1"/>
            <a:ext cx="8229600" cy="3744416"/>
          </a:xfrm>
        </p:spPr>
        <p:txBody>
          <a:bodyPr>
            <a:normAutofit fontScale="47500" lnSpcReduction="20000"/>
          </a:bodyPr>
          <a:lstStyle/>
          <a:p>
            <a:pPr marL="0" indent="0" fontAlgn="base">
              <a:buNone/>
            </a:pPr>
            <a:r>
              <a:rPr lang="ru-RU" dirty="0" smtClean="0"/>
              <a:t>При </a:t>
            </a:r>
            <a:r>
              <a:rPr lang="ru-RU" dirty="0"/>
              <a:t>генерации сущностной модели для базы данных можно включить в нее поддержку любых существующих представлений. </a:t>
            </a:r>
            <a:endParaRPr lang="ru-RU" dirty="0" smtClean="0"/>
          </a:p>
          <a:p>
            <a:pPr marL="0" indent="0" fontAlgn="base">
              <a:buNone/>
            </a:pPr>
            <a:r>
              <a:rPr lang="ru-RU" dirty="0" smtClean="0">
                <a:solidFill>
                  <a:srgbClr val="00B050"/>
                </a:solidFill>
              </a:rPr>
              <a:t>// </a:t>
            </a:r>
            <a:r>
              <a:rPr lang="ru-RU" dirty="0">
                <a:solidFill>
                  <a:srgbClr val="00B050"/>
                </a:solidFill>
              </a:rPr>
              <a:t>Создание </a:t>
            </a:r>
            <a:r>
              <a:rPr lang="en-US" dirty="0" err="1">
                <a:solidFill>
                  <a:srgbClr val="00B050"/>
                </a:solidFill>
              </a:rPr>
              <a:t>ObjectContext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NorthwindEntities</a:t>
            </a:r>
            <a:r>
              <a:rPr lang="en-US" dirty="0"/>
              <a:t> context = new </a:t>
            </a:r>
            <a:r>
              <a:rPr lang="en-US" dirty="0" err="1"/>
              <a:t>NorthwindEntities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IQueryable</a:t>
            </a:r>
            <a:r>
              <a:rPr lang="en-US" dirty="0"/>
              <a:t>&lt;</a:t>
            </a:r>
            <a:r>
              <a:rPr lang="en-US" dirty="0" err="1"/>
              <a:t>Customer_and_Suppliers_by_City</a:t>
            </a:r>
            <a:r>
              <a:rPr lang="en-US" dirty="0"/>
              <a:t>&gt; res</a:t>
            </a:r>
          </a:p>
          <a:p>
            <a:pPr marL="0" indent="0">
              <a:buNone/>
            </a:pPr>
            <a:r>
              <a:rPr lang="en-US" dirty="0"/>
              <a:t>                = </a:t>
            </a:r>
            <a:r>
              <a:rPr lang="en-US" dirty="0" err="1"/>
              <a:t>context.Customer_and_Suppliers_by_Cities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.Where(c =&gt; </a:t>
            </a:r>
            <a:r>
              <a:rPr lang="en-US" dirty="0" err="1"/>
              <a:t>c.City</a:t>
            </a:r>
            <a:r>
              <a:rPr lang="en-US" dirty="0"/>
              <a:t> == "LONDON")</a:t>
            </a:r>
          </a:p>
          <a:p>
            <a:pPr marL="0" indent="0">
              <a:buNone/>
            </a:pPr>
            <a:r>
              <a:rPr lang="en-US" dirty="0"/>
              <a:t>                .Select(c =&gt; c);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foreach</a:t>
            </a:r>
            <a:r>
              <a:rPr lang="en-US" dirty="0"/>
              <a:t> (</a:t>
            </a:r>
            <a:r>
              <a:rPr lang="en-US" dirty="0" err="1"/>
              <a:t>Customer_and_Suppliers_by_City</a:t>
            </a:r>
            <a:r>
              <a:rPr lang="en-US" dirty="0"/>
              <a:t> r in res)</a:t>
            </a:r>
          </a:p>
          <a:p>
            <a:pPr marL="0" indent="0">
              <a:buNone/>
            </a:pPr>
            <a:r>
              <a:rPr lang="en-US" dirty="0"/>
              <a:t>            {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Console.WriteLine</a:t>
            </a:r>
            <a:r>
              <a:rPr lang="en-US" dirty="0"/>
              <a:t>("{0}, {1}", </a:t>
            </a:r>
            <a:r>
              <a:rPr lang="en-US" dirty="0" err="1"/>
              <a:t>r.CompanyName</a:t>
            </a:r>
            <a:r>
              <a:rPr lang="en-US" dirty="0"/>
              <a:t>, </a:t>
            </a:r>
            <a:r>
              <a:rPr lang="en-US" dirty="0" err="1"/>
              <a:t>r.ContactName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    }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114800" y="4077072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>
                <a:latin typeface="Inconsolata"/>
              </a:rPr>
              <a:t>Сущностная модель данных определяет сущностный тип по имени </a:t>
            </a:r>
            <a:r>
              <a:rPr lang="ru-RU" sz="1400" dirty="0" err="1">
                <a:latin typeface="Inconsolata"/>
              </a:rPr>
              <a:t>Customer_and_Suppliers_by_City</a:t>
            </a:r>
            <a:r>
              <a:rPr lang="ru-RU" sz="1400" dirty="0">
                <a:latin typeface="Inconsolata"/>
              </a:rPr>
              <a:t>, который собирается в свойстве </a:t>
            </a:r>
            <a:r>
              <a:rPr lang="ru-RU" sz="1400" dirty="0" err="1">
                <a:latin typeface="Inconsolata"/>
              </a:rPr>
              <a:t>Customer_and_Suppliers_by_City</a:t>
            </a:r>
            <a:r>
              <a:rPr lang="ru-RU" sz="1400" dirty="0">
                <a:latin typeface="Inconsolata"/>
              </a:rPr>
              <a:t> объекта </a:t>
            </a:r>
            <a:r>
              <a:rPr lang="ru-RU" sz="1400" dirty="0" err="1">
                <a:latin typeface="Inconsolata"/>
              </a:rPr>
              <a:t>ObjectContext</a:t>
            </a:r>
            <a:r>
              <a:rPr lang="ru-RU" sz="1400" dirty="0">
                <a:latin typeface="Inconsolata"/>
              </a:rPr>
              <a:t>. Имя представления принимает форму множественного числа посредством мастера </a:t>
            </a:r>
            <a:r>
              <a:rPr lang="ru-RU" sz="1400" dirty="0" err="1">
                <a:latin typeface="Inconsolata"/>
              </a:rPr>
              <a:t>Entity</a:t>
            </a:r>
            <a:r>
              <a:rPr lang="ru-RU" sz="1400" dirty="0">
                <a:latin typeface="Inconsolata"/>
              </a:rPr>
              <a:t> </a:t>
            </a:r>
            <a:r>
              <a:rPr lang="ru-RU" sz="1400" dirty="0" err="1">
                <a:latin typeface="Inconsolata"/>
              </a:rPr>
              <a:t>Data</a:t>
            </a:r>
            <a:r>
              <a:rPr lang="ru-RU" sz="1400" dirty="0">
                <a:latin typeface="Inconsolata"/>
              </a:rPr>
              <a:t> </a:t>
            </a:r>
            <a:r>
              <a:rPr lang="ru-RU" sz="1400" dirty="0" err="1">
                <a:latin typeface="Inconsolata"/>
              </a:rPr>
              <a:t>Model</a:t>
            </a:r>
            <a:r>
              <a:rPr lang="ru-RU" sz="1400" dirty="0">
                <a:latin typeface="Inconsolata"/>
              </a:rPr>
              <a:t> </a:t>
            </a:r>
            <a:r>
              <a:rPr lang="ru-RU" sz="1400" dirty="0" err="1">
                <a:latin typeface="Inconsolata"/>
              </a:rPr>
              <a:t>Wizard</a:t>
            </a:r>
            <a:r>
              <a:rPr lang="ru-RU" sz="1400" dirty="0">
                <a:latin typeface="Inconsolata"/>
              </a:rPr>
              <a:t>, что можно отключить при генерации модели.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9188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Опрос хранимых </a:t>
            </a:r>
            <a:r>
              <a:rPr lang="ru-RU" b="1" dirty="0" smtClean="0"/>
              <a:t>процедур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1"/>
            <a:ext cx="4906888" cy="3917032"/>
          </a:xfrm>
        </p:spPr>
        <p:txBody>
          <a:bodyPr>
            <a:normAutofit fontScale="85000" lnSpcReduction="20000"/>
          </a:bodyPr>
          <a:lstStyle/>
          <a:p>
            <a:pPr fontAlgn="base">
              <a:spcBef>
                <a:spcPts val="1200"/>
              </a:spcBef>
              <a:spcAft>
                <a:spcPts val="600"/>
              </a:spcAft>
            </a:pPr>
            <a:r>
              <a:rPr lang="ru-RU" dirty="0" smtClean="0"/>
              <a:t>Хранимая </a:t>
            </a:r>
            <a:r>
              <a:rPr lang="ru-RU" dirty="0"/>
              <a:t>процедура должна быть явно импортирована в сущностную модель данных. </a:t>
            </a:r>
            <a:endParaRPr lang="ru-RU" dirty="0" smtClean="0"/>
          </a:p>
          <a:p>
            <a:pPr fontAlgn="base">
              <a:spcBef>
                <a:spcPts val="1200"/>
              </a:spcBef>
              <a:spcAft>
                <a:spcPts val="600"/>
              </a:spcAft>
            </a:pPr>
            <a:r>
              <a:rPr lang="ru-RU" dirty="0" smtClean="0"/>
              <a:t>выберите файл </a:t>
            </a:r>
            <a:r>
              <a:rPr lang="ru-RU" dirty="0"/>
              <a:t>*.</a:t>
            </a:r>
            <a:r>
              <a:rPr lang="ru-RU" dirty="0" err="1"/>
              <a:t>edmx</a:t>
            </a:r>
            <a:r>
              <a:rPr lang="ru-RU" dirty="0"/>
              <a:t> на панели </a:t>
            </a:r>
            <a:r>
              <a:rPr lang="ru-RU" dirty="0" err="1"/>
              <a:t>SolutionExplorer</a:t>
            </a:r>
            <a:r>
              <a:rPr lang="ru-RU" dirty="0"/>
              <a:t>, </a:t>
            </a:r>
            <a:r>
              <a:rPr lang="ru-RU" dirty="0" smtClean="0"/>
              <a:t> </a:t>
            </a:r>
            <a:r>
              <a:rPr lang="ru-RU" dirty="0"/>
              <a:t>затем </a:t>
            </a:r>
            <a:r>
              <a:rPr lang="ru-RU" dirty="0" smtClean="0"/>
              <a:t>пункт </a:t>
            </a:r>
            <a:r>
              <a:rPr lang="ru-RU" dirty="0"/>
              <a:t>меню </a:t>
            </a:r>
            <a:r>
              <a:rPr lang="ru-RU" dirty="0" err="1"/>
              <a:t>View</a:t>
            </a:r>
            <a:r>
              <a:rPr lang="ru-RU" dirty="0"/>
              <a:t> --&gt; </a:t>
            </a:r>
            <a:r>
              <a:rPr lang="ru-RU" dirty="0" err="1"/>
              <a:t>Other</a:t>
            </a:r>
            <a:r>
              <a:rPr lang="ru-RU" dirty="0"/>
              <a:t> </a:t>
            </a:r>
            <a:r>
              <a:rPr lang="ru-RU" dirty="0" err="1"/>
              <a:t>Windows</a:t>
            </a:r>
            <a:r>
              <a:rPr lang="ru-RU" dirty="0"/>
              <a:t> --&gt; </a:t>
            </a:r>
            <a:r>
              <a:rPr lang="ru-RU" dirty="0" err="1"/>
              <a:t>Entity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</a:t>
            </a:r>
            <a:r>
              <a:rPr lang="ru-RU" dirty="0" err="1"/>
              <a:t>Browser</a:t>
            </a:r>
            <a:r>
              <a:rPr lang="ru-RU" dirty="0"/>
              <a:t> (Вид --&gt; Другие окна --&gt; Обозреватель моделей EDM). </a:t>
            </a:r>
            <a:endParaRPr lang="en-US" dirty="0"/>
          </a:p>
        </p:txBody>
      </p:sp>
      <p:pic>
        <p:nvPicPr>
          <p:cNvPr id="4098" name="Picture 2" descr="Обозреватель моделей ED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340768"/>
            <a:ext cx="3124200" cy="448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063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332657"/>
            <a:ext cx="5122912" cy="1008111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/>
              <a:t>дважды </a:t>
            </a:r>
            <a:r>
              <a:rPr lang="ru-RU" dirty="0"/>
              <a:t>щелкните на имени хранимой процедуры для открытия диалогового окна </a:t>
            </a:r>
            <a:r>
              <a:rPr lang="ru-RU" b="1" dirty="0" err="1"/>
              <a:t>Add</a:t>
            </a:r>
            <a:r>
              <a:rPr lang="ru-RU" b="1" dirty="0"/>
              <a:t> </a:t>
            </a:r>
            <a:r>
              <a:rPr lang="ru-RU" b="1" dirty="0" err="1"/>
              <a:t>Function</a:t>
            </a:r>
            <a:r>
              <a:rPr lang="ru-RU" b="1" dirty="0"/>
              <a:t> </a:t>
            </a:r>
            <a:r>
              <a:rPr lang="ru-RU" b="1" dirty="0" err="1"/>
              <a:t>Import</a:t>
            </a:r>
            <a:r>
              <a:rPr lang="ru-RU" b="1" dirty="0"/>
              <a:t> (Добавить импорт функции)</a:t>
            </a:r>
            <a:r>
              <a:rPr lang="ru-RU" dirty="0"/>
              <a:t>:</a:t>
            </a:r>
            <a:endParaRPr lang="en-US" dirty="0"/>
          </a:p>
        </p:txBody>
      </p:sp>
      <p:pic>
        <p:nvPicPr>
          <p:cNvPr id="5122" name="Picture 2" descr="Диалоговое окно Add Function Impo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950" y="756077"/>
            <a:ext cx="421005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51520" y="2996952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fontAlgn="base"/>
            <a:r>
              <a:rPr lang="ru-RU" sz="1400" dirty="0">
                <a:latin typeface="Inconsolata"/>
              </a:rPr>
              <a:t>В поле </a:t>
            </a:r>
            <a:r>
              <a:rPr lang="ru-RU" sz="1400" dirty="0" err="1">
                <a:latin typeface="Inconsolata"/>
              </a:rPr>
              <a:t>Function</a:t>
            </a:r>
            <a:r>
              <a:rPr lang="ru-RU" sz="1400" dirty="0">
                <a:latin typeface="Inconsolata"/>
              </a:rPr>
              <a:t> </a:t>
            </a:r>
            <a:r>
              <a:rPr lang="ru-RU" sz="1400" dirty="0" err="1">
                <a:latin typeface="Inconsolata"/>
              </a:rPr>
              <a:t>Import</a:t>
            </a:r>
            <a:r>
              <a:rPr lang="ru-RU" sz="1400" dirty="0">
                <a:latin typeface="Inconsolata"/>
              </a:rPr>
              <a:t> </a:t>
            </a:r>
            <a:r>
              <a:rPr lang="ru-RU" sz="1400" dirty="0" err="1">
                <a:latin typeface="Inconsolata"/>
              </a:rPr>
              <a:t>Name</a:t>
            </a:r>
            <a:r>
              <a:rPr lang="ru-RU" sz="1400" dirty="0">
                <a:latin typeface="Inconsolata"/>
              </a:rPr>
              <a:t> (Имя импорта функции) указывается имя свойства </a:t>
            </a:r>
            <a:r>
              <a:rPr lang="ru-RU" sz="1400" dirty="0" err="1">
                <a:latin typeface="Inconsolata"/>
              </a:rPr>
              <a:t>ObjectContext</a:t>
            </a:r>
            <a:r>
              <a:rPr lang="ru-RU" sz="1400" dirty="0">
                <a:latin typeface="Inconsolata"/>
              </a:rPr>
              <a:t>, которое будет использовано для вызова хранимой процедуры. </a:t>
            </a:r>
            <a:endParaRPr lang="ru-RU" sz="1400" dirty="0" smtClean="0">
              <a:latin typeface="Inconsolata"/>
            </a:endParaRPr>
          </a:p>
          <a:p>
            <a:pPr algn="just" fontAlgn="base"/>
            <a:r>
              <a:rPr lang="ru-RU" sz="1400" dirty="0" smtClean="0">
                <a:latin typeface="Inconsolata"/>
              </a:rPr>
              <a:t>Если </a:t>
            </a:r>
            <a:r>
              <a:rPr lang="ru-RU" sz="1400" dirty="0">
                <a:latin typeface="Inconsolata"/>
              </a:rPr>
              <a:t>процедура возвращает поля, необходимые для наполнения имеющегося сущностного типа, то можно выбрать этот тип в раскрывающемся списке. Если же типа возврата нет либо процедура возвращает коллекцию скалярных типов, можно указать это поведение в диалоговом окне.</a:t>
            </a:r>
            <a:endParaRPr lang="ru-RU" sz="1400" b="0" i="0" dirty="0">
              <a:effectLst/>
              <a:latin typeface="Inconsolata"/>
            </a:endParaRPr>
          </a:p>
        </p:txBody>
      </p:sp>
    </p:spTree>
    <p:extLst>
      <p:ext uri="{BB962C8B-B14F-4D97-AF65-F5344CB8AC3E}">
        <p14:creationId xmlns:p14="http://schemas.microsoft.com/office/powerpoint/2010/main" val="2629735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16632"/>
            <a:ext cx="4248472" cy="4525963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Хранимая процедура, которую необходимо использовать, не отображается удобно на имеющийся сущностный тип, поэтому часть импорта процедуры будет создание нового </a:t>
            </a:r>
            <a:r>
              <a:rPr lang="ru-RU" dirty="0" smtClean="0"/>
              <a:t>типа(щелкните </a:t>
            </a:r>
            <a:r>
              <a:rPr lang="ru-RU" dirty="0"/>
              <a:t>на кнопке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Column</a:t>
            </a:r>
            <a:r>
              <a:rPr lang="ru-RU" dirty="0"/>
              <a:t> </a:t>
            </a:r>
            <a:r>
              <a:rPr lang="ru-RU" dirty="0" err="1"/>
              <a:t>Information</a:t>
            </a:r>
            <a:r>
              <a:rPr lang="ru-RU" dirty="0"/>
              <a:t> (Получить данные о столбце), а затем — на кнопке </a:t>
            </a:r>
            <a:r>
              <a:rPr lang="ru-RU" dirty="0" err="1"/>
              <a:t>Create</a:t>
            </a:r>
            <a:r>
              <a:rPr lang="ru-RU" dirty="0"/>
              <a:t> </a:t>
            </a:r>
            <a:r>
              <a:rPr lang="ru-RU" dirty="0" err="1"/>
              <a:t>New</a:t>
            </a:r>
            <a:r>
              <a:rPr lang="ru-RU" dirty="0"/>
              <a:t> </a:t>
            </a:r>
            <a:r>
              <a:rPr lang="ru-RU" dirty="0" err="1"/>
              <a:t>Complex</a:t>
            </a:r>
            <a:r>
              <a:rPr lang="ru-RU" dirty="0"/>
              <a:t> </a:t>
            </a:r>
            <a:r>
              <a:rPr lang="ru-RU" dirty="0" err="1"/>
              <a:t>Type</a:t>
            </a:r>
            <a:r>
              <a:rPr lang="ru-RU" dirty="0"/>
              <a:t> (Создать новый сложный тип). </a:t>
            </a:r>
          </a:p>
        </p:txBody>
      </p:sp>
      <p:pic>
        <p:nvPicPr>
          <p:cNvPr id="6146" name="Picture 2" descr="Генерация нового сложного типа для поддержки хранимой процедуры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950" y="476672"/>
            <a:ext cx="421005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4983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 smtClean="0"/>
              <a:t>хранимая </a:t>
            </a:r>
            <a:r>
              <a:rPr lang="ru-RU" dirty="0"/>
              <a:t>процедура импортирована, и новый метод </a:t>
            </a:r>
            <a:r>
              <a:rPr lang="ru-RU" dirty="0" err="1"/>
              <a:t>Customers_By_City</a:t>
            </a:r>
            <a:r>
              <a:rPr lang="ru-RU" dirty="0"/>
              <a:t> можно вызывать в классе-наследнике </a:t>
            </a:r>
            <a:r>
              <a:rPr lang="ru-RU" dirty="0" err="1"/>
              <a:t>ObjectContext</a:t>
            </a:r>
            <a:r>
              <a:rPr lang="ru-RU" dirty="0"/>
              <a:t>. В нашем случае хранимая процедура принимает единственный параметр (название города для запроса) и возвращает последовательность нового сложного типа, который был создан — </a:t>
            </a:r>
            <a:r>
              <a:rPr lang="ru-RU" dirty="0" err="1"/>
              <a:t>IEnumerable</a:t>
            </a:r>
            <a:r>
              <a:rPr lang="ru-RU" dirty="0"/>
              <a:t>&lt;</a:t>
            </a:r>
            <a:r>
              <a:rPr lang="ru-RU" dirty="0" err="1"/>
              <a:t>Customers</a:t>
            </a:r>
            <a:r>
              <a:rPr lang="ru-RU" dirty="0"/>
              <a:t>_ </a:t>
            </a:r>
            <a:r>
              <a:rPr lang="ru-RU" dirty="0" err="1"/>
              <a:t>By_City_Result</a:t>
            </a:r>
            <a:r>
              <a:rPr lang="ru-RU" dirty="0"/>
              <a:t>&gt;.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// Создание </a:t>
            </a:r>
            <a:r>
              <a:rPr lang="en-US" dirty="0" err="1">
                <a:solidFill>
                  <a:srgbClr val="00B050"/>
                </a:solidFill>
              </a:rPr>
              <a:t>ObjectContext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NorthwindEntities</a:t>
            </a:r>
            <a:r>
              <a:rPr lang="en-US" dirty="0"/>
              <a:t> context = new </a:t>
            </a:r>
            <a:r>
              <a:rPr lang="en-US" dirty="0" err="1"/>
              <a:t>NorthwindEntities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IEnumerable</a:t>
            </a:r>
            <a:r>
              <a:rPr lang="en-US" dirty="0"/>
              <a:t>&lt;</a:t>
            </a:r>
            <a:r>
              <a:rPr lang="en-US" dirty="0" err="1"/>
              <a:t>Customers_By_City_Result</a:t>
            </a:r>
            <a:r>
              <a:rPr lang="en-US" dirty="0"/>
              <a:t>&gt; </a:t>
            </a:r>
            <a:r>
              <a:rPr lang="en-US" dirty="0" err="1"/>
              <a:t>custs</a:t>
            </a:r>
            <a:r>
              <a:rPr lang="en-US" dirty="0"/>
              <a:t> = </a:t>
            </a:r>
            <a:r>
              <a:rPr lang="en-US" dirty="0" err="1"/>
              <a:t>context.Customers_By_City</a:t>
            </a:r>
            <a:r>
              <a:rPr lang="en-US" dirty="0"/>
              <a:t>("London");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foreach</a:t>
            </a:r>
            <a:r>
              <a:rPr lang="en-US" dirty="0"/>
              <a:t> (</a:t>
            </a:r>
            <a:r>
              <a:rPr lang="en-US" dirty="0" err="1"/>
              <a:t>Customers_By_City_Result</a:t>
            </a:r>
            <a:r>
              <a:rPr lang="en-US" dirty="0"/>
              <a:t> </a:t>
            </a:r>
            <a:r>
              <a:rPr lang="en-US" dirty="0" err="1"/>
              <a:t>cust</a:t>
            </a:r>
            <a:r>
              <a:rPr lang="en-US" dirty="0"/>
              <a:t> in </a:t>
            </a:r>
            <a:r>
              <a:rPr lang="en-US" dirty="0" err="1"/>
              <a:t>custs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  {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Console.WriteLine</a:t>
            </a:r>
            <a:r>
              <a:rPr lang="en-US" dirty="0"/>
              <a:t>("{0}, {1}", </a:t>
            </a:r>
            <a:r>
              <a:rPr lang="en-US" dirty="0" err="1"/>
              <a:t>cust.CompanyName</a:t>
            </a:r>
            <a:r>
              <a:rPr lang="en-US" dirty="0"/>
              <a:t>, </a:t>
            </a:r>
            <a:r>
              <a:rPr lang="en-US" dirty="0" err="1"/>
              <a:t>cust.ContactName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    }</a:t>
            </a:r>
          </a:p>
        </p:txBody>
      </p:sp>
    </p:spTree>
    <p:extLst>
      <p:ext uri="{BB962C8B-B14F-4D97-AF65-F5344CB8AC3E}">
        <p14:creationId xmlns:p14="http://schemas.microsoft.com/office/powerpoint/2010/main" val="104378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60648"/>
            <a:ext cx="8507288" cy="6336704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Обновления сущностных типов заключаются в </a:t>
            </a:r>
            <a:r>
              <a:rPr lang="ru-RU" dirty="0" smtClean="0"/>
              <a:t>изменении </a:t>
            </a:r>
            <a:r>
              <a:rPr lang="ru-RU" dirty="0"/>
              <a:t>свойств сущностного объекта, вызове метода </a:t>
            </a:r>
            <a:r>
              <a:rPr lang="ru-RU" dirty="0" err="1"/>
              <a:t>SaveChanges</a:t>
            </a:r>
            <a:r>
              <a:rPr lang="ru-RU" dirty="0"/>
              <a:t> объекта </a:t>
            </a:r>
            <a:r>
              <a:rPr lang="ru-RU" dirty="0" err="1"/>
              <a:t>ObjectContext</a:t>
            </a:r>
            <a:r>
              <a:rPr lang="ru-RU" dirty="0"/>
              <a:t> с разрешением конфликтов параллельного доступа, если это необходимо.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//</a:t>
            </a:r>
            <a:r>
              <a:rPr lang="ru-RU" dirty="0" smtClean="0">
                <a:solidFill>
                  <a:srgbClr val="00B050"/>
                </a:solidFill>
              </a:rPr>
              <a:t>простой </a:t>
            </a:r>
            <a:r>
              <a:rPr lang="ru-RU" dirty="0">
                <a:solidFill>
                  <a:srgbClr val="00B050"/>
                </a:solidFill>
              </a:rPr>
              <a:t>пример обновления: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// Создание </a:t>
            </a:r>
            <a:r>
              <a:rPr lang="en-US" dirty="0" err="1">
                <a:solidFill>
                  <a:srgbClr val="00B050"/>
                </a:solidFill>
              </a:rPr>
              <a:t>ObjectContext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NorthwindEntities</a:t>
            </a:r>
            <a:r>
              <a:rPr lang="en-US" dirty="0"/>
              <a:t> context = new </a:t>
            </a:r>
            <a:r>
              <a:rPr lang="en-US" dirty="0" err="1"/>
              <a:t>NorthwindEntities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Получить заказчика </a:t>
            </a:r>
            <a:r>
              <a:rPr lang="en-US" dirty="0">
                <a:solidFill>
                  <a:srgbClr val="00B050"/>
                </a:solidFill>
              </a:rPr>
              <a:t>LAZYK</a:t>
            </a:r>
          </a:p>
          <a:p>
            <a:pPr marL="0" indent="0">
              <a:buNone/>
            </a:pPr>
            <a:r>
              <a:rPr lang="en-US" dirty="0"/>
              <a:t>            Customer </a:t>
            </a:r>
            <a:r>
              <a:rPr lang="en-US" dirty="0" err="1"/>
              <a:t>cust</a:t>
            </a:r>
            <a:r>
              <a:rPr lang="en-US" dirty="0"/>
              <a:t> = (from c in </a:t>
            </a:r>
            <a:r>
              <a:rPr lang="en-US" dirty="0" err="1"/>
              <a:t>context.Customers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where </a:t>
            </a:r>
            <a:r>
              <a:rPr lang="en-US" dirty="0" err="1"/>
              <a:t>c.CustomerID</a:t>
            </a:r>
            <a:r>
              <a:rPr lang="en-US" dirty="0"/>
              <a:t> == "LAZYK"</a:t>
            </a:r>
          </a:p>
          <a:p>
            <a:pPr marL="0" indent="0">
              <a:buNone/>
            </a:pPr>
            <a:r>
              <a:rPr lang="en-US" dirty="0"/>
              <a:t>                             select c).Single&lt;Customer&gt;();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Изменить его имя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cust.ContactName</a:t>
            </a:r>
            <a:r>
              <a:rPr lang="en-US" dirty="0"/>
              <a:t> = "Ned Plimpton";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Сохранить изменения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context.SaveChanges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Восстановить базу данных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cust.ContactName</a:t>
            </a:r>
            <a:r>
              <a:rPr lang="en-US" dirty="0"/>
              <a:t> = "John Steel";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context.SaveChanges</a:t>
            </a:r>
            <a:r>
              <a:rPr lang="en-US" dirty="0" smtClean="0"/>
              <a:t>();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64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Обновление ассоциированных </a:t>
            </a:r>
            <a:r>
              <a:rPr lang="ru-RU" sz="2400" dirty="0" smtClean="0"/>
              <a:t>объектов</a:t>
            </a:r>
            <a:endParaRPr lang="en-US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6048672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ru-RU" dirty="0" err="1" smtClean="0"/>
              <a:t>Entity</a:t>
            </a:r>
            <a:r>
              <a:rPr lang="ru-RU" dirty="0" smtClean="0"/>
              <a:t> </a:t>
            </a:r>
            <a:r>
              <a:rPr lang="ru-RU" dirty="0" err="1"/>
              <a:t>Framework</a:t>
            </a:r>
            <a:r>
              <a:rPr lang="ru-RU" dirty="0"/>
              <a:t> заботится об управлении отношениями между ассоциированными типами </a:t>
            </a:r>
            <a:r>
              <a:rPr lang="ru-RU" dirty="0" smtClean="0"/>
              <a:t>данных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// </a:t>
            </a:r>
            <a:r>
              <a:rPr lang="ru-RU" dirty="0">
                <a:solidFill>
                  <a:srgbClr val="00B050"/>
                </a:solidFill>
              </a:rPr>
              <a:t>Создание </a:t>
            </a:r>
            <a:r>
              <a:rPr lang="en-US" dirty="0" err="1">
                <a:solidFill>
                  <a:srgbClr val="00B050"/>
                </a:solidFill>
              </a:rPr>
              <a:t>ObjectContext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NorthwindEntities</a:t>
            </a:r>
            <a:r>
              <a:rPr lang="en-US" dirty="0"/>
              <a:t> context = new </a:t>
            </a:r>
            <a:r>
              <a:rPr lang="en-US" dirty="0" err="1"/>
              <a:t>NorthwindEntities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smtClean="0"/>
              <a:t>            </a:t>
            </a:r>
            <a:r>
              <a:rPr lang="en-US" dirty="0"/>
              <a:t>Order </a:t>
            </a:r>
            <a:r>
              <a:rPr lang="en-US" dirty="0" err="1"/>
              <a:t>order</a:t>
            </a:r>
            <a:r>
              <a:rPr lang="en-US" dirty="0"/>
              <a:t> = (from o in </a:t>
            </a:r>
            <a:r>
              <a:rPr lang="en-US" dirty="0" err="1"/>
              <a:t>context.Orders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where </a:t>
            </a:r>
            <a:r>
              <a:rPr lang="en-US" dirty="0" err="1"/>
              <a:t>o.EmployeeID</a:t>
            </a:r>
            <a:r>
              <a:rPr lang="en-US" dirty="0"/>
              <a:t> == 5</a:t>
            </a:r>
          </a:p>
          <a:p>
            <a:pPr marL="0" indent="0">
              <a:buNone/>
            </a:pPr>
            <a:r>
              <a:rPr lang="en-US" dirty="0"/>
              <a:t>                           </a:t>
            </a:r>
            <a:r>
              <a:rPr lang="en-US" dirty="0" err="1"/>
              <a:t>orderby</a:t>
            </a:r>
            <a:r>
              <a:rPr lang="en-US" dirty="0"/>
              <a:t> </a:t>
            </a:r>
            <a:r>
              <a:rPr lang="en-US" dirty="0" err="1"/>
              <a:t>o.OrderDate</a:t>
            </a:r>
            <a:r>
              <a:rPr lang="en-US" dirty="0"/>
              <a:t> descending</a:t>
            </a:r>
          </a:p>
          <a:p>
            <a:pPr marL="0" indent="0">
              <a:buNone/>
            </a:pPr>
            <a:r>
              <a:rPr lang="en-US" dirty="0"/>
              <a:t>                           select o).First&lt;Order&gt;();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            </a:t>
            </a:r>
            <a:r>
              <a:rPr lang="ru-RU" dirty="0">
                <a:solidFill>
                  <a:srgbClr val="00B050"/>
                </a:solidFill>
              </a:rPr>
              <a:t>// Сохранить текущего сотрудника, чтобы можно было восстанови</a:t>
            </a:r>
            <a:r>
              <a:rPr lang="ru-RU" dirty="0"/>
              <a:t>ть его в конце.</a:t>
            </a:r>
          </a:p>
          <a:p>
            <a:pPr marL="0" indent="0">
              <a:buNone/>
            </a:pPr>
            <a:r>
              <a:rPr lang="en-US" dirty="0"/>
              <a:t>            Employee </a:t>
            </a:r>
            <a:r>
              <a:rPr lang="en-US" dirty="0" err="1"/>
              <a:t>origEmployee</a:t>
            </a:r>
            <a:r>
              <a:rPr lang="en-US" dirty="0"/>
              <a:t> = </a:t>
            </a:r>
            <a:r>
              <a:rPr lang="en-US" dirty="0" err="1"/>
              <a:t>order.Employee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smtClean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Перед изменением сотрудника.");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en-US" dirty="0" err="1"/>
              <a:t>OrderID</a:t>
            </a:r>
            <a:r>
              <a:rPr lang="en-US" dirty="0"/>
              <a:t> = {0} : </a:t>
            </a:r>
            <a:r>
              <a:rPr lang="en-US" dirty="0" err="1"/>
              <a:t>OrderDate</a:t>
            </a:r>
            <a:r>
              <a:rPr lang="en-US" dirty="0"/>
              <a:t> = {1} : </a:t>
            </a:r>
            <a:r>
              <a:rPr lang="en-US" dirty="0" err="1"/>
              <a:t>EmployeeID</a:t>
            </a:r>
            <a:r>
              <a:rPr lang="en-US" dirty="0"/>
              <a:t> = {2}",</a:t>
            </a:r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US" dirty="0" err="1"/>
              <a:t>order.OrderID</a:t>
            </a:r>
            <a:r>
              <a:rPr lang="en-US" dirty="0"/>
              <a:t>, </a:t>
            </a:r>
            <a:r>
              <a:rPr lang="en-US" dirty="0" err="1"/>
              <a:t>order.OrderDate</a:t>
            </a:r>
            <a:r>
              <a:rPr lang="en-US" dirty="0"/>
              <a:t>, </a:t>
            </a:r>
            <a:r>
              <a:rPr lang="en-US" dirty="0" err="1"/>
              <a:t>order.Employee.EmployeeID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smtClean="0"/>
              <a:t>            </a:t>
            </a:r>
            <a:r>
              <a:rPr lang="en-US" dirty="0"/>
              <a:t>Employee </a:t>
            </a:r>
            <a:r>
              <a:rPr lang="en-US" dirty="0" err="1"/>
              <a:t>emp</a:t>
            </a:r>
            <a:r>
              <a:rPr lang="en-US" dirty="0"/>
              <a:t> = (from e in </a:t>
            </a:r>
            <a:r>
              <a:rPr lang="en-US" dirty="0" err="1"/>
              <a:t>context.Employees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where </a:t>
            </a:r>
            <a:r>
              <a:rPr lang="en-US" dirty="0" err="1"/>
              <a:t>e.EmployeeID</a:t>
            </a:r>
            <a:r>
              <a:rPr lang="en-US" dirty="0"/>
              <a:t> == 9</a:t>
            </a:r>
          </a:p>
          <a:p>
            <a:pPr marL="0" indent="0">
              <a:buNone/>
            </a:pPr>
            <a:r>
              <a:rPr lang="en-US" dirty="0"/>
              <a:t>                            select e).Single&lt;Employee&gt;();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            </a:t>
            </a:r>
            <a:r>
              <a:rPr lang="ru-RU" dirty="0">
                <a:solidFill>
                  <a:srgbClr val="00B050"/>
                </a:solidFill>
              </a:rPr>
              <a:t>//  Назначить нового сотрудника на заказ.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order.Employee</a:t>
            </a:r>
            <a:r>
              <a:rPr lang="en-US" dirty="0"/>
              <a:t> = </a:t>
            </a:r>
            <a:r>
              <a:rPr lang="en-US" dirty="0" err="1"/>
              <a:t>emp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smtClean="0"/>
              <a:t>            </a:t>
            </a:r>
            <a:r>
              <a:rPr lang="en-US" dirty="0" err="1"/>
              <a:t>context.SaveChanges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smtClean="0"/>
              <a:t>            </a:t>
            </a:r>
            <a:r>
              <a:rPr lang="en-US" dirty="0"/>
              <a:t>Order order2 = (from o in </a:t>
            </a:r>
            <a:r>
              <a:rPr lang="en-US" dirty="0" err="1" smtClean="0"/>
              <a:t>emp.Orders</a:t>
            </a:r>
            <a:r>
              <a:rPr lang="ru-RU" dirty="0" smtClean="0"/>
              <a:t> </a:t>
            </a:r>
            <a:r>
              <a:rPr lang="en-US" dirty="0" smtClean="0"/>
              <a:t>    </a:t>
            </a:r>
            <a:r>
              <a:rPr lang="en-US" dirty="0"/>
              <a:t>where </a:t>
            </a:r>
            <a:r>
              <a:rPr lang="en-US" dirty="0" err="1"/>
              <a:t>o.OrderID</a:t>
            </a:r>
            <a:r>
              <a:rPr lang="en-US" dirty="0"/>
              <a:t> == </a:t>
            </a:r>
            <a:r>
              <a:rPr lang="en-US" dirty="0" err="1"/>
              <a:t>order.OrderID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select o).First&lt;Order&gt;();</a:t>
            </a:r>
          </a:p>
          <a:p>
            <a:pPr marL="0" indent="0">
              <a:buNone/>
            </a:pPr>
            <a:r>
              <a:rPr lang="en-US" dirty="0" smtClean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("\n</a:t>
            </a:r>
            <a:r>
              <a:rPr lang="ru-RU" dirty="0"/>
              <a:t>После изменения сотрудника.");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en-US" dirty="0" err="1"/>
              <a:t>OrderID</a:t>
            </a:r>
            <a:r>
              <a:rPr lang="en-US" dirty="0"/>
              <a:t> = {0} : </a:t>
            </a:r>
            <a:r>
              <a:rPr lang="en-US" dirty="0" err="1"/>
              <a:t>OrderDate</a:t>
            </a:r>
            <a:r>
              <a:rPr lang="en-US" dirty="0"/>
              <a:t> = {1} : </a:t>
            </a:r>
            <a:r>
              <a:rPr lang="en-US" dirty="0" err="1"/>
              <a:t>EmployeeID</a:t>
            </a:r>
            <a:r>
              <a:rPr lang="en-US" dirty="0"/>
              <a:t> = {2}",</a:t>
            </a:r>
          </a:p>
          <a:p>
            <a:pPr marL="0" indent="0">
              <a:buNone/>
            </a:pPr>
            <a:r>
              <a:rPr lang="en-US" dirty="0"/>
              <a:t>              order2.OrderID, order2.OrderDate, order2.Employee.EmployeeID);</a:t>
            </a:r>
          </a:p>
          <a:p>
            <a:pPr marL="0" indent="0">
              <a:buNone/>
            </a:pPr>
            <a:r>
              <a:rPr lang="ru-RU" dirty="0" smtClean="0"/>
              <a:t>            </a:t>
            </a:r>
            <a:r>
              <a:rPr lang="ru-RU" dirty="0">
                <a:solidFill>
                  <a:srgbClr val="00B050"/>
                </a:solidFill>
              </a:rPr>
              <a:t>// Теперь необходимо отменить изменения, чтобы можно было пример запускать многократно.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order.Employee</a:t>
            </a:r>
            <a:r>
              <a:rPr lang="en-US" dirty="0"/>
              <a:t> = </a:t>
            </a:r>
            <a:r>
              <a:rPr lang="en-US" dirty="0" err="1"/>
              <a:t>origEmployee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context.SaveChanges</a:t>
            </a:r>
            <a:r>
              <a:rPr lang="en-US" dirty="0" smtClean="0"/>
              <a:t>();</a:t>
            </a:r>
            <a:endParaRPr lang="en-US" dirty="0"/>
          </a:p>
        </p:txBody>
      </p:sp>
      <p:pic>
        <p:nvPicPr>
          <p:cNvPr id="7172" name="Picture 4" descr="Обновление отношения ассоциированных типов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" t="-7989" r="16179" b="24457"/>
          <a:stretch/>
        </p:blipFill>
        <p:spPr bwMode="auto">
          <a:xfrm>
            <a:off x="3275857" y="5478441"/>
            <a:ext cx="5355396" cy="1161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545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8640"/>
            <a:ext cx="8507288" cy="648072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dirty="0"/>
              <a:t>Чтобы удалить запись из базы данных, необходимо просто передать сущностный объект, представляющий эту запись, в качестве аргумента методу </a:t>
            </a:r>
            <a:r>
              <a:rPr lang="ru-RU" b="1" dirty="0" err="1"/>
              <a:t>DeleteObject</a:t>
            </a:r>
            <a:r>
              <a:rPr lang="ru-RU" dirty="0"/>
              <a:t>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/*запрашиваются </a:t>
            </a:r>
            <a:r>
              <a:rPr lang="ru-RU" dirty="0">
                <a:solidFill>
                  <a:srgbClr val="00B050"/>
                </a:solidFill>
              </a:rPr>
              <a:t>все сущностные объекты </a:t>
            </a:r>
            <a:r>
              <a:rPr lang="ru-RU" dirty="0" err="1">
                <a:solidFill>
                  <a:srgbClr val="00B050"/>
                </a:solidFill>
              </a:rPr>
              <a:t>Order_Detail</a:t>
            </a:r>
            <a:r>
              <a:rPr lang="ru-RU" dirty="0">
                <a:solidFill>
                  <a:srgbClr val="00B050"/>
                </a:solidFill>
              </a:rPr>
              <a:t> со значением </a:t>
            </a:r>
            <a:r>
              <a:rPr lang="ru-RU" dirty="0" err="1">
                <a:solidFill>
                  <a:srgbClr val="00B050"/>
                </a:solidFill>
              </a:rPr>
              <a:t>OrderID</a:t>
            </a:r>
            <a:r>
              <a:rPr lang="ru-RU" dirty="0">
                <a:solidFill>
                  <a:srgbClr val="00B050"/>
                </a:solidFill>
              </a:rPr>
              <a:t>, равным 10248. Затем с помощью метода </a:t>
            </a:r>
            <a:r>
              <a:rPr lang="ru-RU" dirty="0" err="1">
                <a:solidFill>
                  <a:srgbClr val="00B050"/>
                </a:solidFill>
              </a:rPr>
              <a:t>First</a:t>
            </a:r>
            <a:r>
              <a:rPr lang="ru-RU" dirty="0">
                <a:solidFill>
                  <a:srgbClr val="00B050"/>
                </a:solidFill>
              </a:rPr>
              <a:t> первый из них выбирается и передается в качестве аргумента методу </a:t>
            </a:r>
            <a:r>
              <a:rPr lang="ru-RU" dirty="0" err="1">
                <a:solidFill>
                  <a:srgbClr val="00B050"/>
                </a:solidFill>
              </a:rPr>
              <a:t>ObjectContext.DeleteObject</a:t>
            </a:r>
            <a:r>
              <a:rPr lang="ru-RU" dirty="0">
                <a:solidFill>
                  <a:srgbClr val="00B050"/>
                </a:solidFill>
              </a:rPr>
              <a:t>. Для сохранения изменений вызывается метод </a:t>
            </a:r>
            <a:r>
              <a:rPr lang="ru-RU" dirty="0" err="1">
                <a:solidFill>
                  <a:srgbClr val="00B050"/>
                </a:solidFill>
              </a:rPr>
              <a:t>ObjectContext.SaveChanges</a:t>
            </a:r>
            <a:r>
              <a:rPr lang="ru-RU" dirty="0">
                <a:solidFill>
                  <a:srgbClr val="00B050"/>
                </a:solidFill>
              </a:rPr>
              <a:t>, который отправляет команду удаления в базу </a:t>
            </a:r>
            <a:r>
              <a:rPr lang="ru-RU" dirty="0" smtClean="0">
                <a:solidFill>
                  <a:srgbClr val="00B050"/>
                </a:solidFill>
              </a:rPr>
              <a:t>данных*/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// Создание </a:t>
            </a:r>
            <a:r>
              <a:rPr lang="en-US" dirty="0" err="1">
                <a:solidFill>
                  <a:srgbClr val="00B050"/>
                </a:solidFill>
              </a:rPr>
              <a:t>ObjectContext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NorthwindEntities</a:t>
            </a:r>
            <a:r>
              <a:rPr lang="en-US" dirty="0"/>
              <a:t> context = new </a:t>
            </a:r>
            <a:r>
              <a:rPr lang="en-US" dirty="0" err="1"/>
              <a:t>NorthwindEntities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            </a:t>
            </a:r>
            <a:r>
              <a:rPr lang="ru-RU" dirty="0">
                <a:solidFill>
                  <a:srgbClr val="00B050"/>
                </a:solidFill>
              </a:rPr>
              <a:t>// Получить детали заказа 10248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IQueryable</a:t>
            </a:r>
            <a:r>
              <a:rPr lang="en-US" dirty="0"/>
              <a:t>&lt;</a:t>
            </a:r>
            <a:r>
              <a:rPr lang="en-US" dirty="0" err="1"/>
              <a:t>Order_Detail</a:t>
            </a:r>
            <a:r>
              <a:rPr lang="en-US" dirty="0"/>
              <a:t>&gt; </a:t>
            </a:r>
            <a:r>
              <a:rPr lang="en-US" dirty="0" err="1"/>
              <a:t>ods</a:t>
            </a:r>
            <a:r>
              <a:rPr lang="en-US" dirty="0"/>
              <a:t> = from o in </a:t>
            </a:r>
            <a:r>
              <a:rPr lang="en-US" dirty="0" err="1"/>
              <a:t>context.Order_Details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where </a:t>
            </a:r>
            <a:r>
              <a:rPr lang="en-US" dirty="0" err="1"/>
              <a:t>o.OrderID</a:t>
            </a:r>
            <a:r>
              <a:rPr lang="en-US" dirty="0"/>
              <a:t> == 10248</a:t>
            </a:r>
          </a:p>
          <a:p>
            <a:pPr marL="0" indent="0">
              <a:buNone/>
            </a:pPr>
            <a:r>
              <a:rPr lang="en-US" dirty="0"/>
              <a:t>                                           select o;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            </a:t>
            </a:r>
            <a:r>
              <a:rPr lang="ru-RU" dirty="0">
                <a:solidFill>
                  <a:srgbClr val="00B050"/>
                </a:solidFill>
              </a:rPr>
              <a:t>// Вывести результаты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Перед удалением: ");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foreach</a:t>
            </a:r>
            <a:r>
              <a:rPr lang="en-US" dirty="0"/>
              <a:t> (</a:t>
            </a:r>
            <a:r>
              <a:rPr lang="en-US" dirty="0" err="1"/>
              <a:t>Order_Detail</a:t>
            </a:r>
            <a:r>
              <a:rPr lang="en-US" dirty="0"/>
              <a:t> od in </a:t>
            </a:r>
            <a:r>
              <a:rPr lang="en-US" dirty="0" err="1"/>
              <a:t>ods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Детали заказа {0}, {1}, {2}",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od.ProductID</a:t>
            </a:r>
            <a:r>
              <a:rPr lang="en-US" dirty="0"/>
              <a:t>, </a:t>
            </a:r>
            <a:r>
              <a:rPr lang="en-US" dirty="0" err="1"/>
              <a:t>od.UnitPrice</a:t>
            </a:r>
            <a:r>
              <a:rPr lang="en-US" dirty="0"/>
              <a:t>, </a:t>
            </a:r>
            <a:r>
              <a:rPr lang="en-US" dirty="0" err="1"/>
              <a:t>od.Quantity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    }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            </a:t>
            </a:r>
            <a:r>
              <a:rPr lang="ru-RU" dirty="0">
                <a:solidFill>
                  <a:srgbClr val="00B050"/>
                </a:solidFill>
              </a:rPr>
              <a:t>// Удалить детали первого заказа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context.DeleteObject</a:t>
            </a:r>
            <a:r>
              <a:rPr lang="en-US" dirty="0"/>
              <a:t>(</a:t>
            </a:r>
            <a:r>
              <a:rPr lang="en-US" dirty="0" err="1"/>
              <a:t>ods.First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            </a:t>
            </a:r>
            <a:r>
              <a:rPr lang="ru-RU" dirty="0">
                <a:solidFill>
                  <a:srgbClr val="00B050"/>
                </a:solidFill>
              </a:rPr>
              <a:t>// Сохранить изменения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context.SaveChanges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            </a:t>
            </a:r>
            <a:r>
              <a:rPr lang="ru-RU" dirty="0">
                <a:solidFill>
                  <a:srgbClr val="00B050"/>
                </a:solidFill>
              </a:rPr>
              <a:t>// Вывести результаты запроса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("\n</a:t>
            </a:r>
            <a:r>
              <a:rPr lang="ru-RU" dirty="0"/>
              <a:t>После удаления: ");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foreach</a:t>
            </a:r>
            <a:r>
              <a:rPr lang="en-US" dirty="0"/>
              <a:t> (</a:t>
            </a:r>
            <a:r>
              <a:rPr lang="en-US" dirty="0" err="1"/>
              <a:t>Order_Detail</a:t>
            </a:r>
            <a:r>
              <a:rPr lang="en-US" dirty="0"/>
              <a:t> od in </a:t>
            </a:r>
            <a:r>
              <a:rPr lang="en-US" dirty="0" err="1"/>
              <a:t>ods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Детали заказа {0}, {1}, {2}",</a:t>
            </a:r>
          </a:p>
          <a:p>
            <a:pPr marL="0" indent="0">
              <a:buNone/>
            </a:pPr>
            <a:r>
              <a:rPr lang="en-US" dirty="0"/>
              <a:t>                   </a:t>
            </a:r>
            <a:r>
              <a:rPr lang="en-US" dirty="0" err="1"/>
              <a:t>od.ProductID</a:t>
            </a:r>
            <a:r>
              <a:rPr lang="en-US" dirty="0"/>
              <a:t>, </a:t>
            </a:r>
            <a:r>
              <a:rPr lang="en-US" dirty="0" err="1"/>
              <a:t>od.UnitPrice</a:t>
            </a:r>
            <a:r>
              <a:rPr lang="en-US" dirty="0"/>
              <a:t>, </a:t>
            </a:r>
            <a:r>
              <a:rPr lang="en-US" dirty="0" err="1"/>
              <a:t>od.Quantity</a:t>
            </a:r>
            <a:r>
              <a:rPr lang="en-US" dirty="0" smtClean="0"/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949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600" dirty="0"/>
              <a:t>Класс </a:t>
            </a:r>
            <a:r>
              <a:rPr lang="ru-RU" sz="1600" dirty="0" err="1"/>
              <a:t>EntitySet</a:t>
            </a:r>
            <a:r>
              <a:rPr lang="ru-RU" sz="1600" dirty="0"/>
              <a:t> также имеет метод </a:t>
            </a:r>
            <a:r>
              <a:rPr lang="ru-RU" sz="1600" dirty="0" err="1"/>
              <a:t>DeleteObject</a:t>
            </a:r>
            <a:r>
              <a:rPr lang="ru-RU" sz="1600" dirty="0"/>
              <a:t>, </a:t>
            </a:r>
            <a:r>
              <a:rPr lang="ru-RU" sz="1600" dirty="0" smtClean="0"/>
              <a:t>можно </a:t>
            </a:r>
            <a:r>
              <a:rPr lang="ru-RU" sz="1600" dirty="0"/>
              <a:t>получить тот же эффект, что и в предыдущем примере, с использованием сущностного объекта, представляющего </a:t>
            </a:r>
            <a:r>
              <a:rPr lang="ru-RU" sz="1600" dirty="0" smtClean="0"/>
              <a:t>таблицу</a:t>
            </a:r>
            <a:r>
              <a:rPr lang="ru-RU" sz="1600" dirty="0"/>
              <a:t>, из которой нужно удалить запись</a:t>
            </a:r>
            <a:r>
              <a:rPr lang="ru-RU" sz="1600" dirty="0" smtClean="0"/>
              <a:t>:</a:t>
            </a:r>
            <a:endParaRPr lang="en-US" sz="1600" dirty="0" smtClean="0"/>
          </a:p>
          <a:p>
            <a:pPr marL="0" indent="0">
              <a:buNone/>
            </a:pPr>
            <a:r>
              <a:rPr lang="ru-RU" sz="1600" dirty="0" smtClean="0"/>
              <a:t>...</a:t>
            </a:r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 smtClean="0"/>
              <a:t> </a:t>
            </a:r>
            <a:r>
              <a:rPr lang="ru-RU" sz="1600" i="1" dirty="0"/>
              <a:t>// Удалить детали первого заказа</a:t>
            </a:r>
            <a:r>
              <a:rPr lang="ru-RU" sz="1600" dirty="0"/>
              <a:t> </a:t>
            </a:r>
            <a:endParaRPr lang="ru-RU" sz="1600" dirty="0" smtClean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en-US" sz="1600" dirty="0" err="1" smtClean="0"/>
              <a:t>context.Order_Details.DeleteObject</a:t>
            </a:r>
            <a:r>
              <a:rPr lang="en-US" sz="1600" dirty="0" smtClean="0"/>
              <a:t>(</a:t>
            </a:r>
            <a:r>
              <a:rPr lang="en-US" sz="1600" dirty="0" err="1" smtClean="0"/>
              <a:t>ods.First</a:t>
            </a:r>
            <a:r>
              <a:rPr lang="en-US" sz="1600" dirty="0" smtClean="0"/>
              <a:t>());</a:t>
            </a:r>
            <a:endParaRPr lang="ru-RU" sz="1600" dirty="0" smtClean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en-US" sz="1600" dirty="0" smtClean="0"/>
              <a:t> </a:t>
            </a:r>
            <a:r>
              <a:rPr lang="en-US" sz="1600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13387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Удаление связанных </a:t>
            </a:r>
            <a:r>
              <a:rPr lang="ru-RU" b="1" dirty="0" smtClean="0"/>
              <a:t>объектов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435280" cy="5688632"/>
          </a:xfrm>
        </p:spPr>
        <p:txBody>
          <a:bodyPr>
            <a:normAutofit fontScale="47500" lnSpcReduction="20000"/>
          </a:bodyPr>
          <a:lstStyle/>
          <a:p>
            <a:pPr fontAlgn="base"/>
            <a:r>
              <a:rPr lang="ru-RU" dirty="0" smtClean="0"/>
              <a:t>Удаление </a:t>
            </a:r>
            <a:r>
              <a:rPr lang="ru-RU" dirty="0"/>
              <a:t>сущностного объекта в </a:t>
            </a:r>
            <a:r>
              <a:rPr lang="ru-RU" dirty="0" err="1"/>
              <a:t>Entity</a:t>
            </a:r>
            <a:r>
              <a:rPr lang="ru-RU" dirty="0"/>
              <a:t> </a:t>
            </a:r>
            <a:r>
              <a:rPr lang="ru-RU" dirty="0" err="1"/>
              <a:t>Framework</a:t>
            </a:r>
            <a:r>
              <a:rPr lang="ru-RU" dirty="0"/>
              <a:t> приводит к удалению автоматически связанных с ним объектом. При удалении сущностного объекта, имеющего связанные с ним объекты, следует проявлять осторожность: в зависимости от схемы базы данных, могут либо появиться "висячие" данные (данные, внешний ключ которых ссылается на более несуществующий первичный ключ), либо произойти исключение о нарушении ограничения схемы.</a:t>
            </a:r>
          </a:p>
          <a:p>
            <a:pPr marL="0" indent="0" fontAlgn="base">
              <a:buNone/>
            </a:pPr>
            <a:r>
              <a:rPr lang="ru-RU" dirty="0" smtClean="0">
                <a:solidFill>
                  <a:srgbClr val="00B050"/>
                </a:solidFill>
              </a:rPr>
              <a:t>//предпринимается </a:t>
            </a:r>
            <a:r>
              <a:rPr lang="ru-RU" dirty="0">
                <a:solidFill>
                  <a:srgbClr val="00B050"/>
                </a:solidFill>
              </a:rPr>
              <a:t>попытка удалить сущностный объект </a:t>
            </a:r>
            <a:r>
              <a:rPr lang="ru-RU" dirty="0" err="1">
                <a:solidFill>
                  <a:srgbClr val="00B050"/>
                </a:solidFill>
              </a:rPr>
              <a:t>Order</a:t>
            </a:r>
            <a:r>
              <a:rPr lang="ru-RU" dirty="0" smtClean="0">
                <a:solidFill>
                  <a:srgbClr val="00B050"/>
                </a:solidFill>
              </a:rPr>
              <a:t>:</a:t>
            </a:r>
            <a:endParaRPr lang="en-US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// </a:t>
            </a:r>
            <a:r>
              <a:rPr lang="ru-RU" dirty="0">
                <a:solidFill>
                  <a:srgbClr val="00B050"/>
                </a:solidFill>
              </a:rPr>
              <a:t>Создание </a:t>
            </a:r>
            <a:r>
              <a:rPr lang="en-US" dirty="0" err="1">
                <a:solidFill>
                  <a:srgbClr val="00B050"/>
                </a:solidFill>
              </a:rPr>
              <a:t>ObjectContext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NorthwindEntities</a:t>
            </a:r>
            <a:r>
              <a:rPr lang="en-US" dirty="0"/>
              <a:t> context = new </a:t>
            </a:r>
            <a:r>
              <a:rPr lang="en-US" dirty="0" err="1"/>
              <a:t>NorthwindEntities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Запросить первый заказ для LAZYK</a:t>
            </a:r>
          </a:p>
          <a:p>
            <a:pPr marL="0" indent="0">
              <a:buNone/>
            </a:pPr>
            <a:r>
              <a:rPr lang="en-US" dirty="0"/>
              <a:t>            Order </a:t>
            </a:r>
            <a:r>
              <a:rPr lang="en-US" dirty="0" err="1"/>
              <a:t>firstOrder</a:t>
            </a:r>
            <a:r>
              <a:rPr lang="en-US" dirty="0"/>
              <a:t> = </a:t>
            </a:r>
            <a:r>
              <a:rPr lang="en-US" dirty="0" err="1"/>
              <a:t>context.Orders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.Where(o =&gt; </a:t>
            </a:r>
            <a:r>
              <a:rPr lang="en-US" dirty="0" err="1"/>
              <a:t>o.CustomerID</a:t>
            </a:r>
            <a:r>
              <a:rPr lang="en-US" dirty="0"/>
              <a:t> == "LAZYK")</a:t>
            </a:r>
          </a:p>
          <a:p>
            <a:pPr marL="0" indent="0">
              <a:buNone/>
            </a:pPr>
            <a:r>
              <a:rPr lang="en-US" dirty="0"/>
              <a:t>                .Select(o =&gt; o)</a:t>
            </a:r>
          </a:p>
          <a:p>
            <a:pPr marL="0" indent="0">
              <a:buNone/>
            </a:pPr>
            <a:r>
              <a:rPr lang="en-US" dirty="0"/>
              <a:t>                .First();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            </a:t>
            </a:r>
            <a:r>
              <a:rPr lang="ru-RU" dirty="0">
                <a:solidFill>
                  <a:srgbClr val="00B050"/>
                </a:solidFill>
              </a:rPr>
              <a:t>// Удалить заказ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context.DeleteObject</a:t>
            </a:r>
            <a:r>
              <a:rPr lang="en-US" dirty="0"/>
              <a:t>(</a:t>
            </a:r>
            <a:r>
              <a:rPr lang="en-US" dirty="0" err="1"/>
              <a:t>firstOrder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            </a:t>
            </a:r>
            <a:r>
              <a:rPr lang="ru-RU" dirty="0">
                <a:solidFill>
                  <a:srgbClr val="00B050"/>
                </a:solidFill>
              </a:rPr>
              <a:t>// Сохранить изменения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context.SaveChanges</a:t>
            </a:r>
            <a:r>
              <a:rPr lang="en-US" dirty="0" smtClean="0"/>
              <a:t>();</a:t>
            </a:r>
            <a:endParaRPr lang="ru-RU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ru-RU" dirty="0"/>
              <a:t>Компиляция и запуск этого кода приведет к генерации следующего </a:t>
            </a:r>
            <a:r>
              <a:rPr lang="ru-RU" dirty="0" smtClean="0"/>
              <a:t>исключения(нарушено </a:t>
            </a:r>
            <a:r>
              <a:rPr lang="ru-RU" dirty="0"/>
              <a:t>ограничение схемы базы данных</a:t>
            </a:r>
            <a:r>
              <a:rPr lang="ru-RU" dirty="0" smtClean="0"/>
              <a:t>.) </a:t>
            </a:r>
          </a:p>
          <a:p>
            <a:r>
              <a:rPr lang="ru-RU" dirty="0" smtClean="0"/>
              <a:t>Существуют </a:t>
            </a:r>
            <a:r>
              <a:rPr lang="ru-RU" dirty="0"/>
              <a:t>два подхода к безопасному удалению связанных </a:t>
            </a:r>
            <a:r>
              <a:rPr lang="ru-RU" dirty="0" smtClean="0"/>
              <a:t>объектов(можно </a:t>
            </a:r>
            <a:r>
              <a:rPr lang="ru-RU" dirty="0"/>
              <a:t>сделать вручную или воспользоваться каскадным удалением в базе </a:t>
            </a:r>
            <a:r>
              <a:rPr lang="ru-RU" dirty="0" smtClean="0"/>
              <a:t>данных),  </a:t>
            </a:r>
            <a:r>
              <a:rPr lang="ru-RU" dirty="0"/>
              <a:t>тогда сущностная модель данных обработает их автоматически.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876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sz="3100" b="1" dirty="0"/>
              <a:t>Ручное удаление связанных </a:t>
            </a:r>
            <a:r>
              <a:rPr lang="ru-RU" sz="3100" b="1" dirty="0" smtClean="0"/>
              <a:t>объектов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83264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00B050"/>
                </a:solidFill>
              </a:rPr>
              <a:t>// </a:t>
            </a:r>
            <a:r>
              <a:rPr lang="ru-RU" dirty="0">
                <a:solidFill>
                  <a:srgbClr val="00B050"/>
                </a:solidFill>
              </a:rPr>
              <a:t>Создание </a:t>
            </a:r>
            <a:r>
              <a:rPr lang="en-US" dirty="0" err="1">
                <a:solidFill>
                  <a:srgbClr val="00B050"/>
                </a:solidFill>
              </a:rPr>
              <a:t>ObjectContext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NorthwindEntities</a:t>
            </a:r>
            <a:r>
              <a:rPr lang="en-US" dirty="0"/>
              <a:t> context = new </a:t>
            </a:r>
            <a:r>
              <a:rPr lang="en-US" dirty="0" err="1"/>
              <a:t>NorthwindEntities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Запросить первый заказ для LAZYK</a:t>
            </a:r>
          </a:p>
          <a:p>
            <a:pPr marL="0" indent="0">
              <a:buNone/>
            </a:pPr>
            <a:r>
              <a:rPr lang="en-US" dirty="0"/>
              <a:t>            Order </a:t>
            </a:r>
            <a:r>
              <a:rPr lang="en-US" dirty="0" err="1"/>
              <a:t>firstOrder</a:t>
            </a:r>
            <a:r>
              <a:rPr lang="en-US" dirty="0"/>
              <a:t> = </a:t>
            </a:r>
            <a:r>
              <a:rPr lang="en-US" dirty="0" err="1"/>
              <a:t>context.Orders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.Where(o =&gt; </a:t>
            </a:r>
            <a:r>
              <a:rPr lang="en-US" dirty="0" err="1"/>
              <a:t>o.OrderID</a:t>
            </a:r>
            <a:r>
              <a:rPr lang="en-US" dirty="0"/>
              <a:t>== 10248)</a:t>
            </a:r>
          </a:p>
          <a:p>
            <a:pPr marL="0" indent="0">
              <a:buNone/>
            </a:pPr>
            <a:r>
              <a:rPr lang="en-US" dirty="0"/>
              <a:t>                .Select(o =&gt; o)</a:t>
            </a:r>
          </a:p>
          <a:p>
            <a:pPr marL="0" indent="0">
              <a:buNone/>
            </a:pPr>
            <a:r>
              <a:rPr lang="en-US" dirty="0"/>
              <a:t>                .First();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Удалить объекты </a:t>
            </a:r>
            <a:r>
              <a:rPr lang="ru-RU" dirty="0" err="1">
                <a:solidFill>
                  <a:srgbClr val="00B050"/>
                </a:solidFill>
              </a:rPr>
              <a:t>Order_Detail</a:t>
            </a:r>
            <a:r>
              <a:rPr lang="ru-RU" dirty="0">
                <a:solidFill>
                  <a:srgbClr val="00B050"/>
                </a:solidFill>
              </a:rPr>
              <a:t> этого объекта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foreach</a:t>
            </a:r>
            <a:r>
              <a:rPr lang="en-US" dirty="0"/>
              <a:t> (</a:t>
            </a:r>
            <a:r>
              <a:rPr lang="en-US" dirty="0" err="1"/>
              <a:t>Order_Detail</a:t>
            </a:r>
            <a:r>
              <a:rPr lang="en-US" dirty="0"/>
              <a:t> od in </a:t>
            </a:r>
            <a:r>
              <a:rPr lang="en-US" dirty="0" err="1"/>
              <a:t>firstOrder.Order_Details.ToArray</a:t>
            </a:r>
            <a:r>
              <a:rPr lang="en-US" dirty="0"/>
              <a:t>())</a:t>
            </a:r>
          </a:p>
          <a:p>
            <a:pPr marL="0" indent="0">
              <a:buNone/>
            </a:pPr>
            <a:r>
              <a:rPr lang="en-US" dirty="0"/>
              <a:t>            {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Console.WriteLine</a:t>
            </a:r>
            <a:r>
              <a:rPr lang="en-US" dirty="0"/>
              <a:t>("Deleting order detail {0}, {1}, {2}, {3}",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od.OrderID</a:t>
            </a:r>
            <a:r>
              <a:rPr lang="en-US" dirty="0"/>
              <a:t>, </a:t>
            </a:r>
            <a:r>
              <a:rPr lang="en-US" dirty="0" err="1"/>
              <a:t>od.ProductID</a:t>
            </a:r>
            <a:r>
              <a:rPr lang="en-US" dirty="0"/>
              <a:t>, </a:t>
            </a:r>
            <a:r>
              <a:rPr lang="en-US" dirty="0" err="1"/>
              <a:t>od.UnitPrice</a:t>
            </a:r>
            <a:r>
              <a:rPr lang="en-US" dirty="0"/>
              <a:t>, </a:t>
            </a:r>
            <a:r>
              <a:rPr lang="en-US" dirty="0" err="1"/>
              <a:t>od.Quantity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context.DeleteObject</a:t>
            </a:r>
            <a:r>
              <a:rPr lang="en-US" dirty="0"/>
              <a:t>(od);</a:t>
            </a:r>
          </a:p>
          <a:p>
            <a:pPr marL="0" indent="0">
              <a:buNone/>
            </a:pPr>
            <a:r>
              <a:rPr lang="en-US" dirty="0"/>
              <a:t>        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Удалить заказ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context.DeleteObject</a:t>
            </a:r>
            <a:r>
              <a:rPr lang="en-US" dirty="0"/>
              <a:t>(</a:t>
            </a:r>
            <a:r>
              <a:rPr lang="en-US" dirty="0" err="1"/>
              <a:t>firstOrder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Сохранить изменения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context.SaveChanges</a:t>
            </a:r>
            <a:r>
              <a:rPr lang="en-US" dirty="0"/>
              <a:t>();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940152" y="1196752"/>
            <a:ext cx="298782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ru-RU" sz="1400" dirty="0" smtClean="0">
                <a:latin typeface="Inconsolata"/>
              </a:rPr>
              <a:t>запрашивается </a:t>
            </a:r>
            <a:r>
              <a:rPr lang="ru-RU" sz="1400" dirty="0">
                <a:latin typeface="Inconsolata"/>
              </a:rPr>
              <a:t>объект </a:t>
            </a:r>
            <a:r>
              <a:rPr lang="ru-RU" sz="1400" dirty="0" err="1">
                <a:latin typeface="Inconsolata"/>
              </a:rPr>
              <a:t>Order</a:t>
            </a:r>
            <a:r>
              <a:rPr lang="ru-RU" sz="1400" dirty="0">
                <a:latin typeface="Inconsolata"/>
              </a:rPr>
              <a:t> со значением свойства </a:t>
            </a:r>
            <a:r>
              <a:rPr lang="ru-RU" sz="1400" dirty="0" err="1">
                <a:latin typeface="Inconsolata"/>
              </a:rPr>
              <a:t>OrderID</a:t>
            </a:r>
            <a:r>
              <a:rPr lang="ru-RU" sz="1400" dirty="0">
                <a:latin typeface="Inconsolata"/>
              </a:rPr>
              <a:t>, равным </a:t>
            </a:r>
            <a:r>
              <a:rPr lang="ru-RU" sz="1400" dirty="0" smtClean="0">
                <a:latin typeface="Inconsolata"/>
              </a:rPr>
              <a:t>10248(с </a:t>
            </a:r>
            <a:r>
              <a:rPr lang="ru-RU" sz="1400" dirty="0">
                <a:latin typeface="Inconsolata"/>
              </a:rPr>
              <a:t>ним связано более одного </a:t>
            </a:r>
            <a:r>
              <a:rPr lang="ru-RU" sz="1400" dirty="0" err="1" smtClean="0">
                <a:latin typeface="Inconsolata"/>
              </a:rPr>
              <a:t>Order_Detail</a:t>
            </a:r>
            <a:r>
              <a:rPr lang="ru-RU" sz="1400" dirty="0" smtClean="0">
                <a:latin typeface="Inconsolata"/>
              </a:rPr>
              <a:t>).</a:t>
            </a:r>
          </a:p>
          <a:p>
            <a:pPr algn="just" fontAlgn="base"/>
            <a:r>
              <a:rPr lang="ru-RU" sz="1400" dirty="0" smtClean="0">
                <a:latin typeface="Inconsolata"/>
              </a:rPr>
              <a:t> </a:t>
            </a:r>
            <a:r>
              <a:rPr lang="ru-RU" sz="1400" dirty="0">
                <a:latin typeface="Inconsolata"/>
              </a:rPr>
              <a:t>Перед удалением собственно </a:t>
            </a:r>
            <a:r>
              <a:rPr lang="ru-RU" sz="1400" dirty="0" err="1">
                <a:latin typeface="Inconsolata"/>
              </a:rPr>
              <a:t>Order</a:t>
            </a:r>
            <a:r>
              <a:rPr lang="ru-RU" sz="1400" dirty="0">
                <a:latin typeface="Inconsolata"/>
              </a:rPr>
              <a:t> объекты </a:t>
            </a:r>
            <a:r>
              <a:rPr lang="ru-RU" sz="1400" dirty="0" err="1">
                <a:latin typeface="Inconsolata"/>
              </a:rPr>
              <a:t>Order</a:t>
            </a:r>
            <a:r>
              <a:rPr lang="ru-RU" sz="1400" dirty="0">
                <a:latin typeface="Inconsolata"/>
              </a:rPr>
              <a:t> </a:t>
            </a:r>
            <a:r>
              <a:rPr lang="ru-RU" sz="1400" dirty="0" err="1">
                <a:latin typeface="Inconsolata"/>
              </a:rPr>
              <a:t>Detail</a:t>
            </a:r>
            <a:r>
              <a:rPr lang="ru-RU" sz="1400" dirty="0">
                <a:latin typeface="Inconsolata"/>
              </a:rPr>
              <a:t> перечисляются и удаляются один за другим</a:t>
            </a:r>
            <a:r>
              <a:rPr lang="ru-RU" sz="1400" dirty="0" smtClean="0">
                <a:latin typeface="Inconsolata"/>
              </a:rPr>
              <a:t>.</a:t>
            </a:r>
            <a:endParaRPr lang="ru-RU" sz="1400" dirty="0">
              <a:latin typeface="Inconsolata"/>
            </a:endParaRPr>
          </a:p>
        </p:txBody>
      </p:sp>
    </p:spTree>
    <p:extLst>
      <p:ext uri="{BB962C8B-B14F-4D97-AF65-F5344CB8AC3E}">
        <p14:creationId xmlns:p14="http://schemas.microsoft.com/office/powerpoint/2010/main" val="1686051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2800" b="1" dirty="0"/>
              <a:t>Каскадное удаление связанных </a:t>
            </a:r>
            <a:r>
              <a:rPr lang="ru-RU" sz="2800" b="1" dirty="0" smtClean="0"/>
              <a:t>объектов</a:t>
            </a:r>
            <a:endParaRPr lang="en-US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 fontScale="92500" lnSpcReduction="20000"/>
          </a:bodyPr>
          <a:lstStyle/>
          <a:p>
            <a:pPr fontAlgn="base">
              <a:spcBef>
                <a:spcPts val="1200"/>
              </a:spcBef>
              <a:spcAft>
                <a:spcPts val="1800"/>
              </a:spcAft>
            </a:pPr>
            <a:r>
              <a:rPr lang="ru-RU" dirty="0" smtClean="0"/>
              <a:t>Каскадное </a:t>
            </a:r>
            <a:r>
              <a:rPr lang="ru-RU" dirty="0"/>
              <a:t>удаление означает, что в случае удаления из базы данных </a:t>
            </a:r>
            <a:r>
              <a:rPr lang="ru-RU" dirty="0" smtClean="0"/>
              <a:t>записи, </a:t>
            </a:r>
            <a:r>
              <a:rPr lang="ru-RU" dirty="0"/>
              <a:t>связанные записи, имеющие с ней отношение внешнего ключа, </a:t>
            </a:r>
            <a:r>
              <a:rPr lang="ru-RU" dirty="0" smtClean="0"/>
              <a:t>также </a:t>
            </a:r>
            <a:r>
              <a:rPr lang="ru-RU" dirty="0"/>
              <a:t>будут удалены автоматически.</a:t>
            </a:r>
          </a:p>
          <a:p>
            <a:pPr fontAlgn="base">
              <a:spcBef>
                <a:spcPts val="1200"/>
              </a:spcBef>
              <a:spcAft>
                <a:spcPts val="1800"/>
              </a:spcAft>
            </a:pPr>
            <a:r>
              <a:rPr lang="ru-RU" dirty="0"/>
              <a:t>Для каждого отношения внешнего ключа, которое необходимо изменить, должно быть включено каскадное удаление в базе данных и в сущностной модели данных.</a:t>
            </a:r>
          </a:p>
          <a:p>
            <a:pPr fontAlgn="base">
              <a:spcBef>
                <a:spcPts val="1200"/>
              </a:spcBef>
              <a:spcAft>
                <a:spcPts val="1800"/>
              </a:spcAft>
            </a:pPr>
            <a:r>
              <a:rPr lang="ru-RU" dirty="0"/>
              <a:t>Подробности использования каскадного удаления ищите на форуме MSDN.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232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8640"/>
            <a:ext cx="8507288" cy="6480720"/>
          </a:xfrm>
        </p:spPr>
        <p:txBody>
          <a:bodyPr>
            <a:normAutofit fontScale="40000" lnSpcReduction="20000"/>
          </a:bodyPr>
          <a:lstStyle/>
          <a:p>
            <a:r>
              <a:rPr lang="ru-RU" dirty="0"/>
              <a:t>По умолчанию в </a:t>
            </a:r>
            <a:r>
              <a:rPr lang="ru-RU" dirty="0" err="1"/>
              <a:t>Entity</a:t>
            </a:r>
            <a:r>
              <a:rPr lang="ru-RU" dirty="0"/>
              <a:t> </a:t>
            </a:r>
            <a:r>
              <a:rPr lang="ru-RU" dirty="0" err="1"/>
              <a:t>Framework</a:t>
            </a:r>
            <a:r>
              <a:rPr lang="ru-RU" dirty="0"/>
              <a:t> используется модель оптимистического параллелизма. Оптимистичность означает то, что она основана на предположении, что никто другой не модифицирует данные, пока они используются, и данные сохраняются в базе без проведения проверки, не были ли они изменены кем-то </a:t>
            </a:r>
            <a:r>
              <a:rPr lang="ru-RU" dirty="0" smtClean="0"/>
              <a:t>другим</a:t>
            </a: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// Создание </a:t>
            </a:r>
            <a:r>
              <a:rPr lang="en-US" dirty="0" err="1">
                <a:solidFill>
                  <a:srgbClr val="00B050"/>
                </a:solidFill>
              </a:rPr>
              <a:t>ObjectContext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NorthwindEntities</a:t>
            </a:r>
            <a:r>
              <a:rPr lang="en-US" dirty="0"/>
              <a:t> context = new </a:t>
            </a:r>
            <a:r>
              <a:rPr lang="en-US" dirty="0" err="1"/>
              <a:t>NorthwindEntities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Customer </a:t>
            </a:r>
            <a:r>
              <a:rPr lang="en-US" dirty="0" err="1"/>
              <a:t>cust</a:t>
            </a:r>
            <a:r>
              <a:rPr lang="en-US" dirty="0"/>
              <a:t> = </a:t>
            </a:r>
            <a:r>
              <a:rPr lang="en-US" dirty="0" err="1"/>
              <a:t>context.Customers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.Where(c =&gt; </a:t>
            </a:r>
            <a:r>
              <a:rPr lang="en-US" dirty="0" err="1"/>
              <a:t>c.CustomerID</a:t>
            </a:r>
            <a:r>
              <a:rPr lang="en-US" dirty="0"/>
              <a:t> == "LAZYK")</a:t>
            </a:r>
          </a:p>
          <a:p>
            <a:pPr marL="0" indent="0">
              <a:buNone/>
            </a:pPr>
            <a:r>
              <a:rPr lang="en-US" dirty="0"/>
              <a:t>                .Select(c =&gt; c)</a:t>
            </a:r>
          </a:p>
          <a:p>
            <a:pPr marL="0" indent="0">
              <a:buNone/>
            </a:pPr>
            <a:r>
              <a:rPr lang="en-US" dirty="0"/>
              <a:t>                .First();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Исходное значение {0}", </a:t>
            </a:r>
            <a:r>
              <a:rPr lang="en-US" dirty="0" err="1"/>
              <a:t>cust.ContactName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Изменить запись вне </a:t>
            </a:r>
            <a:r>
              <a:rPr lang="ru-RU" dirty="0" err="1">
                <a:solidFill>
                  <a:srgbClr val="00B050"/>
                </a:solidFill>
              </a:rPr>
              <a:t>Entity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Framework</a:t>
            </a:r>
            <a:endParaRPr lang="ru-RU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ExecuteStatementInDb</a:t>
            </a:r>
            <a:r>
              <a:rPr lang="en-US" dirty="0"/>
              <a:t>(</a:t>
            </a:r>
            <a:r>
              <a:rPr lang="en-US" dirty="0" err="1"/>
              <a:t>String.Format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                @"update Customers set </a:t>
            </a:r>
            <a:r>
              <a:rPr lang="en-US" dirty="0" err="1"/>
              <a:t>ContactName</a:t>
            </a:r>
            <a:r>
              <a:rPr lang="en-US" dirty="0"/>
              <a:t> = 'Samuel Arthur Sanders' </a:t>
            </a:r>
          </a:p>
          <a:p>
            <a:pPr marL="0" indent="0">
              <a:buNone/>
            </a:pPr>
            <a:r>
              <a:rPr lang="en-US" dirty="0"/>
              <a:t>                      where </a:t>
            </a:r>
            <a:r>
              <a:rPr lang="en-US" dirty="0" err="1"/>
              <a:t>CustomerID</a:t>
            </a:r>
            <a:r>
              <a:rPr lang="en-US" dirty="0"/>
              <a:t> = 'LAZYK'"));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Получить значение из базы данных </a:t>
            </a:r>
            <a:r>
              <a:rPr lang="ru-RU" dirty="0" err="1">
                <a:solidFill>
                  <a:srgbClr val="00B050"/>
                </a:solidFill>
              </a:rPr>
              <a:t>Entity</a:t>
            </a:r>
            <a:r>
              <a:rPr lang="ru-RU" dirty="0">
                <a:solidFill>
                  <a:srgbClr val="00B050"/>
                </a:solidFill>
              </a:rPr>
              <a:t> </a:t>
            </a:r>
            <a:r>
              <a:rPr lang="ru-RU" dirty="0" err="1">
                <a:solidFill>
                  <a:srgbClr val="00B050"/>
                </a:solidFill>
              </a:rPr>
              <a:t>Framework</a:t>
            </a:r>
            <a:endParaRPr lang="ru-RU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            string </a:t>
            </a:r>
            <a:r>
              <a:rPr lang="en-US" dirty="0" err="1"/>
              <a:t>dbValue</a:t>
            </a:r>
            <a:r>
              <a:rPr lang="en-US" dirty="0"/>
              <a:t> = </a:t>
            </a:r>
            <a:r>
              <a:rPr lang="en-US" dirty="0" err="1"/>
              <a:t>GetStringFromDb</a:t>
            </a:r>
            <a:r>
              <a:rPr lang="en-US" dirty="0"/>
              <a:t>(</a:t>
            </a:r>
            <a:r>
              <a:rPr lang="en-US" dirty="0" err="1"/>
              <a:t>String.Format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            @"select </a:t>
            </a:r>
            <a:r>
              <a:rPr lang="en-US" dirty="0" err="1"/>
              <a:t>ContactName</a:t>
            </a:r>
            <a:r>
              <a:rPr lang="en-US" dirty="0"/>
              <a:t> from Customers</a:t>
            </a:r>
          </a:p>
          <a:p>
            <a:pPr marL="0" indent="0">
              <a:buNone/>
            </a:pPr>
            <a:r>
              <a:rPr lang="en-US" dirty="0"/>
              <a:t>                where </a:t>
            </a:r>
            <a:r>
              <a:rPr lang="en-US" dirty="0" err="1"/>
              <a:t>CustomerID</a:t>
            </a:r>
            <a:r>
              <a:rPr lang="en-US" dirty="0"/>
              <a:t> = 'LAZYK'"));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Значение в базе данных: {0}", </a:t>
            </a:r>
            <a:r>
              <a:rPr lang="en-US" dirty="0" err="1"/>
              <a:t>dbValue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Модифицируем заказчика 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cust.ContactName</a:t>
            </a:r>
            <a:r>
              <a:rPr lang="en-US" dirty="0"/>
              <a:t> = "John Doe";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            // Сохраняем изменения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context.SaveChanges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Конечное значение: {0}", </a:t>
            </a:r>
            <a:r>
              <a:rPr lang="en-US" dirty="0" err="1"/>
              <a:t>cust.ContactName</a:t>
            </a:r>
            <a:r>
              <a:rPr lang="en-US" dirty="0"/>
              <a:t>);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652314" y="1052736"/>
            <a:ext cx="3466728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ru-RU" sz="1400" dirty="0">
                <a:latin typeface="Inconsolata"/>
              </a:rPr>
              <a:t>С помощью LINQ </a:t>
            </a:r>
            <a:r>
              <a:rPr lang="ru-RU" sz="1400" dirty="0" err="1">
                <a:latin typeface="Inconsolata"/>
              </a:rPr>
              <a:t>to</a:t>
            </a:r>
            <a:r>
              <a:rPr lang="ru-RU" sz="1400" dirty="0">
                <a:latin typeface="Inconsolata"/>
              </a:rPr>
              <a:t> </a:t>
            </a:r>
            <a:r>
              <a:rPr lang="ru-RU" sz="1400" dirty="0" err="1">
                <a:latin typeface="Inconsolata"/>
              </a:rPr>
              <a:t>Entities</a:t>
            </a:r>
            <a:r>
              <a:rPr lang="ru-RU" sz="1400" dirty="0">
                <a:latin typeface="Inconsolata"/>
              </a:rPr>
              <a:t> загружается сущностный объект для </a:t>
            </a:r>
            <a:r>
              <a:rPr lang="ru-RU" sz="1400" dirty="0" err="1">
                <a:latin typeface="Inconsolata"/>
              </a:rPr>
              <a:t>Customer</a:t>
            </a:r>
            <a:r>
              <a:rPr lang="ru-RU" sz="1400" dirty="0">
                <a:latin typeface="Inconsolata"/>
              </a:rPr>
              <a:t> со значением </a:t>
            </a:r>
            <a:r>
              <a:rPr lang="ru-RU" sz="1400" dirty="0" err="1">
                <a:latin typeface="Inconsolata"/>
              </a:rPr>
              <a:t>CustomerID</a:t>
            </a:r>
            <a:r>
              <a:rPr lang="ru-RU" sz="1400" dirty="0">
                <a:latin typeface="Inconsolata"/>
              </a:rPr>
              <a:t>, равным LAZYK. Затем запись обновляется непосредственно, за пределами </a:t>
            </a:r>
            <a:r>
              <a:rPr lang="ru-RU" sz="1400" dirty="0" err="1">
                <a:latin typeface="Inconsolata"/>
              </a:rPr>
              <a:t>Entity</a:t>
            </a:r>
            <a:r>
              <a:rPr lang="ru-RU" sz="1400" dirty="0">
                <a:latin typeface="Inconsolata"/>
              </a:rPr>
              <a:t> </a:t>
            </a:r>
            <a:r>
              <a:rPr lang="ru-RU" sz="1400" dirty="0" err="1">
                <a:latin typeface="Inconsolata"/>
              </a:rPr>
              <a:t>Framework</a:t>
            </a:r>
            <a:r>
              <a:rPr lang="ru-RU" sz="1400" dirty="0">
                <a:latin typeface="Inconsolata"/>
              </a:rPr>
              <a:t>, и значение </a:t>
            </a:r>
            <a:r>
              <a:rPr lang="ru-RU" sz="1400" dirty="0" err="1">
                <a:latin typeface="Inconsolata"/>
              </a:rPr>
              <a:t>ContactName</a:t>
            </a:r>
            <a:r>
              <a:rPr lang="ru-RU" sz="1400" dirty="0">
                <a:latin typeface="Inconsolata"/>
              </a:rPr>
              <a:t> становится </a:t>
            </a:r>
            <a:r>
              <a:rPr lang="ru-RU" sz="1400" dirty="0" err="1">
                <a:latin typeface="Inconsolata"/>
              </a:rPr>
              <a:t>Samuel</a:t>
            </a:r>
            <a:r>
              <a:rPr lang="ru-RU" sz="1400" dirty="0">
                <a:latin typeface="Inconsolata"/>
              </a:rPr>
              <a:t> </a:t>
            </a:r>
            <a:r>
              <a:rPr lang="ru-RU" sz="1400" dirty="0" err="1">
                <a:latin typeface="Inconsolata"/>
              </a:rPr>
              <a:t>Arthur</a:t>
            </a:r>
            <a:r>
              <a:rPr lang="ru-RU" sz="1400" dirty="0">
                <a:latin typeface="Inconsolata"/>
              </a:rPr>
              <a:t> </a:t>
            </a:r>
            <a:r>
              <a:rPr lang="ru-RU" sz="1400" dirty="0" err="1">
                <a:latin typeface="Inconsolata"/>
              </a:rPr>
              <a:t>Sanders</a:t>
            </a:r>
            <a:r>
              <a:rPr lang="ru-RU" sz="1400" dirty="0">
                <a:latin typeface="Inconsolata"/>
              </a:rPr>
              <a:t>. После этого значение читается из базы данных, также за пределами </a:t>
            </a:r>
            <a:r>
              <a:rPr lang="ru-RU" sz="1400" dirty="0" err="1">
                <a:latin typeface="Inconsolata"/>
              </a:rPr>
              <a:t>Entity</a:t>
            </a:r>
            <a:r>
              <a:rPr lang="ru-RU" sz="1400" dirty="0">
                <a:latin typeface="Inconsolata"/>
              </a:rPr>
              <a:t> </a:t>
            </a:r>
            <a:r>
              <a:rPr lang="ru-RU" sz="1400" dirty="0" err="1">
                <a:latin typeface="Inconsolata"/>
              </a:rPr>
              <a:t>Framework</a:t>
            </a:r>
            <a:r>
              <a:rPr lang="ru-RU" sz="1400" dirty="0">
                <a:latin typeface="Inconsolata"/>
              </a:rPr>
              <a:t>, в результате чего сущностный объект </a:t>
            </a:r>
            <a:r>
              <a:rPr lang="ru-RU" sz="1400" dirty="0" err="1">
                <a:latin typeface="Inconsolata"/>
              </a:rPr>
              <a:t>Customer</a:t>
            </a:r>
            <a:r>
              <a:rPr lang="ru-RU" sz="1400" dirty="0">
                <a:latin typeface="Inconsolata"/>
              </a:rPr>
              <a:t> перестает быть синхронизированным с базой данных.</a:t>
            </a:r>
          </a:p>
          <a:p>
            <a:pPr algn="just" fontAlgn="base"/>
            <a:r>
              <a:rPr lang="ru-RU" sz="1400" dirty="0">
                <a:latin typeface="Inconsolata"/>
              </a:rPr>
              <a:t>С использованием сущностного объекта </a:t>
            </a:r>
            <a:r>
              <a:rPr lang="ru-RU" sz="1400" dirty="0" err="1">
                <a:latin typeface="Inconsolata"/>
              </a:rPr>
              <a:t>Customer</a:t>
            </a:r>
            <a:r>
              <a:rPr lang="ru-RU" sz="1400" dirty="0">
                <a:latin typeface="Inconsolata"/>
              </a:rPr>
              <a:t> изменяется значение </a:t>
            </a:r>
            <a:r>
              <a:rPr lang="ru-RU" sz="1400" dirty="0" err="1">
                <a:latin typeface="Inconsolata"/>
              </a:rPr>
              <a:t>ContactName</a:t>
            </a:r>
            <a:r>
              <a:rPr lang="ru-RU" sz="1400" dirty="0">
                <a:latin typeface="Inconsolata"/>
              </a:rPr>
              <a:t> на </a:t>
            </a:r>
            <a:r>
              <a:rPr lang="ru-RU" sz="1400" dirty="0" err="1">
                <a:latin typeface="Inconsolata"/>
              </a:rPr>
              <a:t>John</a:t>
            </a:r>
            <a:r>
              <a:rPr lang="ru-RU" sz="1400" dirty="0">
                <a:latin typeface="Inconsolata"/>
              </a:rPr>
              <a:t> </a:t>
            </a:r>
            <a:r>
              <a:rPr lang="ru-RU" sz="1400" dirty="0" err="1">
                <a:latin typeface="Inconsolata"/>
              </a:rPr>
              <a:t>Doe</a:t>
            </a:r>
            <a:r>
              <a:rPr lang="ru-RU" sz="1400" dirty="0">
                <a:latin typeface="Inconsolata"/>
              </a:rPr>
              <a:t> и вызывается метод </a:t>
            </a:r>
            <a:r>
              <a:rPr lang="ru-RU" sz="1400" dirty="0" err="1">
                <a:latin typeface="Inconsolata"/>
              </a:rPr>
              <a:t>SaveChanges</a:t>
            </a:r>
            <a:r>
              <a:rPr lang="ru-RU" sz="1400" dirty="0">
                <a:latin typeface="Inconsolata"/>
              </a:rPr>
              <a:t>. </a:t>
            </a:r>
            <a:r>
              <a:rPr lang="ru-RU" sz="1400" dirty="0" err="1">
                <a:latin typeface="Inconsolata"/>
              </a:rPr>
              <a:t>Entity</a:t>
            </a:r>
            <a:r>
              <a:rPr lang="ru-RU" sz="1400" dirty="0">
                <a:latin typeface="Inconsolata"/>
              </a:rPr>
              <a:t> </a:t>
            </a:r>
            <a:r>
              <a:rPr lang="ru-RU" sz="1400" dirty="0" err="1">
                <a:latin typeface="Inconsolata"/>
              </a:rPr>
              <a:t>Framework</a:t>
            </a:r>
            <a:r>
              <a:rPr lang="ru-RU" sz="1400" dirty="0">
                <a:latin typeface="Inconsolata"/>
              </a:rPr>
              <a:t> записывает внесенное изменение в базу данных и, поскольку оптимистическая стратегия означает надежду, что никто другой не изменял данные, переписывает изменения, внесенные вне </a:t>
            </a:r>
            <a:r>
              <a:rPr lang="ru-RU" sz="1400" dirty="0" err="1">
                <a:latin typeface="Inconsolata"/>
              </a:rPr>
              <a:t>Entity</a:t>
            </a:r>
            <a:r>
              <a:rPr lang="ru-RU" sz="1400" dirty="0">
                <a:latin typeface="Inconsolata"/>
              </a:rPr>
              <a:t> </a:t>
            </a:r>
            <a:r>
              <a:rPr lang="ru-RU" sz="1400" dirty="0" err="1">
                <a:latin typeface="Inconsolata"/>
              </a:rPr>
              <a:t>Framework</a:t>
            </a:r>
            <a:r>
              <a:rPr lang="ru-RU" sz="1400" dirty="0">
                <a:latin typeface="Inconsolata"/>
              </a:rPr>
              <a:t>.</a:t>
            </a:r>
            <a:endParaRPr lang="ru-RU" sz="1400" b="0" i="0" dirty="0">
              <a:effectLst/>
              <a:latin typeface="Inconsolata"/>
            </a:endParaRPr>
          </a:p>
        </p:txBody>
      </p:sp>
    </p:spTree>
    <p:extLst>
      <p:ext uri="{BB962C8B-B14F-4D97-AF65-F5344CB8AC3E}">
        <p14:creationId xmlns:p14="http://schemas.microsoft.com/office/powerpoint/2010/main" val="258799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2800" b="1" dirty="0"/>
              <a:t>Включение проверок </a:t>
            </a:r>
            <a:r>
              <a:rPr lang="ru-RU" sz="2800" b="1" dirty="0" smtClean="0"/>
              <a:t>параллелизма</a:t>
            </a:r>
            <a:endParaRPr lang="en-US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5122912" cy="5145435"/>
          </a:xfrm>
        </p:spPr>
        <p:txBody>
          <a:bodyPr>
            <a:normAutofit fontScale="55000" lnSpcReduction="20000"/>
          </a:bodyPr>
          <a:lstStyle/>
          <a:p>
            <a:pPr fontAlgn="base"/>
            <a:r>
              <a:rPr lang="ru-RU" dirty="0" smtClean="0"/>
              <a:t>включить </a:t>
            </a:r>
            <a:r>
              <a:rPr lang="ru-RU" dirty="0"/>
              <a:t>проверку параллельного доступа на уровне поля. Если нужно, чтобы конфликты параллелизма проверялись для всех полей сущностного объекта, следует убедиться, что отредактированы все поля. Нет способа сообщить </a:t>
            </a:r>
            <a:r>
              <a:rPr lang="ru-RU" dirty="0" err="1"/>
              <a:t>Entity</a:t>
            </a:r>
            <a:r>
              <a:rPr lang="ru-RU" dirty="0"/>
              <a:t> </a:t>
            </a:r>
            <a:r>
              <a:rPr lang="ru-RU" dirty="0" err="1"/>
              <a:t>Framework</a:t>
            </a:r>
            <a:r>
              <a:rPr lang="ru-RU" dirty="0"/>
              <a:t> о необходимости, чтобы каждое изменение сущностного типа или даже каждое изменение всей модели данных проверялось автоматически</a:t>
            </a:r>
            <a:r>
              <a:rPr lang="ru-RU" dirty="0" smtClean="0"/>
              <a:t>.</a:t>
            </a:r>
            <a:endParaRPr lang="en-US" dirty="0" smtClean="0"/>
          </a:p>
          <a:p>
            <a:pPr fontAlgn="base"/>
            <a:r>
              <a:rPr lang="ru-RU" dirty="0" smtClean="0"/>
              <a:t>Первый </a:t>
            </a:r>
            <a:r>
              <a:rPr lang="ru-RU" dirty="0"/>
              <a:t>шаг — открытие файла .</a:t>
            </a:r>
            <a:r>
              <a:rPr lang="ru-RU" dirty="0" err="1"/>
              <a:t>edmx</a:t>
            </a:r>
            <a:r>
              <a:rPr lang="ru-RU" dirty="0"/>
              <a:t> двойным щелчком в окне </a:t>
            </a:r>
            <a:r>
              <a:rPr lang="ru-RU" dirty="0" err="1"/>
              <a:t>Solution</a:t>
            </a:r>
            <a:r>
              <a:rPr lang="ru-RU" dirty="0"/>
              <a:t> </a:t>
            </a:r>
            <a:r>
              <a:rPr lang="ru-RU" dirty="0" err="1"/>
              <a:t>Explorer</a:t>
            </a:r>
            <a:r>
              <a:rPr lang="ru-RU" dirty="0"/>
              <a:t> и нахождением сущностного типа </a:t>
            </a:r>
            <a:r>
              <a:rPr lang="ru-RU" dirty="0" err="1"/>
              <a:t>Customer</a:t>
            </a:r>
            <a:r>
              <a:rPr lang="ru-RU" dirty="0"/>
              <a:t> в представлении визуального конструктора:</a:t>
            </a:r>
          </a:p>
          <a:p>
            <a:r>
              <a:rPr lang="ru-RU" dirty="0"/>
              <a:t>Щелкните на свойстве </a:t>
            </a:r>
            <a:r>
              <a:rPr lang="ru-RU" dirty="0" err="1"/>
              <a:t>ContactName</a:t>
            </a:r>
            <a:r>
              <a:rPr lang="ru-RU" dirty="0"/>
              <a:t> для открытия подробной информации в окне </a:t>
            </a:r>
            <a:r>
              <a:rPr lang="ru-RU" dirty="0" err="1"/>
              <a:t>Properties</a:t>
            </a:r>
            <a:r>
              <a:rPr lang="ru-RU" dirty="0"/>
              <a:t> и измените значение </a:t>
            </a:r>
            <a:r>
              <a:rPr lang="ru-RU" dirty="0" err="1"/>
              <a:t>Concurency</a:t>
            </a:r>
            <a:r>
              <a:rPr lang="ru-RU" dirty="0"/>
              <a:t> </a:t>
            </a:r>
            <a:r>
              <a:rPr lang="ru-RU" dirty="0" err="1"/>
              <a:t>Mode</a:t>
            </a:r>
            <a:r>
              <a:rPr lang="ru-RU" dirty="0"/>
              <a:t> (Режим параллелизма) на </a:t>
            </a:r>
            <a:r>
              <a:rPr lang="ru-RU" dirty="0" err="1" smtClean="0"/>
              <a:t>Fixed</a:t>
            </a:r>
            <a:endParaRPr lang="en-US" dirty="0" smtClean="0"/>
          </a:p>
          <a:p>
            <a:endParaRPr lang="en-US" dirty="0"/>
          </a:p>
          <a:p>
            <a:r>
              <a:rPr lang="ru-RU" dirty="0" smtClean="0"/>
              <a:t>сохраните </a:t>
            </a:r>
            <a:r>
              <a:rPr lang="ru-RU" dirty="0"/>
              <a:t>изменения, выбрав пункт меню </a:t>
            </a:r>
            <a:r>
              <a:rPr lang="en-US" dirty="0"/>
              <a:t>File --&gt; Save </a:t>
            </a:r>
            <a:r>
              <a:rPr lang="en-US" dirty="0" err="1"/>
              <a:t>NorthwindEntityModel.edmx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Visual Studio.</a:t>
            </a:r>
          </a:p>
        </p:txBody>
      </p:sp>
      <p:pic>
        <p:nvPicPr>
          <p:cNvPr id="9218" name="Picture 2" descr="Установка режима параллельного доступа для свойства ContactNa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908720"/>
            <a:ext cx="3057525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15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2800" b="1" dirty="0"/>
              <a:t>Обработка конфликтов </a:t>
            </a:r>
            <a:r>
              <a:rPr lang="ru-RU" sz="2800" b="1" dirty="0" smtClean="0"/>
              <a:t>параллелизма</a:t>
            </a:r>
            <a:endParaRPr lang="en-US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836712"/>
            <a:ext cx="9036496" cy="5904656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ru-RU" sz="1400" dirty="0" smtClean="0"/>
              <a:t>Как </a:t>
            </a:r>
            <a:r>
              <a:rPr lang="ru-RU" sz="1400" dirty="0"/>
              <a:t>только включить проверку конфликтов параллелизма для поля сущностного объекта, сразу возникает исключение </a:t>
            </a:r>
            <a:r>
              <a:rPr lang="ru-RU" sz="1400" dirty="0" err="1"/>
              <a:t>OptimisticCincurrencyException</a:t>
            </a:r>
            <a:r>
              <a:rPr lang="ru-RU" sz="1400" dirty="0"/>
              <a:t> при попытке обновить данные, которые были модифицированы с момента загрузки сущностных объектов. </a:t>
            </a:r>
            <a:endParaRPr lang="ru-RU" sz="1400" dirty="0" smtClean="0"/>
          </a:p>
          <a:p>
            <a:pPr marL="0" indent="0" fontAlgn="base">
              <a:buNone/>
            </a:pPr>
            <a:r>
              <a:rPr lang="ru-RU" sz="1400" dirty="0" smtClean="0">
                <a:solidFill>
                  <a:srgbClr val="00B050"/>
                </a:solidFill>
              </a:rPr>
              <a:t>// </a:t>
            </a:r>
            <a:r>
              <a:rPr lang="ru-RU" sz="1400" dirty="0">
                <a:solidFill>
                  <a:srgbClr val="00B050"/>
                </a:solidFill>
              </a:rPr>
              <a:t>Создание </a:t>
            </a:r>
            <a:r>
              <a:rPr lang="en-US" sz="1400" dirty="0" err="1">
                <a:solidFill>
                  <a:srgbClr val="00B050"/>
                </a:solidFill>
              </a:rPr>
              <a:t>ObjectContext</a:t>
            </a:r>
            <a:endParaRPr lang="en-US" sz="1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NorthwindEntities</a:t>
            </a:r>
            <a:r>
              <a:rPr lang="en-US" sz="1400" dirty="0"/>
              <a:t> context = new </a:t>
            </a:r>
            <a:r>
              <a:rPr lang="en-US" sz="1400" dirty="0" err="1"/>
              <a:t>NorthwindEntities</a:t>
            </a:r>
            <a:r>
              <a:rPr lang="en-US" sz="1400" dirty="0"/>
              <a:t>();</a:t>
            </a:r>
          </a:p>
          <a:p>
            <a:pPr marL="0" indent="0">
              <a:buNone/>
            </a:pPr>
            <a:r>
              <a:rPr lang="en-US" sz="1400" dirty="0" smtClean="0"/>
              <a:t>            </a:t>
            </a:r>
            <a:r>
              <a:rPr lang="en-US" sz="1400" dirty="0"/>
              <a:t>Customer </a:t>
            </a:r>
            <a:r>
              <a:rPr lang="en-US" sz="1400" dirty="0" err="1"/>
              <a:t>cust</a:t>
            </a:r>
            <a:r>
              <a:rPr lang="en-US" sz="1400" dirty="0"/>
              <a:t> = </a:t>
            </a:r>
            <a:r>
              <a:rPr lang="en-US" sz="1400" dirty="0" err="1"/>
              <a:t>context.Customers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            .Where(c =&gt; </a:t>
            </a:r>
            <a:r>
              <a:rPr lang="en-US" sz="1400" dirty="0" err="1"/>
              <a:t>c.CustomerID</a:t>
            </a:r>
            <a:r>
              <a:rPr lang="en-US" sz="1400" dirty="0"/>
              <a:t> == "LAZYK")</a:t>
            </a:r>
          </a:p>
          <a:p>
            <a:pPr marL="0" indent="0">
              <a:buNone/>
            </a:pPr>
            <a:r>
              <a:rPr lang="en-US" sz="1400" dirty="0"/>
              <a:t>                .Select(c =&gt; c)</a:t>
            </a:r>
          </a:p>
          <a:p>
            <a:pPr marL="0" indent="0">
              <a:buNone/>
            </a:pPr>
            <a:r>
              <a:rPr lang="en-US" sz="1400" dirty="0"/>
              <a:t>                .First();</a:t>
            </a:r>
          </a:p>
          <a:p>
            <a:pPr marL="0" indent="0">
              <a:buNone/>
            </a:pPr>
            <a:r>
              <a:rPr lang="en-US" sz="1400" dirty="0" smtClean="0"/>
              <a:t>            </a:t>
            </a:r>
            <a:r>
              <a:rPr lang="en-US" sz="1400" dirty="0" err="1"/>
              <a:t>Console.WriteLine</a:t>
            </a:r>
            <a:r>
              <a:rPr lang="en-US" sz="1400" dirty="0"/>
              <a:t>("</a:t>
            </a:r>
            <a:r>
              <a:rPr lang="ru-RU" sz="1400" dirty="0"/>
              <a:t>Исходное значение {0}", </a:t>
            </a:r>
            <a:r>
              <a:rPr lang="en-US" sz="1400" dirty="0" err="1"/>
              <a:t>cust.ContactName</a:t>
            </a:r>
            <a:r>
              <a:rPr lang="en-US" sz="1400" dirty="0"/>
              <a:t>);</a:t>
            </a:r>
          </a:p>
          <a:p>
            <a:pPr marL="0" indent="0">
              <a:buNone/>
            </a:pPr>
            <a:r>
              <a:rPr lang="ru-RU" sz="1400" dirty="0" smtClean="0">
                <a:solidFill>
                  <a:srgbClr val="00B050"/>
                </a:solidFill>
              </a:rPr>
              <a:t>            </a:t>
            </a:r>
            <a:r>
              <a:rPr lang="ru-RU" sz="1400" dirty="0">
                <a:solidFill>
                  <a:srgbClr val="00B050"/>
                </a:solidFill>
              </a:rPr>
              <a:t>// Изменить запись вне </a:t>
            </a:r>
            <a:r>
              <a:rPr lang="ru-RU" sz="1400" dirty="0" err="1">
                <a:solidFill>
                  <a:srgbClr val="00B050"/>
                </a:solidFill>
              </a:rPr>
              <a:t>Entity</a:t>
            </a:r>
            <a:r>
              <a:rPr lang="ru-RU" sz="1400" dirty="0">
                <a:solidFill>
                  <a:srgbClr val="00B050"/>
                </a:solidFill>
              </a:rPr>
              <a:t> </a:t>
            </a:r>
            <a:r>
              <a:rPr lang="ru-RU" sz="1400" dirty="0" err="1">
                <a:solidFill>
                  <a:srgbClr val="00B050"/>
                </a:solidFill>
              </a:rPr>
              <a:t>Framework</a:t>
            </a:r>
            <a:endParaRPr lang="ru-RU" sz="1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ExecuteStatementInDb</a:t>
            </a:r>
            <a:r>
              <a:rPr lang="en-US" sz="1400" dirty="0"/>
              <a:t>(</a:t>
            </a:r>
            <a:r>
              <a:rPr lang="en-US" sz="1400" dirty="0" err="1"/>
              <a:t>String.Format</a:t>
            </a:r>
            <a:r>
              <a:rPr lang="en-US" sz="1400" dirty="0"/>
              <a:t>(</a:t>
            </a:r>
          </a:p>
          <a:p>
            <a:pPr marL="0" indent="0">
              <a:buNone/>
            </a:pPr>
            <a:r>
              <a:rPr lang="en-US" sz="1400" dirty="0"/>
              <a:t>                    @"update Customers set </a:t>
            </a:r>
            <a:r>
              <a:rPr lang="en-US" sz="1400" dirty="0" err="1"/>
              <a:t>ContactName</a:t>
            </a:r>
            <a:r>
              <a:rPr lang="en-US" sz="1400" dirty="0"/>
              <a:t> = 'Samuel Arthur Sanders' </a:t>
            </a:r>
            <a:r>
              <a:rPr lang="en-US" sz="1400" dirty="0" smtClean="0"/>
              <a:t>  </a:t>
            </a:r>
            <a:r>
              <a:rPr lang="en-US" sz="1400" dirty="0"/>
              <a:t>where </a:t>
            </a:r>
            <a:r>
              <a:rPr lang="en-US" sz="1400" dirty="0" err="1"/>
              <a:t>CustomerID</a:t>
            </a:r>
            <a:r>
              <a:rPr lang="en-US" sz="1400" dirty="0"/>
              <a:t> = 'LAZYK'"));</a:t>
            </a:r>
          </a:p>
          <a:p>
            <a:pPr marL="0" indent="0">
              <a:buNone/>
            </a:pPr>
            <a:r>
              <a:rPr lang="ru-RU" sz="1400" dirty="0" smtClean="0">
                <a:solidFill>
                  <a:srgbClr val="00B050"/>
                </a:solidFill>
              </a:rPr>
              <a:t>            </a:t>
            </a:r>
            <a:r>
              <a:rPr lang="ru-RU" sz="1400" dirty="0">
                <a:solidFill>
                  <a:srgbClr val="00B050"/>
                </a:solidFill>
              </a:rPr>
              <a:t>// Модифицируем заказчика 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cust.ContactName</a:t>
            </a:r>
            <a:r>
              <a:rPr lang="en-US" sz="1400" dirty="0"/>
              <a:t> = "Rex </a:t>
            </a:r>
            <a:r>
              <a:rPr lang="en-US" sz="1400" dirty="0" err="1"/>
              <a:t>Colmers</a:t>
            </a:r>
            <a:r>
              <a:rPr lang="en-US" sz="1400" dirty="0"/>
              <a:t>";</a:t>
            </a:r>
          </a:p>
          <a:p>
            <a:pPr marL="0" indent="0">
              <a:buNone/>
            </a:pPr>
            <a:r>
              <a:rPr lang="ru-RU" sz="1400" dirty="0" smtClean="0">
                <a:solidFill>
                  <a:srgbClr val="00B050"/>
                </a:solidFill>
              </a:rPr>
              <a:t>            </a:t>
            </a:r>
            <a:r>
              <a:rPr lang="ru-RU" sz="1400" dirty="0">
                <a:solidFill>
                  <a:srgbClr val="00B050"/>
                </a:solidFill>
              </a:rPr>
              <a:t>// Сохраняем изменения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smtClean="0"/>
              <a:t>try            {                </a:t>
            </a:r>
            <a:r>
              <a:rPr lang="en-US" sz="1400" dirty="0" err="1"/>
              <a:t>context.SaveChanges</a:t>
            </a:r>
            <a:r>
              <a:rPr lang="en-US" sz="1400" dirty="0" smtClean="0"/>
              <a:t>();            </a:t>
            </a:r>
            <a:r>
              <a:rPr lang="en-US" sz="1400" dirty="0"/>
              <a:t>}</a:t>
            </a:r>
          </a:p>
          <a:p>
            <a:pPr marL="0" indent="0">
              <a:buNone/>
            </a:pPr>
            <a:r>
              <a:rPr lang="en-US" sz="1400" dirty="0"/>
              <a:t>            catch (</a:t>
            </a:r>
            <a:r>
              <a:rPr lang="en-US" sz="1400" dirty="0" err="1"/>
              <a:t>OptimisticConcurrencyException</a:t>
            </a:r>
            <a:r>
              <a:rPr lang="en-US" sz="1400" dirty="0"/>
              <a:t>)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smtClean="0"/>
              <a:t>{</a:t>
            </a:r>
            <a:r>
              <a:rPr lang="ru-RU" sz="1400" dirty="0" smtClean="0"/>
              <a:t>                </a:t>
            </a:r>
            <a:r>
              <a:rPr lang="ru-RU" sz="1400" dirty="0" err="1"/>
              <a:t>Console.WriteLine</a:t>
            </a:r>
            <a:r>
              <a:rPr lang="ru-RU" sz="1400" dirty="0"/>
              <a:t>("Обнаружен конфликт параллельного доступа - разрешить</a:t>
            </a:r>
            <a:r>
              <a:rPr lang="ru-RU" sz="1400" dirty="0" smtClean="0"/>
              <a:t>.");</a:t>
            </a:r>
            <a:r>
              <a:rPr lang="en-US" sz="1400" dirty="0" smtClean="0"/>
              <a:t>            </a:t>
            </a:r>
            <a:r>
              <a:rPr lang="en-US" sz="1400" dirty="0"/>
              <a:t>}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dirty="0" smtClean="0"/>
              <a:t>finally</a:t>
            </a:r>
            <a:endParaRPr lang="ru-RU" sz="1400" dirty="0"/>
          </a:p>
          <a:p>
            <a:pPr marL="0" indent="0">
              <a:buNone/>
            </a:pPr>
            <a:r>
              <a:rPr lang="en-US" sz="1400" dirty="0" smtClean="0"/>
              <a:t>{ string </a:t>
            </a:r>
            <a:r>
              <a:rPr lang="en-US" sz="1400" dirty="0" err="1" smtClean="0"/>
              <a:t>dbValue</a:t>
            </a:r>
            <a:r>
              <a:rPr lang="en-US" sz="1400" dirty="0" smtClean="0"/>
              <a:t> = </a:t>
            </a:r>
            <a:r>
              <a:rPr lang="en-US" sz="1400" dirty="0" err="1" smtClean="0"/>
              <a:t>GetStringFromDb</a:t>
            </a:r>
            <a:r>
              <a:rPr lang="en-US" sz="1400" dirty="0" smtClean="0"/>
              <a:t>(</a:t>
            </a:r>
            <a:r>
              <a:rPr lang="en-US" sz="1400" dirty="0" err="1" smtClean="0"/>
              <a:t>String.Format</a:t>
            </a:r>
            <a:r>
              <a:rPr lang="en-US" sz="1400" dirty="0" smtClean="0"/>
              <a:t>(@"select </a:t>
            </a:r>
            <a:r>
              <a:rPr lang="en-US" sz="1400" dirty="0" err="1" smtClean="0"/>
              <a:t>ContactName</a:t>
            </a:r>
            <a:r>
              <a:rPr lang="en-US" sz="1400" dirty="0" smtClean="0"/>
              <a:t> from Customers where </a:t>
            </a:r>
            <a:r>
              <a:rPr lang="en-US" sz="1400" dirty="0" err="1" smtClean="0"/>
              <a:t>CustomerID</a:t>
            </a:r>
            <a:r>
              <a:rPr lang="en-US" sz="1400" dirty="0" smtClean="0"/>
              <a:t> = 'LAZYK'"));</a:t>
            </a:r>
          </a:p>
          <a:p>
            <a:pPr marL="0" indent="0">
              <a:buNone/>
            </a:pPr>
            <a:r>
              <a:rPr lang="en-US" sz="1400" dirty="0" smtClean="0"/>
              <a:t>                </a:t>
            </a:r>
            <a:r>
              <a:rPr lang="en-US" sz="1400" dirty="0" err="1"/>
              <a:t>Console.WriteLine</a:t>
            </a:r>
            <a:r>
              <a:rPr lang="en-US" sz="1400" dirty="0"/>
              <a:t>("</a:t>
            </a:r>
            <a:r>
              <a:rPr lang="ru-RU" sz="1400" dirty="0"/>
              <a:t>Значение в базе данных: {0}", </a:t>
            </a:r>
            <a:r>
              <a:rPr lang="en-US" sz="1400" dirty="0" err="1"/>
              <a:t>dbValue</a:t>
            </a:r>
            <a:r>
              <a:rPr lang="en-US" sz="1400" dirty="0"/>
              <a:t>);</a:t>
            </a:r>
          </a:p>
          <a:p>
            <a:pPr marL="0" indent="0">
              <a:buNone/>
            </a:pPr>
            <a:r>
              <a:rPr lang="en-US" sz="1400" dirty="0"/>
              <a:t>                </a:t>
            </a:r>
            <a:r>
              <a:rPr lang="en-US" sz="1400" dirty="0" err="1"/>
              <a:t>Console.WriteLine</a:t>
            </a:r>
            <a:r>
              <a:rPr lang="en-US" sz="1400" dirty="0"/>
              <a:t>("</a:t>
            </a:r>
            <a:r>
              <a:rPr lang="ru-RU" sz="1400" dirty="0"/>
              <a:t>Кэшированное значение: {0}", </a:t>
            </a:r>
            <a:r>
              <a:rPr lang="en-US" sz="1400" dirty="0" err="1"/>
              <a:t>cust.ContactName</a:t>
            </a:r>
            <a:r>
              <a:rPr lang="en-US" sz="1400" dirty="0"/>
              <a:t>);</a:t>
            </a:r>
          </a:p>
          <a:p>
            <a:pPr marL="0" indent="0">
              <a:buNone/>
            </a:pPr>
            <a:r>
              <a:rPr lang="en-US" sz="1400" dirty="0"/>
              <a:t>            }</a:t>
            </a:r>
          </a:p>
        </p:txBody>
      </p:sp>
    </p:spTree>
    <p:extLst>
      <p:ext uri="{BB962C8B-B14F-4D97-AF65-F5344CB8AC3E}">
        <p14:creationId xmlns:p14="http://schemas.microsoft.com/office/powerpoint/2010/main" val="20770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3623</Words>
  <Application>Microsoft Office PowerPoint</Application>
  <PresentationFormat>Экран (4:3)</PresentationFormat>
  <Paragraphs>541</Paragraphs>
  <Slides>36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37" baseType="lpstr">
      <vt:lpstr>Тема Office</vt:lpstr>
      <vt:lpstr>LINQ to Entities</vt:lpstr>
      <vt:lpstr>LINQ to Entities</vt:lpstr>
      <vt:lpstr>ObjectContext</vt:lpstr>
      <vt:lpstr>Сущностные классы Entity</vt:lpstr>
      <vt:lpstr>Ассоциации Entity</vt:lpstr>
      <vt:lpstr>Презентация PowerPoint</vt:lpstr>
      <vt:lpstr>Создание частично заполненных сущностных типов</vt:lpstr>
      <vt:lpstr>Презентация PowerPoint</vt:lpstr>
      <vt:lpstr>Вставка присоединенных сущностных объектов</vt:lpstr>
      <vt:lpstr>Создавать присоединенные объекты вместе подобным образом не обязательно-их можно создавать отдельно и затем ассоциировать друг с другом (видоизмененная часть предыдущего примера)</vt:lpstr>
      <vt:lpstr>Базовые запросы </vt:lpstr>
      <vt:lpstr>Скомпилированные запросы</vt:lpstr>
      <vt:lpstr>Презентация PowerPoint</vt:lpstr>
      <vt:lpstr>Презентация PowerPoint</vt:lpstr>
      <vt:lpstr>Просмотр оператора SQL</vt:lpstr>
      <vt:lpstr>Загрузка связанных объектов</vt:lpstr>
      <vt:lpstr>"Ленивая" загрузка</vt:lpstr>
      <vt:lpstr>Отключение ленивой загрузки</vt:lpstr>
      <vt:lpstr>Немедленная загрузка</vt:lpstr>
      <vt:lpstr>Презентация PowerPoint</vt:lpstr>
      <vt:lpstr>Явная загрузка</vt:lpstr>
      <vt:lpstr>Опрос представлений</vt:lpstr>
      <vt:lpstr>Опрос хранимых процедур</vt:lpstr>
      <vt:lpstr>Презентация PowerPoint</vt:lpstr>
      <vt:lpstr>Презентация PowerPoint</vt:lpstr>
      <vt:lpstr>Презентация PowerPoint</vt:lpstr>
      <vt:lpstr>Презентация PowerPoint</vt:lpstr>
      <vt:lpstr>Обновление ассоциированных объектов</vt:lpstr>
      <vt:lpstr>Презентация PowerPoint</vt:lpstr>
      <vt:lpstr>Презентация PowerPoint</vt:lpstr>
      <vt:lpstr>Удаление связанных объектов</vt:lpstr>
      <vt:lpstr>Ручное удаление связанных объектов</vt:lpstr>
      <vt:lpstr>Каскадное удаление связанных объектов</vt:lpstr>
      <vt:lpstr>Презентация PowerPoint</vt:lpstr>
      <vt:lpstr>Включение проверок параллелизма</vt:lpstr>
      <vt:lpstr>Обработка конфликтов параллелизма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LINQ to Entities</dc:title>
  <dc:creator>Sony</dc:creator>
  <cp:lastModifiedBy>Sony</cp:lastModifiedBy>
  <cp:revision>24</cp:revision>
  <dcterms:created xsi:type="dcterms:W3CDTF">2016-11-02T21:03:53Z</dcterms:created>
  <dcterms:modified xsi:type="dcterms:W3CDTF">2016-11-03T21:27:09Z</dcterms:modified>
</cp:coreProperties>
</file>