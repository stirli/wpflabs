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2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18" r:id="rId70"/>
    <p:sldId id="327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70" r:id="rId83"/>
    <p:sldId id="342" r:id="rId84"/>
    <p:sldId id="343" r:id="rId85"/>
    <p:sldId id="344" r:id="rId86"/>
    <p:sldId id="345" r:id="rId87"/>
    <p:sldId id="346" r:id="rId88"/>
    <p:sldId id="348" r:id="rId89"/>
    <p:sldId id="349" r:id="rId90"/>
    <p:sldId id="350" r:id="rId91"/>
    <p:sldId id="351" r:id="rId92"/>
    <p:sldId id="354" r:id="rId93"/>
    <p:sldId id="355" r:id="rId94"/>
    <p:sldId id="356" r:id="rId95"/>
    <p:sldId id="357" r:id="rId96"/>
    <p:sldId id="358" r:id="rId97"/>
    <p:sldId id="359" r:id="rId98"/>
    <p:sldId id="352" r:id="rId99"/>
    <p:sldId id="353" r:id="rId100"/>
    <p:sldId id="347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8" r:id="rId109"/>
    <p:sldId id="369" r:id="rId1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15" autoAdjust="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41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58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35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67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3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66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78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65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87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18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AA37B-E950-41FF-947E-D3D151EDA7A4}" type="datetimeFigureOut">
              <a:rPr lang="ru-RU" smtClean="0"/>
              <a:pPr/>
              <a:t>15.12.2017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0B22F-07DE-4C2E-A315-11101BC2F1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41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/present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chemas.openxmlformats.org/markup-compatibility/2006" TargetMode="External"/><Relationship Id="rId5" Type="http://schemas.openxmlformats.org/officeDocument/2006/relationships/hyperlink" Target="http://schemas.microsoft.com/expression/blend/2008" TargetMode="External"/><Relationship Id="rId4" Type="http://schemas.openxmlformats.org/officeDocument/2006/relationships/hyperlink" Target="http://schemas.microsoft.com/winfx/2006/xa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Элементы 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управления</a:t>
            </a:r>
            <a:br>
              <a:rPr lang="ru-RU" b="1" dirty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871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4088" y="165507"/>
            <a:ext cx="3748360" cy="743213"/>
          </a:xfrm>
        </p:spPr>
        <p:txBody>
          <a:bodyPr>
            <a:noAutofit/>
          </a:bodyPr>
          <a:lstStyle/>
          <a:p>
            <a:r>
              <a:rPr lang="ru-RU" sz="3200" dirty="0"/>
              <a:t>элементы управления 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638" y="260648"/>
            <a:ext cx="5341188" cy="449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Иерархия элементов управления в WP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436096" y="980728"/>
            <a:ext cx="349188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Элементы </a:t>
            </a:r>
            <a:r>
              <a:rPr lang="ru-RU" sz="1400" b="1" dirty="0"/>
              <a:t>управления </a:t>
            </a:r>
            <a:r>
              <a:rPr lang="ru-RU" sz="1400" b="1" dirty="0" smtClean="0"/>
              <a:t>содержимым</a:t>
            </a:r>
            <a:r>
              <a:rPr lang="ru-RU" sz="1400" dirty="0" smtClean="0"/>
              <a:t> -кнопки </a:t>
            </a:r>
            <a:r>
              <a:rPr lang="ru-RU" sz="1400" dirty="0"/>
              <a:t>(</a:t>
            </a:r>
            <a:r>
              <a:rPr lang="ru-RU" sz="1400" dirty="0" err="1"/>
              <a:t>Button</a:t>
            </a:r>
            <a:r>
              <a:rPr lang="ru-RU" sz="1400" dirty="0"/>
              <a:t>), метки (</a:t>
            </a:r>
            <a:r>
              <a:rPr lang="ru-RU" sz="1400" dirty="0" err="1"/>
              <a:t>Label</a:t>
            </a:r>
            <a:r>
              <a:rPr lang="ru-RU" sz="1400" dirty="0"/>
              <a:t>)</a:t>
            </a:r>
          </a:p>
          <a:p>
            <a:r>
              <a:rPr lang="ru-RU" sz="1400" b="1" dirty="0"/>
              <a:t>Специальные </a:t>
            </a:r>
            <a:r>
              <a:rPr lang="ru-RU" sz="1400" b="1" dirty="0" smtClean="0"/>
              <a:t>контейнеры</a:t>
            </a:r>
            <a:r>
              <a:rPr lang="ru-RU" sz="1400" dirty="0" smtClean="0"/>
              <a:t> -содержат другие </a:t>
            </a:r>
            <a:r>
              <a:rPr lang="ru-RU" sz="1400" dirty="0"/>
              <a:t>элементы, но в отличие от элементов </a:t>
            </a:r>
            <a:r>
              <a:rPr lang="ru-RU" sz="1400" dirty="0" err="1"/>
              <a:t>Grid</a:t>
            </a:r>
            <a:r>
              <a:rPr lang="ru-RU" sz="1400" dirty="0"/>
              <a:t> или </a:t>
            </a:r>
            <a:r>
              <a:rPr lang="ru-RU" sz="1400" dirty="0" err="1"/>
              <a:t>Canvas</a:t>
            </a:r>
            <a:r>
              <a:rPr lang="ru-RU" sz="1400" dirty="0"/>
              <a:t> не являются контейнерами компоновки - </a:t>
            </a:r>
            <a:r>
              <a:rPr lang="ru-RU" sz="1400" dirty="0" err="1"/>
              <a:t>ScrollViewer,GroupBox</a:t>
            </a:r>
            <a:endParaRPr lang="ru-RU" sz="1400" dirty="0"/>
          </a:p>
          <a:p>
            <a:r>
              <a:rPr lang="ru-RU" sz="1400" b="1" dirty="0" smtClean="0"/>
              <a:t>Декораторы</a:t>
            </a:r>
            <a:r>
              <a:rPr lang="ru-RU" sz="1400" dirty="0" smtClean="0"/>
              <a:t> – предназначены для создания фона </a:t>
            </a:r>
            <a:r>
              <a:rPr lang="ru-RU" sz="1400" dirty="0"/>
              <a:t>вокруг вложенных </a:t>
            </a:r>
            <a:r>
              <a:rPr lang="ru-RU" sz="1400" dirty="0" smtClean="0"/>
              <a:t>элементов(например</a:t>
            </a:r>
            <a:r>
              <a:rPr lang="ru-RU" sz="1400" dirty="0"/>
              <a:t>, </a:t>
            </a:r>
            <a:r>
              <a:rPr lang="ru-RU" sz="1400" dirty="0" err="1"/>
              <a:t>Border</a:t>
            </a:r>
            <a:r>
              <a:rPr lang="ru-RU" sz="1400" dirty="0"/>
              <a:t> или </a:t>
            </a:r>
            <a:r>
              <a:rPr lang="ru-RU" sz="1400" dirty="0" err="1" smtClean="0"/>
              <a:t>Viewbox</a:t>
            </a:r>
            <a:r>
              <a:rPr lang="ru-RU" sz="1400" dirty="0" smtClean="0"/>
              <a:t>).</a:t>
            </a:r>
            <a:endParaRPr lang="ru-RU" sz="1400" dirty="0"/>
          </a:p>
          <a:p>
            <a:r>
              <a:rPr lang="ru-RU" sz="1400" b="1" dirty="0"/>
              <a:t>Элементы управления </a:t>
            </a:r>
            <a:r>
              <a:rPr lang="ru-RU" sz="1400" b="1" dirty="0" smtClean="0"/>
              <a:t>списками</a:t>
            </a:r>
            <a:r>
              <a:rPr lang="ru-RU" sz="1400" dirty="0" smtClean="0"/>
              <a:t> - </a:t>
            </a:r>
            <a:r>
              <a:rPr lang="ru-RU" sz="1400" dirty="0" err="1"/>
              <a:t>ListBox</a:t>
            </a:r>
            <a:r>
              <a:rPr lang="ru-RU" sz="1400" dirty="0"/>
              <a:t>, </a:t>
            </a:r>
            <a:r>
              <a:rPr lang="ru-RU" sz="1400" dirty="0" err="1"/>
              <a:t>ComboBox</a:t>
            </a:r>
            <a:r>
              <a:rPr lang="ru-RU" sz="1400" dirty="0"/>
              <a:t>.</a:t>
            </a:r>
          </a:p>
          <a:p>
            <a:r>
              <a:rPr lang="ru-RU" sz="1400" b="1" dirty="0"/>
              <a:t>Текстовые элементы </a:t>
            </a:r>
            <a:r>
              <a:rPr lang="ru-RU" sz="1400" b="1" dirty="0" smtClean="0"/>
              <a:t>управления</a:t>
            </a:r>
            <a:r>
              <a:rPr lang="ru-RU" sz="1400" dirty="0"/>
              <a:t> </a:t>
            </a:r>
            <a:r>
              <a:rPr lang="ru-RU" sz="1400" dirty="0" smtClean="0"/>
              <a:t>- </a:t>
            </a:r>
            <a:r>
              <a:rPr lang="ru-RU" sz="1400" dirty="0" err="1"/>
              <a:t>TextBox</a:t>
            </a:r>
            <a:r>
              <a:rPr lang="ru-RU" sz="1400" dirty="0"/>
              <a:t>, </a:t>
            </a:r>
            <a:r>
              <a:rPr lang="ru-RU" sz="1400" dirty="0" err="1"/>
              <a:t>RichTextBox</a:t>
            </a:r>
            <a:r>
              <a:rPr lang="ru-RU" sz="1400" dirty="0"/>
              <a:t>.</a:t>
            </a:r>
          </a:p>
          <a:p>
            <a:r>
              <a:rPr lang="ru-RU" sz="1400" b="1" dirty="0"/>
              <a:t>Элементы, основанные на диапазонах </a:t>
            </a:r>
            <a:r>
              <a:rPr lang="ru-RU" sz="1400" b="1" dirty="0" smtClean="0"/>
              <a:t>значений</a:t>
            </a:r>
            <a:r>
              <a:rPr lang="ru-RU" sz="1400" dirty="0" smtClean="0"/>
              <a:t> -  </a:t>
            </a:r>
            <a:r>
              <a:rPr lang="ru-RU" sz="1400" dirty="0" err="1"/>
              <a:t>ProgressBar</a:t>
            </a:r>
            <a:r>
              <a:rPr lang="ru-RU" sz="1400" dirty="0"/>
              <a:t>, </a:t>
            </a:r>
            <a:r>
              <a:rPr lang="ru-RU" sz="1400" dirty="0" err="1"/>
              <a:t>Slider</a:t>
            </a:r>
            <a:r>
              <a:rPr lang="ru-RU" sz="1400" dirty="0"/>
              <a:t>.</a:t>
            </a:r>
          </a:p>
          <a:p>
            <a:r>
              <a:rPr lang="ru-RU" sz="1400" b="1" dirty="0"/>
              <a:t>Элементы для работ с </a:t>
            </a:r>
            <a:r>
              <a:rPr lang="ru-RU" sz="1400" b="1" dirty="0" smtClean="0"/>
              <a:t>датами</a:t>
            </a:r>
            <a:r>
              <a:rPr lang="ru-RU" sz="1400" dirty="0" smtClean="0"/>
              <a:t> - </a:t>
            </a:r>
            <a:r>
              <a:rPr lang="ru-RU" sz="1400" dirty="0" err="1"/>
              <a:t>DatePicker</a:t>
            </a:r>
            <a:r>
              <a:rPr lang="ru-RU" sz="1400" dirty="0"/>
              <a:t> и </a:t>
            </a:r>
            <a:r>
              <a:rPr lang="ru-RU" sz="1400" dirty="0" err="1"/>
              <a:t>Calendar</a:t>
            </a:r>
            <a:r>
              <a:rPr lang="ru-RU" sz="1400" dirty="0"/>
              <a:t>.</a:t>
            </a:r>
          </a:p>
          <a:p>
            <a:r>
              <a:rPr lang="ru-RU" sz="1400" b="1" dirty="0"/>
              <a:t>Остальные элементы управления</a:t>
            </a:r>
            <a:r>
              <a:rPr lang="ru-RU" sz="1400" dirty="0"/>
              <a:t>, которые не вошли в предыдущие подгруппы, например, </a:t>
            </a:r>
            <a:r>
              <a:rPr lang="ru-RU" sz="1400" dirty="0" err="1"/>
              <a:t>Image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27882" y="5735875"/>
            <a:ext cx="64763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Все элементы управления наследуются от общего </a:t>
            </a:r>
            <a:r>
              <a:rPr lang="ru-RU" sz="1600" dirty="0" smtClean="0"/>
              <a:t>класса </a:t>
            </a:r>
            <a:r>
              <a:rPr lang="ru-RU" sz="1600" b="1" dirty="0" err="1" smtClean="0"/>
              <a:t>System.Window.Controls.Control</a:t>
            </a:r>
            <a:r>
              <a:rPr lang="ru-RU" sz="1600" dirty="0"/>
              <a:t> и имеют ряд общих свойств. </a:t>
            </a:r>
          </a:p>
        </p:txBody>
      </p:sp>
    </p:spTree>
    <p:extLst>
      <p:ext uri="{BB962C8B-B14F-4D97-AF65-F5344CB8AC3E}">
        <p14:creationId xmlns:p14="http://schemas.microsoft.com/office/powerpoint/2010/main" val="72141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System.Threading.DispatcherObject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основе WPF лежит модель STA (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Single-Thread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Affinity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), согласно которой за пользовательский интерфейс отвечает один поток.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чтобы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пользовательский интерфейс мог взаимодействовать с другими потоками, WPF использует концепцию диспетчера - специального объекта, управляющего обменом сообщениями, через которые взаимодействуют потоки.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Наследование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типов от класса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DispatcherObject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позволяет получить доступ к подобному объекту-диспетчеру и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и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другим функциям по управлению параллелизмом.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24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System.Windows.DependencyObject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Наследование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от этого класса позволяет взаимодействовать с элементами в приложении через их специальную модель свойств, которые называются свойствами зависимостей (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dependency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properties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Эта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модель упрощает применение ряда особенностей WPF, например, привязки данных.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система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свойств зависимостей отслеживает зависимости между значениями свойств, автоматически проверяет их и изменяет при изменении зависимости.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826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408712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System.Windows.Media.Visual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содержит инструкции, которые отвечают за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отрисовку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визуализацию объекта.</a:t>
            </a:r>
          </a:p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System.Windows.UIElement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добавляет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возможности по компоновке элемента, обработку событий и получение ввода.</a:t>
            </a:r>
          </a:p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System.Windows.FrameworkElement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добавляет поддержку привязки данных, анимации,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стилй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 Также добавляет ряд свойств, связанных с компоновкой (выравнивание, отступы) и ряд других.</a:t>
            </a:r>
          </a:p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System.Windows.Controls.Control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представляет элемент управления, с которым взаимодействует пользователь. Этот класс добавляет ряд дополнительных свойств для поддержки элементами шрифтов, цветов фона, шрифта, а также добавляет поддержку шаблонов - специального механизма в WPF, который позволяет изменять стандартное представление элемента,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кастомизировать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его.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И далее от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класса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Control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наследуются непосредственно конкретные элементы управления или их базовые классы, которые получают весь функционал, добавляемый к типам в этой иерархии классов.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330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Name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установленному имени впоследствии можно будет обращаться к элементу, как в коде, так и в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xaml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разметке.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в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xaml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-коде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определена кнопка:</a:t>
            </a:r>
          </a:p>
          <a:p>
            <a:pPr marL="0" indent="0">
              <a:buNone/>
            </a:pPr>
            <a:endParaRPr lang="en-GB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en-US" sz="2900" b="1" dirty="0" smtClean="0">
                <a:solidFill>
                  <a:srgbClr val="7030A0"/>
                </a:solidFill>
              </a:rPr>
              <a:t>&lt;</a:t>
            </a:r>
            <a:r>
              <a:rPr lang="en-US" sz="2900" b="1" dirty="0">
                <a:solidFill>
                  <a:srgbClr val="7030A0"/>
                </a:solidFill>
              </a:rPr>
              <a:t>Button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>
                <a:solidFill>
                  <a:srgbClr val="7030A0"/>
                </a:solidFill>
              </a:rPr>
              <a:t>x:Name="button1"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>
                <a:solidFill>
                  <a:srgbClr val="7030A0"/>
                </a:solidFill>
              </a:rPr>
              <a:t>Width="60"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>
                <a:solidFill>
                  <a:srgbClr val="7030A0"/>
                </a:solidFill>
              </a:rPr>
              <a:t>Height="30"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>
                <a:solidFill>
                  <a:srgbClr val="7030A0"/>
                </a:solidFill>
              </a:rPr>
              <a:t>Content="</a:t>
            </a:r>
            <a:r>
              <a:rPr lang="en-US" sz="2900" b="1" dirty="0" err="1">
                <a:solidFill>
                  <a:srgbClr val="7030A0"/>
                </a:solidFill>
              </a:rPr>
              <a:t>Текст</a:t>
            </a:r>
            <a:r>
              <a:rPr lang="en-US" sz="2900" b="1" dirty="0">
                <a:solidFill>
                  <a:srgbClr val="7030A0"/>
                </a:solidFill>
              </a:rPr>
              <a:t>"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>
                <a:solidFill>
                  <a:srgbClr val="7030A0"/>
                </a:solidFill>
              </a:rPr>
              <a:t>Click="button1_Click"</a:t>
            </a:r>
            <a:r>
              <a:rPr lang="en-US" sz="2900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sz="2900" b="1" dirty="0" smtClean="0">
                <a:solidFill>
                  <a:srgbClr val="7030A0"/>
                </a:solidFill>
              </a:rPr>
              <a:t>/&gt;</a:t>
            </a:r>
            <a:endParaRPr lang="ru-RU" sz="29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900" b="1" dirty="0" smtClean="0">
              <a:solidFill>
                <a:srgbClr val="7030A0"/>
              </a:solidFill>
            </a:endParaRPr>
          </a:p>
          <a:p>
            <a:pPr lvl="1"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задан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атрибут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Click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с названием метода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обработчика </a:t>
            </a:r>
            <a:r>
              <a:rPr lang="ru-RU" dirty="0" smtClean="0"/>
              <a:t>button1_Click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который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будет определен в файле кода C# и будет вызываться по нажатию кнопки.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endParaRPr lang="ru-RU" dirty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связанном файле кода C#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можем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обратиться к этой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кнопке:</a:t>
            </a:r>
          </a:p>
          <a:p>
            <a:pPr marL="0" indent="0" fontAlgn="base">
              <a:buNone/>
            </a:pPr>
            <a:endParaRPr lang="en-GB" dirty="0" smtClean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en-GB" sz="2900" b="1" dirty="0">
                <a:solidFill>
                  <a:srgbClr val="7030A0"/>
                </a:solidFill>
              </a:rPr>
              <a:t>private void button1_Click(object sender, </a:t>
            </a:r>
            <a:r>
              <a:rPr lang="en-GB" sz="2900" b="1" dirty="0" err="1">
                <a:solidFill>
                  <a:srgbClr val="7030A0"/>
                </a:solidFill>
              </a:rPr>
              <a:t>RoutedEventArgs</a:t>
            </a:r>
            <a:r>
              <a:rPr lang="en-GB" sz="2900" b="1" dirty="0">
                <a:solidFill>
                  <a:srgbClr val="7030A0"/>
                </a:solidFill>
              </a:rPr>
              <a:t> e)</a:t>
            </a:r>
          </a:p>
          <a:p>
            <a:pPr marL="0" indent="0" fontAlgn="base">
              <a:buNone/>
            </a:pPr>
            <a:r>
              <a:rPr lang="en-GB" sz="2900" b="1" dirty="0">
                <a:solidFill>
                  <a:srgbClr val="7030A0"/>
                </a:solidFill>
              </a:rPr>
              <a:t>{</a:t>
            </a:r>
          </a:p>
          <a:p>
            <a:pPr marL="0" indent="0" fontAlgn="base">
              <a:buNone/>
            </a:pPr>
            <a:r>
              <a:rPr lang="en-GB" sz="2900" b="1" dirty="0">
                <a:solidFill>
                  <a:srgbClr val="7030A0"/>
                </a:solidFill>
              </a:rPr>
              <a:t>    button1.Content = "</a:t>
            </a:r>
            <a:r>
              <a:rPr lang="ru-RU" sz="2900" b="1" dirty="0">
                <a:solidFill>
                  <a:srgbClr val="7030A0"/>
                </a:solidFill>
              </a:rPr>
              <a:t>Привет!";</a:t>
            </a:r>
          </a:p>
          <a:p>
            <a:pPr marL="0" indent="0" fontAlgn="base">
              <a:buNone/>
            </a:pPr>
            <a:r>
              <a:rPr lang="ru-RU" sz="2900" b="1" dirty="0">
                <a:solidFill>
                  <a:srgbClr val="7030A0"/>
                </a:solidFill>
              </a:rPr>
              <a:t>}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Т.к.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Name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имеет значение </a:t>
            </a:r>
            <a:r>
              <a:rPr lang="ru-RU" b="1" dirty="0"/>
              <a:t>button1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то через это значение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можем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обратиться к кнопке в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коде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66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FieldModifier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544616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задает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модификатор доступа к объекту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en-GB" sz="2600" b="1" dirty="0">
                <a:solidFill>
                  <a:srgbClr val="7030A0"/>
                </a:solidFill>
                <a:latin typeface="Consolas"/>
              </a:rPr>
              <a:t>&lt;</a:t>
            </a:r>
            <a:r>
              <a:rPr lang="en-GB" sz="2600" b="1" dirty="0" err="1">
                <a:solidFill>
                  <a:srgbClr val="7030A0"/>
                </a:solidFill>
                <a:latin typeface="Consolas"/>
              </a:rPr>
              <a:t>StackPanel</a:t>
            </a:r>
            <a:r>
              <a:rPr lang="en-GB" sz="2600" b="1" dirty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GB" sz="2600" b="1" dirty="0">
                <a:solidFill>
                  <a:srgbClr val="7030A0"/>
                </a:solidFill>
                <a:latin typeface="Consolas"/>
              </a:rPr>
              <a:t>    &lt;Button x:FieldModifier="private" x:Name="button1" Content="Hello World" /&gt;</a:t>
            </a:r>
          </a:p>
          <a:p>
            <a:pPr marL="0" indent="0" fontAlgn="base">
              <a:buNone/>
            </a:pPr>
            <a:r>
              <a:rPr lang="en-GB" sz="2600" b="1" dirty="0">
                <a:solidFill>
                  <a:srgbClr val="7030A0"/>
                </a:solidFill>
                <a:latin typeface="Consolas"/>
              </a:rPr>
              <a:t>    &lt;Button x:FieldModifier="internal" x:Name="button2" Content="Hello WPF" /&gt;</a:t>
            </a:r>
          </a:p>
          <a:p>
            <a:pPr marL="0" indent="0" fontAlgn="base">
              <a:buNone/>
            </a:pPr>
            <a:r>
              <a:rPr lang="en-GB" sz="2600" b="1" dirty="0">
                <a:solidFill>
                  <a:srgbClr val="7030A0"/>
                </a:solidFill>
                <a:latin typeface="Consolas"/>
              </a:rPr>
              <a:t>&lt;/</a:t>
            </a:r>
            <a:r>
              <a:rPr lang="en-GB" sz="2600" b="1" dirty="0" err="1">
                <a:solidFill>
                  <a:srgbClr val="7030A0"/>
                </a:solidFill>
                <a:latin typeface="Consolas"/>
              </a:rPr>
              <a:t>StackPanel</a:t>
            </a:r>
            <a:r>
              <a:rPr lang="en-GB" sz="2600" b="1" dirty="0" smtClean="0">
                <a:solidFill>
                  <a:srgbClr val="7030A0"/>
                </a:solidFill>
                <a:latin typeface="Consolas"/>
              </a:rPr>
              <a:t>&gt;</a:t>
            </a:r>
            <a:endParaRPr lang="ru-RU" sz="2600" b="1" dirty="0" smtClean="0">
              <a:solidFill>
                <a:srgbClr val="7030A0"/>
              </a:solidFill>
              <a:latin typeface="Consolas"/>
            </a:endParaRPr>
          </a:p>
          <a:p>
            <a:pPr marL="0" indent="0" fontAlgn="base">
              <a:buNone/>
            </a:pPr>
            <a:endParaRPr lang="en-GB" sz="2600" b="1" dirty="0">
              <a:solidFill>
                <a:srgbClr val="7030A0"/>
              </a:solidFill>
              <a:latin typeface="Consolas"/>
            </a:endParaRPr>
          </a:p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в качестве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значения используются стандартные модификатора доступа языка C#: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protected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internal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protected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internal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1" fontAlgn="base"/>
            <a:r>
              <a:rPr lang="ru-RU" dirty="0" err="1" smtClean="0">
                <a:solidFill>
                  <a:srgbClr val="000000"/>
                </a:solidFill>
                <a:latin typeface="verdana"/>
              </a:rPr>
              <a:t>public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данном случае объявление кнопок с модификаторами будет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равноценно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следующему их определению в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коде:</a:t>
            </a:r>
          </a:p>
          <a:p>
            <a:pPr fontAlgn="base"/>
            <a:endParaRPr lang="en-GB" dirty="0" smtClean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en-GB" sz="2500" b="1" dirty="0">
                <a:solidFill>
                  <a:srgbClr val="7030A0"/>
                </a:solidFill>
                <a:latin typeface="Consolas"/>
              </a:rPr>
              <a:t>private Button button1;</a:t>
            </a:r>
          </a:p>
          <a:p>
            <a:pPr marL="0" indent="0" fontAlgn="base">
              <a:buNone/>
            </a:pPr>
            <a:r>
              <a:rPr lang="en-GB" sz="2500" b="1" dirty="0">
                <a:solidFill>
                  <a:srgbClr val="7030A0"/>
                </a:solidFill>
                <a:latin typeface="Consolas"/>
              </a:rPr>
              <a:t>internal Button button2;</a:t>
            </a:r>
            <a:r>
              <a:rPr lang="ru-RU" sz="2500" b="1" dirty="0">
                <a:solidFill>
                  <a:srgbClr val="7030A0"/>
                </a:solidFill>
                <a:latin typeface="Consolas"/>
              </a:rPr>
              <a:t> </a:t>
            </a:r>
            <a:endParaRPr lang="ru-RU" sz="2500" b="1" dirty="0" smtClean="0">
              <a:solidFill>
                <a:srgbClr val="7030A0"/>
              </a:solidFill>
              <a:latin typeface="Consolas"/>
            </a:endParaRPr>
          </a:p>
          <a:p>
            <a:pPr marL="0" indent="0" fontAlgn="base">
              <a:buNone/>
            </a:pPr>
            <a:endParaRPr lang="en-GB" sz="2500" b="1" dirty="0">
              <a:solidFill>
                <a:srgbClr val="7030A0"/>
              </a:solidFill>
              <a:latin typeface="Consolas"/>
            </a:endParaRPr>
          </a:p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для элемента не определен атрибут </a:t>
            </a:r>
            <a:r>
              <a:rPr lang="ru-RU" dirty="0"/>
              <a:t>x:FieldModifier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то по умолчанию он равен "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protected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internal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".</a:t>
            </a:r>
            <a:endParaRPr lang="en-GB" dirty="0">
              <a:solidFill>
                <a:srgbClr val="000000"/>
              </a:solidFill>
              <a:latin typeface="Consolas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55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Visibility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устанавливает параметры видимости элемента и может принимать одно из трех значений: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Visible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- элемент виден и участвует в компоновке.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Collapsed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- элемент не виден и не участвует в компоновке.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Hidden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- элемент не виден, но при этом участвует в компоновке.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429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4493096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69092"/>
            <a:ext cx="6936680" cy="6743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512" y="404664"/>
            <a:ext cx="31683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/>
              </a:rPr>
              <a:t>Различия между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Collapsed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Hidden</a:t>
            </a:r>
            <a:endParaRPr lang="en-GB" b="1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9841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Свойства настройки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шрифтов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lang="en-GB" b="1" dirty="0" err="1" smtClean="0">
                <a:solidFill>
                  <a:srgbClr val="000000"/>
                </a:solidFill>
                <a:latin typeface="verdana"/>
              </a:rPr>
              <a:t>FontFamily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определяет семейство шрифта (например, 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Arial, Verdana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 т.д.)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GB" b="1" dirty="0" err="1">
                <a:solidFill>
                  <a:srgbClr val="000000"/>
                </a:solidFill>
                <a:latin typeface="verdana"/>
              </a:rPr>
              <a:t>FontSize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определяет высоту шрифта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GB" b="1" dirty="0" err="1">
                <a:solidFill>
                  <a:srgbClr val="000000"/>
                </a:solidFill>
                <a:latin typeface="verdana"/>
              </a:rPr>
              <a:t>FontStyle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определяет наклон шрифта, принимает одно из трех значений - </a:t>
            </a:r>
            <a:r>
              <a:rPr lang="en-GB" b="1" dirty="0">
                <a:solidFill>
                  <a:srgbClr val="000000"/>
                </a:solidFill>
                <a:latin typeface="verdana"/>
              </a:rPr>
              <a:t>Normal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, </a:t>
            </a:r>
            <a:r>
              <a:rPr lang="en-GB" b="1" dirty="0" err="1">
                <a:solidFill>
                  <a:srgbClr val="000000"/>
                </a:solidFill>
                <a:latin typeface="verdana"/>
              </a:rPr>
              <a:t>Italic</a:t>
            </a:r>
            <a:r>
              <a:rPr lang="en-GB" dirty="0" err="1">
                <a:solidFill>
                  <a:srgbClr val="000000"/>
                </a:solidFill>
                <a:latin typeface="verdana"/>
              </a:rPr>
              <a:t>,</a:t>
            </a:r>
            <a:r>
              <a:rPr lang="en-GB" b="1" dirty="0" err="1">
                <a:solidFill>
                  <a:srgbClr val="000000"/>
                </a:solidFill>
                <a:latin typeface="verdana"/>
              </a:rPr>
              <a:t>Oblique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GB" b="1" dirty="0" err="1">
                <a:solidFill>
                  <a:srgbClr val="000000"/>
                </a:solidFill>
                <a:latin typeface="verdana"/>
              </a:rPr>
              <a:t>FontWeight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определяет толщину шрифта и принимает ряд значений, как </a:t>
            </a:r>
            <a:r>
              <a:rPr lang="en-GB" b="1" dirty="0" err="1">
                <a:solidFill>
                  <a:srgbClr val="000000"/>
                </a:solidFill>
                <a:latin typeface="verdana"/>
              </a:rPr>
              <a:t>Black</a:t>
            </a:r>
            <a:r>
              <a:rPr lang="en-GB" dirty="0" err="1">
                <a:solidFill>
                  <a:srgbClr val="000000"/>
                </a:solidFill>
                <a:latin typeface="verdana"/>
              </a:rPr>
              <a:t>,</a:t>
            </a:r>
            <a:r>
              <a:rPr lang="en-GB" b="1" dirty="0" err="1">
                <a:solidFill>
                  <a:srgbClr val="000000"/>
                </a:solidFill>
                <a:latin typeface="verdana"/>
              </a:rPr>
              <a:t>Bold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 др.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GB" b="1" dirty="0" err="1">
                <a:solidFill>
                  <a:srgbClr val="000000"/>
                </a:solidFill>
                <a:latin typeface="verdana"/>
              </a:rPr>
              <a:t>FontStretch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определяет, как будет растягивать или сжимать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текст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en-GB" b="1" dirty="0" smtClean="0">
                <a:solidFill>
                  <a:srgbClr val="000000"/>
                </a:solidFill>
                <a:latin typeface="verdana"/>
              </a:rPr>
              <a:t>Condensed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сжимает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en-GB" b="1" dirty="0" smtClean="0">
                <a:solidFill>
                  <a:srgbClr val="000000"/>
                </a:solidFill>
                <a:latin typeface="verdana"/>
              </a:rPr>
              <a:t>Expanded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расстягивает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rgbClr val="7030A0"/>
                </a:solidFill>
              </a:rPr>
              <a:t>&lt;</a:t>
            </a:r>
            <a:r>
              <a:rPr lang="en-GB" b="1" dirty="0">
                <a:solidFill>
                  <a:srgbClr val="7030A0"/>
                </a:solidFill>
              </a:rPr>
              <a:t>Button Content="Hello World!" </a:t>
            </a:r>
            <a:r>
              <a:rPr lang="en-GB" b="1" dirty="0" err="1">
                <a:solidFill>
                  <a:srgbClr val="7030A0"/>
                </a:solidFill>
              </a:rPr>
              <a:t>FontFamily</a:t>
            </a:r>
            <a:r>
              <a:rPr lang="en-GB" b="1" dirty="0">
                <a:solidFill>
                  <a:srgbClr val="7030A0"/>
                </a:solidFill>
              </a:rPr>
              <a:t>="Verdana" </a:t>
            </a:r>
            <a:r>
              <a:rPr lang="en-GB" b="1" dirty="0" err="1">
                <a:solidFill>
                  <a:srgbClr val="7030A0"/>
                </a:solidFill>
              </a:rPr>
              <a:t>FontSize</a:t>
            </a:r>
            <a:r>
              <a:rPr lang="en-GB" b="1" dirty="0">
                <a:solidFill>
                  <a:srgbClr val="7030A0"/>
                </a:solidFill>
              </a:rPr>
              <a:t>="13" </a:t>
            </a:r>
            <a:r>
              <a:rPr lang="en-GB" b="1" dirty="0" err="1">
                <a:solidFill>
                  <a:srgbClr val="7030A0"/>
                </a:solidFill>
              </a:rPr>
              <a:t>FontStretch</a:t>
            </a:r>
            <a:r>
              <a:rPr lang="en-GB" b="1" dirty="0">
                <a:solidFill>
                  <a:srgbClr val="7030A0"/>
                </a:solidFill>
              </a:rPr>
              <a:t>="Expanded" /&gt;</a:t>
            </a:r>
            <a:endParaRPr lang="ru-RU" b="1" dirty="0">
              <a:solidFill>
                <a:srgbClr val="7030A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5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Cursor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позволяет </a:t>
            </a:r>
            <a:r>
              <a:rPr lang="ru-RU" sz="2400" dirty="0" smtClean="0">
                <a:solidFill>
                  <a:srgbClr val="000000"/>
                </a:solidFill>
                <a:latin typeface="verdana"/>
              </a:rPr>
              <a:t>получить 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или установить курсор для элемента управления в одно из </a:t>
            </a:r>
            <a:r>
              <a:rPr lang="ru-RU" sz="2400" dirty="0" smtClean="0">
                <a:solidFill>
                  <a:srgbClr val="000000"/>
                </a:solidFill>
                <a:latin typeface="verdana"/>
              </a:rPr>
              <a:t>значений</a:t>
            </a:r>
          </a:p>
          <a:p>
            <a:pPr lvl="1"/>
            <a:r>
              <a:rPr lang="ru-RU" sz="2400" b="1" dirty="0" err="1" smtClean="0">
                <a:solidFill>
                  <a:srgbClr val="000000"/>
                </a:solidFill>
                <a:latin typeface="verdana"/>
              </a:rPr>
              <a:t>Hand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, </a:t>
            </a:r>
            <a:endParaRPr lang="ru-RU" sz="2400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sz="2400" b="1" dirty="0" err="1" smtClean="0">
                <a:solidFill>
                  <a:srgbClr val="000000"/>
                </a:solidFill>
                <a:latin typeface="verdana"/>
              </a:rPr>
              <a:t>Arrow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, </a:t>
            </a:r>
            <a:endParaRPr lang="ru-RU" sz="2400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sz="2400" b="1" dirty="0" err="1" smtClean="0">
                <a:solidFill>
                  <a:srgbClr val="000000"/>
                </a:solidFill>
                <a:latin typeface="verdana"/>
              </a:rPr>
              <a:t>Wait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 и др. </a:t>
            </a:r>
            <a:endParaRPr lang="ru-RU" sz="2400" dirty="0" smtClean="0">
              <a:solidFill>
                <a:srgbClr val="000000"/>
              </a:solidFill>
              <a:latin typeface="verdana"/>
            </a:endParaRPr>
          </a:p>
          <a:p>
            <a:endParaRPr lang="ru-RU" sz="2400" dirty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  <a:latin typeface="verdana"/>
              </a:rPr>
              <a:t>установка </a:t>
            </a:r>
            <a:r>
              <a:rPr lang="ru-RU" sz="2400" dirty="0">
                <a:solidFill>
                  <a:srgbClr val="000000"/>
                </a:solidFill>
                <a:latin typeface="verdana"/>
              </a:rPr>
              <a:t>курсора в коде c</a:t>
            </a:r>
            <a:r>
              <a:rPr lang="ru-RU" sz="2400" dirty="0" smtClean="0">
                <a:solidFill>
                  <a:srgbClr val="000000"/>
                </a:solidFill>
                <a:latin typeface="verdana"/>
              </a:rPr>
              <a:t>#: 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rgbClr val="7030A0"/>
                </a:solidFill>
                <a:latin typeface="verdana"/>
              </a:rPr>
              <a:t>button1.Cursor=</a:t>
            </a:r>
            <a:r>
              <a:rPr lang="ru-RU" sz="2400" b="1" dirty="0" err="1" smtClean="0">
                <a:solidFill>
                  <a:srgbClr val="7030A0"/>
                </a:solidFill>
                <a:latin typeface="verdana"/>
              </a:rPr>
              <a:t>Cursors.Hand</a:t>
            </a:r>
            <a:r>
              <a:rPr lang="ru-RU" sz="2400" b="1" dirty="0">
                <a:solidFill>
                  <a:srgbClr val="7030A0"/>
                </a:solidFill>
                <a:latin typeface="verdana"/>
              </a:rPr>
              <a:t>;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5927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32656"/>
            <a:ext cx="6295499" cy="6338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6396" y="191683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/>
              <a:t>FlowDirection</a:t>
            </a:r>
            <a:endParaRPr lang="ru-RU" b="1" dirty="0"/>
          </a:p>
          <a:p>
            <a:r>
              <a:rPr lang="ru-RU" dirty="0" smtClean="0"/>
              <a:t>задает </a:t>
            </a:r>
            <a:r>
              <a:rPr lang="ru-RU" dirty="0"/>
              <a:t>направление </a:t>
            </a:r>
            <a:r>
              <a:rPr lang="ru-RU" dirty="0" smtClean="0"/>
              <a:t>текста</a:t>
            </a:r>
          </a:p>
          <a:p>
            <a:r>
              <a:rPr lang="ru-RU" dirty="0" err="1" smtClean="0"/>
              <a:t>RightToLeft</a:t>
            </a:r>
            <a:r>
              <a:rPr lang="ru-RU" dirty="0" smtClean="0"/>
              <a:t> - текст </a:t>
            </a:r>
            <a:r>
              <a:rPr lang="ru-RU" dirty="0"/>
              <a:t>начинается с правого </a:t>
            </a:r>
            <a:r>
              <a:rPr lang="ru-RU" dirty="0" smtClean="0"/>
              <a:t>края</a:t>
            </a:r>
          </a:p>
          <a:p>
            <a:r>
              <a:rPr lang="ru-RU" dirty="0" err="1" smtClean="0"/>
              <a:t>LeftToRight</a:t>
            </a:r>
            <a:r>
              <a:rPr lang="ru-RU" dirty="0" smtClean="0"/>
              <a:t> - с левого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62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761560"/>
            <a:ext cx="4716016" cy="2962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85800" y="364387"/>
            <a:ext cx="7686600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rgbClr val="000000"/>
                </a:solidFill>
                <a:latin typeface="verdana"/>
              </a:rPr>
              <a:t>Цвета фона и шрифта</a:t>
            </a:r>
          </a:p>
          <a:p>
            <a:pPr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verdana"/>
              </a:rPr>
              <a:t>Свойства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Background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и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Foreground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задают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цвет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фона и текста элемента управления.</a:t>
            </a:r>
          </a:p>
          <a:p>
            <a:pPr>
              <a:spcBef>
                <a:spcPts val="600"/>
              </a:spcBef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Простейший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способ задания цвета в коде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: </a:t>
            </a:r>
            <a:r>
              <a:rPr lang="ru-RU" sz="1600" b="1" dirty="0" err="1" smtClean="0">
                <a:solidFill>
                  <a:srgbClr val="7030A0"/>
                </a:solidFill>
                <a:latin typeface="verdana"/>
              </a:rPr>
              <a:t>Background</a:t>
            </a:r>
            <a:r>
              <a:rPr lang="ru-RU" sz="1600" b="1" dirty="0">
                <a:solidFill>
                  <a:srgbClr val="7030A0"/>
                </a:solidFill>
                <a:latin typeface="verdana"/>
              </a:rPr>
              <a:t>="#</a:t>
            </a:r>
            <a:r>
              <a:rPr lang="ru-RU" sz="1600" b="1" dirty="0" err="1">
                <a:solidFill>
                  <a:srgbClr val="7030A0"/>
                </a:solidFill>
                <a:latin typeface="verdana"/>
              </a:rPr>
              <a:t>ffffff</a:t>
            </a:r>
            <a:r>
              <a:rPr lang="ru-RU" sz="1600" b="1" dirty="0">
                <a:solidFill>
                  <a:srgbClr val="7030A0"/>
                </a:solidFill>
                <a:latin typeface="verdana"/>
              </a:rPr>
              <a:t>". </a:t>
            </a:r>
            <a:endParaRPr lang="ru-RU" sz="1600" b="1" dirty="0" smtClean="0">
              <a:solidFill>
                <a:srgbClr val="7030A0"/>
              </a:solidFill>
              <a:latin typeface="verdana"/>
            </a:endParaRPr>
          </a:p>
          <a:p>
            <a:pPr>
              <a:spcBef>
                <a:spcPts val="600"/>
              </a:spcBef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значения свойства </a:t>
            </a:r>
            <a:r>
              <a:rPr lang="ru-RU" sz="1600" dirty="0" err="1">
                <a:solidFill>
                  <a:srgbClr val="000000"/>
                </a:solidFill>
                <a:latin typeface="verdana"/>
              </a:rPr>
              <a:t>Background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 (</a:t>
            </a:r>
            <a:r>
              <a:rPr lang="ru-RU" sz="1600" dirty="0" err="1">
                <a:solidFill>
                  <a:srgbClr val="000000"/>
                </a:solidFill>
                <a:latin typeface="verdana"/>
              </a:rPr>
              <a:t>Foreground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) 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- запись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в виде шестнадцатеричного значения в формате </a:t>
            </a:r>
            <a:r>
              <a:rPr lang="ru-RU" sz="1600" b="1" dirty="0">
                <a:solidFill>
                  <a:srgbClr val="000000"/>
                </a:solidFill>
                <a:latin typeface="verdana"/>
              </a:rPr>
              <a:t>#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rrggbb</a:t>
            </a:r>
            <a:endParaRPr lang="ru-RU" sz="1600" b="1" dirty="0" smtClean="0">
              <a:solidFill>
                <a:srgbClr val="000000"/>
              </a:solidFill>
              <a:latin typeface="verdan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rr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 - красная составляющая, </a:t>
            </a:r>
            <a:endParaRPr lang="ru-RU" sz="1600" dirty="0" smtClean="0">
              <a:solidFill>
                <a:srgbClr val="000000"/>
              </a:solidFill>
              <a:latin typeface="verdan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gg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 - зеленая составляющая, </a:t>
            </a:r>
            <a:endParaRPr lang="ru-RU" sz="1600" dirty="0" smtClean="0">
              <a:solidFill>
                <a:srgbClr val="000000"/>
              </a:solidFill>
              <a:latin typeface="verdana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bb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 - синяя. </a:t>
            </a:r>
            <a:endParaRPr lang="ru-RU" sz="1600" dirty="0" smtClean="0">
              <a:solidFill>
                <a:srgbClr val="000000"/>
              </a:solidFill>
              <a:latin typeface="verdana"/>
            </a:endParaRPr>
          </a:p>
          <a:p>
            <a:pPr>
              <a:spcBef>
                <a:spcPts val="600"/>
              </a:spcBef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задать цвет в формате #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aarrggbb</a:t>
            </a:r>
            <a:endParaRPr lang="ru-RU" sz="1600" dirty="0">
              <a:solidFill>
                <a:srgbClr val="000000"/>
              </a:solidFill>
              <a:latin typeface="verdana"/>
            </a:endParaRPr>
          </a:p>
          <a:p>
            <a:pPr>
              <a:spcBef>
                <a:spcPts val="600"/>
              </a:spcBef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использовать названия цветов напрямую: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7030A0"/>
                </a:solidFill>
              </a:rPr>
              <a:t>&lt;Button Width="60" Height="30" Background="</a:t>
            </a:r>
            <a:r>
              <a:rPr lang="en-US" sz="1600" b="1" dirty="0" err="1">
                <a:solidFill>
                  <a:srgbClr val="7030A0"/>
                </a:solidFill>
              </a:rPr>
              <a:t>LightGray</a:t>
            </a:r>
            <a:r>
              <a:rPr lang="en-US" sz="1600" b="1" dirty="0">
                <a:solidFill>
                  <a:srgbClr val="7030A0"/>
                </a:solidFill>
              </a:rPr>
              <a:t>" Foreground="</a:t>
            </a:r>
            <a:r>
              <a:rPr lang="en-US" sz="1600" b="1" dirty="0" err="1">
                <a:solidFill>
                  <a:srgbClr val="7030A0"/>
                </a:solidFill>
              </a:rPr>
              <a:t>DarkRed</a:t>
            </a:r>
            <a:r>
              <a:rPr lang="en-US" sz="1600" b="1" dirty="0">
                <a:solidFill>
                  <a:srgbClr val="7030A0"/>
                </a:solidFill>
              </a:rPr>
              <a:t>" Content="</a:t>
            </a:r>
            <a:r>
              <a:rPr lang="en-US" sz="1600" b="1" dirty="0" err="1">
                <a:solidFill>
                  <a:srgbClr val="7030A0"/>
                </a:solidFill>
              </a:rPr>
              <a:t>Цвет</a:t>
            </a:r>
            <a:r>
              <a:rPr lang="en-US" sz="1600" b="1" dirty="0">
                <a:solidFill>
                  <a:srgbClr val="7030A0"/>
                </a:solidFill>
              </a:rPr>
              <a:t>" /&gt;</a:t>
            </a:r>
            <a:endParaRPr lang="ru-RU" sz="1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21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но </a:t>
            </a:r>
            <a:r>
              <a:rPr lang="ru-RU" dirty="0"/>
              <a:t>при компиляции будет создаваться </a:t>
            </a:r>
            <a:r>
              <a:rPr lang="ru-RU" dirty="0" smtClean="0"/>
              <a:t>объект </a:t>
            </a:r>
            <a:r>
              <a:rPr lang="ru-RU" b="1" dirty="0" err="1" smtClean="0"/>
              <a:t>SolidColorBrush</a:t>
            </a:r>
            <a:r>
              <a:rPr lang="ru-RU" dirty="0" smtClean="0"/>
              <a:t>, который </a:t>
            </a:r>
            <a:r>
              <a:rPr lang="ru-RU" dirty="0"/>
              <a:t>и будет задавать цвет элемента. </a:t>
            </a:r>
            <a:r>
              <a:rPr lang="ru-RU" dirty="0" smtClean="0"/>
              <a:t>Т. е. </a:t>
            </a:r>
            <a:r>
              <a:rPr lang="ru-RU" dirty="0"/>
              <a:t>определение кнопки </a:t>
            </a:r>
            <a:r>
              <a:rPr lang="ru-RU" dirty="0" smtClean="0"/>
              <a:t>с </a:t>
            </a:r>
            <a:r>
              <a:rPr lang="ru-RU" dirty="0" err="1" smtClean="0"/>
              <a:t>пред.слайда</a:t>
            </a:r>
            <a:r>
              <a:rPr lang="ru-RU" dirty="0" smtClean="0"/>
              <a:t> фактически </a:t>
            </a:r>
            <a:r>
              <a:rPr lang="ru-RU" dirty="0"/>
              <a:t>будет равноценно </a:t>
            </a:r>
            <a:r>
              <a:rPr lang="ru-RU" dirty="0" smtClean="0"/>
              <a:t>:</a:t>
            </a:r>
          </a:p>
          <a:p>
            <a:endParaRPr lang="en-GB" dirty="0" smtClean="0"/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&lt;Button Width="60" Height="30" Content="</a:t>
            </a:r>
            <a:r>
              <a:rPr lang="ru-RU" b="1" dirty="0">
                <a:solidFill>
                  <a:srgbClr val="7030A0"/>
                </a:solidFill>
              </a:rPr>
              <a:t>Цвет"&gt;</a:t>
            </a: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</a:rPr>
              <a:t>    &lt;</a:t>
            </a:r>
            <a:r>
              <a:rPr lang="en-GB" b="1" dirty="0" err="1">
                <a:solidFill>
                  <a:srgbClr val="7030A0"/>
                </a:solidFill>
              </a:rPr>
              <a:t>Button.Background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    &lt;</a:t>
            </a:r>
            <a:r>
              <a:rPr lang="en-GB" b="1" dirty="0" err="1">
                <a:solidFill>
                  <a:srgbClr val="7030A0"/>
                </a:solidFill>
              </a:rPr>
              <a:t>SolidColorBrush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 err="1">
                <a:solidFill>
                  <a:srgbClr val="7030A0"/>
                </a:solidFill>
              </a:rPr>
              <a:t>Color</a:t>
            </a:r>
            <a:r>
              <a:rPr lang="en-GB" b="1" dirty="0">
                <a:solidFill>
                  <a:srgbClr val="7030A0"/>
                </a:solidFill>
              </a:rPr>
              <a:t>="</a:t>
            </a:r>
            <a:r>
              <a:rPr lang="en-GB" b="1" dirty="0" err="1">
                <a:solidFill>
                  <a:srgbClr val="7030A0"/>
                </a:solidFill>
              </a:rPr>
              <a:t>LightGray</a:t>
            </a:r>
            <a:r>
              <a:rPr lang="en-GB" b="1" dirty="0">
                <a:solidFill>
                  <a:srgbClr val="7030A0"/>
                </a:solidFill>
              </a:rPr>
              <a:t>" /&gt;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&lt;/</a:t>
            </a:r>
            <a:r>
              <a:rPr lang="en-GB" b="1" dirty="0" err="1">
                <a:solidFill>
                  <a:srgbClr val="7030A0"/>
                </a:solidFill>
              </a:rPr>
              <a:t>Button.Background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</a:t>
            </a:r>
            <a:r>
              <a:rPr lang="en-GB" b="1" dirty="0" err="1">
                <a:solidFill>
                  <a:srgbClr val="7030A0"/>
                </a:solidFill>
              </a:rPr>
              <a:t>Button.Foreground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    &lt;</a:t>
            </a:r>
            <a:r>
              <a:rPr lang="en-GB" b="1" dirty="0" err="1">
                <a:solidFill>
                  <a:srgbClr val="7030A0"/>
                </a:solidFill>
              </a:rPr>
              <a:t>SolidColorBrush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 err="1">
                <a:solidFill>
                  <a:srgbClr val="7030A0"/>
                </a:solidFill>
              </a:rPr>
              <a:t>Color</a:t>
            </a:r>
            <a:r>
              <a:rPr lang="en-GB" b="1" dirty="0">
                <a:solidFill>
                  <a:srgbClr val="7030A0"/>
                </a:solidFill>
              </a:rPr>
              <a:t>="</a:t>
            </a:r>
            <a:r>
              <a:rPr lang="en-GB" b="1" dirty="0" err="1">
                <a:solidFill>
                  <a:srgbClr val="7030A0"/>
                </a:solidFill>
              </a:rPr>
              <a:t>DarkRed</a:t>
            </a:r>
            <a:r>
              <a:rPr lang="en-GB" b="1" dirty="0">
                <a:solidFill>
                  <a:srgbClr val="7030A0"/>
                </a:solidFill>
              </a:rPr>
              <a:t>" /&gt;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&lt;/</a:t>
            </a:r>
            <a:r>
              <a:rPr lang="en-GB" b="1" dirty="0" err="1">
                <a:solidFill>
                  <a:srgbClr val="7030A0"/>
                </a:solidFill>
              </a:rPr>
              <a:t>Button.Foreground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pPr marL="0" indent="0"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&lt;/Button&gt;</a:t>
            </a:r>
          </a:p>
          <a:p>
            <a:pPr marL="0" indent="0">
              <a:buNone/>
            </a:pPr>
            <a:endParaRPr lang="ru-RU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70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SolidColorBrush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 smtClean="0"/>
              <a:t>SolidColorBrush</a:t>
            </a:r>
            <a:r>
              <a:rPr lang="ru-RU" dirty="0" smtClean="0"/>
              <a:t> представляет </a:t>
            </a:r>
            <a:r>
              <a:rPr lang="ru-RU" dirty="0"/>
              <a:t>собой кисть, покрывающую элемент одним цветом. </a:t>
            </a:r>
            <a:endParaRPr lang="ru-RU" dirty="0" smtClean="0"/>
          </a:p>
          <a:p>
            <a:r>
              <a:rPr lang="ru-RU" dirty="0" smtClean="0"/>
              <a:t>записи эквивалентны </a:t>
            </a:r>
          </a:p>
          <a:p>
            <a:r>
              <a:rPr lang="ru-RU" b="1" dirty="0" smtClean="0"/>
              <a:t>вторая</a:t>
            </a:r>
            <a:r>
              <a:rPr lang="ru-RU" dirty="0" smtClean="0"/>
              <a:t> </a:t>
            </a:r>
            <a:r>
              <a:rPr lang="ru-RU" dirty="0"/>
              <a:t>форма определения цвета позволяет задать другие кисти - например, </a:t>
            </a:r>
            <a:r>
              <a:rPr lang="ru-RU" dirty="0" smtClean="0"/>
              <a:t>градиент</a:t>
            </a:r>
            <a:endParaRPr lang="ru-RU" dirty="0"/>
          </a:p>
          <a:p>
            <a:r>
              <a:rPr lang="ru-RU" dirty="0"/>
              <a:t>Это надо также учитывать при установке или получении цвета элемента в коде </a:t>
            </a:r>
            <a:r>
              <a:rPr lang="ru-RU" dirty="0" smtClean="0"/>
              <a:t>C#:</a:t>
            </a:r>
          </a:p>
          <a:p>
            <a:endParaRPr lang="ru-RU" dirty="0"/>
          </a:p>
          <a:p>
            <a:pPr marL="0" indent="0" fontAlgn="base">
              <a:buNone/>
            </a:pPr>
            <a:r>
              <a:rPr lang="en-US" sz="2600" b="1" dirty="0">
                <a:solidFill>
                  <a:srgbClr val="7030A0"/>
                </a:solidFill>
              </a:rPr>
              <a:t>button1.Background = new </a:t>
            </a:r>
            <a:r>
              <a:rPr lang="en-US" sz="2600" b="1" dirty="0" err="1">
                <a:solidFill>
                  <a:srgbClr val="7030A0"/>
                </a:solidFill>
              </a:rPr>
              <a:t>SolidColorBrush</a:t>
            </a:r>
            <a:r>
              <a:rPr lang="en-US" sz="2600" b="1" dirty="0">
                <a:solidFill>
                  <a:srgbClr val="7030A0"/>
                </a:solidFill>
              </a:rPr>
              <a:t>(</a:t>
            </a:r>
            <a:r>
              <a:rPr lang="en-US" sz="2600" b="1" dirty="0" err="1">
                <a:solidFill>
                  <a:srgbClr val="7030A0"/>
                </a:solidFill>
              </a:rPr>
              <a:t>Colors.Red</a:t>
            </a:r>
            <a:r>
              <a:rPr lang="en-US" sz="2600" b="1" dirty="0">
                <a:solidFill>
                  <a:srgbClr val="7030A0"/>
                </a:solidFill>
              </a:rPr>
              <a:t>);</a:t>
            </a:r>
          </a:p>
          <a:p>
            <a:pPr marL="0" indent="0" fontAlgn="base">
              <a:buNone/>
            </a:pPr>
            <a:r>
              <a:rPr lang="en-US" sz="2600" b="1" dirty="0">
                <a:solidFill>
                  <a:srgbClr val="7030A0"/>
                </a:solidFill>
              </a:rPr>
              <a:t>button1.Foreground = new </a:t>
            </a:r>
            <a:r>
              <a:rPr lang="en-US" sz="2600" b="1" dirty="0" err="1">
                <a:solidFill>
                  <a:srgbClr val="7030A0"/>
                </a:solidFill>
              </a:rPr>
              <a:t>SolidColorBrush</a:t>
            </a:r>
            <a:r>
              <a:rPr lang="en-US" sz="2600" b="1" dirty="0">
                <a:solidFill>
                  <a:srgbClr val="7030A0"/>
                </a:solidFill>
              </a:rPr>
              <a:t>(</a:t>
            </a:r>
            <a:r>
              <a:rPr lang="en-US" sz="2600" b="1" dirty="0" err="1">
                <a:solidFill>
                  <a:srgbClr val="7030A0"/>
                </a:solidFill>
              </a:rPr>
              <a:t>Color.FromRgb</a:t>
            </a:r>
            <a:r>
              <a:rPr lang="en-US" sz="2600" b="1" dirty="0">
                <a:solidFill>
                  <a:srgbClr val="7030A0"/>
                </a:solidFill>
              </a:rPr>
              <a:t>(0,255, 0</a:t>
            </a:r>
            <a:r>
              <a:rPr lang="en-US" sz="2600" b="1" dirty="0" smtClean="0">
                <a:solidFill>
                  <a:srgbClr val="7030A0"/>
                </a:solidFill>
              </a:rPr>
              <a:t>));</a:t>
            </a:r>
            <a:endParaRPr lang="ru-RU" sz="2600" b="1" dirty="0" smtClean="0">
              <a:solidFill>
                <a:srgbClr val="7030A0"/>
              </a:solidFill>
            </a:endParaRPr>
          </a:p>
          <a:p>
            <a:pPr marL="0" indent="0" fontAlgn="base">
              <a:buNone/>
            </a:pPr>
            <a:endParaRPr lang="en-US" sz="2600" b="1" dirty="0">
              <a:solidFill>
                <a:srgbClr val="7030A0"/>
              </a:solidFill>
            </a:endParaRPr>
          </a:p>
          <a:p>
            <a:r>
              <a:rPr lang="ru-RU" dirty="0"/>
              <a:t>Класс </a:t>
            </a:r>
            <a:r>
              <a:rPr lang="ru-RU" b="1" dirty="0" err="1"/>
              <a:t>Colors</a:t>
            </a:r>
            <a:r>
              <a:rPr lang="ru-RU" dirty="0"/>
              <a:t> предлагает ряд встроенный цветовых </a:t>
            </a:r>
            <a:r>
              <a:rPr lang="ru-RU" dirty="0" smtClean="0"/>
              <a:t>констант</a:t>
            </a:r>
          </a:p>
          <a:p>
            <a:r>
              <a:rPr lang="ru-RU" dirty="0" smtClean="0"/>
              <a:t>если надо конкретизировать </a:t>
            </a:r>
            <a:r>
              <a:rPr lang="ru-RU" dirty="0"/>
              <a:t>настройки цвета с помощью значений RGB, то можно использовать метод </a:t>
            </a:r>
            <a:r>
              <a:rPr lang="ru-RU" b="1" dirty="0" err="1"/>
              <a:t>Color.FromRgb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243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0"/>
            <a:ext cx="4212468" cy="3548860"/>
          </a:xfrm>
        </p:spPr>
      </p:pic>
      <p:sp>
        <p:nvSpPr>
          <p:cNvPr id="5" name="Прямоугольник 4"/>
          <p:cNvSpPr/>
          <p:nvPr/>
        </p:nvSpPr>
        <p:spPr>
          <a:xfrm>
            <a:off x="5184576" y="457687"/>
            <a:ext cx="38519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Элементы управления содержимым (</a:t>
            </a:r>
            <a:r>
              <a:rPr lang="ru-RU" dirty="0" err="1"/>
              <a:t>content</a:t>
            </a:r>
            <a:r>
              <a:rPr lang="ru-RU" dirty="0"/>
              <a:t> </a:t>
            </a:r>
            <a:r>
              <a:rPr lang="ru-RU" dirty="0" err="1"/>
              <a:t>controls</a:t>
            </a:r>
            <a:r>
              <a:rPr lang="ru-RU" dirty="0"/>
              <a:t>) представляют такие элементы управления, которые содержат в себе другой элемент. </a:t>
            </a:r>
            <a:endParaRPr lang="ru-RU" dirty="0" smtClean="0"/>
          </a:p>
          <a:p>
            <a:r>
              <a:rPr lang="ru-RU" dirty="0" smtClean="0"/>
              <a:t>Все </a:t>
            </a:r>
            <a:r>
              <a:rPr lang="ru-RU" dirty="0"/>
              <a:t>элементы управления содержимым наследуются от абстрактного класса </a:t>
            </a:r>
            <a:r>
              <a:rPr lang="ru-RU" b="1" dirty="0" err="1"/>
              <a:t>ContentControl</a:t>
            </a:r>
            <a:r>
              <a:rPr lang="ru-RU" dirty="0"/>
              <a:t>, который </a:t>
            </a:r>
            <a:r>
              <a:rPr lang="ru-RU" dirty="0" smtClean="0"/>
              <a:t>наследуется </a:t>
            </a:r>
            <a:r>
              <a:rPr lang="ru-RU" dirty="0"/>
              <a:t>от класса </a:t>
            </a:r>
            <a:r>
              <a:rPr lang="ru-RU" dirty="0" err="1"/>
              <a:t>System.Window.Controls.Control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3356992"/>
            <a:ext cx="8856984" cy="315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 err="1" smtClean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Button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Label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ToggleButton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ToolTip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RadioButton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CheckBox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GroupBox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TabItem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Expander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ScrollViewer</a:t>
            </a:r>
            <a:r>
              <a:rPr lang="ru-RU" altLang="ru-RU" sz="1400" b="1" dirty="0" smtClean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, главный </a:t>
            </a:r>
            <a:r>
              <a:rPr lang="ru-RU" altLang="ru-RU" sz="1400" b="1" dirty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элемент окна - 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Verdana" pitchFamily="34" charset="0"/>
                <a:cs typeface="Arial" pitchFamily="34" charset="0"/>
              </a:rPr>
              <a:t>Window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Отличительной чертой всех этих элементов является наличие свойства </a:t>
            </a:r>
            <a:r>
              <a:rPr lang="ru-RU" altLang="ru-RU" sz="1400" b="1" dirty="0" err="1">
                <a:latin typeface="Arial" pitchFamily="34" charset="0"/>
              </a:rPr>
              <a:t>Content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которое и устанавливает вложенный элемент. В этом элементы управления содержимым схожи с контейнерами компоновки. Только контейнеры могут иметь множество вложенных элементов, а элементы управления содержимым только один.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Свойство </a:t>
            </a:r>
            <a:r>
              <a:rPr lang="ru-RU" altLang="ru-RU" sz="1400" b="1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Content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может представлять любой объект, который может относиться к одному из двух типов:</a:t>
            </a:r>
            <a:endParaRPr lang="ru-RU" altLang="ru-RU" sz="1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Объект класса, не наследующего от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UIElement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 для такого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объекта вызывается метод 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ToString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который возвращает строковое преставление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объекта, затем эта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строка устанавливается в качестве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содержимого)</a:t>
            </a:r>
            <a:endParaRPr lang="ru-RU" altLang="ru-RU" sz="14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Объект класса, наследующего от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UIElement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 для такого 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объекта вызывается метод </a:t>
            </a:r>
            <a:r>
              <a:rPr lang="ru-RU" altLang="ru-RU" sz="14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UIElement.OnRender</a:t>
            </a:r>
            <a:r>
              <a:rPr lang="ru-RU" altLang="ru-RU" sz="14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который выполняет </a:t>
            </a:r>
            <a:r>
              <a:rPr lang="ru-RU" altLang="ru-RU" sz="14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отрисовку</a:t>
            </a:r>
            <a:r>
              <a:rPr lang="ru-RU" altLang="ru-RU" sz="14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внутри элемента управления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содержимым)</a:t>
            </a:r>
            <a:endParaRPr lang="ru-RU" altLang="ru-RU" sz="14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42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пример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кнопки, которая является элементом управления содержимым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&lt;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Button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Content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="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Hello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World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!" /&gt;</a:t>
            </a:r>
          </a:p>
          <a:p>
            <a:pPr fontAlgn="base"/>
            <a:endParaRPr lang="ru-RU" dirty="0">
              <a:solidFill>
                <a:srgbClr val="000000"/>
              </a:solidFill>
              <a:latin typeface="Consolas"/>
            </a:endParaRPr>
          </a:p>
          <a:p>
            <a:r>
              <a:rPr lang="ru-RU" dirty="0">
                <a:solidFill>
                  <a:srgbClr val="000000"/>
                </a:solidFill>
                <a:latin typeface="verdana"/>
              </a:rPr>
              <a:t>В качестве содержимого устанавливается обычная строка.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XAML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&lt;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Button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    &lt;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Button.Content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        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Hello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World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!</a:t>
            </a: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    &lt;/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Button.Content</a:t>
            </a:r>
            <a:r>
              <a:rPr lang="ru-RU" b="1" dirty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ru-RU" b="1" dirty="0">
                <a:solidFill>
                  <a:srgbClr val="7030A0"/>
                </a:solidFill>
                <a:latin typeface="Consolas"/>
              </a:rPr>
              <a:t>&lt;/</a:t>
            </a:r>
            <a:r>
              <a:rPr lang="ru-RU" b="1" dirty="0" err="1">
                <a:solidFill>
                  <a:srgbClr val="7030A0"/>
                </a:solidFill>
                <a:latin typeface="Consolas"/>
              </a:rPr>
              <a:t>Button</a:t>
            </a:r>
            <a:r>
              <a:rPr lang="ru-RU" b="1" dirty="0" smtClean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endParaRPr lang="ru-RU" b="1" dirty="0">
              <a:solidFill>
                <a:srgbClr val="7030A0"/>
              </a:solidFill>
              <a:latin typeface="Consolas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или сокращенное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неявное определения свойства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Content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marL="0" indent="0" fontAlgn="base">
              <a:buNone/>
            </a:pPr>
            <a:r>
              <a:rPr lang="en-GB" sz="3300" b="1" dirty="0">
                <a:solidFill>
                  <a:srgbClr val="7030A0"/>
                </a:solidFill>
                <a:latin typeface="Consolas"/>
              </a:rPr>
              <a:t>&lt;Button&gt;</a:t>
            </a:r>
          </a:p>
          <a:p>
            <a:pPr marL="0" indent="0" fontAlgn="base">
              <a:buNone/>
            </a:pPr>
            <a:r>
              <a:rPr lang="en-GB" sz="3300" b="1" dirty="0">
                <a:solidFill>
                  <a:srgbClr val="7030A0"/>
                </a:solidFill>
                <a:latin typeface="Consolas"/>
              </a:rPr>
              <a:t>    Hello World!</a:t>
            </a:r>
          </a:p>
          <a:p>
            <a:pPr marL="0" indent="0" fontAlgn="base">
              <a:buNone/>
            </a:pPr>
            <a:r>
              <a:rPr lang="en-GB" sz="3300" b="1" dirty="0">
                <a:solidFill>
                  <a:srgbClr val="7030A0"/>
                </a:solidFill>
                <a:latin typeface="Consolas"/>
              </a:rPr>
              <a:t>&lt;/Button&gt;</a:t>
            </a:r>
          </a:p>
          <a:p>
            <a:pPr marL="0" indent="0" fontAlgn="base">
              <a:buNone/>
            </a:pPr>
            <a:endParaRPr lang="ru-RU" sz="3300" b="1" dirty="0">
              <a:solidFill>
                <a:srgbClr val="7030A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0880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88224" y="116632"/>
            <a:ext cx="2458616" cy="576064"/>
          </a:xfrm>
        </p:spPr>
        <p:txBody>
          <a:bodyPr>
            <a:normAutofit fontScale="90000"/>
          </a:bodyPr>
          <a:lstStyle/>
          <a:p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кнопка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с именем button1:</a:t>
            </a:r>
            <a:endParaRPr lang="ru-RU" sz="18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764704"/>
            <a:ext cx="273558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5925" y="116632"/>
            <a:ext cx="581439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&lt;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Window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x:Class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"ControlsApp.MainWindow"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xmlns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  <a:hlinkClick r:id="rId3"/>
              </a:rPr>
              <a:t>http://schemas.microsoft.com/winfx/2006/xaml/presentation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xmlns:x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  <a:hlinkClick r:id="rId4"/>
              </a:rPr>
              <a:t>http://schemas.microsoft.com/winfx/2006/xaml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xmlns:d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  <a:hlinkClick r:id="rId5"/>
              </a:rPr>
              <a:t>http://schemas.microsoft.com/expression/blend/2008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xmlns:mc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  <a:hlinkClick r:id="rId6"/>
              </a:rPr>
              <a:t>http://schemas.openxmlformats.org/markup-compatibility/2006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xmlns:local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clr-namespace:ControlsApp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mc:Ignorable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"d"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Title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"Элементы управления"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Height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"250"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Width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"300"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&gt;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&lt;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StackPanel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&gt;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&lt;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Button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x:Name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"button1"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/&gt;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&lt;/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StackPanel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&gt;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&lt;/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Window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&gt;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69037" y="333347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А в файле коде </a:t>
            </a:r>
            <a:r>
              <a:rPr lang="ru-RU" sz="1400" dirty="0" err="1"/>
              <a:t>MainWindow.xaml.cs</a:t>
            </a:r>
            <a:r>
              <a:rPr lang="ru-RU" sz="1400" dirty="0"/>
              <a:t> присвоим ее свойству </a:t>
            </a:r>
            <a:r>
              <a:rPr lang="ru-RU" sz="1400" dirty="0" err="1"/>
              <a:t>Content</a:t>
            </a:r>
            <a:r>
              <a:rPr lang="ru-RU" sz="1400" dirty="0"/>
              <a:t> какой-либо объект: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11960" y="3881590"/>
            <a:ext cx="4824536" cy="315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using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System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using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System.Windows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namespace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ControlsApp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{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public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partial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class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MainWindow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: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Window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{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public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MainWindow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{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InitializeComponent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    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double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d = 5.6;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    button1.Content = d;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}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}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}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5008" y="5661248"/>
            <a:ext cx="38000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 итоге число конвертируется в строку и устанавливается в </a:t>
            </a:r>
            <a:r>
              <a:rPr lang="ru-RU" sz="1600" dirty="0" smtClean="0"/>
              <a:t>качестве содержимого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562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454" y="228600"/>
            <a:ext cx="8229600" cy="700070"/>
          </a:xfrm>
        </p:spPr>
        <p:txBody>
          <a:bodyPr>
            <a:normAutofit/>
          </a:bodyPr>
          <a:lstStyle/>
          <a:p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качестве содержимого </a:t>
            </a:r>
            <a:r>
              <a:rPr lang="en-US" sz="1800" dirty="0" smtClean="0">
                <a:solidFill>
                  <a:srgbClr val="000000"/>
                </a:solidFill>
                <a:latin typeface="verdana"/>
              </a:rPr>
              <a:t>-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объект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, унаследованный от </a:t>
            </a:r>
            <a:r>
              <a:rPr lang="ru-RU" sz="1800" dirty="0" err="1">
                <a:solidFill>
                  <a:srgbClr val="000000"/>
                </a:solidFill>
                <a:latin typeface="verdana"/>
              </a:rPr>
              <a:t>UIElement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: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1600" b="1" dirty="0">
                <a:solidFill>
                  <a:srgbClr val="7030A0"/>
                </a:solidFill>
                <a:latin typeface="Consolas"/>
              </a:rPr>
              <a:t>&lt;Button x:Name="button1"&gt;</a:t>
            </a:r>
          </a:p>
          <a:p>
            <a:pPr fontAlgn="base">
              <a:buNone/>
            </a:pPr>
            <a:r>
              <a:rPr lang="en-US" sz="1600" b="1" dirty="0">
                <a:solidFill>
                  <a:srgbClr val="7030A0"/>
                </a:solidFill>
                <a:latin typeface="Consolas"/>
              </a:rPr>
              <a:t>    &lt;Button Content="Hello" /&gt;</a:t>
            </a:r>
          </a:p>
          <a:p>
            <a:pPr fontAlgn="base">
              <a:buNone/>
            </a:pPr>
            <a:r>
              <a:rPr lang="en-US" sz="1600" b="1" dirty="0">
                <a:solidFill>
                  <a:srgbClr val="7030A0"/>
                </a:solidFill>
                <a:latin typeface="Consolas"/>
              </a:rPr>
              <a:t>&lt;/Button</a:t>
            </a:r>
            <a:r>
              <a:rPr lang="en-US" sz="1600" b="1" dirty="0" smtClean="0">
                <a:solidFill>
                  <a:srgbClr val="7030A0"/>
                </a:solidFill>
                <a:latin typeface="Consolas"/>
              </a:rPr>
              <a:t>&gt;</a:t>
            </a:r>
          </a:p>
          <a:p>
            <a:pPr fontAlgn="base"/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ru-RU" sz="1600" dirty="0">
                <a:solidFill>
                  <a:srgbClr val="000000"/>
                </a:solidFill>
                <a:latin typeface="verdana"/>
              </a:rPr>
              <a:t>Теперь в качестве содержимого будет использоваться другая кнопка, для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котор</a:t>
            </a:r>
            <a:r>
              <a:rPr lang="en-US" sz="1600" dirty="0" smtClean="0">
                <a:solidFill>
                  <a:srgbClr val="000000"/>
                </a:solidFill>
                <a:latin typeface="verdana"/>
              </a:rPr>
              <a:t>o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й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при визуализации будет вызываться метод </a:t>
            </a:r>
            <a:r>
              <a:rPr lang="ru-RU" sz="1600" dirty="0" err="1"/>
              <a:t>OnRender</a:t>
            </a:r>
            <a:r>
              <a:rPr lang="ru-RU" sz="1600" dirty="0" smtClean="0"/>
              <a:t>()</a:t>
            </a:r>
            <a:endParaRPr lang="ru-RU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2" y="2928934"/>
            <a:ext cx="363855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57158" y="3071810"/>
            <a:ext cx="35719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Для создания той же кнопки через код C# </a:t>
            </a:r>
            <a:r>
              <a:rPr lang="ru-RU" sz="1600" dirty="0" smtClean="0"/>
              <a:t>:</a:t>
            </a:r>
            <a:endParaRPr lang="ru-RU" sz="16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5720" y="3752094"/>
            <a:ext cx="421484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button1.Content =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new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Button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{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Content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=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Hello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};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923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715140" cy="667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14876" y="21429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 отличие от контейнеров компоновки для элементов управления содержимым можно задать только один вложенный элемент. 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Если же нам надо вложить в элемент управления несколько элементов, то можно использовать те же контейнеры компоновки: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6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latin typeface="verdana"/>
              </a:rPr>
              <a:t>То же самое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через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код C#: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public partial class </a:t>
            </a:r>
            <a:r>
              <a:rPr lang="en-US" b="1" dirty="0" err="1">
                <a:solidFill>
                  <a:srgbClr val="7030A0"/>
                </a:solidFill>
              </a:rPr>
              <a:t>MainWindow</a:t>
            </a:r>
            <a:r>
              <a:rPr lang="en-US" b="1" dirty="0">
                <a:solidFill>
                  <a:srgbClr val="7030A0"/>
                </a:solidFill>
              </a:rPr>
              <a:t> : Window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{</a:t>
            </a:r>
          </a:p>
          <a:p>
            <a:pPr>
              <a:buNone/>
            </a:pPr>
            <a:r>
              <a:rPr lang="en-GB" b="1" dirty="0">
                <a:solidFill>
                  <a:srgbClr val="7030A0"/>
                </a:solidFill>
              </a:rPr>
              <a:t>        public </a:t>
            </a:r>
            <a:r>
              <a:rPr lang="en-GB" b="1" dirty="0" err="1">
                <a:solidFill>
                  <a:srgbClr val="7030A0"/>
                </a:solidFill>
              </a:rPr>
              <a:t>MainWindow</a:t>
            </a:r>
            <a:r>
              <a:rPr lang="en-GB" b="1" dirty="0">
                <a:solidFill>
                  <a:srgbClr val="7030A0"/>
                </a:solidFill>
              </a:rPr>
              <a:t>()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    {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        {</a:t>
            </a:r>
          </a:p>
          <a:p>
            <a:pPr>
              <a:buNone/>
            </a:pPr>
            <a:r>
              <a:rPr lang="en-GB" b="1" dirty="0">
                <a:solidFill>
                  <a:srgbClr val="7030A0"/>
                </a:solidFill>
              </a:rPr>
              <a:t>                </a:t>
            </a:r>
            <a:r>
              <a:rPr lang="en-GB" b="1" dirty="0" err="1">
                <a:solidFill>
                  <a:srgbClr val="7030A0"/>
                </a:solidFill>
              </a:rPr>
              <a:t>InitializeComponent</a:t>
            </a:r>
            <a:r>
              <a:rPr lang="en-GB" b="1" dirty="0">
                <a:solidFill>
                  <a:srgbClr val="7030A0"/>
                </a:solidFill>
              </a:rPr>
              <a:t>();</a:t>
            </a:r>
          </a:p>
          <a:p>
            <a:pPr>
              <a:buNone/>
            </a:pPr>
            <a:r>
              <a:rPr lang="en-GB" b="1" dirty="0">
                <a:solidFill>
                  <a:srgbClr val="7030A0"/>
                </a:solidFill>
              </a:rPr>
              <a:t>               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 = new 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();</a:t>
            </a:r>
          </a:p>
          <a:p>
            <a:pPr>
              <a:buNone/>
            </a:pPr>
            <a:r>
              <a:rPr lang="en-GB" b="1" dirty="0" err="1">
                <a:solidFill>
                  <a:srgbClr val="7030A0"/>
                </a:solidFill>
              </a:rPr>
              <a:t>stackPanel.Children.Add</a:t>
            </a:r>
            <a:r>
              <a:rPr lang="en-GB" b="1" dirty="0">
                <a:solidFill>
                  <a:srgbClr val="7030A0"/>
                </a:solidFill>
              </a:rPr>
              <a:t>(new </a:t>
            </a:r>
            <a:r>
              <a:rPr lang="en-GB" b="1" dirty="0" err="1">
                <a:solidFill>
                  <a:srgbClr val="7030A0"/>
                </a:solidFill>
              </a:rPr>
              <a:t>TextBlock</a:t>
            </a:r>
            <a:r>
              <a:rPr lang="en-GB" b="1" dirty="0">
                <a:solidFill>
                  <a:srgbClr val="7030A0"/>
                </a:solidFill>
              </a:rPr>
              <a:t> { Text = "</a:t>
            </a:r>
            <a:r>
              <a:rPr lang="ru-RU" b="1" dirty="0">
                <a:solidFill>
                  <a:srgbClr val="7030A0"/>
                </a:solidFill>
              </a:rPr>
              <a:t>Набор кнопок" });</a:t>
            </a:r>
          </a:p>
          <a:p>
            <a:pPr>
              <a:buNone/>
            </a:pPr>
            <a:r>
              <a:rPr lang="en-US" b="1" dirty="0" err="1">
                <a:solidFill>
                  <a:srgbClr val="7030A0"/>
                </a:solidFill>
              </a:rPr>
              <a:t>stackPanel.Children.Add</a:t>
            </a:r>
            <a:r>
              <a:rPr lang="en-US" b="1" dirty="0">
                <a:solidFill>
                  <a:srgbClr val="7030A0"/>
                </a:solidFill>
              </a:rPr>
              <a:t>(new Button { Content = "Red", Height = 20, Background = new </a:t>
            </a:r>
            <a:r>
              <a:rPr lang="en-US" b="1" dirty="0" err="1">
                <a:solidFill>
                  <a:srgbClr val="7030A0"/>
                </a:solidFill>
              </a:rPr>
              <a:t>SolidColorBrush</a:t>
            </a:r>
            <a:r>
              <a:rPr lang="en-US" b="1" dirty="0">
                <a:solidFill>
                  <a:srgbClr val="7030A0"/>
                </a:solidFill>
              </a:rPr>
              <a:t>(</a:t>
            </a:r>
            <a:r>
              <a:rPr lang="en-US" b="1" dirty="0" err="1">
                <a:solidFill>
                  <a:srgbClr val="7030A0"/>
                </a:solidFill>
              </a:rPr>
              <a:t>Colors.Red</a:t>
            </a:r>
            <a:r>
              <a:rPr lang="en-US" b="1" dirty="0">
                <a:solidFill>
                  <a:srgbClr val="7030A0"/>
                </a:solidFill>
              </a:rPr>
              <a:t>) });</a:t>
            </a:r>
          </a:p>
          <a:p>
            <a:pPr>
              <a:buNone/>
            </a:pPr>
            <a:r>
              <a:rPr lang="en-US" b="1" dirty="0" err="1">
                <a:solidFill>
                  <a:srgbClr val="7030A0"/>
                </a:solidFill>
              </a:rPr>
              <a:t>stackPanel.Children.Add</a:t>
            </a:r>
            <a:r>
              <a:rPr lang="en-US" b="1" dirty="0">
                <a:solidFill>
                  <a:srgbClr val="7030A0"/>
                </a:solidFill>
              </a:rPr>
              <a:t>(new Button { Content = "Yellow", Height = 20, Background = new </a:t>
            </a:r>
            <a:r>
              <a:rPr lang="en-US" b="1" dirty="0" err="1">
                <a:solidFill>
                  <a:srgbClr val="7030A0"/>
                </a:solidFill>
              </a:rPr>
              <a:t>SolidColorBrush</a:t>
            </a:r>
            <a:r>
              <a:rPr lang="en-US" b="1" dirty="0">
                <a:solidFill>
                  <a:srgbClr val="7030A0"/>
                </a:solidFill>
              </a:rPr>
              <a:t>(</a:t>
            </a:r>
            <a:r>
              <a:rPr lang="en-US" b="1" dirty="0" err="1">
                <a:solidFill>
                  <a:srgbClr val="7030A0"/>
                </a:solidFill>
              </a:rPr>
              <a:t>Colors.Yellow</a:t>
            </a:r>
            <a:r>
              <a:rPr lang="en-US" b="1" dirty="0">
                <a:solidFill>
                  <a:srgbClr val="7030A0"/>
                </a:solidFill>
              </a:rPr>
              <a:t>) });</a:t>
            </a:r>
          </a:p>
          <a:p>
            <a:pPr>
              <a:buNone/>
            </a:pPr>
            <a:r>
              <a:rPr lang="en-US" b="1" dirty="0" err="1">
                <a:solidFill>
                  <a:srgbClr val="7030A0"/>
                </a:solidFill>
              </a:rPr>
              <a:t>stackPanel.Children.Add</a:t>
            </a:r>
            <a:r>
              <a:rPr lang="en-US" b="1" dirty="0">
                <a:solidFill>
                  <a:srgbClr val="7030A0"/>
                </a:solidFill>
              </a:rPr>
              <a:t>(new Button { Content = "Green", Height = 20, Background = new </a:t>
            </a:r>
            <a:r>
              <a:rPr lang="en-US" b="1" dirty="0" err="1">
                <a:solidFill>
                  <a:srgbClr val="7030A0"/>
                </a:solidFill>
              </a:rPr>
              <a:t>SolidColorBrush</a:t>
            </a:r>
            <a:r>
              <a:rPr lang="en-US" b="1" dirty="0">
                <a:solidFill>
                  <a:srgbClr val="7030A0"/>
                </a:solidFill>
              </a:rPr>
              <a:t>(</a:t>
            </a:r>
            <a:r>
              <a:rPr lang="en-US" b="1" dirty="0" err="1">
                <a:solidFill>
                  <a:srgbClr val="7030A0"/>
                </a:solidFill>
              </a:rPr>
              <a:t>Colors.Green</a:t>
            </a:r>
            <a:r>
              <a:rPr lang="en-US" b="1" dirty="0">
                <a:solidFill>
                  <a:srgbClr val="7030A0"/>
                </a:solidFill>
              </a:rPr>
              <a:t>) });</a:t>
            </a:r>
          </a:p>
          <a:p>
            <a:pPr>
              <a:buNone/>
            </a:pPr>
            <a:r>
              <a:rPr lang="en-GB" b="1" dirty="0">
                <a:solidFill>
                  <a:srgbClr val="7030A0"/>
                </a:solidFill>
              </a:rPr>
              <a:t>button1.Content = 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        }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    }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    </a:t>
            </a:r>
          </a:p>
          <a:p>
            <a:pPr>
              <a:buNone/>
            </a:pPr>
            <a:r>
              <a:rPr lang="ru-RU" b="1" dirty="0">
                <a:solidFill>
                  <a:srgbClr val="7030A0"/>
                </a:solidFill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97034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0000"/>
                </a:solidFill>
                <a:latin typeface="verdana"/>
              </a:rPr>
              <a:t>Позиционирование </a:t>
            </a:r>
            <a:r>
              <a:rPr lang="ru-RU" sz="3600" b="1" dirty="0" err="1" smtClean="0">
                <a:solidFill>
                  <a:srgbClr val="000000"/>
                </a:solidFill>
                <a:latin typeface="verdana"/>
              </a:rPr>
              <a:t>контента</a:t>
            </a:r>
            <a:r>
              <a:rPr lang="ru-RU" sz="3600" b="1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sz="3600" b="1" dirty="0" smtClean="0">
                <a:solidFill>
                  <a:srgbClr val="000000"/>
                </a:solidFill>
                <a:latin typeface="verdana"/>
              </a:rPr>
            </a:br>
            <a:r>
              <a:rPr lang="en-GB" sz="3600" b="1" dirty="0" smtClean="0">
                <a:solidFill>
                  <a:srgbClr val="000000"/>
                </a:solidFill>
                <a:latin typeface="verdana"/>
              </a:rPr>
              <a:t>Content Alignment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44" y="1285860"/>
            <a:ext cx="8858312" cy="557214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Выравнивание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содержимого внутри элемента задается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свойствами:</a:t>
            </a:r>
          </a:p>
          <a:p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en-GB" b="1" dirty="0" err="1" smtClean="0">
                <a:solidFill>
                  <a:srgbClr val="000000"/>
                </a:solidFill>
                <a:latin typeface="verdana"/>
              </a:rPr>
              <a:t>HorizontalContentAlignment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выравнивание по горизонтали)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en-GB" b="1" dirty="0" err="1" smtClean="0">
                <a:solidFill>
                  <a:srgbClr val="000000"/>
                </a:solidFill>
                <a:latin typeface="verdana"/>
              </a:rPr>
              <a:t>VerticalContentAlignment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выравнивание по вертикали), аналогичны свойствам </a:t>
            </a:r>
            <a:r>
              <a:rPr lang="en-GB" dirty="0" err="1">
                <a:solidFill>
                  <a:srgbClr val="000000"/>
                </a:solidFill>
                <a:latin typeface="verdana"/>
              </a:rPr>
              <a:t>VerticalAlignment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/</a:t>
            </a:r>
            <a:r>
              <a:rPr lang="en-GB" dirty="0" err="1">
                <a:solidFill>
                  <a:srgbClr val="000000"/>
                </a:solidFill>
                <a:latin typeface="verdana"/>
              </a:rPr>
              <a:t>HorizontalAlignment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en-GB" b="1" dirty="0" err="1">
                <a:solidFill>
                  <a:srgbClr val="000000"/>
                </a:solidFill>
                <a:latin typeface="verdana"/>
              </a:rPr>
              <a:t>HorizontalContentAlignment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принимает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значения:</a:t>
            </a:r>
          </a:p>
          <a:p>
            <a:pPr lvl="1"/>
            <a:r>
              <a:rPr lang="en-GB" dirty="0" smtClean="0">
                <a:solidFill>
                  <a:srgbClr val="000000"/>
                </a:solidFill>
                <a:latin typeface="verdana"/>
              </a:rPr>
              <a:t>Left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en-GB" dirty="0" smtClean="0">
                <a:solidFill>
                  <a:srgbClr val="000000"/>
                </a:solidFill>
                <a:latin typeface="verdana"/>
              </a:rPr>
              <a:t>Right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en-GB" dirty="0" err="1" smtClean="0">
                <a:solidFill>
                  <a:srgbClr val="000000"/>
                </a:solidFill>
                <a:latin typeface="verdana"/>
              </a:rPr>
              <a:t>Center</a:t>
            </a:r>
            <a:r>
              <a:rPr lang="en-GB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(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положение по центру),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en-GB" dirty="0" smtClean="0">
                <a:solidFill>
                  <a:srgbClr val="000000"/>
                </a:solidFill>
                <a:latin typeface="verdana"/>
              </a:rPr>
              <a:t>Stretch </a:t>
            </a:r>
            <a:r>
              <a:rPr lang="en-GB" dirty="0">
                <a:solidFill>
                  <a:srgbClr val="000000"/>
                </a:solidFill>
                <a:latin typeface="verdana"/>
              </a:rPr>
              <a:t>(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растяжение по всей ширине).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Например: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&lt;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pPr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&lt;Button Margin="5" </a:t>
            </a:r>
            <a:r>
              <a:rPr lang="en-GB" b="1" dirty="0" err="1">
                <a:solidFill>
                  <a:srgbClr val="7030A0"/>
                </a:solidFill>
              </a:rPr>
              <a:t>HorizontalContentAlignment</a:t>
            </a:r>
            <a:r>
              <a:rPr lang="en-GB" b="1" dirty="0">
                <a:solidFill>
                  <a:srgbClr val="7030A0"/>
                </a:solidFill>
              </a:rPr>
              <a:t>="Left" Content="Left" Height="90" Width="500" /&gt;</a:t>
            </a:r>
          </a:p>
          <a:p>
            <a:pPr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&lt;Button Margin="5" </a:t>
            </a:r>
            <a:r>
              <a:rPr lang="en-GB" b="1" dirty="0" err="1">
                <a:solidFill>
                  <a:srgbClr val="7030A0"/>
                </a:solidFill>
              </a:rPr>
              <a:t>HorizontalContentAlignment</a:t>
            </a:r>
            <a:r>
              <a:rPr lang="en-GB" b="1" dirty="0">
                <a:solidFill>
                  <a:srgbClr val="7030A0"/>
                </a:solidFill>
              </a:rPr>
              <a:t>="Right" Content="Right" Height="90" Width="500" /&gt;</a:t>
            </a:r>
          </a:p>
          <a:p>
            <a:pPr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    &lt;Button Margin="5" </a:t>
            </a:r>
            <a:r>
              <a:rPr lang="en-GB" b="1" dirty="0" err="1">
                <a:solidFill>
                  <a:srgbClr val="7030A0"/>
                </a:solidFill>
              </a:rPr>
              <a:t>HorizontalContentAlignment</a:t>
            </a:r>
            <a:r>
              <a:rPr lang="en-GB" b="1" dirty="0">
                <a:solidFill>
                  <a:srgbClr val="7030A0"/>
                </a:solidFill>
              </a:rPr>
              <a:t>="</a:t>
            </a:r>
            <a:r>
              <a:rPr lang="en-GB" b="1" dirty="0" err="1">
                <a:solidFill>
                  <a:srgbClr val="7030A0"/>
                </a:solidFill>
              </a:rPr>
              <a:t>Center</a:t>
            </a:r>
            <a:r>
              <a:rPr lang="en-GB" b="1" dirty="0">
                <a:solidFill>
                  <a:srgbClr val="7030A0"/>
                </a:solidFill>
              </a:rPr>
              <a:t>" Content="</a:t>
            </a:r>
            <a:r>
              <a:rPr lang="en-GB" b="1" dirty="0" err="1">
                <a:solidFill>
                  <a:srgbClr val="7030A0"/>
                </a:solidFill>
              </a:rPr>
              <a:t>Center</a:t>
            </a:r>
            <a:r>
              <a:rPr lang="en-GB" b="1" dirty="0">
                <a:solidFill>
                  <a:srgbClr val="7030A0"/>
                </a:solidFill>
              </a:rPr>
              <a:t>" Height="90" Width="500" /&gt;</a:t>
            </a:r>
          </a:p>
          <a:p>
            <a:pPr fontAlgn="base">
              <a:buNone/>
            </a:pPr>
            <a:r>
              <a:rPr lang="en-GB" b="1" dirty="0">
                <a:solidFill>
                  <a:srgbClr val="7030A0"/>
                </a:solidFill>
              </a:rPr>
              <a:t>&lt;/</a:t>
            </a:r>
            <a:r>
              <a:rPr lang="en-GB" b="1" dirty="0" err="1">
                <a:solidFill>
                  <a:srgbClr val="7030A0"/>
                </a:solidFill>
              </a:rPr>
              <a:t>StackPanel</a:t>
            </a:r>
            <a:r>
              <a:rPr lang="en-GB" b="1" dirty="0">
                <a:solidFill>
                  <a:srgbClr val="7030A0"/>
                </a:solidFill>
              </a:rPr>
              <a:t>&gt;</a:t>
            </a:r>
          </a:p>
          <a:p>
            <a:endParaRPr lang="ru-RU" dirty="0" smtClean="0"/>
          </a:p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VerticalContentAlignment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принимает значения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/>
            <a:r>
              <a:rPr lang="ru-RU" sz="3200" dirty="0" err="1" smtClean="0">
                <a:solidFill>
                  <a:srgbClr val="000000"/>
                </a:solidFill>
                <a:latin typeface="verdana"/>
              </a:rPr>
              <a:t>Top</a:t>
            </a:r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verdana"/>
              </a:rPr>
              <a:t>(положение в верху), </a:t>
            </a:r>
            <a:endParaRPr lang="ru-RU" sz="3200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sz="3200" dirty="0" err="1" smtClean="0">
                <a:solidFill>
                  <a:srgbClr val="000000"/>
                </a:solidFill>
                <a:latin typeface="verdana"/>
              </a:rPr>
              <a:t>Bottom</a:t>
            </a:r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verdana"/>
              </a:rPr>
              <a:t>(положение внизу), </a:t>
            </a:r>
            <a:endParaRPr lang="ru-RU" sz="3200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sz="3200" dirty="0" err="1" smtClean="0">
                <a:solidFill>
                  <a:srgbClr val="000000"/>
                </a:solidFill>
                <a:latin typeface="verdana"/>
              </a:rPr>
              <a:t>Center</a:t>
            </a:r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verdana"/>
              </a:rPr>
              <a:t>(положение по центру), </a:t>
            </a:r>
            <a:endParaRPr lang="ru-RU" sz="3200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sz="3200" dirty="0" err="1" smtClean="0">
                <a:solidFill>
                  <a:srgbClr val="000000"/>
                </a:solidFill>
                <a:latin typeface="verdana"/>
              </a:rPr>
              <a:t>Stretch</a:t>
            </a:r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verdana"/>
              </a:rPr>
              <a:t>(растяжение по всей высоте)</a:t>
            </a:r>
          </a:p>
        </p:txBody>
      </p:sp>
    </p:spTree>
    <p:extLst>
      <p:ext uri="{BB962C8B-B14F-4D97-AF65-F5344CB8AC3E}">
        <p14:creationId xmlns:p14="http://schemas.microsoft.com/office/powerpoint/2010/main" val="409171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29322" cy="558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1472" y="6429396"/>
            <a:ext cx="771530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&lt;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Button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x:Name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"button2"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Padding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"20"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cs typeface="Arial" pitchFamily="34" charset="0"/>
              </a:rPr>
              <a:t>Content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=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Hello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World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DB003E"/>
                </a:solidFill>
                <a:effectLst/>
                <a:latin typeface="Consolas" pitchFamily="49" charset="0"/>
                <a:cs typeface="Arial" pitchFamily="34" charset="0"/>
              </a:rPr>
              <a:t>"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/&gt;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286512" y="1428736"/>
            <a:ext cx="264320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В случае с первой кнопкой в ней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контект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 выравнивается по левому краю, поэтому отступ слева будет предполагать отступ от левого края элемента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Button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А вторая кнопка располагается по центру. Поэтому для нее отступ слева предполагает отступ от той точки, в которой содержимое бы находилось при центрировании без применения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Padding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.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Комбинация значений свойств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HorizontalContentAlignment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/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VerticalContentAlignment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 и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Padding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 позволяет оптимальным образом задать расположение содержимого.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572132" y="1428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 smtClean="0"/>
              <a:t>Padding</a:t>
            </a:r>
            <a:endParaRPr lang="ru-RU" b="1" dirty="0" smtClean="0"/>
          </a:p>
          <a:p>
            <a:r>
              <a:rPr lang="ru-RU" dirty="0" smtClean="0"/>
              <a:t>отступ содержимого элемента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14282" y="5429264"/>
            <a:ext cx="89297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Свойство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Padding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задается в формате 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Padding=</a:t>
            </a:r>
            <a:r>
              <a:rPr lang="ru-RU" altLang="ru-RU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отступ_слева</a:t>
            </a:r>
            <a:r>
              <a:rPr lang="ru-RU" altLang="ru-RU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отступ_сверху</a:t>
            </a:r>
            <a:r>
              <a:rPr lang="ru-RU" altLang="ru-RU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отступ_справа</a:t>
            </a:r>
            <a:r>
              <a:rPr lang="ru-RU" altLang="ru-RU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altLang="ru-RU" sz="14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отступ_снизу</a:t>
            </a:r>
            <a:r>
              <a:rPr lang="ru-RU" altLang="ru-RU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</a:t>
            </a:r>
            <a:endParaRPr lang="ru-RU" altLang="ru-RU" sz="14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Если со всех четырех сторон предполагается один и тот же отступ, то, как и в случае с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Margin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мы можем задать одно число:</a:t>
            </a:r>
            <a:endParaRPr lang="ru-RU" altLang="ru-RU" sz="1400" dirty="0" smtClean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571736" y="1714488"/>
            <a:ext cx="3714776" cy="2428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rot="10800000" flipV="1">
            <a:off x="2571736" y="2714620"/>
            <a:ext cx="3786214" cy="1857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51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>
                <a:solidFill>
                  <a:srgbClr val="000000"/>
                </a:solidFill>
                <a:latin typeface="verdana"/>
              </a:rPr>
              <a:t>В WPF кнопки представлены целым рядом классов, которые наследуются от базового класса </a:t>
            </a:r>
            <a:r>
              <a:rPr lang="ru-RU" sz="2800" dirty="0" err="1">
                <a:solidFill>
                  <a:srgbClr val="000000"/>
                </a:solidFill>
                <a:latin typeface="verdana"/>
              </a:rPr>
              <a:t>ButtonBase</a:t>
            </a:r>
            <a:r>
              <a:rPr lang="ru-RU" sz="2800" dirty="0">
                <a:solidFill>
                  <a:srgbClr val="000000"/>
                </a:solidFill>
                <a:latin typeface="verdana"/>
              </a:rPr>
              <a:t>:</a:t>
            </a:r>
            <a:endParaRPr lang="ru-RU" sz="28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18" y="1928802"/>
            <a:ext cx="5803941" cy="2857520"/>
          </a:xfrm>
        </p:spPr>
      </p:pic>
    </p:spTree>
    <p:extLst>
      <p:ext uri="{BB962C8B-B14F-4D97-AF65-F5344CB8AC3E}">
        <p14:creationId xmlns:p14="http://schemas.microsoft.com/office/powerpoint/2010/main" val="335755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Button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282" y="500042"/>
            <a:ext cx="8643998" cy="6215106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кнопка: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en-US" b="1" dirty="0" smtClean="0">
                <a:solidFill>
                  <a:srgbClr val="7030A0"/>
                </a:solidFill>
              </a:rPr>
              <a:t>&lt;</a:t>
            </a:r>
            <a:r>
              <a:rPr lang="en-US" b="1" dirty="0">
                <a:solidFill>
                  <a:srgbClr val="7030A0"/>
                </a:solidFill>
              </a:rPr>
              <a:t>Button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x:Name="button1"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Width="60"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Height="30"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Background="</a:t>
            </a:r>
            <a:r>
              <a:rPr lang="en-US" b="1" dirty="0" err="1">
                <a:solidFill>
                  <a:srgbClr val="7030A0"/>
                </a:solidFill>
              </a:rPr>
              <a:t>LightGray</a:t>
            </a:r>
            <a:r>
              <a:rPr lang="en-US" b="1" dirty="0">
                <a:solidFill>
                  <a:srgbClr val="7030A0"/>
                </a:solidFill>
              </a:rPr>
              <a:t>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/&gt;</a:t>
            </a:r>
            <a:endParaRPr lang="ru-RU" b="1" dirty="0">
              <a:solidFill>
                <a:srgbClr val="7030A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От класса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ButtonBase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кнопка наследует ряд событий, например,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Click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которые позволяют обрабатывать пользовательский ввод.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Чтобы связать кнопку с обработчиком события нажатия,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надо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определить в самой кнопке атрибут </a:t>
            </a:r>
            <a:r>
              <a:rPr lang="ru-RU" b="1" dirty="0" err="1" smtClean="0">
                <a:solidFill>
                  <a:srgbClr val="C00000"/>
                </a:solidFill>
                <a:latin typeface="verdana"/>
              </a:rPr>
              <a:t>Click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значением этого атрибута будет название обработчика в коде C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#,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затем в самом коде C# определить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обработчик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Например, код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xaml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7030A0"/>
                </a:solidFill>
              </a:rPr>
              <a:t>&lt;Button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x:Name="button1"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Width="60"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Height="30"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Content="</a:t>
            </a:r>
            <a:r>
              <a:rPr lang="en-US" b="1" dirty="0" err="1">
                <a:solidFill>
                  <a:srgbClr val="7030A0"/>
                </a:solidFill>
              </a:rPr>
              <a:t>Нажать</a:t>
            </a:r>
            <a:r>
              <a:rPr lang="en-US" b="1" dirty="0">
                <a:solidFill>
                  <a:srgbClr val="7030A0"/>
                </a:solidFill>
              </a:rPr>
              <a:t>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Click="</a:t>
            </a:r>
            <a:r>
              <a:rPr lang="en-US" b="1" dirty="0" err="1">
                <a:solidFill>
                  <a:srgbClr val="7030A0"/>
                </a:solidFill>
              </a:rPr>
              <a:t>Button_Click</a:t>
            </a:r>
            <a:r>
              <a:rPr lang="en-US" b="1" dirty="0">
                <a:solidFill>
                  <a:srgbClr val="7030A0"/>
                </a:solidFill>
              </a:rPr>
              <a:t>"</a:t>
            </a:r>
            <a:r>
              <a:rPr lang="en-US" b="1" dirty="0">
                <a:solidFill>
                  <a:srgbClr val="7030A0"/>
                </a:solidFill>
                <a:latin typeface="Consolas"/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/&gt;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обработчик в коде C#: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Кнопка нажата");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Либо можно не задавать обработчик через атрибут, а стандартным образом для C# прописать в коде: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ru-RU" b="1" dirty="0" smtClean="0">
                <a:solidFill>
                  <a:srgbClr val="7030A0"/>
                </a:solidFill>
                <a:latin typeface="verdana"/>
              </a:rPr>
              <a:t>button1.Click</a:t>
            </a:r>
            <a:r>
              <a:rPr lang="ru-RU" b="1" dirty="0">
                <a:solidFill>
                  <a:srgbClr val="7030A0"/>
                </a:solidFill>
                <a:latin typeface="verdana"/>
              </a:rPr>
              <a:t>+=Button_Click;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К унаследованным свойствам кнопка имеет такие свойства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как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IsDefault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IsCancel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которые принимают значения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false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Если свойство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IsDefault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установлено в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то при нажатии клавиши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Enter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будет вызываться обработчик нажатия этой кнопки.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Аналогично если свойство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IsCancel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будет установлено в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то при нажатии на клавишу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Esc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будет вызываться обработчик нажатия этой кнопки.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510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95263"/>
            <a:ext cx="861060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14282" y="1000108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private void </a:t>
            </a:r>
            <a:r>
              <a:rPr lang="en-US" sz="1200" dirty="0" err="1" smtClean="0"/>
              <a:t>acceptButton_Click</a:t>
            </a:r>
            <a:r>
              <a:rPr lang="en-US" sz="1200" dirty="0" smtClean="0"/>
              <a:t>(object sender, </a:t>
            </a:r>
            <a:r>
              <a:rPr lang="en-US" sz="1200" dirty="0" err="1" smtClean="0"/>
              <a:t>RoutedEventArgs</a:t>
            </a:r>
            <a:r>
              <a:rPr lang="en-US" sz="1200" dirty="0" smtClean="0"/>
              <a:t> e)</a:t>
            </a:r>
          </a:p>
          <a:p>
            <a:r>
              <a:rPr lang="ru-RU" sz="1200" dirty="0" smtClean="0"/>
              <a:t>        {</a:t>
            </a:r>
          </a:p>
          <a:p>
            <a:r>
              <a:rPr lang="en-GB" sz="1200" dirty="0" smtClean="0"/>
              <a:t>            </a:t>
            </a:r>
            <a:r>
              <a:rPr lang="en-GB" sz="1200" dirty="0" err="1" smtClean="0"/>
              <a:t>MessageBox.Show</a:t>
            </a:r>
            <a:r>
              <a:rPr lang="en-GB" sz="1200" dirty="0" smtClean="0"/>
              <a:t>("</a:t>
            </a:r>
            <a:r>
              <a:rPr lang="ru-RU" sz="1200" dirty="0" smtClean="0"/>
              <a:t>Действие выполнено");</a:t>
            </a:r>
          </a:p>
          <a:p>
            <a:r>
              <a:rPr lang="ru-RU" sz="1200" dirty="0" smtClean="0"/>
              <a:t>        }</a:t>
            </a:r>
          </a:p>
          <a:p>
            <a:endParaRPr lang="ru-RU" sz="1200" dirty="0" smtClean="0"/>
          </a:p>
          <a:p>
            <a:r>
              <a:rPr lang="en-US" sz="1200" dirty="0" smtClean="0"/>
              <a:t>        private void </a:t>
            </a:r>
            <a:r>
              <a:rPr lang="en-US" sz="1200" dirty="0" err="1" smtClean="0"/>
              <a:t>escButton_Click</a:t>
            </a:r>
            <a:r>
              <a:rPr lang="en-US" sz="1200" dirty="0" smtClean="0"/>
              <a:t>(object sender, </a:t>
            </a:r>
            <a:r>
              <a:rPr lang="en-US" sz="1200" dirty="0" err="1" smtClean="0"/>
              <a:t>RoutedEventArgs</a:t>
            </a:r>
            <a:r>
              <a:rPr lang="en-US" sz="1200" dirty="0" smtClean="0"/>
              <a:t> e)</a:t>
            </a:r>
          </a:p>
          <a:p>
            <a:r>
              <a:rPr lang="ru-RU" sz="1200" dirty="0" smtClean="0"/>
              <a:t>        {</a:t>
            </a:r>
          </a:p>
          <a:p>
            <a:r>
              <a:rPr lang="en-GB" sz="1200" dirty="0" smtClean="0"/>
              <a:t>            </a:t>
            </a:r>
            <a:r>
              <a:rPr lang="en-GB" sz="1200" dirty="0" err="1" smtClean="0"/>
              <a:t>this.Close</a:t>
            </a:r>
            <a:r>
              <a:rPr lang="en-GB" sz="1200" dirty="0" smtClean="0"/>
              <a:t>(); </a:t>
            </a:r>
            <a:r>
              <a:rPr lang="en-GB" sz="1200" dirty="0" smtClean="0">
                <a:solidFill>
                  <a:srgbClr val="00B050"/>
                </a:solidFill>
              </a:rPr>
              <a:t>// </a:t>
            </a:r>
            <a:r>
              <a:rPr lang="ru-RU" sz="1200" dirty="0" smtClean="0">
                <a:solidFill>
                  <a:srgbClr val="00B050"/>
                </a:solidFill>
              </a:rPr>
              <a:t>закрытие окна</a:t>
            </a:r>
          </a:p>
          <a:p>
            <a:r>
              <a:rPr lang="ru-RU" sz="1200" dirty="0" smtClean="0"/>
              <a:t>        }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7622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RepeatButton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особенность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элемента 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RepeatButton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 - непрерывная генерация события 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Click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, пока нажата кнопка. </a:t>
            </a:r>
            <a:endParaRPr lang="ru-RU" sz="20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Интервал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генерации события корректируется свойствами 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Delay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 и 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Interval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sz="2000" dirty="0">
                <a:solidFill>
                  <a:srgbClr val="000000"/>
                </a:solidFill>
                <a:latin typeface="verdana"/>
              </a:rPr>
              <a:t>Сам 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RepeatButton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 редко используется, однако он может служить основой для создания ползунка в элементах 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ScrollBar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ScrollViewer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, в которых нажатие на ползунок инициирует постоянную прокрутку.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44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ToggleButton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715040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Представляет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элементарный переключатель.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Может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находиться в трех состояниях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нулевом" (неотмеченном) состоянии,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его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значение представляет значение типа 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bool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в языке C#.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Состояние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можно установить или получить с помощью свойства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IsChecked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добавляет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три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события: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Checked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(переход в отмеченное состояние),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Unchecked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(снятие отметки)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Intermediate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(если значение равно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null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Чтобы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отрабатывать все три события, надо установить свойство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IsThreeState=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"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ToggleButton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сам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редко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используется,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но служит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основой для создания других более функциональных элементов, таких как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Checkbox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Radiobutton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566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checkbox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обычный флажок</a:t>
            </a:r>
          </a:p>
          <a:p>
            <a:pPr>
              <a:spcAft>
                <a:spcPts val="1200"/>
              </a:spcAft>
            </a:pP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является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производным от класса </a:t>
            </a:r>
            <a:r>
              <a:rPr lang="ru-RU" sz="2000" dirty="0" err="1">
                <a:solidFill>
                  <a:srgbClr val="000000"/>
                </a:solidFill>
                <a:latin typeface="verdana"/>
              </a:rPr>
              <a:t>ToggleButton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может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принимать также три 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состояния:</a:t>
            </a:r>
          </a:p>
          <a:p>
            <a:pPr lvl="1">
              <a:spcAft>
                <a:spcPts val="1200"/>
              </a:spcAft>
            </a:pPr>
            <a:r>
              <a:rPr lang="ru-RU" sz="2000" b="1" dirty="0" err="1" smtClean="0">
                <a:solidFill>
                  <a:srgbClr val="000000"/>
                </a:solidFill>
                <a:latin typeface="verdana"/>
              </a:rPr>
              <a:t>Checked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, </a:t>
            </a:r>
            <a:endParaRPr lang="ru-RU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</a:pPr>
            <a:r>
              <a:rPr lang="ru-RU" sz="2000" b="1" dirty="0" err="1" smtClean="0">
                <a:solidFill>
                  <a:srgbClr val="000000"/>
                </a:solidFill>
                <a:latin typeface="verdana"/>
              </a:rPr>
              <a:t>Unchecked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 </a:t>
            </a:r>
            <a:endParaRPr lang="ru-RU" sz="200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</a:pPr>
            <a:r>
              <a:rPr lang="ru-RU" sz="2000" b="1" dirty="0" err="1" smtClean="0">
                <a:solidFill>
                  <a:srgbClr val="000000"/>
                </a:solidFill>
                <a:latin typeface="verdana"/>
              </a:rPr>
              <a:t>Intermediate</a:t>
            </a:r>
            <a:endParaRPr lang="ru-RU" sz="2000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1200"/>
              </a:spcAft>
            </a:pPr>
            <a:r>
              <a:rPr lang="ru-RU" sz="2000" dirty="0">
                <a:solidFill>
                  <a:srgbClr val="000000"/>
                </a:solidFill>
                <a:latin typeface="verdana"/>
              </a:rPr>
              <a:t>Чтобы получить или установить определенное состояние, надо использовать свойство </a:t>
            </a:r>
            <a:r>
              <a:rPr lang="ru-RU" sz="2000" b="1" dirty="0" err="1">
                <a:solidFill>
                  <a:srgbClr val="000000"/>
                </a:solidFill>
                <a:latin typeface="verdana"/>
              </a:rPr>
              <a:t>IsChecked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, которое также унаследовано от </a:t>
            </a:r>
            <a:r>
              <a:rPr lang="ru-RU" sz="2000" dirty="0" err="1" smtClean="0">
                <a:solidFill>
                  <a:srgbClr val="000000"/>
                </a:solidFill>
                <a:latin typeface="verdana"/>
              </a:rPr>
              <a:t>ToggleButton</a:t>
            </a:r>
            <a:endParaRPr lang="ru-RU" sz="2000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72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9" y="142852"/>
            <a:ext cx="8513439" cy="57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143372" y="285728"/>
            <a:ext cx="47148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Установка свойства 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IsChecked=</a:t>
            </a:r>
            <a:r>
              <a:rPr lang="ru-RU" altLang="ru-RU" sz="1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"{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x:Null</a:t>
            </a:r>
            <a:r>
              <a:rPr lang="ru-RU" altLang="ru-RU" sz="1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" 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задает неопределенное состояние для элемента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checkbox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два состояния задаются с помощью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True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и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False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В примере привязан к двум флажкам обработчик события 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Checked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 Это событие возникает при установке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checkbox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в отмеченное состояние.</a:t>
            </a:r>
            <a:endParaRPr lang="ru-RU" altLang="ru-RU" sz="1400" dirty="0" smtClean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атрибут </a:t>
            </a:r>
            <a:r>
              <a:rPr lang="ru-RU" alt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IsThreeState=</a:t>
            </a:r>
            <a:r>
              <a:rPr lang="ru-RU" alt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alt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 - флажок может находиться в трех состояниях</a:t>
            </a:r>
            <a:endParaRPr lang="ru-RU" altLang="ru-RU" sz="1400" dirty="0" smtClean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rot="5400000">
            <a:off x="4036215" y="2536025"/>
            <a:ext cx="2500330" cy="2286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3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4282" y="214290"/>
            <a:ext cx="8786874" cy="6500858"/>
          </a:xfrm>
        </p:spPr>
        <p:txBody>
          <a:bodyPr>
            <a:normAutofit fontScale="47500" lnSpcReduction="20000"/>
          </a:bodyPr>
          <a:lstStyle/>
          <a:p>
            <a:pPr fontAlgn="base"/>
            <a:r>
              <a:rPr lang="ru-RU" dirty="0">
                <a:solidFill>
                  <a:srgbClr val="000000"/>
                </a:solidFill>
                <a:latin typeface="verdana"/>
              </a:rPr>
              <a:t>Ключевыми событиями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флажка:</a:t>
            </a: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Checked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(генерируется при установке флажка в отмеченное состояние),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Unchecked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(генерируется при снятии отметки с флажка)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Indeterminate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(флажок переведен в неопределенное состояние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 lvl="1" fontAlgn="base"/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Например:</a:t>
            </a:r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dirty="0" smtClean="0">
                <a:solidFill>
                  <a:srgbClr val="7030A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 x:Name="checkBox"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IsChecked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="False" Height="20" Content="</a:t>
            </a:r>
            <a:r>
              <a:rPr lang="ru-RU" dirty="0">
                <a:solidFill>
                  <a:srgbClr val="7030A0"/>
                </a:solidFill>
                <a:latin typeface="Consolas"/>
              </a:rPr>
              <a:t>Флажок"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IsThreeState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="True"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Unchecked="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checkBox_Unchecked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Indeterminate="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checkBox_Indeterminate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Checked="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checkBox_Checked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" </a:t>
            </a:r>
            <a:r>
              <a:rPr lang="en-GB" dirty="0" smtClean="0">
                <a:solidFill>
                  <a:srgbClr val="7030A0"/>
                </a:solidFill>
                <a:latin typeface="Consolas"/>
              </a:rPr>
              <a:t>/&gt;</a:t>
            </a:r>
            <a:endParaRPr lang="ru-RU" dirty="0" smtClean="0">
              <a:solidFill>
                <a:srgbClr val="7030A0"/>
              </a:solidFill>
              <a:latin typeface="Consolas"/>
            </a:endParaRPr>
          </a:p>
          <a:p>
            <a:pPr fontAlgn="base">
              <a:buNone/>
            </a:pPr>
            <a:endParaRPr lang="en-GB" dirty="0">
              <a:solidFill>
                <a:srgbClr val="7030A0"/>
              </a:solidFill>
              <a:latin typeface="Consolas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А в файле кода C# пропишем для него обработчики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endParaRPr lang="ru-RU" dirty="0" smtClean="0">
              <a:solidFill>
                <a:srgbClr val="7030A0"/>
              </a:solidFill>
              <a:latin typeface="Consolas"/>
            </a:endParaRPr>
          </a:p>
          <a:p>
            <a:pPr fontAlgn="base">
              <a:buNone/>
            </a:pPr>
            <a:r>
              <a:rPr lang="en-GB" dirty="0" smtClean="0">
                <a:solidFill>
                  <a:srgbClr val="7030A0"/>
                </a:solidFill>
                <a:latin typeface="Consolas"/>
              </a:rPr>
              <a:t>private 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void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checkBox_Checked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checkBox.Content.ToString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() + " </a:t>
            </a:r>
            <a:r>
              <a:rPr lang="ru-RU" dirty="0">
                <a:solidFill>
                  <a:srgbClr val="7030A0"/>
                </a:solidFill>
                <a:latin typeface="Consolas"/>
              </a:rPr>
              <a:t>отмечен");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}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 </a:t>
            </a:r>
            <a:r>
              <a:rPr lang="en-GB" dirty="0" smtClean="0">
                <a:solidFill>
                  <a:srgbClr val="7030A0"/>
                </a:solidFill>
                <a:latin typeface="Consolas"/>
              </a:rPr>
              <a:t>private 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void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checkBox_Unchecked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checkBox.Content.ToString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() + " </a:t>
            </a:r>
            <a:r>
              <a:rPr lang="ru-RU" dirty="0">
                <a:solidFill>
                  <a:srgbClr val="7030A0"/>
                </a:solidFill>
                <a:latin typeface="Consolas"/>
              </a:rPr>
              <a:t>не отмечен");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}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 </a:t>
            </a:r>
            <a:r>
              <a:rPr lang="en-GB" dirty="0" smtClean="0">
                <a:solidFill>
                  <a:srgbClr val="7030A0"/>
                </a:solidFill>
                <a:latin typeface="Consolas"/>
              </a:rPr>
              <a:t>private 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void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checkBox_Indeterminate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dirty="0">
                <a:solidFill>
                  <a:srgbClr val="7030A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</a:t>
            </a:r>
            <a:r>
              <a:rPr lang="en-GB" dirty="0" err="1">
                <a:solidFill>
                  <a:srgbClr val="7030A0"/>
                </a:solidFill>
                <a:latin typeface="Consolas"/>
              </a:rPr>
              <a:t>checkBox.Content.ToString</a:t>
            </a:r>
            <a:r>
              <a:rPr lang="en-GB" dirty="0">
                <a:solidFill>
                  <a:srgbClr val="7030A0"/>
                </a:solidFill>
                <a:latin typeface="Consolas"/>
              </a:rPr>
              <a:t>() + " </a:t>
            </a:r>
            <a:r>
              <a:rPr lang="ru-RU" dirty="0">
                <a:solidFill>
                  <a:srgbClr val="7030A0"/>
                </a:solidFill>
                <a:latin typeface="Consolas"/>
              </a:rPr>
              <a:t>в неопределенном состоянии");</a:t>
            </a:r>
          </a:p>
          <a:p>
            <a:pPr fontAlgn="base">
              <a:buNone/>
            </a:pPr>
            <a:r>
              <a:rPr lang="ru-RU" dirty="0">
                <a:solidFill>
                  <a:srgbClr val="7030A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11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verdana"/>
              </a:rPr>
              <a:t>Программное добавление флажка: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72164"/>
          </a:xfrm>
        </p:spPr>
        <p:txBody>
          <a:bodyPr>
            <a:normAutofit fontScale="40000" lnSpcReduction="20000"/>
          </a:bodyPr>
          <a:lstStyle/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using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System.Windows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using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System.Windows.Controls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namespace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ControlsApp</a:t>
            </a:r>
            <a:endParaRPr lang="en-GB" dirty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public partial class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: Window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public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{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InitializeComponent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dirty="0">
                <a:solidFill>
                  <a:srgbClr val="00B050"/>
                </a:solidFill>
                <a:latin typeface="Consolas"/>
              </a:rPr>
              <a:t>создаем флажок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checkBox2 = new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{ Content = 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Новый флажок",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MinHeight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= 20,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IsChecked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=true };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</a:t>
            </a:r>
            <a:r>
              <a:rPr lang="en-GB" dirty="0">
                <a:solidFill>
                  <a:srgbClr val="00B050"/>
                </a:solidFill>
                <a:latin typeface="Consolas"/>
              </a:rPr>
              <a:t>  // </a:t>
            </a:r>
            <a:r>
              <a:rPr lang="ru-RU" dirty="0">
                <a:solidFill>
                  <a:srgbClr val="00B050"/>
                </a:solidFill>
                <a:latin typeface="Consolas"/>
              </a:rPr>
              <a:t>установка обработчика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checkBox2.Checked +=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checkBox_Checked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</a:t>
            </a:r>
            <a:r>
              <a:rPr lang="en-GB" sz="3300" dirty="0">
                <a:solidFill>
                  <a:srgbClr val="00B050"/>
                </a:solidFill>
                <a:latin typeface="Consolas"/>
              </a:rPr>
              <a:t>   // </a:t>
            </a:r>
            <a:r>
              <a:rPr lang="ru-RU" sz="3300" dirty="0">
                <a:solidFill>
                  <a:srgbClr val="00B050"/>
                </a:solidFill>
                <a:latin typeface="Consolas"/>
              </a:rPr>
              <a:t>добавление в </a:t>
            </a:r>
            <a:r>
              <a:rPr lang="en-GB" sz="3300" dirty="0" err="1">
                <a:solidFill>
                  <a:srgbClr val="00B050"/>
                </a:solidFill>
                <a:latin typeface="Consolas"/>
              </a:rPr>
              <a:t>StackPanel</a:t>
            </a:r>
            <a:endParaRPr lang="en-GB" sz="3300" dirty="0">
              <a:solidFill>
                <a:srgbClr val="00B050"/>
              </a:solidFill>
              <a:latin typeface="Consolas"/>
            </a:endParaRP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stackPanel.Children.Add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(checkBox2);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}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private void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checkBox_Checked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{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= (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chBox.Content.ToString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() + " 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отмечен");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}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99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0"/>
            <a:ext cx="670292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572000" y="142852"/>
            <a:ext cx="4286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RadioButton</a:t>
            </a:r>
            <a:endParaRPr lang="ru-RU" sz="1600" b="1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Элемент управления, производный от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ToggleButton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, представляющий переключатель(поддержка групп) Несколько элементов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RadioButton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можно объединить в группы, и в один момент времени мы можем выбрать из этой группы только один переключатель. </a:t>
            </a:r>
            <a:endParaRPr lang="en-US" sz="1600" dirty="0" smtClean="0">
              <a:solidFill>
                <a:srgbClr val="000000"/>
              </a:solidFill>
              <a:latin typeface="verdana"/>
            </a:endParaRP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286512" y="3643314"/>
            <a:ext cx="285748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Чтобы включить элемент в определенную группу, используется свойство </a:t>
            </a:r>
            <a:r>
              <a:rPr lang="ru-RU" sz="1400" b="1" dirty="0" err="1" smtClean="0">
                <a:solidFill>
                  <a:srgbClr val="000000"/>
                </a:solidFill>
                <a:latin typeface="verdana"/>
              </a:rPr>
              <a:t>GroupName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(две группы -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Languages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Technologies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) - можно отметить не более одного элемента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RadioButton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в пределах одной группы, зафиксировав выбор из нескольких возможностей</a:t>
            </a:r>
            <a:endParaRPr lang="ru-RU" sz="1400" dirty="0">
              <a:solidFill>
                <a:srgbClr val="000000"/>
              </a:solidFill>
              <a:latin typeface="verdana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 flipV="1">
            <a:off x="2786050" y="4714884"/>
            <a:ext cx="335758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6" idx="1"/>
          </p:cNvCxnSpPr>
          <p:nvPr/>
        </p:nvCxnSpPr>
        <p:spPr>
          <a:xfrm rot="10800000" flipV="1">
            <a:off x="3214678" y="4874420"/>
            <a:ext cx="3071834" cy="983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0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/>
          </a:bodyPr>
          <a:lstStyle/>
          <a:p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Чтобы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проследить за выбором того или иного элемента, 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определить у элементов событие </a:t>
            </a:r>
            <a:r>
              <a:rPr lang="ru-RU" sz="2000" b="1" dirty="0" err="1" smtClean="0">
                <a:solidFill>
                  <a:srgbClr val="000000"/>
                </a:solidFill>
                <a:latin typeface="verdana"/>
              </a:rPr>
              <a:t>Checked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его обрабатывать в коде</a:t>
            </a: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en-US" sz="2000" dirty="0" smtClean="0">
              <a:solidFill>
                <a:srgbClr val="000000"/>
              </a:solidFill>
              <a:latin typeface="verdana"/>
            </a:endParaRPr>
          </a:p>
          <a:p>
            <a:pPr>
              <a:buNone/>
            </a:pPr>
            <a:r>
              <a:rPr lang="en-US" sz="2000" dirty="0" smtClean="0"/>
              <a:t>&lt;</a:t>
            </a:r>
            <a:r>
              <a:rPr lang="en-US" sz="2000" dirty="0" err="1"/>
              <a:t>RadioButton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/>
              <a:t>GroupName</a:t>
            </a:r>
            <a:r>
              <a:rPr lang="en-US" sz="2000" dirty="0"/>
              <a:t>="Languages"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/>
              <a:t>Content="VB.NET"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/>
              <a:t>Checked="</a:t>
            </a:r>
            <a:r>
              <a:rPr lang="en-US" sz="2000" dirty="0" err="1"/>
              <a:t>RadioButton_Checked</a:t>
            </a:r>
            <a:r>
              <a:rPr lang="en-US" sz="2000" dirty="0"/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smtClean="0"/>
              <a:t>/&gt;</a:t>
            </a:r>
          </a:p>
          <a:p>
            <a:endParaRPr lang="ru-RU" sz="2000" dirty="0" smtClean="0">
              <a:solidFill>
                <a:srgbClr val="000000"/>
              </a:solidFill>
              <a:latin typeface="verdana"/>
            </a:endParaRPr>
          </a:p>
          <a:p>
            <a:pPr>
              <a:buNone/>
            </a:pPr>
            <a:r>
              <a:rPr lang="ru-RU" sz="2000" dirty="0" smtClean="0">
                <a:solidFill>
                  <a:srgbClr val="000000"/>
                </a:solidFill>
                <a:latin typeface="verdana"/>
              </a:rPr>
              <a:t>Обработчик </a:t>
            </a:r>
            <a:r>
              <a:rPr lang="ru-RU" sz="2000" dirty="0">
                <a:solidFill>
                  <a:srgbClr val="000000"/>
                </a:solidFill>
                <a:latin typeface="verdana"/>
              </a:rPr>
              <a:t>в файле кода:</a:t>
            </a:r>
          </a:p>
          <a:p>
            <a:pPr fontAlgn="base"/>
            <a:endParaRPr lang="ru-RU" sz="2000" dirty="0" smtClean="0"/>
          </a:p>
          <a:p>
            <a:pPr fontAlgn="base">
              <a:buNone/>
            </a:pPr>
            <a:r>
              <a:rPr lang="en-GB" sz="2000" dirty="0" smtClean="0"/>
              <a:t>private </a:t>
            </a:r>
            <a:r>
              <a:rPr lang="en-GB" sz="2000" dirty="0"/>
              <a:t>void </a:t>
            </a:r>
            <a:r>
              <a:rPr lang="en-GB" sz="2000" dirty="0" err="1"/>
              <a:t>RadioButton_Checked</a:t>
            </a:r>
            <a:r>
              <a:rPr lang="en-GB" sz="2000" dirty="0"/>
              <a:t>(object sender, </a:t>
            </a:r>
            <a:r>
              <a:rPr lang="en-GB" sz="2000" dirty="0" err="1"/>
              <a:t>RoutedEventArgs</a:t>
            </a:r>
            <a:r>
              <a:rPr lang="en-GB" sz="2000" dirty="0"/>
              <a:t> e)</a:t>
            </a:r>
          </a:p>
          <a:p>
            <a:pPr fontAlgn="base">
              <a:buNone/>
            </a:pPr>
            <a:r>
              <a:rPr lang="en-GB" sz="2000" dirty="0"/>
              <a:t>{</a:t>
            </a:r>
          </a:p>
          <a:p>
            <a:pPr fontAlgn="base">
              <a:buNone/>
            </a:pPr>
            <a:r>
              <a:rPr lang="en-GB" sz="2000" dirty="0"/>
              <a:t>    </a:t>
            </a:r>
            <a:r>
              <a:rPr lang="en-GB" sz="2000" dirty="0" err="1"/>
              <a:t>RadioButton</a:t>
            </a:r>
            <a:r>
              <a:rPr lang="en-GB" sz="2000" dirty="0"/>
              <a:t> pressed = (</a:t>
            </a:r>
            <a:r>
              <a:rPr lang="en-GB" sz="2000" dirty="0" err="1"/>
              <a:t>RadioButton</a:t>
            </a:r>
            <a:r>
              <a:rPr lang="en-GB" sz="2000" dirty="0"/>
              <a:t>)sender;</a:t>
            </a:r>
          </a:p>
          <a:p>
            <a:pPr fontAlgn="base">
              <a:buNone/>
            </a:pPr>
            <a:r>
              <a:rPr lang="en-GB" sz="2000" dirty="0"/>
              <a:t>    </a:t>
            </a:r>
            <a:r>
              <a:rPr lang="en-GB" sz="2000" dirty="0" err="1"/>
              <a:t>MessageBox.Show</a:t>
            </a:r>
            <a:r>
              <a:rPr lang="en-GB" sz="2000" dirty="0"/>
              <a:t>(</a:t>
            </a:r>
            <a:r>
              <a:rPr lang="en-GB" sz="2000" dirty="0" err="1"/>
              <a:t>pressed.Content.ToString</a:t>
            </a:r>
            <a:r>
              <a:rPr lang="en-GB" sz="2000" dirty="0"/>
              <a:t>());</a:t>
            </a:r>
          </a:p>
          <a:p>
            <a:pPr fontAlgn="base">
              <a:buNone/>
            </a:pPr>
            <a:r>
              <a:rPr lang="en-GB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877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07157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Программное добавление элемента </a:t>
            </a:r>
            <a:r>
              <a:rPr lang="en-GB" sz="3200" b="1" dirty="0" err="1">
                <a:solidFill>
                  <a:srgbClr val="000000"/>
                </a:solidFill>
                <a:latin typeface="verdana"/>
              </a:rPr>
              <a:t>RadioButton</a:t>
            </a:r>
            <a:r>
              <a:rPr lang="en-GB" sz="3200" b="1" dirty="0">
                <a:solidFill>
                  <a:srgbClr val="000000"/>
                </a:solidFill>
                <a:latin typeface="verdana"/>
              </a:rPr>
              <a:t>: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86412"/>
          </a:xfrm>
        </p:spPr>
        <p:txBody>
          <a:bodyPr>
            <a:normAutofit fontScale="40000" lnSpcReduction="20000"/>
          </a:bodyPr>
          <a:lstStyle/>
          <a:p>
            <a:pPr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</a:t>
            </a:r>
            <a:r>
              <a:rPr lang="en-GB" dirty="0"/>
              <a:t>;</a:t>
            </a:r>
          </a:p>
          <a:p>
            <a:pPr fontAlgn="base">
              <a:buNone/>
            </a:pPr>
            <a:r>
              <a:rPr lang="en-GB" dirty="0"/>
              <a:t>using </a:t>
            </a:r>
            <a:r>
              <a:rPr lang="en-GB" dirty="0" err="1"/>
              <a:t>System.Windows.Controls</a:t>
            </a:r>
            <a:r>
              <a:rPr lang="en-GB" dirty="0"/>
              <a:t>;</a:t>
            </a:r>
          </a:p>
          <a:p>
            <a:pPr fontAlgn="base">
              <a:buNone/>
            </a:pPr>
            <a:r>
              <a:rPr lang="en-GB" dirty="0"/>
              <a:t> </a:t>
            </a:r>
          </a:p>
          <a:p>
            <a:pPr fontAlgn="base">
              <a:buNone/>
            </a:pPr>
            <a:r>
              <a:rPr lang="en-GB" dirty="0"/>
              <a:t>namespace </a:t>
            </a:r>
            <a:r>
              <a:rPr lang="en-GB" dirty="0" err="1"/>
              <a:t>ControlsApp</a:t>
            </a:r>
            <a:endParaRPr lang="en-GB" dirty="0"/>
          </a:p>
          <a:p>
            <a:pPr fontAlgn="base">
              <a:buNone/>
            </a:pPr>
            <a:r>
              <a:rPr lang="en-GB" dirty="0"/>
              <a:t>{</a:t>
            </a:r>
          </a:p>
          <a:p>
            <a:pPr fontAlgn="base">
              <a:buNone/>
            </a:pPr>
            <a:r>
              <a:rPr lang="en-GB" dirty="0"/>
              <a:t>    public partial class </a:t>
            </a:r>
            <a:r>
              <a:rPr lang="en-GB" dirty="0" err="1"/>
              <a:t>MainWindow</a:t>
            </a:r>
            <a:r>
              <a:rPr lang="en-GB" dirty="0"/>
              <a:t> : Window</a:t>
            </a:r>
          </a:p>
          <a:p>
            <a:pPr fontAlgn="base">
              <a:buNone/>
            </a:pPr>
            <a:r>
              <a:rPr lang="en-GB" dirty="0"/>
              <a:t>    {</a:t>
            </a:r>
          </a:p>
          <a:p>
            <a:pPr fontAlgn="base">
              <a:buNone/>
            </a:pPr>
            <a:r>
              <a:rPr lang="en-GB" dirty="0"/>
              <a:t>        public </a:t>
            </a:r>
            <a:r>
              <a:rPr lang="en-GB" dirty="0" err="1"/>
              <a:t>MainWindow</a:t>
            </a:r>
            <a:r>
              <a:rPr lang="en-GB" dirty="0"/>
              <a:t>()</a:t>
            </a:r>
          </a:p>
          <a:p>
            <a:pPr fontAlgn="base">
              <a:buNone/>
            </a:pPr>
            <a:r>
              <a:rPr lang="en-GB" dirty="0"/>
              <a:t>        {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InitializeComponent</a:t>
            </a:r>
            <a:r>
              <a:rPr lang="en-GB" dirty="0"/>
              <a:t>();</a:t>
            </a:r>
          </a:p>
          <a:p>
            <a:pPr fontAlgn="base">
              <a:buNone/>
            </a:pPr>
            <a:r>
              <a:rPr lang="en-GB" dirty="0"/>
              <a:t> 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RadioButton</a:t>
            </a:r>
            <a:r>
              <a:rPr lang="en-GB" dirty="0"/>
              <a:t> </a:t>
            </a:r>
            <a:r>
              <a:rPr lang="en-GB" dirty="0" err="1"/>
              <a:t>rb</a:t>
            </a:r>
            <a:r>
              <a:rPr lang="en-GB" dirty="0"/>
              <a:t> = new </a:t>
            </a:r>
            <a:r>
              <a:rPr lang="en-GB" dirty="0" err="1"/>
              <a:t>RadioButton</a:t>
            </a:r>
            <a:r>
              <a:rPr lang="en-GB" dirty="0"/>
              <a:t> { </a:t>
            </a:r>
            <a:r>
              <a:rPr lang="en-GB" dirty="0" err="1"/>
              <a:t>IsChecked</a:t>
            </a:r>
            <a:r>
              <a:rPr lang="en-GB" dirty="0"/>
              <a:t> = true, </a:t>
            </a:r>
            <a:r>
              <a:rPr lang="en-GB" dirty="0" err="1"/>
              <a:t>GroupName</a:t>
            </a:r>
            <a:r>
              <a:rPr lang="en-GB" dirty="0"/>
              <a:t> = "Languages", Content = "JavaScript" };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rb.Checked</a:t>
            </a:r>
            <a:r>
              <a:rPr lang="en-GB" dirty="0"/>
              <a:t> += </a:t>
            </a:r>
            <a:r>
              <a:rPr lang="en-GB" dirty="0" err="1"/>
              <a:t>RadioButton_Checked</a:t>
            </a:r>
            <a:r>
              <a:rPr lang="en-GB" dirty="0"/>
              <a:t>;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stackPanel.Children.Add</a:t>
            </a:r>
            <a:r>
              <a:rPr lang="en-GB" dirty="0"/>
              <a:t>(</a:t>
            </a:r>
            <a:r>
              <a:rPr lang="en-GB" dirty="0" err="1"/>
              <a:t>rb</a:t>
            </a:r>
            <a:r>
              <a:rPr lang="en-GB" dirty="0"/>
              <a:t>);</a:t>
            </a:r>
          </a:p>
          <a:p>
            <a:pPr fontAlgn="base">
              <a:buNone/>
            </a:pPr>
            <a:r>
              <a:rPr lang="en-GB" dirty="0"/>
              <a:t>        }</a:t>
            </a:r>
          </a:p>
          <a:p>
            <a:pPr fontAlgn="base">
              <a:buNone/>
            </a:pPr>
            <a:r>
              <a:rPr lang="en-GB" dirty="0"/>
              <a:t> </a:t>
            </a:r>
          </a:p>
          <a:p>
            <a:pPr fontAlgn="base">
              <a:buNone/>
            </a:pPr>
            <a:r>
              <a:rPr lang="en-GB" dirty="0"/>
              <a:t>        private void </a:t>
            </a:r>
            <a:r>
              <a:rPr lang="en-GB" dirty="0" err="1"/>
              <a:t>RadioButton_Checked</a:t>
            </a:r>
            <a:r>
              <a:rPr lang="en-GB" dirty="0"/>
              <a:t>(object sender, </a:t>
            </a:r>
            <a:r>
              <a:rPr lang="en-GB" dirty="0" err="1"/>
              <a:t>RoutedEventArgs</a:t>
            </a:r>
            <a:r>
              <a:rPr lang="en-GB" dirty="0"/>
              <a:t> e)</a:t>
            </a:r>
          </a:p>
          <a:p>
            <a:pPr fontAlgn="base">
              <a:buNone/>
            </a:pPr>
            <a:r>
              <a:rPr lang="en-GB" dirty="0"/>
              <a:t>        {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RadioButton</a:t>
            </a:r>
            <a:r>
              <a:rPr lang="en-GB" dirty="0"/>
              <a:t> pressed = (</a:t>
            </a:r>
            <a:r>
              <a:rPr lang="en-GB" dirty="0" err="1"/>
              <a:t>RadioButton</a:t>
            </a:r>
            <a:r>
              <a:rPr lang="en-GB" dirty="0"/>
              <a:t>)sender;</a:t>
            </a:r>
          </a:p>
          <a:p>
            <a:pPr fontAlgn="base">
              <a:buNone/>
            </a:pPr>
            <a:r>
              <a:rPr lang="en-GB" dirty="0"/>
              <a:t>            </a:t>
            </a:r>
            <a:r>
              <a:rPr lang="en-GB" dirty="0" err="1"/>
              <a:t>MessageBox.Show</a:t>
            </a:r>
            <a:r>
              <a:rPr lang="en-GB" dirty="0"/>
              <a:t>(</a:t>
            </a:r>
            <a:r>
              <a:rPr lang="en-GB" dirty="0" err="1"/>
              <a:t>pressed.Content.ToString</a:t>
            </a:r>
            <a:r>
              <a:rPr lang="en-GB" dirty="0"/>
              <a:t>());</a:t>
            </a:r>
          </a:p>
          <a:p>
            <a:pPr fontAlgn="base">
              <a:buNone/>
            </a:pPr>
            <a:r>
              <a:rPr lang="en-GB" dirty="0"/>
              <a:t>        }</a:t>
            </a:r>
          </a:p>
          <a:p>
            <a:pPr fontAlgn="base">
              <a:buNone/>
            </a:pPr>
            <a:r>
              <a:rPr lang="en-GB" dirty="0"/>
              <a:t>    }</a:t>
            </a:r>
          </a:p>
          <a:p>
            <a:pPr fontAlgn="base">
              <a:buNone/>
            </a:pPr>
            <a:r>
              <a:rPr lang="en-GB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967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ToolTip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всплывающая подсказка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при наведении на какой-нибудь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элемент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определения всплывающей подсказки у элементов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есть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ToolTip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которому можно задать текст, отображаемый при наведении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GB" dirty="0" smtClean="0"/>
              <a:t>&lt;</a:t>
            </a:r>
            <a:r>
              <a:rPr lang="en-GB" dirty="0"/>
              <a:t>Button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/>
              <a:t>Content="Tooltip"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/>
              <a:t>ToolTip="</a:t>
            </a:r>
            <a:r>
              <a:rPr lang="ru-RU" dirty="0"/>
              <a:t>Всплывающая подсказка для кнопки"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/>
              <a:t>Height="30"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/>
              <a:t>Width="80"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 smtClean="0"/>
              <a:t>/&gt;</a:t>
            </a:r>
            <a:endParaRPr lang="ru-RU" dirty="0" smtClean="0"/>
          </a:p>
          <a:p>
            <a:pPr>
              <a:buNone/>
            </a:pP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более точно настроить всплывающую подсказку с помощью свойства </a:t>
            </a:r>
            <a:r>
              <a:rPr lang="ru-RU" dirty="0" err="1"/>
              <a:t>Button.ToolTip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&lt;Button Content="Tooltip" Height="30" Width="80"&gt;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Button.ToolTip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&lt;ToolTip&gt;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Всплывающая 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подсказка для кнопки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ToolTip&gt;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Button.ToolTip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&lt;/Button&gt;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072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286544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solidFill>
                  <a:srgbClr val="000000"/>
                </a:solidFill>
                <a:latin typeface="verdana"/>
              </a:rPr>
              <a:t>Всплывающие подсказки можно применять не только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 кнопкам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но и ко всем другим элементам управления, например, к текстовому блоку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Text="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1" ToolTip="Hello Tooltip" /&gt;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Text="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2"&gt;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TextBlock.ToolTip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&lt;ToolTip&gt;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    Hello WPF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&lt;/ToolTip&gt;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TextBlock.ToolTip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 smtClean="0"/>
          </a:p>
          <a:p>
            <a:pPr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>
                <a:solidFill>
                  <a:srgbClr val="C00000"/>
                </a:solidFill>
                <a:latin typeface="verdana"/>
              </a:rPr>
              <a:t>Оба определения всплывающей подсказки будут </a:t>
            </a:r>
            <a:r>
              <a:rPr lang="ru-RU" dirty="0" smtClean="0">
                <a:solidFill>
                  <a:srgbClr val="C00000"/>
                </a:solidFill>
                <a:latin typeface="verdana"/>
              </a:rPr>
              <a:t>аналогичны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61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107" y="0"/>
            <a:ext cx="2370893" cy="219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071934" y="4429132"/>
            <a:ext cx="4572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/>
              <a:t>Здесь у нас два переключателя, и на одном из них определен расширенный элемент </a:t>
            </a:r>
            <a:r>
              <a:rPr lang="ru-RU" sz="1600" b="1" dirty="0" err="1"/>
              <a:t>ToolTip</a:t>
            </a:r>
            <a:r>
              <a:rPr lang="ru-RU" sz="1600" dirty="0"/>
              <a:t>: а именно в него вложен элемент </a:t>
            </a:r>
            <a:r>
              <a:rPr lang="ru-RU" sz="1600" dirty="0" err="1"/>
              <a:t>Image</a:t>
            </a:r>
            <a:r>
              <a:rPr lang="ru-RU" sz="1600" dirty="0"/>
              <a:t>, выводящий изображение, и элемент </a:t>
            </a:r>
            <a:r>
              <a:rPr lang="ru-RU" sz="1600" b="1" dirty="0" err="1"/>
              <a:t>TextBlock</a:t>
            </a:r>
            <a:r>
              <a:rPr lang="ru-RU" sz="1600" dirty="0"/>
              <a:t>. </a:t>
            </a:r>
            <a:r>
              <a:rPr lang="ru-RU" sz="1600" dirty="0" smtClean="0"/>
              <a:t>Т. о., можно </a:t>
            </a:r>
            <a:r>
              <a:rPr lang="ru-RU" sz="1600" dirty="0"/>
              <a:t>создавать всплывающие подсказки с различным наполнением.</a:t>
            </a:r>
          </a:p>
          <a:p>
            <a:r>
              <a:rPr lang="ru-RU" sz="1600" dirty="0"/>
              <a:t>Изображение для элемента </a:t>
            </a:r>
            <a:r>
              <a:rPr lang="ru-RU" sz="1600" dirty="0" err="1"/>
              <a:t>Image</a:t>
            </a:r>
            <a:r>
              <a:rPr lang="ru-RU" sz="1600" dirty="0"/>
              <a:t> </a:t>
            </a:r>
            <a:r>
              <a:rPr lang="ru-RU" sz="1600" dirty="0" smtClean="0"/>
              <a:t> добавлено </a:t>
            </a:r>
            <a:r>
              <a:rPr lang="ru-RU" sz="1600" dirty="0"/>
              <a:t>в </a:t>
            </a:r>
            <a:r>
              <a:rPr lang="ru-RU" sz="1600" dirty="0" smtClean="0"/>
              <a:t>проект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42844" y="214290"/>
            <a:ext cx="685804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Т.к.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ToolTip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является элементом управления содержимого, то в него можно встроить другие элементы для создания функциональности:</a:t>
            </a:r>
            <a:endParaRPr lang="en-US" sz="1600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 Text="</a:t>
            </a:r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Просмотр фотографий" 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Margin="0 0 0 10" /&gt;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="Photos" Content="</a:t>
            </a:r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Мои кошки" 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Height="20"&gt;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RadioButton.ToolTip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    &lt;ToolTip Width="200" Height="150"&gt;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 Text="</a:t>
            </a:r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Мои кошки" /&gt;</a:t>
            </a:r>
          </a:p>
          <a:p>
            <a:pPr fontAlgn="base"/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Image Source="cats.jpg" /&gt;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        &lt;/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    &lt;/ToolTip&gt;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RadioButton.ToolTip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="Photos" Content="</a:t>
            </a:r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Остальные фото" 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Height="20" ToolTip="</a:t>
            </a:r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Остальное" /&gt;</a:t>
            </a:r>
          </a:p>
          <a:p>
            <a:pPr fontAlgn="base"/>
            <a:r>
              <a:rPr lang="ru-RU" sz="150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sz="15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5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sz="1600" dirty="0"/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2857488" y="2143116"/>
            <a:ext cx="4357718" cy="2428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0800000">
            <a:off x="2214546" y="4429132"/>
            <a:ext cx="321471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8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ToolTip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2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элемента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Tooltip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HasDropShadow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определяет, будет ли всплывающая подсказка отбрасывать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тень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Placement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определяет, как будет позиционироваться всплывающая подсказка на окне приложения. По умолчанию ее верхний левый угол позиционируется на указатель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мыши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HorizontalOffset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/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VerticalOffset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определяет смещение относительно начального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местоположения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PlacementTarget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определяет позицию всплывающей подсказки относительно другого элемента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управления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26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7" y="195266"/>
            <a:ext cx="7327885" cy="6377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929322" y="285728"/>
            <a:ext cx="307180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три переключателя:</a:t>
            </a:r>
          </a:p>
          <a:p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1- задаем свойства через элемент </a:t>
            </a:r>
            <a:r>
              <a:rPr lang="ru-RU" altLang="ru-RU" sz="1400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ToolTip</a:t>
            </a:r>
            <a:endParaRPr lang="ru-RU" altLang="ru-RU" sz="1400" dirty="0" smtClean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2 - можем задать свойства, несмотря на то, что здесь всплывающая подсказка  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ToolTip=</a:t>
            </a:r>
            <a:r>
              <a:rPr lang="ru-RU" altLang="ru-RU" sz="1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"Цена: 29990 рублей" 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Content=</a:t>
            </a:r>
            <a:r>
              <a:rPr lang="ru-RU" altLang="ru-RU" sz="1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sz="14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Nexus</a:t>
            </a:r>
            <a:r>
              <a:rPr lang="ru-RU" altLang="ru-RU" sz="14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5X"</a:t>
            </a:r>
            <a:r>
              <a:rPr lang="ru-RU" altLang="ru-RU" sz="14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(в этом случае можно использовать прикрепленные свойства класса </a:t>
            </a:r>
            <a:r>
              <a:rPr lang="ru-RU" altLang="ru-RU" sz="1400" b="1" dirty="0" err="1" smtClean="0">
                <a:latin typeface="Arial" pitchFamily="34" charset="0"/>
              </a:rPr>
              <a:t>ToolTipService</a:t>
            </a:r>
            <a:r>
              <a:rPr lang="ru-RU" altLang="ru-RU" sz="1400" b="1" dirty="0" smtClean="0">
                <a:latin typeface="Arial" pitchFamily="34" charset="0"/>
              </a:rPr>
              <a:t>)</a:t>
            </a:r>
            <a:endParaRPr lang="ru-RU" sz="1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rot="5400000">
            <a:off x="1214414" y="1357298"/>
            <a:ext cx="5000660" cy="4572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0800000" flipV="1">
            <a:off x="2285984" y="642918"/>
            <a:ext cx="3714776" cy="3429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30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-8116"/>
            <a:ext cx="6678644" cy="6134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882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altLang="ru-RU" sz="3200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свойства класса </a:t>
            </a:r>
            <a:r>
              <a:rPr lang="ru-RU" altLang="ru-RU" sz="3200" b="1" dirty="0" err="1" smtClean="0">
                <a:latin typeface="Arial" pitchFamily="34" charset="0"/>
              </a:rPr>
              <a:t>ToolTipService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00726"/>
          </a:xfrm>
        </p:spPr>
        <p:txBody>
          <a:bodyPr>
            <a:normAutofit fontScale="55000" lnSpcReduction="20000"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InitialShowDelay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задает задержку перед отображением всплывающей подсказки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ShowDuration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устанавливает время отображения всплывающей подсказки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BetweenShowDelay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устанавливает время, в течение которого пользователь сможет перейти к другому элементу с подсказкой, и для этого элемента не будет работать свойство </a:t>
            </a:r>
            <a:r>
              <a:rPr lang="ru-RU" altLang="ru-RU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InitialShowDelay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(если оно указано)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ToolTip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устанавливает содержимое всплывающей подсказки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HasDropShadow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определяет, будет ли подсказка отбрасывать тень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ShowOnDisabled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устанавливает поведение всплывающей подсказки для недоступного элемента (со значением 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IsEnabled=</a:t>
            </a:r>
            <a:r>
              <a:rPr lang="ru-RU" altLang="ru-RU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altLang="ru-RU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). Если это свойство равно </a:t>
            </a:r>
            <a:r>
              <a:rPr lang="ru-RU" altLang="ru-RU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true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то подсказка отображается для недоступных элементов. По умолчанию равно </a:t>
            </a:r>
            <a:r>
              <a:rPr lang="ru-RU" altLang="ru-RU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false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Placement</a:t>
            </a:r>
            <a:r>
              <a:rPr lang="ru-RU" altLang="ru-RU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/ 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HorizontalOffset</a:t>
            </a:r>
            <a:r>
              <a:rPr lang="ru-RU" altLang="ru-RU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/ 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VerticalOffset</a:t>
            </a:r>
            <a:r>
              <a:rPr lang="ru-RU" altLang="ru-RU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/ </a:t>
            </a:r>
            <a:r>
              <a:rPr lang="ru-RU" altLang="ru-RU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PlacementTarget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: те же свойства, что и у элемента </a:t>
            </a:r>
            <a:r>
              <a:rPr lang="ru-RU" altLang="ru-RU" dirty="0" err="1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ToolTip</a:t>
            </a:r>
            <a:r>
              <a:rPr lang="ru-RU" altLang="ru-RU" dirty="0" smtClean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, которые устанавливают положение всплывающей подсказки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Программное создание всплывающей подсказки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коде XAML у нас определена </a:t>
            </a: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кнопка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>
              <a:spcAft>
                <a:spcPts val="600"/>
              </a:spcAft>
              <a:buNone/>
            </a:pPr>
            <a:r>
              <a:rPr lang="en-GB" sz="2100" dirty="0"/>
              <a:t>&lt;Button x:Name="button1" Content="Hello" </a:t>
            </a:r>
            <a:r>
              <a:rPr lang="en-GB" sz="2100" dirty="0" smtClean="0"/>
              <a:t>/&gt;</a:t>
            </a:r>
          </a:p>
          <a:p>
            <a:pPr>
              <a:spcAft>
                <a:spcPts val="600"/>
              </a:spcAft>
            </a:pPr>
            <a:r>
              <a:rPr lang="ru-RU" sz="2100" dirty="0" smtClean="0"/>
              <a:t>в </a:t>
            </a:r>
            <a:r>
              <a:rPr lang="ru-RU" sz="2100" dirty="0"/>
              <a:t>файле кода C# </a:t>
            </a:r>
            <a:r>
              <a:rPr lang="ru-RU" sz="2100" dirty="0" smtClean="0"/>
              <a:t>всплывающая подсказка </a:t>
            </a:r>
            <a:r>
              <a:rPr lang="ru-RU" sz="2100" dirty="0"/>
              <a:t>для </a:t>
            </a:r>
            <a:r>
              <a:rPr lang="ru-RU" sz="2100" dirty="0" smtClean="0"/>
              <a:t>кнопки:</a:t>
            </a:r>
            <a:endParaRPr lang="en-US" sz="2100" dirty="0" smtClean="0"/>
          </a:p>
          <a:p>
            <a:pPr fontAlgn="base">
              <a:spcAft>
                <a:spcPts val="600"/>
              </a:spcAft>
              <a:buNone/>
            </a:pPr>
            <a:r>
              <a:rPr lang="en-GB" sz="2100" dirty="0">
                <a:latin typeface="+mj-lt"/>
              </a:rPr>
              <a:t>ToolTip </a:t>
            </a:r>
            <a:r>
              <a:rPr lang="en-GB" sz="2100" dirty="0" err="1">
                <a:latin typeface="+mj-lt"/>
              </a:rPr>
              <a:t>toolTip</a:t>
            </a:r>
            <a:r>
              <a:rPr lang="en-GB" sz="2100" dirty="0">
                <a:latin typeface="+mj-lt"/>
              </a:rPr>
              <a:t> = new ToolTip();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 err="1">
                <a:latin typeface="+mj-lt"/>
              </a:rPr>
              <a:t>StackPanel</a:t>
            </a:r>
            <a:r>
              <a:rPr lang="en-GB" sz="2100" dirty="0">
                <a:latin typeface="+mj-lt"/>
              </a:rPr>
              <a:t> </a:t>
            </a:r>
            <a:r>
              <a:rPr lang="en-GB" sz="2100" dirty="0" err="1">
                <a:latin typeface="+mj-lt"/>
              </a:rPr>
              <a:t>toolTipPanel</a:t>
            </a:r>
            <a:r>
              <a:rPr lang="en-GB" sz="2100" dirty="0">
                <a:latin typeface="+mj-lt"/>
              </a:rPr>
              <a:t> = new </a:t>
            </a:r>
            <a:r>
              <a:rPr lang="en-GB" sz="2100" dirty="0" err="1">
                <a:latin typeface="+mj-lt"/>
              </a:rPr>
              <a:t>StackPanel</a:t>
            </a:r>
            <a:r>
              <a:rPr lang="en-GB" sz="2100" dirty="0">
                <a:latin typeface="+mj-lt"/>
              </a:rPr>
              <a:t>();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 err="1">
                <a:latin typeface="+mj-lt"/>
              </a:rPr>
              <a:t>toolTipPanel.Children.Add</a:t>
            </a:r>
            <a:r>
              <a:rPr lang="en-GB" sz="2100" dirty="0">
                <a:latin typeface="+mj-lt"/>
              </a:rPr>
              <a:t>(new </a:t>
            </a:r>
            <a:r>
              <a:rPr lang="en-GB" sz="2100" dirty="0" err="1">
                <a:latin typeface="+mj-lt"/>
              </a:rPr>
              <a:t>TextBlock</a:t>
            </a:r>
            <a:r>
              <a:rPr lang="en-GB" sz="2100" dirty="0">
                <a:latin typeface="+mj-lt"/>
              </a:rPr>
              <a:t> { Text = "</a:t>
            </a:r>
            <a:r>
              <a:rPr lang="ru-RU" sz="2100" dirty="0">
                <a:latin typeface="+mj-lt"/>
              </a:rPr>
              <a:t>Заголовок", </a:t>
            </a:r>
            <a:r>
              <a:rPr lang="en-GB" sz="2100" dirty="0" err="1">
                <a:latin typeface="+mj-lt"/>
              </a:rPr>
              <a:t>FontSize</a:t>
            </a:r>
            <a:r>
              <a:rPr lang="en-GB" sz="2100" dirty="0">
                <a:latin typeface="+mj-lt"/>
              </a:rPr>
              <a:t>=16 });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 err="1">
                <a:latin typeface="+mj-lt"/>
              </a:rPr>
              <a:t>toolTipPanel.Children.Add</a:t>
            </a:r>
            <a:r>
              <a:rPr lang="en-GB" sz="2100" dirty="0">
                <a:latin typeface="+mj-lt"/>
              </a:rPr>
              <a:t>(new </a:t>
            </a:r>
            <a:r>
              <a:rPr lang="en-GB" sz="2100" dirty="0" err="1">
                <a:latin typeface="+mj-lt"/>
              </a:rPr>
              <a:t>TextBlock</a:t>
            </a:r>
            <a:r>
              <a:rPr lang="en-GB" sz="2100" dirty="0">
                <a:latin typeface="+mj-lt"/>
              </a:rPr>
              <a:t> { Text = "</a:t>
            </a:r>
            <a:r>
              <a:rPr lang="ru-RU" sz="2100" dirty="0">
                <a:latin typeface="+mj-lt"/>
              </a:rPr>
              <a:t>Текст" });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 err="1">
                <a:latin typeface="+mj-lt"/>
              </a:rPr>
              <a:t>toolTip.Content</a:t>
            </a:r>
            <a:r>
              <a:rPr lang="en-GB" sz="2100" dirty="0">
                <a:latin typeface="+mj-lt"/>
              </a:rPr>
              <a:t> = </a:t>
            </a:r>
            <a:r>
              <a:rPr lang="en-GB" sz="2100" dirty="0" err="1">
                <a:latin typeface="+mj-lt"/>
              </a:rPr>
              <a:t>toolTipPanel</a:t>
            </a:r>
            <a:r>
              <a:rPr lang="en-GB" sz="2100" dirty="0">
                <a:latin typeface="+mj-lt"/>
              </a:rPr>
              <a:t>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>
                <a:latin typeface="+mj-lt"/>
              </a:rPr>
              <a:t>button1.ToolTip = </a:t>
            </a:r>
            <a:r>
              <a:rPr lang="en-GB" sz="2100" dirty="0" err="1">
                <a:latin typeface="+mj-lt"/>
              </a:rPr>
              <a:t>toolTip</a:t>
            </a:r>
            <a:r>
              <a:rPr lang="en-GB" sz="2100" dirty="0">
                <a:latin typeface="+mj-lt"/>
              </a:rPr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457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Popup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всплывающее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окно,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но имеет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другую функциональность. </a:t>
            </a:r>
            <a:endParaRPr lang="ru-RU" sz="18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sz="1800" b="1" dirty="0" err="1">
                <a:solidFill>
                  <a:srgbClr val="000000"/>
                </a:solidFill>
                <a:latin typeface="verdana"/>
              </a:rPr>
              <a:t>Tooltip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 отображается автоматически при наведении и также автоматически скрывается через некоторое время, то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с </a:t>
            </a:r>
            <a:r>
              <a:rPr lang="ru-RU" sz="1800" b="1" dirty="0" err="1" smtClean="0">
                <a:solidFill>
                  <a:srgbClr val="000000"/>
                </a:solidFill>
                <a:latin typeface="verdana"/>
              </a:rPr>
              <a:t>Popup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 все эти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действия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надо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задавать вручную.</a:t>
            </a:r>
          </a:p>
          <a:p>
            <a:pPr>
              <a:spcAft>
                <a:spcPts val="600"/>
              </a:spcAft>
            </a:pPr>
            <a:r>
              <a:rPr lang="ru-RU" sz="1800" dirty="0">
                <a:solidFill>
                  <a:srgbClr val="000000"/>
                </a:solidFill>
                <a:latin typeface="verdana"/>
              </a:rPr>
              <a:t>Так, чтобы отразить при наведении мыши на элемент всплывающее окно,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надо образом событие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MouseEnter</a:t>
            </a:r>
            <a:endParaRPr lang="ru-RU" sz="1800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установка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свойства </a:t>
            </a:r>
            <a:r>
              <a:rPr lang="ru-RU" sz="1800" dirty="0" err="1">
                <a:solidFill>
                  <a:srgbClr val="000000"/>
                </a:solidFill>
                <a:latin typeface="verdana"/>
              </a:rPr>
              <a:t>StaysOpen=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". По умолчанию оно равно </a:t>
            </a: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, а это значит, что при отображении окна, оно больше не исчезнет, пока не установим явно значение этого свойства в </a:t>
            </a: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78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7" y="0"/>
            <a:ext cx="7336766" cy="5500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143636" y="4643446"/>
            <a:ext cx="27021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обработчик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наведения курсора мыши на кнопку в коде c#:</a:t>
            </a:r>
            <a:endParaRPr lang="ru-RU" sz="16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86050" y="5530312"/>
            <a:ext cx="601616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private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void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Button_MouseEnter_1(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object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sender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,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MouseEventArgs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e)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{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popup1.IsOpen =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true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;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}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57950" y="260648"/>
            <a:ext cx="24442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 при наведении указателя мыши на элемент появится всплывающее окно с </a:t>
            </a:r>
            <a:r>
              <a:rPr lang="ru-RU" dirty="0" smtClean="0"/>
              <a:t>сообщением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558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>
                <a:solidFill>
                  <a:srgbClr val="000000"/>
                </a:solidFill>
                <a:latin typeface="verdana"/>
              </a:rPr>
              <a:t>Контейнеры </a:t>
            </a:r>
            <a:r>
              <a:rPr lang="en-GB" sz="3600" b="1" dirty="0" err="1">
                <a:solidFill>
                  <a:srgbClr val="000000"/>
                </a:solidFill>
                <a:latin typeface="verdana"/>
              </a:rPr>
              <a:t>GroupBox</a:t>
            </a:r>
            <a:r>
              <a:rPr lang="en-GB" sz="3600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600" b="1" dirty="0">
                <a:solidFill>
                  <a:srgbClr val="000000"/>
                </a:solidFill>
                <a:latin typeface="verdana"/>
              </a:rPr>
              <a:t>и </a:t>
            </a:r>
            <a:r>
              <a:rPr lang="en-GB" sz="3600" b="1" dirty="0" smtClean="0">
                <a:solidFill>
                  <a:srgbClr val="000000"/>
                </a:solidFill>
                <a:latin typeface="verdana"/>
              </a:rPr>
              <a:t>Expander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группа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элементов управления образована от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класса </a:t>
            </a:r>
            <a:r>
              <a:rPr lang="ru-RU" sz="1800" b="1" dirty="0" err="1" smtClean="0">
                <a:solidFill>
                  <a:srgbClr val="000000"/>
                </a:solidFill>
                <a:latin typeface="verdana"/>
              </a:rPr>
              <a:t>HeaderedContentControl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, который является подклассом </a:t>
            </a:r>
            <a:r>
              <a:rPr lang="ru-RU" sz="1800" b="1" dirty="0" err="1" smtClean="0"/>
              <a:t>ContentControl</a:t>
            </a:r>
            <a:endParaRPr lang="ru-RU" sz="18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Эта группа отличается тем, что позволяет задать заголовок содержимому. </a:t>
            </a:r>
            <a:endParaRPr lang="ru-RU" sz="18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В </a:t>
            </a:r>
            <a:r>
              <a:rPr lang="ru-RU" sz="1800" dirty="0">
                <a:solidFill>
                  <a:srgbClr val="000000"/>
                </a:solidFill>
                <a:latin typeface="verdana"/>
              </a:rPr>
              <a:t>эту группу элементов 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входят:</a:t>
            </a:r>
          </a:p>
          <a:p>
            <a:pPr lvl="1">
              <a:spcAft>
                <a:spcPts val="600"/>
              </a:spcAft>
            </a:pP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GroupBox</a:t>
            </a:r>
            <a:r>
              <a:rPr lang="ru-RU" sz="1800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ru-RU" sz="1800" dirty="0" err="1" smtClean="0">
                <a:solidFill>
                  <a:srgbClr val="000000"/>
                </a:solidFill>
                <a:latin typeface="verdana"/>
              </a:rPr>
              <a:t>Expander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938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8" y="285728"/>
            <a:ext cx="345757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85720" y="214290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GroupBox</a:t>
            </a:r>
            <a:endParaRPr lang="ru-RU" sz="1600" b="1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организует наборы элементов управления в отдельные группы</a:t>
            </a:r>
          </a:p>
          <a:p>
            <a:pPr fontAlgn="base"/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можно определить у группы заголовок:</a:t>
            </a:r>
            <a:endParaRPr lang="en-GB" sz="1600" dirty="0" smtClean="0">
              <a:solidFill>
                <a:srgbClr val="000000"/>
              </a:solidFill>
              <a:latin typeface="verdana"/>
            </a:endParaRPr>
          </a:p>
          <a:p>
            <a:pPr fontAlgn="base"/>
            <a:endParaRPr lang="ru-RU" sz="1600" dirty="0" smtClean="0">
              <a:solidFill>
                <a:srgbClr val="000000"/>
              </a:solidFill>
              <a:latin typeface="Consolas"/>
            </a:endParaRP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GroupBox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Выбрать блюдо" 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Padding="5"&gt;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IsChecked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="True" Margin="3"&gt;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Салат Оливье&lt;/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Котлеты по-киевски&lt;/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Селедка под шубой&lt;/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    &lt;Button Width="80" Margin="3"&gt;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Заказать&lt;/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Button&gt;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sz="1600" dirty="0" err="1" smtClean="0">
                <a:solidFill>
                  <a:srgbClr val="000000"/>
                </a:solidFill>
                <a:latin typeface="Consolas"/>
              </a:rPr>
              <a:t>GroupBox</a:t>
            </a:r>
            <a:r>
              <a:rPr lang="en-GB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786182" y="4429132"/>
            <a:ext cx="51435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 smtClean="0"/>
              <a:t>GroupBox</a:t>
            </a:r>
            <a:r>
              <a:rPr lang="ru-RU" sz="1600" dirty="0" smtClean="0"/>
              <a:t> включает группу различных элементов, но принимает внутри себя только </a:t>
            </a:r>
            <a:r>
              <a:rPr lang="ru-RU" sz="1600" b="1" dirty="0" smtClean="0">
                <a:solidFill>
                  <a:srgbClr val="C00000"/>
                </a:solidFill>
              </a:rPr>
              <a:t>один</a:t>
            </a:r>
            <a:r>
              <a:rPr lang="ru-RU" sz="1600" dirty="0" smtClean="0"/>
              <a:t> контейнер, поэтому сначала вкладываем в </a:t>
            </a:r>
            <a:r>
              <a:rPr lang="ru-RU" sz="1600" b="1" dirty="0" err="1" smtClean="0"/>
              <a:t>GroupBox</a:t>
            </a:r>
            <a:r>
              <a:rPr lang="ru-RU" sz="1600" dirty="0" smtClean="0"/>
              <a:t> общий контейнер, а в него уже все остальные элементы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7306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pPr algn="l"/>
            <a:r>
              <a:rPr lang="ru-RU" sz="1600" dirty="0"/>
              <a:t>Однако заголовок </a:t>
            </a:r>
            <a:r>
              <a:rPr lang="ru-RU" sz="1600" dirty="0" err="1"/>
              <a:t>GroupBox</a:t>
            </a:r>
            <a:r>
              <a:rPr lang="ru-RU" sz="1600" dirty="0"/>
              <a:t> необязательно представляет простой </a:t>
            </a:r>
            <a:r>
              <a:rPr lang="ru-RU" sz="1600" dirty="0" smtClean="0"/>
              <a:t>текст, можно </a:t>
            </a:r>
            <a:r>
              <a:rPr lang="ru-RU" sz="1600" dirty="0" err="1" smtClean="0"/>
              <a:t>засуть</a:t>
            </a:r>
            <a:r>
              <a:rPr lang="ru-RU" sz="1600" dirty="0" smtClean="0"/>
              <a:t> </a:t>
            </a:r>
            <a:r>
              <a:rPr lang="ru-RU" sz="1600" dirty="0"/>
              <a:t>кнопку заказа прямо в заголовок: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00109"/>
            <a:ext cx="8229600" cy="3500462"/>
          </a:xfrm>
        </p:spPr>
        <p:txBody>
          <a:bodyPr>
            <a:normAutofit fontScale="62500" lnSpcReduction="20000"/>
          </a:bodyPr>
          <a:lstStyle/>
          <a:p>
            <a:pPr fontAlgn="base">
              <a:buNone/>
            </a:pPr>
            <a:r>
              <a:rPr lang="en-GB" dirty="0"/>
              <a:t>&lt;</a:t>
            </a:r>
            <a:r>
              <a:rPr lang="en-GB" dirty="0" err="1"/>
              <a:t>GroupBox</a:t>
            </a:r>
            <a:r>
              <a:rPr lang="en-GB" dirty="0"/>
              <a:t> Padding="5"&gt;</a:t>
            </a:r>
          </a:p>
          <a:p>
            <a:pPr fontAlgn="base">
              <a:buNone/>
            </a:pPr>
            <a:r>
              <a:rPr lang="en-GB" dirty="0"/>
              <a:t>    &lt;</a:t>
            </a:r>
            <a:r>
              <a:rPr lang="en-GB" dirty="0" err="1"/>
              <a:t>GroupBox.Header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    &lt;Button Background="Lavender"&gt;</a:t>
            </a:r>
            <a:r>
              <a:rPr lang="ru-RU" dirty="0"/>
              <a:t>Выбрать блюдо&lt;/</a:t>
            </a:r>
            <a:r>
              <a:rPr lang="en-GB" dirty="0"/>
              <a:t>Button&gt;</a:t>
            </a:r>
          </a:p>
          <a:p>
            <a:pPr fontAlgn="base">
              <a:buNone/>
            </a:pPr>
            <a:r>
              <a:rPr lang="en-GB" dirty="0"/>
              <a:t>    &lt;/</a:t>
            </a:r>
            <a:r>
              <a:rPr lang="en-GB" dirty="0" err="1"/>
              <a:t>GroupBox.Header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&lt;</a:t>
            </a:r>
            <a:r>
              <a:rPr lang="en-GB" dirty="0" err="1"/>
              <a:t>StackPanel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    &lt;</a:t>
            </a:r>
            <a:r>
              <a:rPr lang="en-GB" dirty="0" err="1"/>
              <a:t>RadioButton</a:t>
            </a:r>
            <a:r>
              <a:rPr lang="en-GB" dirty="0"/>
              <a:t> </a:t>
            </a:r>
            <a:r>
              <a:rPr lang="en-GB" dirty="0" err="1"/>
              <a:t>IsChecked</a:t>
            </a:r>
            <a:r>
              <a:rPr lang="en-GB" dirty="0"/>
              <a:t>="True" Margin="3"&gt;</a:t>
            </a:r>
            <a:r>
              <a:rPr lang="ru-RU" dirty="0"/>
              <a:t>Салат Оливье&lt;/</a:t>
            </a:r>
            <a:r>
              <a:rPr lang="en-GB" dirty="0" err="1"/>
              <a:t>RadioButton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    &lt;</a:t>
            </a:r>
            <a:r>
              <a:rPr lang="en-GB" dirty="0" err="1"/>
              <a:t>RadioButton</a:t>
            </a:r>
            <a:r>
              <a:rPr lang="en-GB" dirty="0"/>
              <a:t> Margin="3"&gt;</a:t>
            </a:r>
            <a:r>
              <a:rPr lang="ru-RU" dirty="0"/>
              <a:t>Котлеты по-киевски&lt;/</a:t>
            </a:r>
            <a:r>
              <a:rPr lang="en-GB" dirty="0" err="1"/>
              <a:t>RadioButton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    &lt;</a:t>
            </a:r>
            <a:r>
              <a:rPr lang="en-GB" dirty="0" err="1"/>
              <a:t>RadioButton</a:t>
            </a:r>
            <a:r>
              <a:rPr lang="en-GB" dirty="0"/>
              <a:t> Margin="3"&gt;</a:t>
            </a:r>
            <a:r>
              <a:rPr lang="ru-RU" dirty="0"/>
              <a:t>Селедка под шубой&lt;/</a:t>
            </a:r>
            <a:r>
              <a:rPr lang="en-GB" dirty="0" err="1"/>
              <a:t>RadioButton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    &lt;/</a:t>
            </a:r>
            <a:r>
              <a:rPr lang="en-GB" dirty="0" err="1"/>
              <a:t>StackPanel</a:t>
            </a:r>
            <a:r>
              <a:rPr lang="en-GB" dirty="0"/>
              <a:t>&gt;</a:t>
            </a:r>
          </a:p>
          <a:p>
            <a:pPr fontAlgn="base">
              <a:buNone/>
            </a:pPr>
            <a:r>
              <a:rPr lang="en-GB" dirty="0"/>
              <a:t>&lt;/</a:t>
            </a:r>
            <a:r>
              <a:rPr lang="en-GB" dirty="0" err="1"/>
              <a:t>GroupBox</a:t>
            </a:r>
            <a:r>
              <a:rPr lang="en-GB" dirty="0"/>
              <a:t>&gt;</a:t>
            </a:r>
          </a:p>
          <a:p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077072"/>
            <a:ext cx="330517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000364" y="642918"/>
            <a:ext cx="1500198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6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0000"/>
                </a:solidFill>
                <a:latin typeface="verdana"/>
              </a:rPr>
              <a:t>E</a:t>
            </a:r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xpander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Представляет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скрытое содержимое, раскрывающееся по нажатию мышкой на указатель в виде стрелки.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содержимое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опять же может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быть: </a:t>
            </a: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кнопки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текст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картинки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 т.д.</a:t>
            </a:r>
          </a:p>
          <a:p>
            <a:r>
              <a:rPr lang="ru-RU" dirty="0">
                <a:solidFill>
                  <a:srgbClr val="000000"/>
                </a:solidFill>
                <a:latin typeface="verdana"/>
              </a:rPr>
              <a:t>С помощью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IsExpanded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задать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раскрытие узла при старте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приложения(по умолчанию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узел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скрыт)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42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071810"/>
            <a:ext cx="8229600" cy="3786190"/>
          </a:xfrm>
        </p:spPr>
        <p:txBody>
          <a:bodyPr>
            <a:normAutofit fontScale="40000" lnSpcReduction="20000"/>
          </a:bodyPr>
          <a:lstStyle/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&lt;Expander Header="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Некрасов"&gt;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Однажды в студеную зимнюю пору...&lt;/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&lt;/Expander&gt;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&lt;Expander Header="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Пушкин"&gt;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Онегин был, по мнению многих, ученый малый, но ...&lt;/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&lt;/Expander&gt;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&lt;Expander Header="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Опрос"&gt;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Отметьте, что вам больше нравится&lt;/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&gt;WinForms&lt;/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&gt;WPF&lt;/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&gt;ASP.NET&lt;/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&lt;/Expander&gt;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8" y="0"/>
            <a:ext cx="36195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1500166" y="1071546"/>
            <a:ext cx="3929090" cy="2857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0800000" flipV="1">
            <a:off x="1571604" y="571480"/>
            <a:ext cx="3857652" cy="27860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0800000" flipV="1">
            <a:off x="1571604" y="1285860"/>
            <a:ext cx="3857652" cy="3214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76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можно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изменить заголовок, вложив в него, например, кнопку или изображение:</a:t>
            </a:r>
            <a:endParaRPr lang="ru-RU" sz="1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&lt;Expander&gt;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Expander.Header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    &lt;Button Background="Lavender"&gt;</a:t>
            </a:r>
            <a:r>
              <a:rPr lang="ru-RU" sz="1800" dirty="0">
                <a:solidFill>
                  <a:srgbClr val="000000"/>
                </a:solidFill>
                <a:latin typeface="Consolas"/>
              </a:rPr>
              <a:t>Опрос&lt;/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Button&gt;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Expander.Header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sz="1800" dirty="0">
                <a:solidFill>
                  <a:srgbClr val="000000"/>
                </a:solidFill>
                <a:latin typeface="Consolas"/>
              </a:rPr>
              <a:t>Выберите технологию&lt;/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&gt;WinForms&lt;/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&gt;WPF&lt;/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&gt;ASP.NET&lt;/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&lt;/Expander&gt;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41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44" y="142852"/>
            <a:ext cx="8786874" cy="6500858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хотим обработать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открытие экспандера, то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надо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обработать событие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Expanded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(а при обработке закрытия - событие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Collapsed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Эти события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вызываются до самого действия, поэтому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можем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перед открытием, например, динамически устанавливать содержание экспандера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en-US" dirty="0">
                <a:latin typeface="Consolas"/>
              </a:rPr>
              <a:t>&lt;Expander Expanded="</a:t>
            </a:r>
            <a:r>
              <a:rPr lang="en-US" dirty="0" err="1">
                <a:latin typeface="Consolas"/>
              </a:rPr>
              <a:t>Expander_Expanded</a:t>
            </a:r>
            <a:r>
              <a:rPr lang="en-US" dirty="0">
                <a:latin typeface="Consolas"/>
              </a:rPr>
              <a:t>" Collapsed="</a:t>
            </a:r>
            <a:r>
              <a:rPr lang="en-US" dirty="0" err="1">
                <a:latin typeface="Consolas"/>
              </a:rPr>
              <a:t>Expander_Collapsed</a:t>
            </a:r>
            <a:r>
              <a:rPr lang="en-US" dirty="0" smtClean="0">
                <a:latin typeface="Consolas"/>
              </a:rPr>
              <a:t>"&gt;</a:t>
            </a:r>
            <a:endParaRPr lang="ru-RU" dirty="0" smtClean="0">
              <a:latin typeface="Consolas"/>
            </a:endParaRPr>
          </a:p>
          <a:p>
            <a:pPr>
              <a:spcAft>
                <a:spcPts val="600"/>
              </a:spcAft>
            </a:pPr>
            <a:endParaRPr lang="en-US" dirty="0"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обработка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событий в файле C#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private void </a:t>
            </a:r>
            <a:r>
              <a:rPr lang="en-GB" dirty="0" err="1"/>
              <a:t>Expander_Expanded</a:t>
            </a:r>
            <a:r>
              <a:rPr lang="en-GB" dirty="0"/>
              <a:t>(object sender, </a:t>
            </a:r>
            <a:r>
              <a:rPr lang="en-GB" dirty="0" err="1"/>
              <a:t>RoutedEventArgs</a:t>
            </a:r>
            <a:r>
              <a:rPr lang="en-GB" dirty="0"/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    ((Expander)sender).Content = new Button() { Width = 80, Height = 30, Content = "</a:t>
            </a:r>
            <a:r>
              <a:rPr lang="ru-RU" dirty="0"/>
              <a:t>Привет" };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/>
              <a:t>}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/>
              <a:t> 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private void </a:t>
            </a:r>
            <a:r>
              <a:rPr lang="en-GB" dirty="0" err="1"/>
              <a:t>Expander_Collapsed</a:t>
            </a:r>
            <a:r>
              <a:rPr lang="en-GB" dirty="0"/>
              <a:t>(object sender, </a:t>
            </a:r>
            <a:r>
              <a:rPr lang="en-GB" dirty="0" err="1"/>
              <a:t>RoutedEventArgs</a:t>
            </a:r>
            <a:r>
              <a:rPr lang="en-GB" dirty="0"/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    </a:t>
            </a:r>
            <a:r>
              <a:rPr lang="en-GB" dirty="0" err="1"/>
              <a:t>MessageBox.Show</a:t>
            </a:r>
            <a:r>
              <a:rPr lang="en-GB" dirty="0"/>
              <a:t>("</a:t>
            </a:r>
            <a:r>
              <a:rPr lang="ru-RU" dirty="0"/>
              <a:t>Экспандер свернут");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/>
              <a:t>}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В </a:t>
            </a:r>
            <a:r>
              <a:rPr lang="ru-RU" dirty="0"/>
              <a:t>итоге при раскрытии элемента вместо начального содержимого там будет определенная в коде </a:t>
            </a:r>
            <a:r>
              <a:rPr lang="ru-RU" dirty="0" smtClean="0"/>
              <a:t>кнопка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288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>
                <a:solidFill>
                  <a:srgbClr val="000000"/>
                </a:solidFill>
                <a:latin typeface="verdana"/>
              </a:rPr>
              <a:t>Программное создание </a:t>
            </a:r>
            <a:r>
              <a:rPr lang="en-GB" sz="2800" b="1" dirty="0" err="1">
                <a:solidFill>
                  <a:srgbClr val="000000"/>
                </a:solidFill>
                <a:latin typeface="verdana"/>
              </a:rPr>
              <a:t>Expandera</a:t>
            </a:r>
            <a:r>
              <a:rPr lang="en-GB" sz="2800" b="1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71546"/>
            <a:ext cx="8472518" cy="5054617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= new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expanderPanel.Children.Add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(new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{ Content = "WinForms" });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expanderPanel.Children.Add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(new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{ Content = "WPF" });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expanderPanel.Children.Add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(new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CheckBox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{ Content = "ASP.NET" });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Expander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= new Expander();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expander.Header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= "</a:t>
            </a:r>
            <a:r>
              <a:rPr lang="ru-RU" sz="1800" dirty="0">
                <a:solidFill>
                  <a:srgbClr val="000000"/>
                </a:solidFill>
                <a:latin typeface="Consolas"/>
              </a:rPr>
              <a:t>Выберите технологию";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expander.Content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GB" sz="1800" dirty="0" err="1">
                <a:solidFill>
                  <a:srgbClr val="000000"/>
                </a:solidFill>
                <a:latin typeface="Consolas"/>
              </a:rPr>
              <a:t>expanderPanel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buNone/>
            </a:pPr>
            <a:r>
              <a:rPr lang="en-GB" sz="1800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GB" sz="1800" dirty="0" err="1">
                <a:solidFill>
                  <a:srgbClr val="000000"/>
                </a:solidFill>
                <a:latin typeface="Consolas"/>
              </a:rPr>
              <a:t>stackPanel.Children.Add</a:t>
            </a:r>
            <a:r>
              <a:rPr lang="en-GB" sz="1800" dirty="0">
                <a:solidFill>
                  <a:srgbClr val="000000"/>
                </a:solidFill>
                <a:latin typeface="Consolas"/>
              </a:rPr>
              <a:t>(expander);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882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 fontScale="90000"/>
          </a:bodyPr>
          <a:lstStyle/>
          <a:p>
            <a:r>
              <a:rPr lang="en-GB" sz="3200" b="1" dirty="0" err="1" smtClean="0">
                <a:solidFill>
                  <a:srgbClr val="000000"/>
                </a:solidFill>
                <a:latin typeface="verdana"/>
              </a:rPr>
              <a:t>ScrollViewer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sz="3200" b="1" dirty="0" smtClean="0">
                <a:solidFill>
                  <a:srgbClr val="000000"/>
                </a:solidFill>
                <a:latin typeface="verdana"/>
              </a:rPr>
            </a:b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Создание прокрутки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Может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вмещать в себя только 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один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элемент, поэтому все элементы, помещаемые внутрь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ScrollViewer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необходимо облачить в еще один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контейнер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829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8" y="-1066"/>
            <a:ext cx="6715172" cy="672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925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err="1" smtClean="0"/>
              <a:t>ScrollViewer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429288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поддерживает  </a:t>
            </a:r>
            <a:r>
              <a:rPr lang="ru-RU" dirty="0" err="1" smtClean="0"/>
              <a:t>вертикальнуюи</a:t>
            </a:r>
            <a:r>
              <a:rPr lang="ru-RU" dirty="0" smtClean="0"/>
              <a:t> </a:t>
            </a:r>
            <a:r>
              <a:rPr lang="ru-RU" dirty="0"/>
              <a:t>горизонтальную </a:t>
            </a:r>
            <a:r>
              <a:rPr lang="ru-RU" dirty="0" smtClean="0"/>
              <a:t>прокрутку </a:t>
            </a:r>
            <a:r>
              <a:rPr lang="ru-RU" dirty="0"/>
              <a:t>с помощью свойств </a:t>
            </a:r>
            <a:r>
              <a:rPr lang="ru-RU" b="1" dirty="0" err="1"/>
              <a:t>HorizontalScrollBarVisibility</a:t>
            </a:r>
            <a:r>
              <a:rPr lang="ru-RU" dirty="0"/>
              <a:t> и </a:t>
            </a:r>
            <a:r>
              <a:rPr lang="ru-RU" b="1" dirty="0" err="1" smtClean="0"/>
              <a:t>VerticalScrollBarVisibility</a:t>
            </a:r>
            <a:endParaRPr lang="ru-RU" dirty="0" err="1" smtClean="0"/>
          </a:p>
          <a:p>
            <a:r>
              <a:rPr lang="ru-RU" dirty="0" smtClean="0"/>
              <a:t>свойства </a:t>
            </a:r>
            <a:r>
              <a:rPr lang="ru-RU" dirty="0"/>
              <a:t>принимают </a:t>
            </a:r>
            <a:r>
              <a:rPr lang="ru-RU" dirty="0" smtClean="0"/>
              <a:t>значения:</a:t>
            </a:r>
            <a:endParaRPr lang="ru-RU" dirty="0"/>
          </a:p>
          <a:p>
            <a:pPr lvl="1"/>
            <a:r>
              <a:rPr lang="ru-RU" b="1" dirty="0" err="1"/>
              <a:t>Auto</a:t>
            </a:r>
            <a:r>
              <a:rPr lang="ru-RU" dirty="0"/>
              <a:t>: наличие полос прокрутки устанавливается автоматически</a:t>
            </a:r>
          </a:p>
          <a:p>
            <a:pPr lvl="1"/>
            <a:r>
              <a:rPr lang="ru-RU" b="1" dirty="0" err="1"/>
              <a:t>Visible</a:t>
            </a:r>
            <a:r>
              <a:rPr lang="ru-RU" dirty="0"/>
              <a:t>: полосы прокрутки отображаются в окне приложения</a:t>
            </a:r>
          </a:p>
          <a:p>
            <a:pPr lvl="1"/>
            <a:r>
              <a:rPr lang="ru-RU" b="1" dirty="0" err="1"/>
              <a:t>Hidden</a:t>
            </a:r>
            <a:r>
              <a:rPr lang="ru-RU" dirty="0"/>
              <a:t>: полосы прокрутки не видно, но прокрутка возможна с помощью клавиш клавиатуры</a:t>
            </a:r>
          </a:p>
          <a:p>
            <a:pPr lvl="1"/>
            <a:r>
              <a:rPr lang="ru-RU" b="1" dirty="0" err="1"/>
              <a:t>Disabled</a:t>
            </a:r>
            <a:r>
              <a:rPr lang="ru-RU" dirty="0"/>
              <a:t>: полосы прокрутки не используются, а сама прокрутка даже с помощью клавиатуры невозможна</a:t>
            </a:r>
          </a:p>
          <a:p>
            <a:pPr lvl="1"/>
            <a:r>
              <a:rPr lang="ru-RU" b="1" dirty="0" err="1" smtClean="0"/>
              <a:t>CanContentScroll</a:t>
            </a:r>
            <a:r>
              <a:rPr lang="ru-RU" dirty="0" smtClean="0"/>
              <a:t> – </a:t>
            </a:r>
            <a:r>
              <a:rPr lang="ru-RU" dirty="0" err="1" smtClean="0"/>
              <a:t>True</a:t>
            </a:r>
            <a:r>
              <a:rPr lang="ru-RU" dirty="0" smtClean="0"/>
              <a:t> - прокрутка </a:t>
            </a:r>
            <a:r>
              <a:rPr lang="ru-RU" dirty="0"/>
              <a:t>осуществляется не на несколько пикселей, а к началу следующего </a:t>
            </a:r>
            <a:r>
              <a:rPr lang="ru-RU" dirty="0" smtClean="0"/>
              <a:t>элемента</a:t>
            </a:r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прокрутку </a:t>
            </a:r>
            <a:r>
              <a:rPr lang="ru-RU" dirty="0"/>
              <a:t>можно организовать программным способом - с помощью </a:t>
            </a:r>
            <a:r>
              <a:rPr lang="ru-RU" dirty="0" smtClean="0"/>
              <a:t>методов </a:t>
            </a:r>
            <a:r>
              <a:rPr lang="ru-RU" dirty="0"/>
              <a:t>элемента </a:t>
            </a:r>
            <a:r>
              <a:rPr lang="ru-RU" dirty="0" err="1"/>
              <a:t>ScrollViewer</a:t>
            </a:r>
            <a:r>
              <a:rPr lang="ru-RU" dirty="0"/>
              <a:t>:</a:t>
            </a:r>
          </a:p>
          <a:p>
            <a:pPr lvl="1"/>
            <a:r>
              <a:rPr lang="ru-RU" b="1" dirty="0" err="1"/>
              <a:t>LineUp</a:t>
            </a:r>
            <a:r>
              <a:rPr lang="ru-RU" b="1" dirty="0" smtClean="0"/>
              <a:t>() - </a:t>
            </a:r>
            <a:r>
              <a:rPr lang="ru-RU" dirty="0" smtClean="0"/>
              <a:t>вверх</a:t>
            </a:r>
            <a:endParaRPr lang="ru-RU" b="1" dirty="0" smtClean="0"/>
          </a:p>
          <a:p>
            <a:pPr lvl="1"/>
            <a:r>
              <a:rPr lang="ru-RU" b="1" dirty="0" err="1" smtClean="0"/>
              <a:t>LineDown</a:t>
            </a:r>
            <a:r>
              <a:rPr lang="ru-RU" b="1" dirty="0" smtClean="0"/>
              <a:t>() - </a:t>
            </a:r>
            <a:r>
              <a:rPr lang="ru-RU" dirty="0" smtClean="0"/>
              <a:t>вниз</a:t>
            </a:r>
            <a:endParaRPr lang="ru-RU" b="1" dirty="0" smtClean="0"/>
          </a:p>
          <a:p>
            <a:pPr lvl="1"/>
            <a:r>
              <a:rPr lang="ru-RU" b="1" dirty="0" err="1" smtClean="0"/>
              <a:t>LineRight</a:t>
            </a:r>
            <a:r>
              <a:rPr lang="ru-RU" b="1" dirty="0" smtClean="0"/>
              <a:t>() - </a:t>
            </a:r>
            <a:r>
              <a:rPr lang="ru-RU" dirty="0" smtClean="0"/>
              <a:t>вправо</a:t>
            </a:r>
            <a:endParaRPr lang="ru-RU" b="1" dirty="0" smtClean="0"/>
          </a:p>
          <a:p>
            <a:pPr lvl="1"/>
            <a:r>
              <a:rPr lang="ru-RU" b="1" dirty="0" err="1" smtClean="0"/>
              <a:t>LineLeft</a:t>
            </a:r>
            <a:r>
              <a:rPr lang="ru-RU" b="1" dirty="0" smtClean="0"/>
              <a:t>()</a:t>
            </a:r>
            <a:r>
              <a:rPr lang="ru-RU" dirty="0"/>
              <a:t> </a:t>
            </a:r>
            <a:r>
              <a:rPr lang="ru-RU" dirty="0" smtClean="0"/>
              <a:t>- влево</a:t>
            </a:r>
            <a:r>
              <a:rPr lang="ru-RU" dirty="0"/>
              <a:t>.</a:t>
            </a:r>
          </a:p>
          <a:p>
            <a:pPr lvl="1"/>
            <a:r>
              <a:rPr lang="ru-RU" b="1" dirty="0" err="1"/>
              <a:t>ScrollToEnd</a:t>
            </a:r>
            <a:r>
              <a:rPr lang="ru-RU" b="1" dirty="0" smtClean="0"/>
              <a:t>() - </a:t>
            </a:r>
            <a:r>
              <a:rPr lang="ru-RU" dirty="0" smtClean="0"/>
              <a:t>прокрутка в конец окна </a:t>
            </a:r>
            <a:endParaRPr lang="ru-RU" b="1" dirty="0" smtClean="0"/>
          </a:p>
          <a:p>
            <a:pPr lvl="1"/>
            <a:r>
              <a:rPr lang="ru-RU" b="1" dirty="0" err="1" smtClean="0"/>
              <a:t>ScrollToHome</a:t>
            </a:r>
            <a:r>
              <a:rPr lang="ru-RU" b="1" dirty="0" smtClean="0"/>
              <a:t>()</a:t>
            </a:r>
            <a:r>
              <a:rPr lang="ru-RU" dirty="0" smtClean="0"/>
              <a:t> - </a:t>
            </a:r>
            <a:r>
              <a:rPr lang="ru-RU" dirty="0"/>
              <a:t>в начало.</a:t>
            </a:r>
          </a:p>
          <a:p>
            <a:pPr lvl="1"/>
            <a:r>
              <a:rPr lang="ru-RU" b="1" dirty="0" err="1"/>
              <a:t>ScrollToRightEnd</a:t>
            </a:r>
            <a:r>
              <a:rPr lang="ru-RU" b="1" dirty="0" smtClean="0"/>
              <a:t>() - </a:t>
            </a:r>
            <a:r>
              <a:rPr lang="ru-RU" dirty="0" smtClean="0"/>
              <a:t>прокрутка в правый </a:t>
            </a:r>
            <a:r>
              <a:rPr lang="ru-RU" b="1" dirty="0" smtClean="0"/>
              <a:t>	</a:t>
            </a:r>
          </a:p>
          <a:p>
            <a:pPr lvl="1"/>
            <a:r>
              <a:rPr lang="ru-RU" b="1" dirty="0" err="1" smtClean="0"/>
              <a:t>ScrollToLeftEnd</a:t>
            </a:r>
            <a:r>
              <a:rPr lang="ru-RU" b="1" dirty="0" smtClean="0"/>
              <a:t> -</a:t>
            </a:r>
            <a:r>
              <a:rPr lang="ru-RU" dirty="0" smtClean="0"/>
              <a:t> </a:t>
            </a:r>
            <a:r>
              <a:rPr lang="ru-RU" dirty="0"/>
              <a:t>левый конец окна.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111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504135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29256" y="2500306"/>
            <a:ext cx="32826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в </a:t>
            </a:r>
            <a:r>
              <a:rPr lang="ru-RU" sz="1400" dirty="0"/>
              <a:t>файле кода C# </a:t>
            </a:r>
            <a:r>
              <a:rPr lang="ru-RU" sz="1400" dirty="0" smtClean="0"/>
              <a:t>обработчики </a:t>
            </a:r>
            <a:r>
              <a:rPr lang="ru-RU" sz="1400" dirty="0"/>
              <a:t>кнопок, которые будут выполнять программно прокрутку: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86314" y="3768473"/>
            <a:ext cx="428628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using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System.Windows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;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namespace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ControlsApp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{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public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partial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class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MainWindow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: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Window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{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public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MainWindow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        {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InitializeComponent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();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}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private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void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Up_Click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object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sender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RoutedEventArgs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e)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{    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scroll.LineUp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();        }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private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void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Down_Click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6699"/>
                </a:solidFill>
                <a:effectLst/>
                <a:latin typeface="Consolas" pitchFamily="49" charset="0"/>
                <a:cs typeface="Arial" pitchFamily="34" charset="0"/>
              </a:rPr>
              <a:t>object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sender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RoutedEventArgs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 e)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    {            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scroll.LineDown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();        }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    }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Arial" pitchFamily="34" charset="0"/>
              </a:rPr>
              <a:t>}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61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Текстовые элементы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управления</a:t>
            </a:r>
            <a:br>
              <a:rPr lang="ru-RU" sz="3200" b="1" dirty="0" smtClean="0">
                <a:solidFill>
                  <a:srgbClr val="000000"/>
                </a:solidFill>
                <a:latin typeface="verdana"/>
              </a:rPr>
            </a:br>
            <a:r>
              <a:rPr lang="ru-RU" sz="2800" b="1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sz="2800" b="1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sz="2800" b="1" dirty="0" smtClean="0">
                <a:solidFill>
                  <a:srgbClr val="000000"/>
                </a:solidFill>
                <a:latin typeface="verdana"/>
              </a:rPr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143536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вывод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текстовой информации, для создания простых надписей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&lt;</a:t>
            </a:r>
            <a:r>
              <a:rPr lang="en-GB" dirty="0" err="1"/>
              <a:t>StackPanel</a:t>
            </a:r>
            <a:r>
              <a:rPr lang="en-GB" dirty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    &lt;</a:t>
            </a:r>
            <a:r>
              <a:rPr lang="en-GB" dirty="0" err="1"/>
              <a:t>TextBlock</a:t>
            </a:r>
            <a:r>
              <a:rPr lang="en-GB" dirty="0"/>
              <a:t>&gt;</a:t>
            </a:r>
            <a:r>
              <a:rPr lang="ru-RU" dirty="0"/>
              <a:t>Текст1&lt;/</a:t>
            </a:r>
            <a:r>
              <a:rPr lang="en-GB" dirty="0" err="1"/>
              <a:t>TextBlock</a:t>
            </a:r>
            <a:r>
              <a:rPr lang="en-GB" dirty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/>
              <a:t>    &lt;</a:t>
            </a:r>
            <a:r>
              <a:rPr lang="en-GB" dirty="0" err="1"/>
              <a:t>TextBlock</a:t>
            </a:r>
            <a:r>
              <a:rPr lang="en-GB" dirty="0"/>
              <a:t> Text="</a:t>
            </a:r>
            <a:r>
              <a:rPr lang="ru-RU" dirty="0"/>
              <a:t>Текст2"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/>
              <a:t>&lt;/</a:t>
            </a:r>
            <a:r>
              <a:rPr lang="en-GB" dirty="0" err="1"/>
              <a:t>StackPanel</a:t>
            </a:r>
            <a:r>
              <a:rPr lang="en-GB" dirty="0" smtClean="0"/>
              <a:t>&gt;</a:t>
            </a:r>
          </a:p>
          <a:p>
            <a:pPr fontAlgn="base">
              <a:spcAft>
                <a:spcPts val="600"/>
              </a:spcAft>
            </a:pPr>
            <a:r>
              <a:rPr lang="ru-RU" dirty="0"/>
              <a:t>Ключевым свойством здесь является свойство </a:t>
            </a:r>
            <a:r>
              <a:rPr lang="ru-RU" dirty="0" err="1"/>
              <a:t>Text</a:t>
            </a:r>
            <a:r>
              <a:rPr lang="ru-RU" dirty="0"/>
              <a:t>, которое задает текстовое содержимое. </a:t>
            </a:r>
            <a:endParaRPr lang="ru-RU" dirty="0" smtClean="0"/>
          </a:p>
          <a:p>
            <a:pPr fontAlgn="base">
              <a:spcAft>
                <a:spcPts val="600"/>
              </a:spcAft>
            </a:pPr>
            <a:r>
              <a:rPr lang="ru-RU" dirty="0" smtClean="0"/>
              <a:t>данное свойство задается неявно: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/>
              <a:t>&lt;</a:t>
            </a:r>
            <a:r>
              <a:rPr lang="ru-RU" dirty="0" err="1" smtClean="0"/>
              <a:t>TextBlock</a:t>
            </a:r>
            <a:r>
              <a:rPr lang="ru-RU" dirty="0" smtClean="0"/>
              <a:t>&gt;Текст1</a:t>
            </a:r>
            <a:r>
              <a:rPr lang="ru-RU" dirty="0"/>
              <a:t>&lt;/</a:t>
            </a:r>
            <a:r>
              <a:rPr lang="ru-RU" dirty="0" err="1"/>
              <a:t>TextBlock</a:t>
            </a:r>
            <a:r>
              <a:rPr lang="ru-RU" dirty="0"/>
              <a:t>&gt; </a:t>
            </a:r>
            <a:endParaRPr lang="ru-RU" dirty="0" smtClean="0"/>
          </a:p>
          <a:p>
            <a:pPr fontAlgn="base">
              <a:spcAft>
                <a:spcPts val="600"/>
              </a:spcAft>
            </a:pPr>
            <a:r>
              <a:rPr lang="ru-RU" dirty="0" smtClean="0"/>
              <a:t>свойства </a:t>
            </a:r>
            <a:r>
              <a:rPr lang="ru-RU" b="1" dirty="0" err="1" smtClean="0"/>
              <a:t>FontFamily</a:t>
            </a:r>
            <a:r>
              <a:rPr lang="ru-RU" dirty="0" smtClean="0"/>
              <a:t>, </a:t>
            </a:r>
            <a:r>
              <a:rPr lang="ru-RU" b="1" dirty="0" err="1" smtClean="0"/>
              <a:t>TextDecorations</a:t>
            </a:r>
            <a:r>
              <a:rPr lang="ru-RU" dirty="0" smtClean="0"/>
              <a:t> - настройка отображение текста</a:t>
            </a:r>
            <a:endParaRPr lang="en-GB" dirty="0"/>
          </a:p>
          <a:p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095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sz="1400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9" y="214290"/>
            <a:ext cx="7024855" cy="5072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572000" y="5286388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Элементы 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Run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 представляют куски обычного текста, для которых можно задать отдельное форматирование.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2174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изменения параметров отображаемого текста 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28736"/>
            <a:ext cx="8401080" cy="5286412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T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extBlock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LineHeight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указывает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высоту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строк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TextWrapping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переносит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 при установке этого свойства 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TextWrapping=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Wrap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". По умолчанию это свойство имеет значение 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NoWrap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поэтому текст не переносится.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TextAllignment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выравнивает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2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центру (значение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Center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2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правому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(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Right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2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левому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краю (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Left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):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&lt;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TextAlignment=</a:t>
            </a:r>
            <a:r>
              <a:rPr lang="ru-RU" b="1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Right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"&gt;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декорации текста используется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TextDecorations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</a:t>
            </a:r>
          </a:p>
          <a:p>
            <a:pPr lvl="1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если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TextDecorations=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Underline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", то текст будет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подчеркнут</a:t>
            </a:r>
          </a:p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перенес текста на другую строку(</a:t>
            </a:r>
            <a:r>
              <a:rPr lang="ru-RU" dirty="0" err="1" smtClean="0"/>
              <a:t>LineBreak</a:t>
            </a:r>
            <a:r>
              <a:rPr lang="ru-RU" dirty="0" smtClean="0"/>
              <a:t>)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    Однажды в студеную зимнюю пору</a:t>
            </a:r>
          </a:p>
          <a:p>
            <a:pPr fontAlgn="base"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LineBreak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    Я из лесу вышел</a:t>
            </a:r>
          </a:p>
          <a:p>
            <a:pPr fontAlgn="base"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lvl="1">
              <a:spcAft>
                <a:spcPts val="600"/>
              </a:spcAft>
            </a:pP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268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0" y="928670"/>
            <a:ext cx="8643998" cy="5786478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поле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для ввода текстовой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информации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имеет свойства: </a:t>
            </a:r>
          </a:p>
          <a:p>
            <a:pPr lvl="1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TextWrapping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TextAllignment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TextDecorations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MaxLength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задает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предельное количество вводимых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символов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GB" dirty="0" smtClean="0"/>
              <a:t>&lt;</a:t>
            </a:r>
            <a:r>
              <a:rPr lang="en-GB" b="1" dirty="0" err="1"/>
              <a:t>TextBox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 err="1"/>
              <a:t>MaxLength</a:t>
            </a:r>
            <a:r>
              <a:rPr lang="en-GB" b="1" dirty="0"/>
              <a:t>="250"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 err="1"/>
              <a:t>TextChanged</a:t>
            </a:r>
            <a:r>
              <a:rPr lang="en-GB" b="1" dirty="0"/>
              <a:t>="</a:t>
            </a:r>
            <a:r>
              <a:rPr lang="en-GB" b="1" dirty="0" err="1"/>
              <a:t>TextBox_TextChanged</a:t>
            </a:r>
            <a:r>
              <a:rPr lang="en-GB" b="1" dirty="0"/>
              <a:t>"&gt;</a:t>
            </a:r>
            <a:r>
              <a:rPr lang="ru-RU" b="1" dirty="0"/>
              <a:t>Начальный текст&lt;/</a:t>
            </a:r>
            <a:r>
              <a:rPr lang="en-GB" b="1" dirty="0" err="1"/>
              <a:t>TextBox</a:t>
            </a:r>
            <a:r>
              <a:rPr lang="en-GB" b="1" dirty="0" smtClean="0"/>
              <a:t>&gt;</a:t>
            </a:r>
            <a:endParaRPr lang="ru-RU" b="1" dirty="0" smtClean="0"/>
          </a:p>
          <a:p>
            <a:pPr>
              <a:buNone/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>
                <a:solidFill>
                  <a:srgbClr val="000000"/>
                </a:solidFill>
                <a:latin typeface="verdana"/>
              </a:rPr>
              <a:t>В коде C#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обработка события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изменения текста:</a:t>
            </a:r>
          </a:p>
          <a:p>
            <a:pPr fontAlgn="base">
              <a:buNone/>
            </a:pP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en-GB" b="1" dirty="0" smtClean="0">
                <a:solidFill>
                  <a:srgbClr val="000000"/>
                </a:solidFill>
                <a:latin typeface="Consolas"/>
              </a:rPr>
              <a:t>private 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void 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TextBox_TextChanged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TextChangedEventArgs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b="1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= (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buNone/>
            </a:pPr>
            <a:r>
              <a:rPr lang="en-GB" b="1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textBox.Text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fontAlgn="base">
              <a:buNone/>
            </a:pPr>
            <a:r>
              <a:rPr lang="en-GB" b="1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По умолчанию, если вводимый текст превышает установленные границы поля, то текстовое поле </a:t>
            </a:r>
            <a:r>
              <a:rPr lang="ru-RU" b="1" dirty="0" smtClean="0">
                <a:solidFill>
                  <a:srgbClr val="FF0000"/>
                </a:solidFill>
                <a:latin typeface="verdana"/>
              </a:rPr>
              <a:t>растет, чтобы вместить весь текст </a:t>
            </a:r>
            <a:r>
              <a:rPr lang="ru-RU" dirty="0" smtClean="0">
                <a:latin typeface="verdana"/>
              </a:rPr>
              <a:t>(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но визуально это не очень хорошо выглядит). Поэтому, как и в случае с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можно перенести непомещающийся текст на новую строку, установив свойство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TextWrapping=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Wrap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88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TextBox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AcceptsReturn=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" - переводит по нажатию на клавишу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Enter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курсор на следующую строку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AcceptsTab=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"  - создание табуляции с помощью клавиши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Tab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Для отображения полос прокрутки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TextBox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поддерживает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VerticalScrollBarVisibility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НоrizontalScrollBarVisibility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AcceptsReturn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="True" Height="100"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VerticalScrollBarVisibility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="Auto"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HorizontalScrollBarVisibility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="Auto"&gt;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Начальный текст&lt;/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ru-RU" dirty="0" err="1" smtClean="0"/>
              <a:t>IsReadOnly</a:t>
            </a:r>
            <a:r>
              <a:rPr lang="ru-RU" dirty="0" err="1"/>
              <a:t>=</a:t>
            </a:r>
            <a:r>
              <a:rPr lang="ru-RU" dirty="0"/>
              <a:t>"</a:t>
            </a:r>
            <a:r>
              <a:rPr lang="ru-RU" dirty="0" err="1"/>
              <a:t>True</a:t>
            </a:r>
            <a:r>
              <a:rPr lang="ru-RU" dirty="0" smtClean="0"/>
              <a:t>"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текстовое поле недоступно для ввода (на время в зависимости от условий или вообще)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94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85728"/>
            <a:ext cx="8472518" cy="6357982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ru-RU" dirty="0">
                <a:solidFill>
                  <a:srgbClr val="000000"/>
                </a:solidFill>
                <a:latin typeface="verdana"/>
              </a:rPr>
              <a:t>Для выделения текста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свойства:</a:t>
            </a: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SelectionStart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 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SelectionLength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1" fontAlgn="base"/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SelectionText</a:t>
            </a: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pPr lvl="1" fontAlgn="base"/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Например, выделение текста по нажатию кнопки:</a:t>
            </a:r>
          </a:p>
          <a:p>
            <a:pPr fontAlgn="base">
              <a:buNone/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x:Name="textBox1" Height="100"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SelectionBrush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="Blue" /&gt;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&lt;Button Content="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Выделить текст" 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Height="30" Width="100" Click="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 Margin="10" /&gt;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GB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en-GB" dirty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Обработчик нажатия кнопки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textBox1.SelectionStart = 5;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textBox1.SelectionLength = 10;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textBox1.Focus();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GB" dirty="0">
                <a:solidFill>
                  <a:srgbClr val="00B050"/>
                </a:solidFill>
                <a:latin typeface="Consolas"/>
              </a:rPr>
              <a:t> // </a:t>
            </a:r>
            <a:r>
              <a:rPr lang="ru-RU" dirty="0">
                <a:solidFill>
                  <a:srgbClr val="00B050"/>
                </a:solidFill>
                <a:latin typeface="Consolas"/>
              </a:rPr>
              <a:t>данное выражение эквивалентно</a:t>
            </a:r>
          </a:p>
          <a:p>
            <a:pPr fontAlgn="base">
              <a:buNone/>
            </a:pPr>
            <a:r>
              <a:rPr lang="ru-RU" dirty="0">
                <a:solidFill>
                  <a:srgbClr val="00B050"/>
                </a:solidFill>
                <a:latin typeface="Consolas"/>
              </a:rPr>
              <a:t>    //</a:t>
            </a:r>
            <a:r>
              <a:rPr lang="en-GB" dirty="0">
                <a:solidFill>
                  <a:srgbClr val="00B050"/>
                </a:solidFill>
                <a:latin typeface="Consolas"/>
              </a:rPr>
              <a:t>textBox1.Select(5, 10);</a:t>
            </a:r>
          </a:p>
          <a:p>
            <a:pPr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58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4290"/>
            <a:ext cx="4186238" cy="591187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 smtClean="0">
                <a:solidFill>
                  <a:srgbClr val="000000"/>
                </a:solidFill>
                <a:latin typeface="verdana"/>
              </a:rPr>
              <a:t>Проверка орфографии</a:t>
            </a:r>
          </a:p>
          <a:p>
            <a:pPr>
              <a:spcAft>
                <a:spcPts val="600"/>
              </a:spcAft>
            </a:pPr>
            <a:r>
              <a:rPr lang="ru-RU" sz="2100" dirty="0" err="1" smtClean="0">
                <a:solidFill>
                  <a:srgbClr val="000000"/>
                </a:solidFill>
                <a:latin typeface="verdana"/>
              </a:rPr>
              <a:t>TextBox</a:t>
            </a: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обладает встроенной поддержкой </a:t>
            </a: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орфографии:</a:t>
            </a:r>
          </a:p>
          <a:p>
            <a:pPr>
              <a:spcAft>
                <a:spcPts val="600"/>
              </a:spcAft>
              <a:buNone/>
            </a:pPr>
            <a:r>
              <a:rPr lang="ru-RU" sz="2100" dirty="0" err="1" smtClean="0">
                <a:solidFill>
                  <a:srgbClr val="000000"/>
                </a:solidFill>
                <a:latin typeface="verdana"/>
              </a:rPr>
              <a:t>SpellCheck.IsEnabled</a:t>
            </a:r>
            <a:r>
              <a:rPr lang="ru-RU" sz="2100" dirty="0" err="1">
                <a:solidFill>
                  <a:srgbClr val="000000"/>
                </a:solidFill>
                <a:latin typeface="verdana"/>
              </a:rPr>
              <a:t>=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2100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" </a:t>
            </a:r>
          </a:p>
          <a:p>
            <a:pPr>
              <a:spcAft>
                <a:spcPts val="600"/>
              </a:spcAft>
            </a:pP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по 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умолчанию проверка орфографии распространяется только на английский язык, </a:t>
            </a:r>
            <a:endParaRPr lang="ru-RU" sz="21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если 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приложение заточено под другой язык, </a:t>
            </a:r>
            <a:r>
              <a:rPr lang="ru-RU" sz="2100" dirty="0" smtClean="0">
                <a:solidFill>
                  <a:srgbClr val="000000"/>
                </a:solidFill>
                <a:latin typeface="verdana"/>
              </a:rPr>
              <a:t>то надо явным 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образом указать через свойство </a:t>
            </a:r>
            <a:r>
              <a:rPr lang="ru-RU" sz="2100" b="1" dirty="0" err="1">
                <a:solidFill>
                  <a:srgbClr val="000000"/>
                </a:solidFill>
                <a:latin typeface="verdana"/>
              </a:rPr>
              <a:t>Language</a:t>
            </a:r>
            <a:r>
              <a:rPr lang="ru-RU" sz="2100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SpellCheck.IsEnabled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="True" Language="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ru-ru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"&gt;</a:t>
            </a:r>
            <a:r>
              <a:rPr lang="ru-RU" sz="2100" dirty="0">
                <a:solidFill>
                  <a:srgbClr val="000000"/>
                </a:solidFill>
                <a:latin typeface="Consolas"/>
              </a:rPr>
              <a:t>Привет, как </a:t>
            </a:r>
            <a:r>
              <a:rPr lang="ru-RU" sz="2100" dirty="0" err="1">
                <a:solidFill>
                  <a:srgbClr val="000000"/>
                </a:solidFill>
                <a:latin typeface="Consolas"/>
              </a:rPr>
              <a:t>дила</a:t>
            </a:r>
            <a:r>
              <a:rPr lang="ru-RU" sz="2100" dirty="0">
                <a:solidFill>
                  <a:srgbClr val="000000"/>
                </a:solidFill>
                <a:latin typeface="Consolas"/>
              </a:rPr>
              <a:t>?&lt;/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GB" sz="2100" dirty="0">
                <a:solidFill>
                  <a:srgbClr val="000000"/>
                </a:solidFill>
                <a:latin typeface="Consolas"/>
              </a:rPr>
              <a:t>&lt;/</a:t>
            </a:r>
            <a:r>
              <a:rPr lang="en-GB" sz="2100" dirty="0" err="1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GB" sz="21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288" y="188640"/>
            <a:ext cx="44577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44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Метка (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Label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особенность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меток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поддержка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мнемонических команд-клавиш быстрого доступа, которые передают фокус связанному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элементу</a:t>
            </a:r>
          </a:p>
          <a:p>
            <a:pPr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Label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Target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="{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Binding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ElementName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=TextBox1}"&gt;_привет&lt;/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Label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Name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="TextBox1"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Margin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="0 30 0 0"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Height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="30"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Width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="100"&gt;&lt;/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теперь,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нажав на клавишу "п",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переводим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фокус на связанное текстовое поле.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При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вызове приложения подчеркивание не отображается, чтобы отображать подчеркивание, надо нажать на клавишу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Alt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Тогда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чтобы перевести фокус на связанное текстовое поле необходимо будет нажать сочетание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Alt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+ "п". Если не предполагается использование клавиш быстрого доступа, то для вывода обычной текста вместо меток лучше использовать элемент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TextBlock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59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86370" cy="582594"/>
          </a:xfrm>
        </p:spPr>
        <p:txBody>
          <a:bodyPr>
            <a:normAutofit/>
          </a:bodyPr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PasswordBox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0" y="928670"/>
            <a:ext cx="5143536" cy="3786214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ввод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парольной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информации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это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тоже текстовое поле, только для ввода символов используется 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маска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PasswordChar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устанавливает символ маски, отображаемый при вводе пароля. Если это свойство не задано, то по умолчанию для маски символа используется черная точка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Свойство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Password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устанавливает парольную строку, отображаемую по умолчанию при загрузке окна приложения.</a:t>
            </a:r>
          </a:p>
          <a:p>
            <a:pPr>
              <a:spcAft>
                <a:spcPts val="600"/>
              </a:spcAft>
            </a:pPr>
            <a:endParaRPr lang="ru-RU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88640"/>
            <a:ext cx="34385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42910" y="4429132"/>
            <a:ext cx="7429552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PasswordBox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PasswordChar=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"*" 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MinHeight=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"30"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PasswordBox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MinHeight=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"30"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ru-RU" b="1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ru-RU" b="1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b="1" dirty="0">
              <a:solidFill>
                <a:srgbClr val="0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87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RichTextBox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для вывода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текстового содержимого, насыщенного форматированием,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графикой(выводит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не просто текст, а документы с более сложным форматированием, чем обычный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TextBox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255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Элементы управления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списками</a:t>
            </a:r>
            <a:endParaRPr lang="ru-RU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785794"/>
            <a:ext cx="6449263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714876" y="5214950"/>
            <a:ext cx="42148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являются производными от класса </a:t>
            </a:r>
            <a:r>
              <a:rPr lang="ru-RU" sz="1400" b="1" dirty="0" err="1" smtClean="0"/>
              <a:t>ItemsControl</a:t>
            </a:r>
            <a:r>
              <a:rPr lang="ru-RU" sz="1400" dirty="0" smtClean="0"/>
              <a:t>, который является наследником класса </a:t>
            </a:r>
            <a:r>
              <a:rPr lang="ru-RU" sz="1400" b="1" dirty="0" err="1" smtClean="0"/>
              <a:t>Control</a:t>
            </a:r>
            <a:r>
              <a:rPr lang="ru-RU" sz="1400" dirty="0" smtClean="0"/>
              <a:t>, содержат коллекцию элементов. </a:t>
            </a:r>
          </a:p>
          <a:p>
            <a:r>
              <a:rPr lang="ru-RU" sz="1400" dirty="0" smtClean="0"/>
              <a:t>Элементы могут быть напрямую добавлены в коллекцию, возможна также привязка некоторого массива данных к коллекции.</a:t>
            </a:r>
            <a:endParaRPr lang="ru-RU" sz="14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>
            <a:off x="2643174" y="5143512"/>
            <a:ext cx="300039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10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Все элементы, размещенные внутри спискового элемента </a:t>
            </a:r>
            <a:r>
              <a:rPr lang="ru-RU" dirty="0" err="1" smtClean="0"/>
              <a:t>ListBox</a:t>
            </a:r>
            <a:r>
              <a:rPr lang="ru-RU" dirty="0" smtClean="0"/>
              <a:t>, представляют элементы списка.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Коллекция объектов внутри элемента-списка доступна в виде свойства </a:t>
            </a:r>
            <a:r>
              <a:rPr lang="ru-RU" b="1" dirty="0" err="1" smtClean="0"/>
              <a:t>Items</a:t>
            </a:r>
            <a:r>
              <a:rPr lang="ru-RU" dirty="0" smtClean="0"/>
              <a:t>.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ru-RU" dirty="0" smtClean="0"/>
              <a:t>Для управления элементами из этой коллекции используются методы: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Add</a:t>
            </a:r>
            <a:r>
              <a:rPr lang="ru-RU" b="1" dirty="0" smtClean="0"/>
              <a:t>(</a:t>
            </a:r>
            <a:r>
              <a:rPr lang="ru-RU" b="1" dirty="0" err="1" smtClean="0"/>
              <a:t>object</a:t>
            </a:r>
            <a:r>
              <a:rPr lang="ru-RU" b="1" dirty="0" smtClean="0"/>
              <a:t> </a:t>
            </a:r>
            <a:r>
              <a:rPr lang="ru-RU" b="1" dirty="0" err="1" smtClean="0"/>
              <a:t>item</a:t>
            </a:r>
            <a:r>
              <a:rPr lang="ru-RU" b="1" dirty="0" smtClean="0"/>
              <a:t>)</a:t>
            </a:r>
            <a:r>
              <a:rPr lang="ru-RU" dirty="0" smtClean="0"/>
              <a:t>: добавление элемента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Clear</a:t>
            </a:r>
            <a:r>
              <a:rPr lang="ru-RU" b="1" dirty="0" smtClean="0"/>
              <a:t>()</a:t>
            </a:r>
            <a:r>
              <a:rPr lang="ru-RU" dirty="0" smtClean="0"/>
              <a:t>: полная очистка коллекции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Insert</a:t>
            </a:r>
            <a:r>
              <a:rPr lang="ru-RU" b="1" dirty="0" smtClean="0"/>
              <a:t>(</a:t>
            </a:r>
            <a:r>
              <a:rPr lang="ru-RU" b="1" dirty="0" err="1" smtClean="0"/>
              <a:t>int</a:t>
            </a:r>
            <a:r>
              <a:rPr lang="ru-RU" b="1" dirty="0" smtClean="0"/>
              <a:t> </a:t>
            </a:r>
            <a:r>
              <a:rPr lang="ru-RU" b="1" dirty="0" err="1" smtClean="0"/>
              <a:t>index</a:t>
            </a:r>
            <a:r>
              <a:rPr lang="ru-RU" b="1" dirty="0" smtClean="0"/>
              <a:t>, </a:t>
            </a:r>
            <a:r>
              <a:rPr lang="ru-RU" b="1" dirty="0" err="1" smtClean="0"/>
              <a:t>object</a:t>
            </a:r>
            <a:r>
              <a:rPr lang="ru-RU" b="1" dirty="0" smtClean="0"/>
              <a:t> </a:t>
            </a:r>
            <a:r>
              <a:rPr lang="ru-RU" b="1" dirty="0" err="1" smtClean="0"/>
              <a:t>item</a:t>
            </a:r>
            <a:r>
              <a:rPr lang="ru-RU" b="1" dirty="0" smtClean="0"/>
              <a:t>)</a:t>
            </a:r>
            <a:r>
              <a:rPr lang="ru-RU" dirty="0" smtClean="0"/>
              <a:t>: вставка элемента по определенному индексу в коллекции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Remove</a:t>
            </a:r>
            <a:r>
              <a:rPr lang="ru-RU" b="1" dirty="0" smtClean="0"/>
              <a:t>(</a:t>
            </a:r>
            <a:r>
              <a:rPr lang="ru-RU" b="1" dirty="0" err="1" smtClean="0"/>
              <a:t>object</a:t>
            </a:r>
            <a:r>
              <a:rPr lang="ru-RU" b="1" dirty="0" smtClean="0"/>
              <a:t> </a:t>
            </a:r>
            <a:r>
              <a:rPr lang="ru-RU" b="1" dirty="0" err="1" smtClean="0"/>
              <a:t>item</a:t>
            </a:r>
            <a:r>
              <a:rPr lang="ru-RU" b="1" dirty="0" smtClean="0"/>
              <a:t>)</a:t>
            </a:r>
            <a:r>
              <a:rPr lang="ru-RU" dirty="0" smtClean="0"/>
              <a:t>: удаление элемента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RemoveAt</a:t>
            </a:r>
            <a:r>
              <a:rPr lang="ru-RU" b="1" dirty="0" smtClean="0"/>
              <a:t>(</a:t>
            </a:r>
            <a:r>
              <a:rPr lang="ru-RU" b="1" dirty="0" err="1" smtClean="0"/>
              <a:t>int</a:t>
            </a:r>
            <a:r>
              <a:rPr lang="ru-RU" b="1" dirty="0" smtClean="0"/>
              <a:t> </a:t>
            </a:r>
            <a:r>
              <a:rPr lang="ru-RU" b="1" dirty="0" err="1" smtClean="0"/>
              <a:t>index</a:t>
            </a:r>
            <a:r>
              <a:rPr lang="ru-RU" b="1" dirty="0" smtClean="0"/>
              <a:t>)</a:t>
            </a:r>
            <a:r>
              <a:rPr lang="ru-RU" dirty="0" smtClean="0"/>
              <a:t>: удаление элемента по индексу</a:t>
            </a:r>
          </a:p>
          <a:p>
            <a:pPr lvl="1">
              <a:spcAft>
                <a:spcPts val="600"/>
              </a:spcAft>
            </a:pPr>
            <a:r>
              <a:rPr lang="ru-RU" dirty="0" smtClean="0"/>
              <a:t>свойство </a:t>
            </a:r>
            <a:r>
              <a:rPr lang="ru-RU" b="1" dirty="0" err="1" smtClean="0"/>
              <a:t>Count</a:t>
            </a:r>
            <a:r>
              <a:rPr lang="ru-RU" dirty="0" smtClean="0"/>
              <a:t> позволяет узнать, сколько элементов в коллекции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53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Элементы управления списками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857232"/>
            <a:ext cx="8715436" cy="5857916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Например, применительно к вышеопределенному списку могли написать в коде C#: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err="1" smtClean="0"/>
              <a:t>list.Items.Add</a:t>
            </a:r>
            <a:r>
              <a:rPr lang="ru-RU" dirty="0" smtClean="0"/>
              <a:t>("LG G5");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err="1" smtClean="0"/>
              <a:t>list.Items.RemoveAt</a:t>
            </a:r>
            <a:r>
              <a:rPr lang="ru-RU" dirty="0" smtClean="0"/>
              <a:t>(1); </a:t>
            </a:r>
            <a:r>
              <a:rPr lang="ru-RU" dirty="0" smtClean="0">
                <a:solidFill>
                  <a:srgbClr val="00B050"/>
                </a:solidFill>
              </a:rPr>
              <a:t>// удаляем второй элемент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необязательно вручную заполнять значения элемента управления списком, так как мы можем установить свойство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ItemsSource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задав в качестве параметра коллекцию, из которой будет формироваться элемент управления списком. 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Например, в коде xaml-разметки определим пустой список: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&lt;Grid&gt;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</a:t>
            </a:r>
            <a:r>
              <a:rPr lang="en-US" dirty="0" smtClean="0"/>
              <a:t> Name="list"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&lt;/Grid&gt;</a:t>
            </a:r>
          </a:p>
          <a:p>
            <a:pPr fontAlgn="base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 файле отделенного кода наполнение списка: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public partial class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: Window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InitializeComponent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string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[] phones = { "iPhone 6S", "Lumia 950", "Nexus 5X", "LG G4", "Xiaomi MI5", "HTC A9" };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list.ItemsSource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phones;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ItemsSource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в качестве значения принимает массив, хотя это моет быть и список типа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List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каждый элемент этого массива переходит в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ListBox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7" y="285728"/>
            <a:ext cx="7298135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429124" y="142852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свойство </a:t>
            </a:r>
            <a:r>
              <a:rPr lang="ru-RU" sz="1400" b="1" dirty="0" err="1" smtClean="0">
                <a:solidFill>
                  <a:srgbClr val="000000"/>
                </a:solidFill>
                <a:latin typeface="verdana"/>
              </a:rPr>
              <a:t>DisplayMemberPath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- позволяет выбирать для отображения элементов значение одного из свойств объекта.</a:t>
            </a:r>
          </a:p>
          <a:p>
            <a:pPr>
              <a:buNone/>
            </a:pP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Например, в коде новый класс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buNone/>
            </a:pPr>
            <a:r>
              <a:rPr lang="en-US" sz="1400" dirty="0" smtClean="0"/>
              <a:t>class Phone</a:t>
            </a:r>
          </a:p>
          <a:p>
            <a:pPr fontAlgn="base">
              <a:buNone/>
            </a:pPr>
            <a:r>
              <a:rPr lang="en-US" sz="1400" dirty="0" smtClean="0"/>
              <a:t>{</a:t>
            </a:r>
          </a:p>
          <a:p>
            <a:pPr fontAlgn="base">
              <a:buNone/>
            </a:pPr>
            <a:r>
              <a:rPr lang="en-US" sz="1400" dirty="0" smtClean="0"/>
              <a:t>    public string Title { get; set; }</a:t>
            </a:r>
          </a:p>
          <a:p>
            <a:pPr fontAlgn="base">
              <a:buNone/>
            </a:pPr>
            <a:r>
              <a:rPr lang="en-US" sz="1400" dirty="0" smtClean="0"/>
              <a:t>    public string Company { get; set; }</a:t>
            </a:r>
          </a:p>
          <a:p>
            <a:pPr fontAlgn="base">
              <a:buNone/>
            </a:pPr>
            <a:r>
              <a:rPr lang="en-US" sz="1400" dirty="0" smtClean="0"/>
              <a:t>    public </a:t>
            </a:r>
            <a:r>
              <a:rPr lang="en-US" sz="1400" dirty="0" err="1" smtClean="0"/>
              <a:t>int</a:t>
            </a:r>
            <a:r>
              <a:rPr lang="en-US" sz="1400" dirty="0" smtClean="0"/>
              <a:t> Price { get; set; }</a:t>
            </a:r>
          </a:p>
          <a:p>
            <a:pPr fontAlgn="base">
              <a:buNone/>
            </a:pPr>
            <a:r>
              <a:rPr lang="en-US" sz="1400" dirty="0" smtClean="0"/>
              <a:t>}</a:t>
            </a:r>
          </a:p>
          <a:p>
            <a:r>
              <a:rPr lang="ru-RU" sz="1400" dirty="0" smtClean="0"/>
              <a:t>создадим в </a:t>
            </a:r>
            <a:r>
              <a:rPr lang="ru-RU" sz="1400" dirty="0" err="1" smtClean="0"/>
              <a:t>xaml</a:t>
            </a:r>
            <a:r>
              <a:rPr lang="ru-RU" sz="1400" dirty="0" smtClean="0"/>
              <a:t> набор объектов этого класса </a:t>
            </a:r>
            <a:r>
              <a:rPr lang="ru-RU" sz="1400" dirty="0" err="1" smtClean="0"/>
              <a:t>Phone</a:t>
            </a:r>
            <a:r>
              <a:rPr lang="ru-RU" sz="1400" dirty="0" smtClean="0"/>
              <a:t> и выведем в списке значение свойства </a:t>
            </a:r>
            <a:r>
              <a:rPr lang="ru-RU" sz="1400" dirty="0" err="1" smtClean="0"/>
              <a:t>Title</a:t>
            </a:r>
            <a:r>
              <a:rPr lang="ru-RU" sz="1400" dirty="0" smtClean="0"/>
              <a:t> этих объектов:</a:t>
            </a:r>
            <a:endParaRPr lang="ru-RU" sz="14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rot="5400000">
            <a:off x="3428992" y="3357562"/>
            <a:ext cx="2286016" cy="1143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000000"/>
                </a:solidFill>
                <a:latin typeface="verdana"/>
              </a:rPr>
              <a:t>То же самое программным способом: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1700" dirty="0" err="1" smtClean="0">
                <a:solidFill>
                  <a:srgbClr val="000000"/>
                </a:solidFill>
                <a:latin typeface="Consolas"/>
              </a:rPr>
              <a:t>list.ItemsSource</a:t>
            </a: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 = new List&lt;Phone&gt;</a:t>
            </a:r>
          </a:p>
          <a:p>
            <a:pPr fontAlgn="base">
              <a:buNone/>
            </a:pP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    new Phone { Title="</a:t>
            </a:r>
            <a:r>
              <a:rPr lang="en-US" sz="1700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 6S", Company="Apple", Price=54990 },</a:t>
            </a:r>
          </a:p>
          <a:p>
            <a:pPr fontAlgn="base">
              <a:buNone/>
            </a:pP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    new Phone {Title="</a:t>
            </a:r>
            <a:r>
              <a:rPr lang="en-US" sz="1700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 950", Company="Microsoft", Price=39990 },</a:t>
            </a:r>
          </a:p>
          <a:p>
            <a:pPr fontAlgn="base">
              <a:buNone/>
            </a:pP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    new Phone {Title="Nexus 5X", Company="Google", Price=29990 }</a:t>
            </a:r>
          </a:p>
          <a:p>
            <a:pPr fontAlgn="base">
              <a:buNone/>
            </a:pP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fontAlgn="base">
              <a:buNone/>
            </a:pPr>
            <a:r>
              <a:rPr lang="en-US" sz="1700" dirty="0" err="1" smtClean="0">
                <a:solidFill>
                  <a:srgbClr val="000000"/>
                </a:solidFill>
                <a:latin typeface="Consolas"/>
              </a:rPr>
              <a:t>list.DisplayMemberPath</a:t>
            </a:r>
            <a:r>
              <a:rPr lang="en-US" sz="1700" dirty="0" smtClean="0">
                <a:solidFill>
                  <a:srgbClr val="000000"/>
                </a:solidFill>
                <a:latin typeface="Consolas"/>
              </a:rPr>
              <a:t> = "Title";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5472122" cy="6643710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Все элементы управления списками поддерживают выделение входящих элементов. 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Выделенный элемент(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ы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 можно получить с помощью свойств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SelectedItem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(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SelectedItems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), 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получить индекс выделенного элемента - с помощью свойства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SelectedIndex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Свойство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SelectedValue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позволяет получить значение выделенного элемента.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При выделении элемента в списке генерируется событие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SelectionChanged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которое можно обработать 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Например, предыдущий список: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</a:t>
            </a:r>
            <a:r>
              <a:rPr lang="en-US" dirty="0" err="1" smtClean="0"/>
              <a:t>ListBox</a:t>
            </a:r>
            <a:r>
              <a:rPr lang="en-US" dirty="0" smtClean="0"/>
              <a:t> Name="list" </a:t>
            </a:r>
            <a:r>
              <a:rPr lang="en-US" dirty="0" err="1" smtClean="0"/>
              <a:t>DisplayMemberPath</a:t>
            </a:r>
            <a:r>
              <a:rPr lang="en-US" dirty="0" smtClean="0"/>
              <a:t>="Title" </a:t>
            </a:r>
            <a:r>
              <a:rPr lang="en-US" dirty="0" err="1" smtClean="0"/>
              <a:t>SelectionChanged</a:t>
            </a:r>
            <a:r>
              <a:rPr lang="en-US" dirty="0" smtClean="0"/>
              <a:t>="</a:t>
            </a:r>
            <a:r>
              <a:rPr lang="en-US" dirty="0" err="1" smtClean="0"/>
              <a:t>list_Selected</a:t>
            </a:r>
            <a:r>
              <a:rPr lang="en-US" dirty="0" smtClean="0"/>
              <a:t>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</a:t>
            </a:r>
            <a:r>
              <a:rPr lang="en-US" dirty="0" err="1" smtClean="0"/>
              <a:t>iPhone</a:t>
            </a:r>
            <a:r>
              <a:rPr lang="en-US" dirty="0" smtClean="0"/>
              <a:t> 6S" Company="Apple" Price="54990"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</a:t>
            </a:r>
            <a:r>
              <a:rPr lang="en-US" dirty="0" err="1" smtClean="0"/>
              <a:t>Lumia</a:t>
            </a:r>
            <a:r>
              <a:rPr lang="en-US" dirty="0" smtClean="0"/>
              <a:t> 950" Company="Microsoft" Price="39990"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Title="Nexus 5X" Company="Google" Price="29990"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&lt;/</a:t>
            </a:r>
            <a:r>
              <a:rPr lang="en-US" dirty="0" err="1" smtClean="0"/>
              <a:t>ListBox</a:t>
            </a:r>
            <a:r>
              <a:rPr lang="en-US" dirty="0" smtClean="0"/>
              <a:t>&gt;</a:t>
            </a:r>
          </a:p>
          <a:p>
            <a:pPr>
              <a:spcAft>
                <a:spcPts val="600"/>
              </a:spcAft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А в файле кода обработчик для этого события: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private void </a:t>
            </a:r>
            <a:r>
              <a:rPr lang="en-US" dirty="0" err="1" smtClean="0"/>
              <a:t>list_Selected</a:t>
            </a:r>
            <a:r>
              <a:rPr lang="en-US" dirty="0" smtClean="0"/>
              <a:t>(object sender, </a:t>
            </a:r>
            <a:r>
              <a:rPr lang="en-US" dirty="0" err="1" smtClean="0"/>
              <a:t>RoutedEventArgs</a:t>
            </a:r>
            <a:r>
              <a:rPr lang="en-US" dirty="0" smtClean="0"/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Phone p = (Phone)</a:t>
            </a:r>
            <a:r>
              <a:rPr lang="en-US" dirty="0" err="1" smtClean="0"/>
              <a:t>list.SelectedItem</a:t>
            </a:r>
            <a:r>
              <a:rPr lang="en-US" dirty="0" smtClean="0"/>
              <a:t>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</a:t>
            </a:r>
            <a:r>
              <a:rPr lang="en-US" dirty="0" err="1" smtClean="0"/>
              <a:t>MessageBox.Show</a:t>
            </a:r>
            <a:r>
              <a:rPr lang="en-US" dirty="0" smtClean="0"/>
              <a:t>(</a:t>
            </a:r>
            <a:r>
              <a:rPr lang="en-US" dirty="0" err="1" smtClean="0"/>
              <a:t>p.Title</a:t>
            </a:r>
            <a:r>
              <a:rPr lang="en-US" dirty="0" smtClean="0"/>
              <a:t>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}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9322" y="0"/>
            <a:ext cx="28860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500694" y="4500570"/>
            <a:ext cx="36433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так как в разметке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в списке определены элементы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Phone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, то в коде можно привести объект </a:t>
            </a:r>
            <a:r>
              <a:rPr lang="ru-RU" sz="1400" dirty="0" err="1" smtClean="0"/>
              <a:t>list.SelectedItem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 к типу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Phone</a:t>
            </a:r>
            <a:endParaRPr lang="ru-RU" sz="14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>
            <a:off x="1500166" y="3286124"/>
            <a:ext cx="4357718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10800000" flipV="1">
            <a:off x="1714480" y="4857760"/>
            <a:ext cx="3857652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ListBox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1"/>
            <a:ext cx="8229600" cy="3714776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обычный список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содержит коллекцию элементов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ListBoxItem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которые являются элементами управления содержимым. </a:t>
            </a:r>
          </a:p>
          <a:p>
            <a:pPr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ListBox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может содержать любые другие элементы, например: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</a:t>
            </a:r>
            <a:r>
              <a:rPr lang="en-US" dirty="0" err="1" smtClean="0"/>
              <a:t>ListBox</a:t>
            </a:r>
            <a:r>
              <a:rPr lang="en-US" dirty="0" smtClean="0"/>
              <a:t> Name="</a:t>
            </a:r>
            <a:r>
              <a:rPr lang="en-US" dirty="0" err="1" smtClean="0"/>
              <a:t>phonesList</a:t>
            </a:r>
            <a:r>
              <a:rPr lang="en-US" dirty="0" smtClean="0"/>
              <a:t>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TextBlock</a:t>
            </a:r>
            <a:r>
              <a:rPr lang="en-US" dirty="0" smtClean="0"/>
              <a:t> </a:t>
            </a:r>
            <a:r>
              <a:rPr lang="en-US" dirty="0" err="1" smtClean="0"/>
              <a:t>FontWeight</a:t>
            </a:r>
            <a:r>
              <a:rPr lang="en-US" dirty="0" smtClean="0"/>
              <a:t>="Bold" </a:t>
            </a:r>
            <a:r>
              <a:rPr lang="en-US" dirty="0" err="1" smtClean="0"/>
              <a:t>TextDecorations</a:t>
            </a:r>
            <a:r>
              <a:rPr lang="en-US" dirty="0" smtClean="0"/>
              <a:t>="Underline" Text="</a:t>
            </a:r>
            <a:r>
              <a:rPr lang="ru-RU" dirty="0" smtClean="0"/>
              <a:t>Новинки 2016 года" /&gt;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 Background="</a:t>
            </a:r>
            <a:r>
              <a:rPr lang="en-US" dirty="0" err="1" smtClean="0"/>
              <a:t>LightGray</a:t>
            </a:r>
            <a:r>
              <a:rPr lang="en-US" dirty="0" smtClean="0"/>
              <a:t>"&gt;LG Nexus 5X&lt;/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  <a:r>
              <a:rPr lang="en-US" dirty="0" err="1" smtClean="0"/>
              <a:t>Huawei</a:t>
            </a:r>
            <a:r>
              <a:rPr lang="en-US" dirty="0" smtClean="0"/>
              <a:t> Nexus 6P&lt;/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 Background="</a:t>
            </a:r>
            <a:r>
              <a:rPr lang="en-US" dirty="0" err="1" smtClean="0"/>
              <a:t>LightGray</a:t>
            </a:r>
            <a:r>
              <a:rPr lang="en-US" dirty="0" smtClean="0"/>
              <a:t>"&gt;</a:t>
            </a:r>
            <a:r>
              <a:rPr lang="en-US" dirty="0" err="1" smtClean="0"/>
              <a:t>iPhone</a:t>
            </a:r>
            <a:r>
              <a:rPr lang="en-US" dirty="0" smtClean="0"/>
              <a:t> 6S&lt;/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  <a:r>
              <a:rPr lang="en-US" dirty="0" err="1" smtClean="0"/>
              <a:t>iPhone</a:t>
            </a:r>
            <a:r>
              <a:rPr lang="en-US" dirty="0" smtClean="0"/>
              <a:t> 6S Plus&lt;/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 Background="</a:t>
            </a:r>
            <a:r>
              <a:rPr lang="en-US" dirty="0" err="1" smtClean="0"/>
              <a:t>LightGray</a:t>
            </a:r>
            <a:r>
              <a:rPr lang="en-US" dirty="0" smtClean="0"/>
              <a:t>"&gt;</a:t>
            </a:r>
            <a:r>
              <a:rPr lang="ru-RU" dirty="0" smtClean="0"/>
              <a:t>А</a:t>
            </a:r>
            <a:r>
              <a:rPr lang="en-US" dirty="0" err="1" smtClean="0"/>
              <a:t>sus</a:t>
            </a:r>
            <a:r>
              <a:rPr lang="en-US" dirty="0" smtClean="0"/>
              <a:t> </a:t>
            </a:r>
            <a:r>
              <a:rPr lang="en-US" dirty="0" err="1" smtClean="0"/>
              <a:t>Zenphone</a:t>
            </a:r>
            <a:r>
              <a:rPr lang="en-US" dirty="0" smtClean="0"/>
              <a:t> 2&lt;/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ListBoxItem</a:t>
            </a:r>
            <a:r>
              <a:rPr lang="en-US" dirty="0" smtClean="0"/>
              <a:t>&gt;Microsoft </a:t>
            </a:r>
            <a:r>
              <a:rPr lang="en-US" dirty="0" err="1" smtClean="0"/>
              <a:t>Lumia</a:t>
            </a:r>
            <a:r>
              <a:rPr lang="en-US" dirty="0" smtClean="0"/>
              <a:t> 950&lt;/</a:t>
            </a:r>
            <a:r>
              <a:rPr lang="en-US" dirty="0" err="1" smtClean="0"/>
              <a:t>ListBoxItem</a:t>
            </a:r>
            <a:r>
              <a:rPr lang="en-US" dirty="0" smtClean="0"/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&lt;/</a:t>
            </a:r>
            <a:r>
              <a:rPr lang="en-US" dirty="0" err="1" smtClean="0"/>
              <a:t>ListBox</a:t>
            </a:r>
            <a:r>
              <a:rPr lang="en-US" dirty="0" smtClean="0"/>
              <a:t>&gt;</a:t>
            </a:r>
          </a:p>
          <a:p>
            <a:endParaRPr lang="ru-RU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6446" y="3714752"/>
            <a:ext cx="291465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785786" y="4643446"/>
            <a:ext cx="4786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</a:rPr>
              <a:t>Все эти элементы будут находиться в коллекции </a:t>
            </a:r>
            <a:r>
              <a:rPr lang="ru-RU" sz="12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phonesList.Items</a:t>
            </a: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</a:rPr>
              <a:t> и, т. о., по счетчику можно к ним обращаться: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phonesList.Items</a:t>
            </a:r>
            <a:r>
              <a:rPr lang="ru-RU" sz="12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[0]</a:t>
            </a: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</a:rPr>
              <a:t> - первый элемент </a:t>
            </a:r>
            <a:r>
              <a:rPr lang="ru-RU" sz="1200" dirty="0" err="1" smtClean="0">
                <a:solidFill>
                  <a:srgbClr val="000000"/>
                </a:solidFill>
                <a:latin typeface="Verdana" pitchFamily="34" charset="0"/>
              </a:rPr>
              <a:t>ListBox</a:t>
            </a: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</a:rPr>
              <a:t>, который в данном случае представляет </a:t>
            </a:r>
            <a:r>
              <a:rPr lang="ru-RU" sz="1200" dirty="0" err="1" smtClean="0">
                <a:solidFill>
                  <a:srgbClr val="000000"/>
                </a:solidFill>
                <a:latin typeface="Verdana" pitchFamily="34" charset="0"/>
              </a:rPr>
              <a:t>TextBlock</a:t>
            </a:r>
            <a:r>
              <a:rPr lang="ru-RU" sz="1200" dirty="0" smtClean="0">
                <a:solidFill>
                  <a:srgbClr val="000000"/>
                </a:solidFill>
                <a:latin typeface="Verdana" pitchFamily="34" charset="0"/>
              </a:rPr>
              <a:t>. можно установить элемент: </a:t>
            </a:r>
            <a:r>
              <a:rPr lang="ru-RU" sz="1200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phonesList.Items</a:t>
            </a:r>
            <a:r>
              <a:rPr lang="ru-RU" sz="1200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[2]="LG G 4";</a:t>
            </a:r>
            <a:r>
              <a:rPr lang="ru-RU" sz="1200" dirty="0" smtClean="0">
                <a:latin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257808" cy="654032"/>
          </a:xfrm>
        </p:spPr>
        <p:txBody>
          <a:bodyPr>
            <a:normAutofit fontScale="90000"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Компонент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ListBoxItem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представляет элемент управления содержимым, поэтому можно задавать через его свойство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Content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более сложные композиции элементов, например:</a:t>
            </a:r>
            <a:endParaRPr lang="ru-RU" sz="1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1600" dirty="0" smtClean="0"/>
              <a:t>&lt;</a:t>
            </a:r>
            <a:r>
              <a:rPr lang="en-US" sz="1600" dirty="0" err="1" smtClean="0"/>
              <a:t>ListBox</a:t>
            </a:r>
            <a:r>
              <a:rPr lang="en-US" sz="1600" dirty="0" smtClean="0"/>
              <a:t> Name="Photos" Background="Lavender"&gt;</a:t>
            </a:r>
          </a:p>
          <a:p>
            <a:pPr fontAlgn="base">
              <a:buNone/>
            </a:pPr>
            <a:r>
              <a:rPr lang="en-US" sz="1600" dirty="0" smtClean="0"/>
              <a:t>    &lt;</a:t>
            </a:r>
            <a:r>
              <a:rPr lang="en-US" sz="1600" dirty="0" err="1" smtClean="0"/>
              <a:t>ListBoxItem</a:t>
            </a:r>
            <a:r>
              <a:rPr lang="en-US" sz="1600" dirty="0" smtClean="0"/>
              <a:t> Margin="3"&gt;</a:t>
            </a:r>
          </a:p>
          <a:p>
            <a:pPr fontAlgn="base">
              <a:buNone/>
            </a:pPr>
            <a:r>
              <a:rPr lang="en-US" sz="1600" dirty="0" smtClean="0"/>
              <a:t>        &lt;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 Orientation="Horizontal"&gt;</a:t>
            </a:r>
          </a:p>
          <a:p>
            <a:pPr fontAlgn="base">
              <a:buNone/>
            </a:pPr>
            <a:r>
              <a:rPr lang="en-US" sz="1600" dirty="0" smtClean="0"/>
              <a:t>            &lt;Image Source="cats.jpg" Width="60" /&gt;</a:t>
            </a:r>
          </a:p>
          <a:p>
            <a:pPr fontAlgn="base">
              <a:buNone/>
            </a:pPr>
            <a:r>
              <a:rPr lang="en-US" sz="1600" dirty="0" smtClean="0"/>
              <a:t>            &lt;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&gt;cats.jpg&lt;/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    &lt;/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&lt;/</a:t>
            </a:r>
            <a:r>
              <a:rPr lang="en-US" sz="1600" dirty="0" err="1" smtClean="0"/>
              <a:t>ListBoxItem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&lt;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 Orientation="Horizontal"&gt;</a:t>
            </a:r>
          </a:p>
          <a:p>
            <a:pPr fontAlgn="base">
              <a:buNone/>
            </a:pPr>
            <a:r>
              <a:rPr lang="en-US" sz="1600" dirty="0" smtClean="0"/>
              <a:t>        &lt;Image Source="windowcat.jpg" Width="60" /&gt;</a:t>
            </a:r>
          </a:p>
          <a:p>
            <a:pPr fontAlgn="base">
              <a:buNone/>
            </a:pPr>
            <a:r>
              <a:rPr lang="en-US" sz="1600" dirty="0" smtClean="0"/>
              <a:t>        &lt;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&gt;windowcat.jpg&lt;/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&lt;/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&lt;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 Orientation="Horizontal"&gt;</a:t>
            </a:r>
          </a:p>
          <a:p>
            <a:pPr fontAlgn="base">
              <a:buNone/>
            </a:pPr>
            <a:r>
              <a:rPr lang="en-US" sz="1600" dirty="0" smtClean="0"/>
              <a:t>        &lt;Image Source="234.jpg" Width="60" /&gt;</a:t>
            </a:r>
          </a:p>
          <a:p>
            <a:pPr fontAlgn="base">
              <a:buNone/>
            </a:pPr>
            <a:r>
              <a:rPr lang="en-US" sz="1600" dirty="0" smtClean="0"/>
              <a:t>        &lt;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&gt;234.jpg&lt;/</a:t>
            </a:r>
            <a:r>
              <a:rPr lang="en-US" sz="1600" dirty="0" err="1" smtClean="0"/>
              <a:t>TextBlock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    &lt;/</a:t>
            </a:r>
            <a:r>
              <a:rPr lang="en-US" sz="1600" dirty="0" err="1" smtClean="0"/>
              <a:t>StackPanel</a:t>
            </a:r>
            <a:r>
              <a:rPr lang="en-US" sz="1600" dirty="0" smtClean="0"/>
              <a:t>&gt;</a:t>
            </a:r>
          </a:p>
          <a:p>
            <a:pPr fontAlgn="base">
              <a:buNone/>
            </a:pPr>
            <a:r>
              <a:rPr lang="en-US" sz="1600" dirty="0" smtClean="0"/>
              <a:t>&lt;/</a:t>
            </a:r>
            <a:r>
              <a:rPr lang="en-US" sz="1600" dirty="0" err="1" smtClean="0"/>
              <a:t>ListBox</a:t>
            </a:r>
            <a:r>
              <a:rPr lang="en-US" sz="1600" dirty="0" smtClean="0"/>
              <a:t>&gt;</a:t>
            </a:r>
            <a:endParaRPr lang="en-US" sz="16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0"/>
            <a:ext cx="29337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143504" y="2500306"/>
            <a:ext cx="38576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использовать элементы как внутри элемента </a:t>
            </a:r>
            <a:r>
              <a:rPr lang="ru-RU" dirty="0" err="1" smtClean="0"/>
              <a:t>ListBoxItem</a:t>
            </a:r>
            <a:r>
              <a:rPr lang="ru-RU" dirty="0" smtClean="0"/>
              <a:t>, так и непосредственно вставляя их в список. </a:t>
            </a:r>
          </a:p>
          <a:p>
            <a:r>
              <a:rPr lang="ru-RU" dirty="0" smtClean="0"/>
              <a:t>но использование </a:t>
            </a:r>
            <a:r>
              <a:rPr lang="ru-RU" dirty="0" err="1" smtClean="0"/>
              <a:t>ListBoxItem</a:t>
            </a:r>
            <a:r>
              <a:rPr lang="ru-RU" dirty="0" smtClean="0"/>
              <a:t> имеет преимущество, т. к. можно задать некоторые дополнительные свойства, например, отступы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071934" y="4929198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ListBox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поддерживает множественный выбор: нужно установить свойство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SelectionMode=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Multiple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"или 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SelectionMode=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Extended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( чтобы выделить несколько элементов, необходимо держать нажатой клавишу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Ctrl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или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Shift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). 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По умолчанию 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SelectionMode=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Single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", то есть допускается только единственное выделение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543560" cy="114300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Выделение элементов</a:t>
            </a:r>
            <a:br>
              <a:rPr lang="ru-RU" sz="3200" b="1" dirty="0" smtClean="0"/>
            </a:br>
            <a:r>
              <a:rPr lang="en-US" sz="3200" b="1" dirty="0" err="1" smtClean="0"/>
              <a:t>ComboBox</a:t>
            </a:r>
            <a:endParaRPr lang="ru-RU" sz="32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2100" dirty="0" err="1" smtClean="0"/>
              <a:t>ComboBox</a:t>
            </a:r>
            <a:r>
              <a:rPr lang="ru-RU" sz="2100" dirty="0" smtClean="0"/>
              <a:t> содержит коллекцию элементов и образует выпадающий список: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&lt;</a:t>
            </a:r>
            <a:r>
              <a:rPr lang="en-US" sz="2100" dirty="0" err="1" smtClean="0"/>
              <a:t>ComboBox</a:t>
            </a:r>
            <a:r>
              <a:rPr lang="en-US" sz="2100" dirty="0" smtClean="0"/>
              <a:t> Name="</a:t>
            </a:r>
            <a:r>
              <a:rPr lang="en-US" sz="2100" dirty="0" err="1" smtClean="0"/>
              <a:t>phonesList</a:t>
            </a:r>
            <a:r>
              <a:rPr lang="en-US" sz="2100" dirty="0" smtClean="0"/>
              <a:t>" Height="30" </a:t>
            </a:r>
            <a:r>
              <a:rPr lang="en-US" sz="2100" dirty="0" err="1" smtClean="0"/>
              <a:t>VerticalAlignment</a:t>
            </a:r>
            <a:r>
              <a:rPr lang="en-US" sz="2100" dirty="0" smtClean="0"/>
              <a:t>="Top"&gt;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   &lt;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&gt;LG Nexus 5X&lt;/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   &lt;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  <a:r>
              <a:rPr lang="en-US" sz="2100" dirty="0" err="1" smtClean="0"/>
              <a:t>Huawai</a:t>
            </a:r>
            <a:r>
              <a:rPr lang="en-US" sz="2100" dirty="0" smtClean="0"/>
              <a:t> Nexus 6P&lt;/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   &lt;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  <a:r>
              <a:rPr lang="en-US" sz="2100" dirty="0" err="1" smtClean="0"/>
              <a:t>iPhone</a:t>
            </a:r>
            <a:r>
              <a:rPr lang="en-US" sz="2100" dirty="0" smtClean="0"/>
              <a:t> 6S&lt;/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   &lt;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  <a:r>
              <a:rPr lang="en-US" sz="2100" dirty="0" err="1" smtClean="0"/>
              <a:t>iPhone</a:t>
            </a:r>
            <a:r>
              <a:rPr lang="en-US" sz="2100" dirty="0" smtClean="0"/>
              <a:t> 6S Plus&lt;/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    &lt;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&gt;Microsoft </a:t>
            </a:r>
            <a:r>
              <a:rPr lang="en-US" sz="2100" dirty="0" err="1" smtClean="0"/>
              <a:t>Lumia</a:t>
            </a:r>
            <a:r>
              <a:rPr lang="en-US" sz="2100" dirty="0" smtClean="0"/>
              <a:t> 950&lt;/</a:t>
            </a:r>
            <a:r>
              <a:rPr lang="en-US" sz="2100" dirty="0" err="1" smtClean="0"/>
              <a:t>TextBlock</a:t>
            </a:r>
            <a:r>
              <a:rPr lang="en-US" sz="2100" dirty="0" smtClean="0"/>
              <a:t>&gt;</a:t>
            </a:r>
          </a:p>
          <a:p>
            <a:pPr>
              <a:spcAft>
                <a:spcPts val="600"/>
              </a:spcAft>
              <a:buNone/>
            </a:pPr>
            <a:r>
              <a:rPr lang="en-US" sz="2100" dirty="0" smtClean="0"/>
              <a:t>&lt;/</a:t>
            </a:r>
            <a:r>
              <a:rPr lang="en-US" sz="2100" dirty="0" err="1" smtClean="0"/>
              <a:t>ComboBox</a:t>
            </a:r>
            <a:r>
              <a:rPr lang="en-US" sz="2100" dirty="0" smtClean="0"/>
              <a:t>&gt;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500570"/>
            <a:ext cx="2857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5614998" cy="5840435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ComboBoxItem</a:t>
            </a: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 качестве элементов в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ComboBoxe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можно использовать различные компоненты, но наиболее эффективным является применение элемента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ComboBoxItem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 </a:t>
            </a:r>
          </a:p>
          <a:p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ComboBoxItem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элемент управления содержимым, в который через свойство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Content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можно поместить другие элементы. 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Например:</a:t>
            </a:r>
          </a:p>
          <a:p>
            <a:pPr fontAlgn="base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ComboBox</a:t>
            </a:r>
            <a:r>
              <a:rPr lang="en-US" dirty="0" smtClean="0"/>
              <a:t> Height="50" Width="150" </a:t>
            </a:r>
            <a:r>
              <a:rPr lang="en-US" dirty="0" err="1" smtClean="0"/>
              <a:t>VerticalAlignment</a:t>
            </a:r>
            <a:r>
              <a:rPr lang="en-US" dirty="0" smtClean="0"/>
              <a:t>="Top"&gt;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ComboBoxItem</a:t>
            </a:r>
            <a:r>
              <a:rPr lang="en-US" dirty="0" smtClean="0"/>
              <a:t> </a:t>
            </a:r>
            <a:r>
              <a:rPr lang="en-US" dirty="0" err="1" smtClean="0"/>
              <a:t>IsSelected</a:t>
            </a:r>
            <a:r>
              <a:rPr lang="en-US" dirty="0" smtClean="0"/>
              <a:t>="True"&gt;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StackPanel</a:t>
            </a:r>
            <a:r>
              <a:rPr lang="en-US" dirty="0" smtClean="0"/>
              <a:t> Orientation="Horizontal"&gt;</a:t>
            </a:r>
          </a:p>
          <a:p>
            <a:pPr fontAlgn="base">
              <a:buNone/>
            </a:pPr>
            <a:r>
              <a:rPr lang="en-US" dirty="0" smtClean="0"/>
              <a:t>            &lt;Image Source="cats.jpg"  Width="60" /&gt;</a:t>
            </a:r>
          </a:p>
          <a:p>
            <a:pPr fontAlgn="base">
              <a:buNone/>
            </a:pPr>
            <a:r>
              <a:rPr lang="en-US" dirty="0" smtClean="0"/>
              <a:t>            &lt;</a:t>
            </a:r>
            <a:r>
              <a:rPr lang="en-US" dirty="0" err="1" smtClean="0"/>
              <a:t>TextBlock</a:t>
            </a:r>
            <a:r>
              <a:rPr lang="en-US" dirty="0" smtClean="0"/>
              <a:t>&gt;cats.jpg&lt;/</a:t>
            </a:r>
            <a:r>
              <a:rPr lang="en-US" dirty="0" err="1" smtClean="0"/>
              <a:t>TextBlock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&lt;/</a:t>
            </a:r>
            <a:r>
              <a:rPr lang="en-US" dirty="0" err="1" smtClean="0"/>
              <a:t>StackPanel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ComboBoxItem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StackPanel</a:t>
            </a:r>
            <a:r>
              <a:rPr lang="en-US" dirty="0" smtClean="0"/>
              <a:t> Orientation="Horizontal"&gt;</a:t>
            </a:r>
          </a:p>
          <a:p>
            <a:pPr fontAlgn="base">
              <a:buNone/>
            </a:pPr>
            <a:r>
              <a:rPr lang="en-US" dirty="0" smtClean="0"/>
              <a:t>        &lt;Image Source="windowcat.jpg" Width="60"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TextBlock</a:t>
            </a:r>
            <a:r>
              <a:rPr lang="en-US" dirty="0" smtClean="0"/>
              <a:t>&gt;windowcat.jpg&lt;/</a:t>
            </a:r>
            <a:r>
              <a:rPr lang="en-US" dirty="0" err="1" smtClean="0"/>
              <a:t>TextBlock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StackPanel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StackPanel</a:t>
            </a:r>
            <a:r>
              <a:rPr lang="en-US" dirty="0" smtClean="0"/>
              <a:t> Orientation="Horizontal"&gt;</a:t>
            </a:r>
          </a:p>
          <a:p>
            <a:pPr fontAlgn="base">
              <a:buNone/>
            </a:pPr>
            <a:r>
              <a:rPr lang="en-US" dirty="0" smtClean="0"/>
              <a:t>        &lt;Image Source="234.jpg" Width="60"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TextBlock</a:t>
            </a:r>
            <a:r>
              <a:rPr lang="en-US" dirty="0" smtClean="0"/>
              <a:t>&gt;234.jpg&lt;/</a:t>
            </a:r>
            <a:r>
              <a:rPr lang="en-US" dirty="0" err="1" smtClean="0"/>
              <a:t>TextBlock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StackPanel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&lt;/</a:t>
            </a:r>
            <a:r>
              <a:rPr lang="en-US" dirty="0" err="1" smtClean="0"/>
              <a:t>ComboBox</a:t>
            </a:r>
            <a:r>
              <a:rPr lang="en-US" dirty="0" smtClean="0"/>
              <a:t>&gt;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214290"/>
            <a:ext cx="28860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071934" y="428625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000000"/>
                </a:solidFill>
                <a:latin typeface="Verdana" pitchFamily="34" charset="0"/>
              </a:rPr>
              <a:t>Для создания первого элемента использовался элемент </a:t>
            </a:r>
            <a:r>
              <a:rPr lang="ru-RU" sz="1400" b="1" dirty="0" err="1" smtClean="0">
                <a:solidFill>
                  <a:srgbClr val="000000"/>
                </a:solidFill>
                <a:latin typeface="Verdana" pitchFamily="34" charset="0"/>
              </a:rPr>
              <a:t>ComboBoxItem</a:t>
            </a:r>
            <a:r>
              <a:rPr lang="ru-RU" sz="1400" dirty="0" smtClean="0">
                <a:solidFill>
                  <a:srgbClr val="000000"/>
                </a:solidFill>
                <a:latin typeface="Verdana" pitchFamily="34" charset="0"/>
              </a:rPr>
              <a:t>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400" dirty="0" smtClean="0">
                <a:solidFill>
                  <a:srgbClr val="000000"/>
                </a:solidFill>
                <a:latin typeface="Verdana" pitchFamily="34" charset="0"/>
              </a:rPr>
              <a:t>Для второго и третьего такие элементы создаются неявно. Но использование </a:t>
            </a:r>
            <a:r>
              <a:rPr lang="ru-RU" sz="1400" b="1" dirty="0" err="1" smtClean="0">
                <a:solidFill>
                  <a:srgbClr val="000000"/>
                </a:solidFill>
                <a:latin typeface="Verdana" pitchFamily="34" charset="0"/>
              </a:rPr>
              <a:t>ComboBoxItem</a:t>
            </a:r>
            <a:r>
              <a:rPr lang="ru-RU" sz="1400" dirty="0" smtClean="0">
                <a:solidFill>
                  <a:srgbClr val="000000"/>
                </a:solidFill>
                <a:latin typeface="Verdana" pitchFamily="34" charset="0"/>
              </a:rPr>
              <a:t> имеет преимущество, т. к. можно выделить данный элемент, установив свойство </a:t>
            </a:r>
            <a:r>
              <a:rPr 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IsSelected=</a:t>
            </a:r>
            <a:r>
              <a:rPr 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sz="1400" b="1" dirty="0" smtClean="0">
                <a:solidFill>
                  <a:srgbClr val="000000"/>
                </a:solidFill>
                <a:latin typeface="Verdana" pitchFamily="34" charset="0"/>
              </a:rPr>
              <a:t>, </a:t>
            </a:r>
            <a:r>
              <a:rPr lang="ru-RU" sz="1400" dirty="0" smtClean="0">
                <a:solidFill>
                  <a:srgbClr val="000000"/>
                </a:solidFill>
                <a:latin typeface="Verdana" pitchFamily="34" charset="0"/>
              </a:rPr>
              <a:t>либо можно сделать недоступным с помощью установки свойства </a:t>
            </a:r>
            <a:r>
              <a:rPr 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IsEnabled=</a:t>
            </a:r>
            <a:r>
              <a:rPr 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sz="1400" b="1" dirty="0" err="1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ru-RU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"</a:t>
            </a:r>
            <a:endParaRPr lang="ru-RU" sz="1400" b="1" dirty="0" smtClean="0">
              <a:latin typeface="Arial" pitchFamily="34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0800000">
            <a:off x="2214546" y="3643314"/>
            <a:ext cx="2000264" cy="1428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6200000" flipV="1">
            <a:off x="2714612" y="2643182"/>
            <a:ext cx="3214710" cy="2928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Событие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SelectionChanged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Обрабатывая событие 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SelectionChanged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динамически получать выделенный элемент: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Height="25" Width="150"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SelectionChanged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&lt;!-- 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остальное содержимое списка--&gt;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Aft>
                <a:spcPts val="600"/>
              </a:spcAft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Обработка события в коде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C#: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selectedItem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comboBox.SelectedItem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selectedItem.Content.ToString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но, для элементов со сложным содержимым подобный способ </a:t>
            </a:r>
            <a:r>
              <a:rPr lang="ru-RU" dirty="0" smtClean="0">
                <a:solidFill>
                  <a:srgbClr val="C00000"/>
                </a:solidFill>
                <a:latin typeface="verdana"/>
              </a:rPr>
              <a:t>может не пройти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и если надо получить текст, до него придется добираться, спускаясь по дереву вложенных элементов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Свойства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Установка свойства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IsEditable=</a:t>
            </a:r>
            <a:r>
              <a:rPr lang="ru-RU" sz="1600" b="1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600" b="1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 позволяет вводить в поле списка начальные символы, а затем функция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автозаполнения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подставит подходящий результат(по умолчанию свойство имеет значение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Это свойство работает в комбинации со свойством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IsReadOnly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: оно указывает, является поле ввода доступным только для чтения(по умолчанию имеет значение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, поэтому если 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IsEditable=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"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", то можно вводить туда произвольный текст)</a:t>
            </a:r>
          </a:p>
          <a:p>
            <a:pPr>
              <a:spcAft>
                <a:spcPts val="600"/>
              </a:spcAft>
            </a:pP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свойство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StaysOpenOnEdit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 при установке в </a:t>
            </a: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 позволяет сделать список раскрытым на время ввода значений в поле ввода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ListView</a:t>
            </a:r>
            <a:endParaRPr lang="en-US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отображает информацию на множестве строк и столбцов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унаследован от класса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ListBox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поэтому может вести себя простой список: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&gt;LG Nexus 5X&lt;/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Huawei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Nexus 6P&lt;/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6S&lt;/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6S Plus&lt;/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А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sus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Zenphone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2&lt;/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&gt;Microsoft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950&lt;/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Но чтобы создать более сложные по структуре данные используется свойство 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View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свойство принимает в качестве значения объект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DataView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который управляет отображением данных. </a:t>
            </a:r>
          </a:p>
          <a:p>
            <a:pPr>
              <a:spcAft>
                <a:spcPts val="600"/>
              </a:spcAft>
            </a:pP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DataView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определяет коллекцию определений столбцов - 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которое с помощью свойства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Header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определяет название столбца, а с помощью свойства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DisplayMemberBinding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определить привязку столбца к определенному свойству добавляемого в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объекта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DisplayMemberBinding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="{Binding Path=Company}"&gt;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Компания&lt;/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142852"/>
            <a:ext cx="8229600" cy="5911873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ru-RU" b="1" dirty="0" smtClean="0">
                <a:solidFill>
                  <a:srgbClr val="000000"/>
                </a:solidFill>
                <a:latin typeface="verdana"/>
              </a:rPr>
              <a:t>Создадим в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-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коде коллекцию объектов 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Phone (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это можно было бы сделать и в файле кода) и привязку столбцов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ListView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к свойствам объектов 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Phone: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&lt;Window x:Class="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ControlsApp.MainWindow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smtClean="0">
                <a:solidFill>
                  <a:srgbClr val="DB003E"/>
                </a:solidFill>
                <a:latin typeface="Consolas"/>
                <a:hlinkClick r:id="rId2"/>
              </a:rPr>
              <a:t>http://schemas.microsoft.com/winfx/2006/xaml/presentation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smtClean="0">
                <a:solidFill>
                  <a:srgbClr val="DB003E"/>
                </a:solidFill>
                <a:latin typeface="Consolas"/>
                <a:hlinkClick r:id="rId3"/>
              </a:rPr>
              <a:t>http://schemas.microsoft.com/winfx/2006/xaml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smtClean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xmlns:mc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smtClean="0">
                <a:solidFill>
                  <a:srgbClr val="DB003E"/>
                </a:solidFill>
                <a:latin typeface="Consolas"/>
                <a:hlinkClick r:id="rId5"/>
              </a:rPr>
              <a:t>http://schemas.openxmlformats.org/markup-compatibility/2006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clr-namespace:ControlsApp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xmlns:col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clr-namespace:System.Collections;assembly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mscorlib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Height="220" Width="300"&gt;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&lt;Grid Background="Lavender"&gt;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Name="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phonesList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ItemsSource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="{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DynamicResource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ResourceKey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=phones}" 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ListView.View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DisplayMemberBinding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="{Binding Path=Title}"&gt;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Модель&lt;/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DisplayMemberBinding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="{Binding Path=Company}" Width="100"&gt;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Компания&lt;/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DisplayMemberBinding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="{Binding Path=Price}"&gt;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Цена&lt;/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GridViewColumn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GridView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ListView.View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ListView.Resources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col:ArrayList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x:Key="phones"&gt;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6S" Company="Apple" Price="54990"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950" Company="Microsoft" Price="39990"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Title="Nexus 5X" Company="Google" Price="29990"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col:ArrayList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ListView.Resources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&lt;/Window&gt;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/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endParaRPr lang="ru-RU" dirty="0"/>
          </a:p>
        </p:txBody>
      </p:sp>
      <p:pic>
        <p:nvPicPr>
          <p:cNvPr id="101377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60580" y="571480"/>
            <a:ext cx="224055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857884" y="4143380"/>
            <a:ext cx="328611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0000"/>
                </a:solidFill>
                <a:latin typeface="verdana"/>
              </a:rPr>
              <a:t>определен класс </a:t>
            </a:r>
            <a:r>
              <a:rPr lang="en-US" sz="1100" dirty="0" smtClean="0">
                <a:solidFill>
                  <a:srgbClr val="000000"/>
                </a:solidFill>
                <a:latin typeface="verdana"/>
              </a:rPr>
              <a:t>Phone: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public class Phone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public string Title { get; set; }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public string Company { get; set; }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Price { get; set; }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ru-RU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привязка в файле коде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добавить еще один элемент </a:t>
            </a:r>
            <a:r>
              <a:rPr lang="en-US" dirty="0" smtClean="0"/>
              <a:t>Phone</a:t>
            </a:r>
            <a:r>
              <a:rPr lang="ru-RU" dirty="0" smtClean="0"/>
              <a:t>: непосредственное добавление с помощью </a:t>
            </a:r>
            <a:r>
              <a:rPr lang="en-US" b="1" dirty="0" err="1" smtClean="0"/>
              <a:t>ListView.Items.Add</a:t>
            </a:r>
            <a:r>
              <a:rPr lang="en-US" b="1" dirty="0" smtClean="0"/>
              <a:t>()</a:t>
            </a:r>
            <a:r>
              <a:rPr lang="en-US" dirty="0" smtClean="0"/>
              <a:t> </a:t>
            </a:r>
            <a:r>
              <a:rPr lang="ru-RU" dirty="0" smtClean="0"/>
              <a:t>сработало бы в том случае, если бы </a:t>
            </a:r>
            <a:r>
              <a:rPr lang="ru-RU" dirty="0" smtClean="0">
                <a:solidFill>
                  <a:srgbClr val="C00000"/>
                </a:solidFill>
              </a:rPr>
              <a:t>не было привязки </a:t>
            </a:r>
            <a:r>
              <a:rPr lang="ru-RU" dirty="0" smtClean="0"/>
              <a:t>к свойству </a:t>
            </a:r>
            <a:r>
              <a:rPr lang="en-US" b="1" dirty="0" err="1" smtClean="0"/>
              <a:t>ItemsSource</a:t>
            </a:r>
            <a:r>
              <a:rPr lang="en-US" dirty="0" smtClean="0"/>
              <a:t>. </a:t>
            </a:r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dirty="0" smtClean="0"/>
              <a:t>В данном случае надо добавить новый элемент не напрямую в </a:t>
            </a:r>
            <a:r>
              <a:rPr lang="en-US" dirty="0" err="1" smtClean="0"/>
              <a:t>ListView</a:t>
            </a:r>
            <a:r>
              <a:rPr lang="en-US" dirty="0" smtClean="0"/>
              <a:t>, </a:t>
            </a:r>
            <a:r>
              <a:rPr lang="ru-RU" dirty="0" smtClean="0"/>
              <a:t>а в коллекцию, к которой идет привязка, а затем уже обновить </a:t>
            </a:r>
            <a:r>
              <a:rPr lang="en-US" dirty="0" err="1" smtClean="0"/>
              <a:t>ListView</a:t>
            </a:r>
            <a:r>
              <a:rPr lang="ru-RU" dirty="0" smtClean="0"/>
              <a:t>, например, в конструкторе:</a:t>
            </a:r>
          </a:p>
          <a:p>
            <a:pPr>
              <a:spcAft>
                <a:spcPts val="600"/>
              </a:spcAft>
            </a:pPr>
            <a:endParaRPr lang="ru-RU" dirty="0" smtClean="0"/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public </a:t>
            </a:r>
            <a:r>
              <a:rPr lang="en-US" dirty="0" err="1" smtClean="0"/>
              <a:t>MainWindow</a:t>
            </a:r>
            <a:r>
              <a:rPr lang="en-US" dirty="0" smtClean="0"/>
              <a:t>()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</a:t>
            </a:r>
            <a:r>
              <a:rPr lang="en-US" dirty="0" err="1" smtClean="0"/>
              <a:t>InitializeComponent</a:t>
            </a:r>
            <a:r>
              <a:rPr lang="en-US" dirty="0" smtClean="0"/>
              <a:t>();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Phone edge = new Phone { Title = "Galaxy Edge", Company = "Samsung", Price = 45670 };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</a:t>
            </a:r>
            <a:r>
              <a:rPr lang="en-US" dirty="0" smtClean="0">
                <a:solidFill>
                  <a:srgbClr val="00B050"/>
                </a:solidFill>
              </a:rPr>
              <a:t>//</a:t>
            </a:r>
            <a:r>
              <a:rPr lang="ru-RU" dirty="0" smtClean="0">
                <a:solidFill>
                  <a:srgbClr val="00B050"/>
                </a:solidFill>
              </a:rPr>
              <a:t>приведение ресурса </a:t>
            </a:r>
            <a:r>
              <a:rPr lang="en-US" dirty="0" smtClean="0">
                <a:solidFill>
                  <a:srgbClr val="00B050"/>
                </a:solidFill>
              </a:rPr>
              <a:t>phones </a:t>
            </a:r>
            <a:r>
              <a:rPr lang="ru-RU" dirty="0" smtClean="0">
                <a:solidFill>
                  <a:srgbClr val="00B050"/>
                </a:solidFill>
              </a:rPr>
              <a:t>к типу </a:t>
            </a:r>
            <a:r>
              <a:rPr lang="en-US" dirty="0" err="1" smtClean="0">
                <a:solidFill>
                  <a:srgbClr val="00B050"/>
                </a:solidFill>
              </a:rPr>
              <a:t>ArrayList</a:t>
            </a:r>
            <a:endParaRPr lang="en-US" dirty="0" smtClean="0">
              <a:solidFill>
                <a:srgbClr val="00B050"/>
              </a:solidFill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    ((</a:t>
            </a:r>
            <a:r>
              <a:rPr lang="en-US" dirty="0" err="1" smtClean="0"/>
              <a:t>ArrayList</a:t>
            </a:r>
            <a:r>
              <a:rPr lang="en-US" dirty="0" smtClean="0"/>
              <a:t>)</a:t>
            </a:r>
            <a:r>
              <a:rPr lang="en-US" dirty="0" err="1" smtClean="0"/>
              <a:t>phonesList.Resources</a:t>
            </a:r>
            <a:r>
              <a:rPr lang="en-US" dirty="0" smtClean="0"/>
              <a:t>["phones"]).Add(edge);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/>
              <a:t>}</a:t>
            </a:r>
          </a:p>
          <a:p>
            <a:pPr fontAlgn="base"/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43378"/>
          </a:xfrm>
        </p:spPr>
        <p:txBody>
          <a:bodyPr/>
          <a:lstStyle/>
          <a:p>
            <a:r>
              <a:rPr lang="ru-RU" dirty="0" smtClean="0"/>
              <a:t>общая схема с подобными списковыми элементами, привязанными к определенным коллекциям и источникам данных:</a:t>
            </a:r>
          </a:p>
          <a:p>
            <a:r>
              <a:rPr lang="ru-RU" dirty="0" smtClean="0"/>
              <a:t>сначала добавляем, изменяем или удаляем из этой коллекции, а потом </a:t>
            </a:r>
            <a:r>
              <a:rPr lang="ru-RU" dirty="0" smtClean="0">
                <a:solidFill>
                  <a:srgbClr val="C00000"/>
                </a:solidFill>
              </a:rPr>
              <a:t>обновляем</a:t>
            </a:r>
            <a:r>
              <a:rPr lang="ru-RU" dirty="0" smtClean="0"/>
              <a:t> визуальную часть - сам элемент</a:t>
            </a:r>
            <a:endParaRPr lang="ru-RU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Создание вкладок и </a:t>
            </a:r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TabControl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928670"/>
            <a:ext cx="8786874" cy="5786478"/>
          </a:xfrm>
        </p:spPr>
        <p:txBody>
          <a:bodyPr>
            <a:normAutofit fontScale="32500" lnSpcReduction="20000"/>
          </a:bodyPr>
          <a:lstStyle/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TabControl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 создания вкладок в 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WPF, 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как и в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WinForms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, </a:t>
            </a: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b="1" dirty="0" smtClean="0">
                <a:solidFill>
                  <a:srgbClr val="000000"/>
                </a:solidFill>
                <a:latin typeface="verdana"/>
              </a:rPr>
              <a:t>отдельная вкладка -элемент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TabItem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Вкладка 1"&gt;Первая вкладка&lt;/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Вкладка 2"&gt;Вторая вкладка&lt;/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buNone/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buNone/>
            </a:pPr>
            <a:r>
              <a:rPr lang="ru-RU" b="1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TabItem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является элементом управления содержимым, поэтому в него можно вложить другие элементы:</a:t>
            </a:r>
          </a:p>
          <a:p>
            <a:pPr fontAlgn="base">
              <a:buNone/>
            </a:pP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x:Name="products"&gt;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smartphonesTab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&lt;Ellipse Height="10" Width="10" Fill="Black"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Смартфоны&lt;/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TabItem.Content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IsChecked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="True"&gt;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S6&lt;/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&gt;LG G 4&lt;/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550&lt;/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TabItem.Content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tabletsTab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&lt;Rectangle Height="10" Width="10" Fill="Black"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Планшеты&lt;/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rot="10800000" flipV="1">
            <a:off x="1142976" y="1071546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rot="10800000" flipV="1">
            <a:off x="1357290" y="1214422"/>
            <a:ext cx="164307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0000"/>
                </a:solidFill>
                <a:latin typeface="verdana"/>
              </a:rPr>
              <a:t>Создание вкладок и </a:t>
            </a:r>
            <a:r>
              <a:rPr lang="en-US" sz="3600" b="1" dirty="0" err="1" smtClean="0">
                <a:solidFill>
                  <a:srgbClr val="000000"/>
                </a:solidFill>
                <a:latin typeface="verdana"/>
              </a:rPr>
              <a:t>TabControl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TabControl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- создания вкладок в WPF(как и в </a:t>
            </a:r>
            <a:r>
              <a:rPr lang="ru-RU" sz="1600" dirty="0" err="1" smtClean="0">
                <a:solidFill>
                  <a:srgbClr val="000000"/>
                </a:solidFill>
                <a:latin typeface="verdana"/>
              </a:rPr>
              <a:t>WinForms</a:t>
            </a:r>
            <a:endParaRPr lang="ru-RU" sz="160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</a:pPr>
            <a:r>
              <a:rPr lang="ru-RU" sz="1600" b="1" dirty="0" err="1" smtClean="0">
                <a:solidFill>
                  <a:srgbClr val="000000"/>
                </a:solidFill>
                <a:latin typeface="verdana"/>
              </a:rPr>
              <a:t>TabItem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 - отдельная вкладка </a:t>
            </a:r>
            <a:endParaRPr lang="en-US" sz="160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endParaRPr lang="ru-RU" sz="160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Вкладка 1"&gt;Первая вкладка&lt;/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600" dirty="0" smtClean="0">
                <a:solidFill>
                  <a:srgbClr val="000000"/>
                </a:solidFill>
                <a:latin typeface="Consolas"/>
              </a:rPr>
              <a:t>Вкладка 2"&gt;Вторая вкладка&lt;/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sz="1600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/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является элементом управления содержимым, поэтому в него можно вложить другие элементы: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x:Name="products"&gt;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smartphonesTab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&lt;Ellipse Height="10" Width="10" Fill="Black"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Смартфоны&lt;/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TabItem.Content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IsChecked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="True"&gt;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S6&lt;/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&gt;LG G 4&lt;/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550&lt;/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TabItem.Content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tabletsTab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&lt;Rectangle Height="10" Width="10" Fill="Black"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Планшеты&lt;/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4810125"/>
            <a:ext cx="27336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Класс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TabItem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 наследуется от класса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HeaderedContentControl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, поэтому кроме свойства 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Content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определедяющее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 содержимое вкладки, имеет также свойство </a:t>
            </a:r>
            <a:r>
              <a:rPr lang="ru-RU" sz="1900" b="1" dirty="0" err="1" smtClean="0">
                <a:solidFill>
                  <a:srgbClr val="000000"/>
                </a:solidFill>
                <a:latin typeface="verdana"/>
              </a:rPr>
              <a:t>Header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, которое определяет заголовок. </a:t>
            </a:r>
          </a:p>
          <a:p>
            <a:pPr>
              <a:spcAft>
                <a:spcPts val="600"/>
              </a:spcAft>
            </a:pP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в заголовок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можемно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 вложить различное содержимое</a:t>
            </a:r>
          </a:p>
          <a:p>
            <a:pPr fontAlgn="base">
              <a:spcAft>
                <a:spcPts val="600"/>
              </a:spcAft>
            </a:pP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также, как и в случае с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ListBoxItem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ComboBoxItem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, можно вложить в </a:t>
            </a:r>
            <a:r>
              <a:rPr lang="ru-RU" sz="1900" dirty="0" err="1" smtClean="0">
                <a:solidFill>
                  <a:srgbClr val="000000"/>
                </a:solidFill>
                <a:latin typeface="verdana"/>
              </a:rPr>
              <a:t>TabControl</a:t>
            </a:r>
            <a:r>
              <a:rPr lang="ru-RU" sz="1900" dirty="0" smtClean="0">
                <a:solidFill>
                  <a:srgbClr val="000000"/>
                </a:solidFill>
                <a:latin typeface="verdana"/>
              </a:rPr>
              <a:t> и другие элементы, которые неявно образуют отдельные вкладки:</a:t>
            </a:r>
            <a:endParaRPr lang="en-US" sz="190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sz="1900" dirty="0" smtClean="0">
                <a:solidFill>
                  <a:srgbClr val="000000"/>
                </a:solidFill>
                <a:latin typeface="Consolas"/>
              </a:rPr>
              <a:t>Первая вкладка&lt;/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sz="1900" dirty="0" smtClean="0">
                <a:solidFill>
                  <a:srgbClr val="000000"/>
                </a:solidFill>
                <a:latin typeface="Consolas"/>
              </a:rPr>
              <a:t>Вторая вкладка&lt;/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sz="1900" dirty="0" smtClean="0">
                <a:solidFill>
                  <a:srgbClr val="000000"/>
                </a:solidFill>
                <a:latin typeface="Consolas"/>
              </a:rPr>
              <a:t>Третья вкладка&lt;/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sz="1900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sz="19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Программное добавление </a:t>
            </a:r>
            <a:r>
              <a:rPr lang="ru-RU" sz="2800" b="1" dirty="0" smtClean="0">
                <a:solidFill>
                  <a:srgbClr val="000000"/>
                </a:solidFill>
                <a:latin typeface="verdana"/>
              </a:rPr>
              <a:t>вкладок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на форме есть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TabControl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/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x:Name="products"&gt;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TabControl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Через код C# добавление в него вкладки:</a:t>
            </a:r>
          </a:p>
          <a:p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B050"/>
                </a:solidFill>
              </a:rPr>
              <a:t>// формируем содержимое вкладки в виде списка</a:t>
            </a:r>
          </a:p>
          <a:p>
            <a:pPr fontAlgn="base">
              <a:buNone/>
            </a:pPr>
            <a:r>
              <a:rPr lang="en-US" dirty="0" err="1" smtClean="0"/>
              <a:t>ListBox</a:t>
            </a:r>
            <a:r>
              <a:rPr lang="en-US" dirty="0" smtClean="0"/>
              <a:t> </a:t>
            </a:r>
            <a:r>
              <a:rPr lang="en-US" dirty="0" err="1" smtClean="0"/>
              <a:t>notesList</a:t>
            </a:r>
            <a:r>
              <a:rPr lang="en-US" dirty="0" smtClean="0"/>
              <a:t> = new </a:t>
            </a:r>
            <a:r>
              <a:rPr lang="en-US" dirty="0" err="1" smtClean="0"/>
              <a:t>ListBox</a:t>
            </a:r>
            <a:r>
              <a:rPr lang="en-US" dirty="0" smtClean="0"/>
              <a:t>();</a:t>
            </a:r>
          </a:p>
          <a:p>
            <a:pPr fontAlgn="base">
              <a:buNone/>
            </a:pPr>
            <a:r>
              <a:rPr lang="en-US" dirty="0" err="1" smtClean="0"/>
              <a:t>notesList.Items.Add</a:t>
            </a:r>
            <a:r>
              <a:rPr lang="en-US" dirty="0" smtClean="0"/>
              <a:t>("</a:t>
            </a:r>
            <a:r>
              <a:rPr lang="en-US" dirty="0" err="1" smtClean="0"/>
              <a:t>Macbook</a:t>
            </a:r>
            <a:r>
              <a:rPr lang="en-US" dirty="0" smtClean="0"/>
              <a:t> Pro");</a:t>
            </a:r>
          </a:p>
          <a:p>
            <a:pPr fontAlgn="base">
              <a:buNone/>
            </a:pPr>
            <a:r>
              <a:rPr lang="en-US" dirty="0" err="1" smtClean="0"/>
              <a:t>notesList.Items.Add</a:t>
            </a:r>
            <a:r>
              <a:rPr lang="en-US" dirty="0" smtClean="0"/>
              <a:t>("HP Pavilion 5478");</a:t>
            </a:r>
          </a:p>
          <a:p>
            <a:pPr fontAlgn="base">
              <a:buNone/>
            </a:pPr>
            <a:r>
              <a:rPr lang="en-US" dirty="0" err="1" smtClean="0"/>
              <a:t>notesList.Items.Add</a:t>
            </a:r>
            <a:r>
              <a:rPr lang="en-US" dirty="0" smtClean="0"/>
              <a:t>("Acer LK-08");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B050"/>
                </a:solidFill>
              </a:rPr>
              <a:t>// </a:t>
            </a:r>
            <a:r>
              <a:rPr lang="ru-RU" dirty="0" smtClean="0">
                <a:solidFill>
                  <a:srgbClr val="00B050"/>
                </a:solidFill>
              </a:rPr>
              <a:t>добавление вкладки</a:t>
            </a:r>
          </a:p>
          <a:p>
            <a:pPr fontAlgn="base">
              <a:buNone/>
            </a:pPr>
            <a:r>
              <a:rPr lang="en-US" dirty="0" err="1" smtClean="0"/>
              <a:t>products.Items.Add</a:t>
            </a:r>
            <a:r>
              <a:rPr lang="en-US" dirty="0" smtClean="0"/>
              <a:t>(new </a:t>
            </a:r>
            <a:r>
              <a:rPr lang="en-US" dirty="0" err="1" smtClean="0"/>
              <a:t>TabItem</a:t>
            </a:r>
            <a:endParaRPr lang="en-US" dirty="0" smtClean="0"/>
          </a:p>
          <a:p>
            <a:pPr fontAlgn="base">
              <a:buNone/>
            </a:pPr>
            <a:r>
              <a:rPr lang="en-US" dirty="0" smtClean="0"/>
              <a:t>{</a:t>
            </a:r>
          </a:p>
          <a:p>
            <a:pPr fontAlgn="base">
              <a:buNone/>
            </a:pPr>
            <a:r>
              <a:rPr lang="en-US" dirty="0" smtClean="0"/>
              <a:t>    Header = new </a:t>
            </a:r>
            <a:r>
              <a:rPr lang="en-US" dirty="0" err="1" smtClean="0"/>
              <a:t>TextBlock</a:t>
            </a:r>
            <a:r>
              <a:rPr lang="en-US" dirty="0" smtClean="0"/>
              <a:t> { Text = "</a:t>
            </a:r>
            <a:r>
              <a:rPr lang="ru-RU" dirty="0" smtClean="0"/>
              <a:t>Ноутбуки" }, </a:t>
            </a:r>
            <a:r>
              <a:rPr lang="ru-RU" dirty="0" smtClean="0">
                <a:solidFill>
                  <a:srgbClr val="00B050"/>
                </a:solidFill>
              </a:rPr>
              <a:t>// установка заголовка вкладки</a:t>
            </a:r>
          </a:p>
          <a:p>
            <a:pPr fontAlgn="base">
              <a:buNone/>
            </a:pPr>
            <a:r>
              <a:rPr lang="ru-RU" dirty="0" smtClean="0"/>
              <a:t>    </a:t>
            </a:r>
            <a:r>
              <a:rPr lang="en-US" dirty="0" smtClean="0"/>
              <a:t>Content = </a:t>
            </a:r>
            <a:r>
              <a:rPr lang="en-US" dirty="0" err="1" smtClean="0"/>
              <a:t>notesList</a:t>
            </a:r>
            <a:r>
              <a:rPr lang="en-US" dirty="0" smtClean="0"/>
              <a:t> </a:t>
            </a:r>
            <a:r>
              <a:rPr lang="ru-RU" dirty="0" smtClean="0"/>
              <a:t>		</a:t>
            </a:r>
            <a:r>
              <a:rPr lang="en-US" dirty="0" smtClean="0">
                <a:solidFill>
                  <a:srgbClr val="00B050"/>
                </a:solidFill>
              </a:rPr>
              <a:t>// </a:t>
            </a:r>
            <a:r>
              <a:rPr lang="ru-RU" dirty="0" smtClean="0">
                <a:solidFill>
                  <a:srgbClr val="00B050"/>
                </a:solidFill>
              </a:rPr>
              <a:t>установка содержимого вкладки</a:t>
            </a:r>
          </a:p>
          <a:p>
            <a:pPr fontAlgn="base">
              <a:buNone/>
            </a:pPr>
            <a:r>
              <a:rPr lang="ru-RU" dirty="0" smtClean="0"/>
              <a:t>});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 err="1" smtClean="0">
                <a:solidFill>
                  <a:srgbClr val="000000"/>
                </a:solidFill>
                <a:latin typeface="verdana"/>
              </a:rPr>
              <a:t>Menu</a:t>
            </a:r>
            <a:r>
              <a:rPr lang="ru-RU" sz="2800" b="1" dirty="0" smtClean="0">
                <a:solidFill>
                  <a:srgbClr val="000000"/>
                </a:solidFill>
                <a:latin typeface="verdana"/>
              </a:rPr>
              <a:t> - </a:t>
            </a:r>
            <a:r>
              <a:rPr lang="ru-RU" sz="2800" dirty="0" smtClean="0">
                <a:solidFill>
                  <a:srgbClr val="000000"/>
                </a:solidFill>
                <a:latin typeface="verdana"/>
              </a:rPr>
              <a:t>создание стандартных меню: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5257808" cy="5054617"/>
          </a:xfrm>
        </p:spPr>
        <p:txBody>
          <a:bodyPr>
            <a:normAutofit fontScale="55000" lnSpcReduction="20000"/>
          </a:bodyPr>
          <a:lstStyle/>
          <a:p>
            <a:pPr fontAlgn="base">
              <a:buNone/>
            </a:pPr>
            <a:r>
              <a:rPr lang="en-US" dirty="0" smtClean="0"/>
              <a:t>&lt;Menu Height="25" </a:t>
            </a:r>
            <a:r>
              <a:rPr lang="en-US" dirty="0" err="1" smtClean="0"/>
              <a:t>VerticalAlignment</a:t>
            </a:r>
            <a:r>
              <a:rPr lang="en-US" dirty="0" smtClean="0"/>
              <a:t>="Top"&gt;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Header="File"&gt;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Header="New Project" 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Header="Open Project" &gt;</a:t>
            </a:r>
          </a:p>
          <a:p>
            <a:pPr fontAlgn="base">
              <a:buNone/>
            </a:pPr>
            <a:r>
              <a:rPr lang="en-US" dirty="0" smtClean="0"/>
              <a:t>        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</a:t>
            </a:r>
            <a:r>
              <a:rPr lang="en-US" dirty="0" err="1" smtClean="0"/>
              <a:t>WinForms</a:t>
            </a:r>
            <a:r>
              <a:rPr lang="en-US" dirty="0" smtClean="0"/>
              <a:t>"&gt;&lt;/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Header="WPF" 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&lt;Separator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Header="Exit" 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Header="Edit" 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MenuItem</a:t>
            </a:r>
            <a:r>
              <a:rPr lang="en-US" dirty="0" smtClean="0"/>
              <a:t> Header="View" &gt;&lt;/</a:t>
            </a:r>
            <a:r>
              <a:rPr lang="en-US" dirty="0" err="1" smtClean="0"/>
              <a:t>MenuItem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&lt;/Menu&gt;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/>
            </a:r>
            <a:br>
              <a:rPr lang="ru-RU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6446" y="4500570"/>
            <a:ext cx="3185011" cy="211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6143668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Элемент 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Menu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включает набор элементов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которые являются элементами управления содержимым и могут включать другие элементы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 не только. 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Также можно вложить в меню и другие элементы, которые неявно будут преобразованы в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MenuItem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Menu Height="25"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="Top"&gt;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Header="File"&gt;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&lt;Button Content="Exit"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Header="Edit" 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Header="View" 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&lt;Button Content="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Кнопка в меню" /&gt;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Menu&gt;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dirty="0" smtClean="0"/>
              <a:t>для разделения отдельных пунктов меню можно включать элемент </a:t>
            </a:r>
            <a:r>
              <a:rPr lang="ru-RU" b="1" dirty="0" err="1" smtClean="0"/>
              <a:t>Separator</a:t>
            </a:r>
            <a:endParaRPr lang="ru-RU" b="1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0"/>
            <a:ext cx="8229600" cy="6715148"/>
          </a:xfrm>
        </p:spPr>
        <p:txBody>
          <a:bodyPr>
            <a:normAutofit fontScale="40000" lnSpcReduction="20000"/>
          </a:bodyPr>
          <a:lstStyle/>
          <a:p>
            <a:pPr fontAlgn="base"/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настроить внешний вид отображения, задав свойство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MenuItem.Header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или использовав свойство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Icons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&lt;Menu Height="25"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="Top" Background="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LightGray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&lt;Ellipse Height="10" Width="10" Fill="Black" Margin="0 0 5 0"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&gt;File&lt;/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MenuItem.Header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Header="Edit"&gt;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MenuItem.Icon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&lt;Image Source="C:\Users\Eugene\Documents\pen.png"&gt;&lt;/Image&gt;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MenuItem.Icon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Header="View"&gt;&lt;/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&lt;/Menu&gt;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Чтобы обработать нажатие пункта меню и произвести определенное действие, можно использовать событие 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Click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свяжем обработчик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c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событием:</a:t>
            </a:r>
          </a:p>
          <a:p>
            <a:pPr fontAlgn="base"/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Header="View"  Click="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MenuItem_Click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pPr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обработчик в коде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C#: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buNone/>
            </a:pPr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MenuItem_Click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menuItem.Header.ToString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7925" y="4286256"/>
            <a:ext cx="28860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52"/>
            <a:ext cx="6686568" cy="6500858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ContextMenu</a:t>
            </a:r>
            <a:endParaRPr lang="en-US" b="1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Класс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ContextMenu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создание контекстных всплывающих меню, отображающихся после нажатия на правую кнопку мыши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содержит коллекцию элементов 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MenuItem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но сам по себе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ContextMenu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существовать </a:t>
            </a:r>
            <a:r>
              <a:rPr lang="ru-RU" dirty="0" smtClean="0">
                <a:solidFill>
                  <a:srgbClr val="C00000"/>
                </a:solidFill>
                <a:latin typeface="verdana"/>
              </a:rPr>
              <a:t>не может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 должен быть </a:t>
            </a:r>
            <a:r>
              <a:rPr lang="ru-RU" dirty="0" smtClean="0">
                <a:solidFill>
                  <a:srgbClr val="C00000"/>
                </a:solidFill>
                <a:latin typeface="verdana"/>
              </a:rPr>
              <a:t>прикреплен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к другому элементу управления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Для этого у элементов есть свойство 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ContextMenu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endParaRPr lang="en-US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Name="list" Height="145"&gt;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Margin="3"&gt;MS SQL Server&lt;/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MySQL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Margin="3"&gt;Oracle&lt;/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ListBox.ContextMenu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ContextMenu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Копировать"&gt;&lt;/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Вставить"&gt;&lt;/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Вырезать"&gt;&lt;/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Удалить"&gt;&lt;/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MenuItem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ContextMenu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ListBox.ContextMenu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ListBox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при нажатии правой кнопкой мыши на один из элементов отобразится контекстное меню</a:t>
            </a:r>
            <a:endParaRPr lang="ru-RU" dirty="0" smtClean="0"/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3000372"/>
            <a:ext cx="287655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ToolBar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5"/>
            <a:ext cx="8229600" cy="4143403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применяется для обеспечения быстрого доступа к наиболее часто используемым операциям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может содержать прочие элементы:</a:t>
            </a: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кнопки, </a:t>
            </a: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текстовые поля, </a:t>
            </a:r>
          </a:p>
          <a:p>
            <a:pPr lvl="1"/>
            <a:r>
              <a:rPr lang="ru-RU" dirty="0" smtClean="0">
                <a:solidFill>
                  <a:srgbClr val="000000"/>
                </a:solidFill>
                <a:latin typeface="verdana"/>
              </a:rPr>
              <a:t>объекты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Menu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 др.</a:t>
            </a:r>
          </a:p>
          <a:p>
            <a:pPr lvl="1"/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Height="25"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="Top"&gt;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ToggleButton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&gt;&lt;Image Source="icon0.gif" /&gt;&lt;/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ToggleButton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&lt;Button&gt;&lt;Image Source="icon1.gif"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&lt;Button&gt;&lt;Image Source="icon2.png"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&lt;Button&gt;&lt;Image Source="icon3.png"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Foreground="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LightGray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Width="100"&gt;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Поиск...&lt;/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10242" name="Picture 2" descr="Элемент ToolBar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714884"/>
            <a:ext cx="238125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ToolBar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создавать сразу несколько связанных элементов 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внутри 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ToolBarTray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Преимущество - возможность задать как горизонтальное, так и вертикальное расположение элементов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в окне приложения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ToolBarTray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Height="25"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="Top"&gt;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ToggleButton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&gt;&lt;Image Source="icon0.gif" /&gt;&lt;/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ToggleButton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&lt;Button&gt;&lt;Image Source="icon1.gif"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&lt;Button&gt;&lt;Image Source="icon2.png"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&lt;Separator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&lt;Button&gt;&lt;Image Source="icon3.png" /&gt;&lt;/Button&gt;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Foreground="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LightGray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Width="100"&gt;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Поиск...&lt;/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Orientation="Horizontal"&gt;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&lt;Ellipse Width="10" Height="10" Fill="Black" 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HorizontalAlignment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="Left"/&gt;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HorizontalAlignment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="Right" Width="60" Margin="5 0 0 0"&gt;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Найти&lt;/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&lt;/Button&gt;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ToolBarTray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9218" name="Picture 2" descr="Элемент ToolBarTray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7950" y="5214950"/>
            <a:ext cx="2517214" cy="1476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ToolBar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3"/>
            <a:ext cx="8229600" cy="3286148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Используя свойство 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Orientation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можно настроить у 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ToolBarTray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ориентацию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по умолчанию она горизонтальная, но можно расположить его вертикально:</a:t>
            </a:r>
          </a:p>
          <a:p>
            <a:pPr>
              <a:spcAft>
                <a:spcPts val="600"/>
              </a:spcAft>
            </a:pP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ToolBarTray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Orientation="Vertical"&gt;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ToolBar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Width="25"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="Top"&gt;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&lt;!-- 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здесь остальной код --&gt;</a:t>
            </a:r>
          </a:p>
          <a:p>
            <a:endParaRPr lang="ru-RU" dirty="0"/>
          </a:p>
        </p:txBody>
      </p:sp>
      <p:pic>
        <p:nvPicPr>
          <p:cNvPr id="8194" name="Picture 2" descr="http://metanit.com/sharp/wpf/pics/4.2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00826" y="4143380"/>
            <a:ext cx="22479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/>
          <a:lstStyle/>
          <a:p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StatusBar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напоминает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ToolBar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выполняет схожие функции, но в отличие от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ToolBar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его располагают обычно внизу окна приложения</a:t>
            </a:r>
            <a:endParaRPr lang="ru-RU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TreeView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286412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предназначен для древовидного отображения данных в окне приложения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может содержать как коллекцию элементов </a:t>
            </a:r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так и другое содержимое, например, текстовые блоки: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Элемент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Базы данных"&gt;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Header="MS SQL Server"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MySQL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MongoDB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Postgres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Языки программирования"&gt;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Header="C-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языки"&gt;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Header="C#"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Header="C/C++"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Header="Java"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Header="Basic"&gt;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Header="Visual Basic"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VB.Net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PureBasic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endParaRPr lang="ru-RU" dirty="0"/>
          </a:p>
        </p:txBody>
      </p:sp>
      <p:pic>
        <p:nvPicPr>
          <p:cNvPr id="6146" name="Picture 2" descr="Элемент TreeView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84" y="3000372"/>
            <a:ext cx="2724150" cy="30575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142852"/>
            <a:ext cx="8472518" cy="6500858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лучше обертывать элементы в объекты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TreeViewItem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 помощью его свойства 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Header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можно установить текстовую метку из заголовок узла дерева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 для управления состоянием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 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IsExpanded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принимает логическое значение и показывает, раскрыт ли узел) </a:t>
            </a: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verdana"/>
              </a:rPr>
              <a:t>IsSelected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показывает, выбран ли узел).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Чтобы отследить выбор или раскрытие узла, можно обработать соответствующее события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Событие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Expanded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возникает при раскрытии узла, 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событие 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Collapsed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-  при его сворачивании.</a:t>
            </a: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Выбор узла дерева можно обработать с помощью обработки события </a:t>
            </a:r>
            <a:r>
              <a:rPr lang="en-US" b="1" dirty="0" smtClean="0">
                <a:solidFill>
                  <a:srgbClr val="000000"/>
                </a:solidFill>
                <a:latin typeface="verdana"/>
              </a:rPr>
              <a:t>Selected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Например: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Header="C-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языки"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Expanded="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TreeViewItem_Expanded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Header="C#" Selected="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Header="C/C++" Selected="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Header="Java" Selected="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в файле связанного кода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C#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обработчики для этих событий: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TreeViewItem_Expanded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tvItem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Узел " +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tvItem.Header.ToString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 + 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раскрыт");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TreeViewItem_Selected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(object sender, </a:t>
            </a:r>
            <a:endParaRPr lang="ru-RU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					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tvItem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TreeViewItem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)sender;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("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Выбран узел: " +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tvItem.Header.ToString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fontAlgn="base"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  <p:pic>
        <p:nvPicPr>
          <p:cNvPr id="12292" name="Picture 4" descr="TreeViewItem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75" y="4643446"/>
            <a:ext cx="2714625" cy="20193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DataGrid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500042"/>
            <a:ext cx="8543956" cy="6215106"/>
          </a:xfrm>
        </p:spPr>
        <p:txBody>
          <a:bodyPr>
            <a:noAutofit/>
          </a:bodyPr>
          <a:lstStyle/>
          <a:p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похож на </a:t>
            </a:r>
            <a:r>
              <a:rPr lang="en-US" sz="1000" dirty="0" err="1" smtClean="0">
                <a:solidFill>
                  <a:srgbClr val="000000"/>
                </a:solidFill>
                <a:latin typeface="verdana"/>
              </a:rPr>
              <a:t>ListView</a:t>
            </a:r>
            <a:r>
              <a:rPr lang="en-US" sz="100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но более сложный и допускает редактирование содержимого таблицы</a:t>
            </a:r>
          </a:p>
          <a:p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класс </a:t>
            </a:r>
            <a:r>
              <a:rPr lang="en-US" sz="1000" dirty="0" smtClean="0">
                <a:solidFill>
                  <a:srgbClr val="000000"/>
                </a:solidFill>
                <a:latin typeface="verdana"/>
              </a:rPr>
              <a:t>Phone, </a:t>
            </a:r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объекты которого выводили в список: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public class Phone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public string Title { get; set; }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public string Company { get; set; }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Price { get; set; }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выведем объекты в таблицу </a:t>
            </a:r>
            <a:r>
              <a:rPr lang="en-US" sz="1000" dirty="0" err="1" smtClean="0">
                <a:solidFill>
                  <a:srgbClr val="000000"/>
                </a:solidFill>
                <a:latin typeface="verdana"/>
              </a:rPr>
              <a:t>DataGrid</a:t>
            </a:r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, ЧТОБЫ </a:t>
            </a:r>
            <a:r>
              <a:rPr lang="en-US" sz="1000" dirty="0" err="1" smtClean="0">
                <a:solidFill>
                  <a:srgbClr val="000000"/>
                </a:solidFill>
                <a:latin typeface="verdana"/>
              </a:rPr>
              <a:t>DataGrid</a:t>
            </a:r>
            <a:r>
              <a:rPr lang="en-US" sz="100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автоматически разбивал таблицу на столбцы, </a:t>
            </a:r>
          </a:p>
          <a:p>
            <a:pPr>
              <a:buNone/>
            </a:pPr>
            <a:r>
              <a:rPr lang="ru-RU" sz="1000" dirty="0" smtClean="0">
                <a:solidFill>
                  <a:srgbClr val="000000"/>
                </a:solidFill>
                <a:latin typeface="verdana"/>
              </a:rPr>
              <a:t>	установим свойство </a:t>
            </a:r>
            <a:r>
              <a:rPr lang="en-US" sz="1000" dirty="0" err="1" smtClean="0">
                <a:solidFill>
                  <a:srgbClr val="000000"/>
                </a:solidFill>
                <a:latin typeface="verdana"/>
              </a:rPr>
              <a:t>AutoGenerateColumns</a:t>
            </a:r>
            <a:r>
              <a:rPr lang="en-US" sz="1000" dirty="0" smtClean="0">
                <a:solidFill>
                  <a:srgbClr val="000000"/>
                </a:solidFill>
                <a:latin typeface="verdana"/>
              </a:rPr>
              <a:t>="True":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&lt;Window x:Class="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ControlsApp.MainWindow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smtClean="0">
                <a:solidFill>
                  <a:srgbClr val="DB003E"/>
                </a:solidFill>
                <a:latin typeface="Consolas"/>
                <a:hlinkClick r:id="rId2"/>
              </a:rPr>
              <a:t>http://schemas.microsoft.com/winfx/2006/xaml/presentation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xmlns:x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smtClean="0">
                <a:solidFill>
                  <a:srgbClr val="DB003E"/>
                </a:solidFill>
                <a:latin typeface="Consolas"/>
                <a:hlinkClick r:id="rId3"/>
              </a:rPr>
              <a:t>http://schemas.microsoft.com/winfx/2006/xaml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xmlns:d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smtClean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xmlns:mc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smtClean="0">
                <a:solidFill>
                  <a:srgbClr val="DB003E"/>
                </a:solidFill>
                <a:latin typeface="Consolas"/>
                <a:hlinkClick r:id="rId5"/>
              </a:rPr>
              <a:t>http://schemas.openxmlformats.org/markup-compatibility/2006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clr-namespace:ControlsApp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xmlns:col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clr-namespace:System.Collections;assembly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mscorlib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DataGrid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 Height="220" Width="300"&gt;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&lt;Grid Background="Lavender"&gt;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DataGrid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phonesGrid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AutoGenerateColumns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="True" </a:t>
            </a:r>
            <a:endParaRPr lang="ru-RU" sz="100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sz="1000" dirty="0" smtClean="0">
                <a:solidFill>
                  <a:srgbClr val="000000"/>
                </a:solidFill>
                <a:latin typeface="Consolas"/>
              </a:rPr>
              <a:t>			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ItemsSource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="{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DynamicResource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ResourceKey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=phones}"&gt;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DataGrid.Resources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col:ArrayList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x:Key="phones"&gt;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6S" Company="Apple" Price="54990" /&gt;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950" Company="Microsoft" Price="39990" /&gt;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        &lt;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 Title="Nexus 5X" Company="Google" Price="29990" /&gt;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    &lt;/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col:ArrayList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    &lt;/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DataGrid.Resources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sz="1000" dirty="0" err="1" smtClean="0">
                <a:solidFill>
                  <a:srgbClr val="000000"/>
                </a:solidFill>
                <a:latin typeface="Consolas"/>
              </a:rPr>
              <a:t>DataGrid</a:t>
            </a: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fontAlgn="base">
              <a:buNone/>
            </a:pPr>
            <a:r>
              <a:rPr lang="en-US" sz="1000" dirty="0" smtClean="0">
                <a:solidFill>
                  <a:srgbClr val="000000"/>
                </a:solidFill>
                <a:latin typeface="Consolas"/>
              </a:rPr>
              <a:t>&lt;/Window&gt;</a:t>
            </a:r>
          </a:p>
          <a:p>
            <a:endParaRPr lang="ru-RU" sz="1000" dirty="0" smtClean="0">
              <a:solidFill>
                <a:srgbClr val="000000"/>
              </a:solidFill>
              <a:latin typeface="verdana"/>
            </a:endParaRPr>
          </a:p>
          <a:p>
            <a:endParaRPr lang="ru-RU" sz="1000" dirty="0"/>
          </a:p>
        </p:txBody>
      </p:sp>
      <p:pic>
        <p:nvPicPr>
          <p:cNvPr id="11266" name="Picture 2" descr="Элемент DataGrid в WP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15074" y="214290"/>
            <a:ext cx="2724150" cy="20288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571736" y="5857892"/>
            <a:ext cx="6143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префикс 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local 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ссылается на пространство имен текущего проекта, в котором определен класс 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Phone (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xmlns:local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="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clr-namespace:Controls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"),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а 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col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префикс-ссылка на пространство имен 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System.Collections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 (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xmlns:col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="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clr-namespace:System.Collections;assembly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=</a:t>
            </a:r>
            <a:r>
              <a:rPr lang="en-US" sz="1200" dirty="0" err="1" smtClean="0">
                <a:solidFill>
                  <a:srgbClr val="000000"/>
                </a:solidFill>
                <a:latin typeface="verdana"/>
              </a:rPr>
              <a:t>mscorlib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")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rot="16200000" flipV="1">
            <a:off x="2285984" y="4071942"/>
            <a:ext cx="2214578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929322" y="2357430"/>
            <a:ext cx="3214678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solidFill>
                  <a:srgbClr val="000000"/>
                </a:solidFill>
                <a:latin typeface="verdana"/>
              </a:rPr>
              <a:t>Программная установка источника для </a:t>
            </a:r>
            <a:r>
              <a:rPr lang="en-US" sz="1200" b="1" dirty="0" err="1" smtClean="0">
                <a:solidFill>
                  <a:srgbClr val="000000"/>
                </a:solidFill>
                <a:latin typeface="verdana"/>
              </a:rPr>
              <a:t>DataGrid</a:t>
            </a:r>
            <a:r>
              <a:rPr lang="en-US" sz="1200" b="1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List&lt;Phone&gt;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phonesList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= new List&lt;Phone&gt;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new Phone { Title="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6S", Company="Apple", Price=54990 },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new Phone {Title="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950", Company="Microsoft", Price=39990 },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    new Phone {Title="Nexus 5X", Company="Google", Price=29990 }</a:t>
            </a:r>
          </a:p>
          <a:p>
            <a:pPr fontAlgn="base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fontAlgn="base">
              <a:buNone/>
            </a:pP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phonesGrid.ItemsSource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phonesList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DataGrid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401080" cy="5715040"/>
          </a:xfrm>
        </p:spPr>
        <p:txBody>
          <a:bodyPr>
            <a:normAutofit fontScale="47500" lnSpcReduction="20000"/>
          </a:bodyPr>
          <a:lstStyle/>
          <a:p>
            <a:r>
              <a:rPr lang="ru-RU" b="1" dirty="0" err="1" smtClean="0"/>
              <a:t>RowBackground</a:t>
            </a:r>
            <a:r>
              <a:rPr lang="ru-RU" dirty="0" smtClean="0"/>
              <a:t> </a:t>
            </a:r>
            <a:r>
              <a:rPr lang="ru-RU" dirty="0" err="1" smtClean="0"/>
              <a:t>и</a:t>
            </a:r>
            <a:r>
              <a:rPr lang="ru-RU" b="1" dirty="0" err="1" smtClean="0"/>
              <a:t>AlternatingRowBackground</a:t>
            </a:r>
            <a:r>
              <a:rPr lang="ru-RU" b="1" dirty="0" smtClean="0"/>
              <a:t> - </a:t>
            </a:r>
            <a:r>
              <a:rPr lang="ru-RU" dirty="0" smtClean="0"/>
              <a:t>устанавливают фон строки. Если установлены оба свойства, цветовой фон чередуется: </a:t>
            </a:r>
          </a:p>
          <a:p>
            <a:pPr lvl="1"/>
            <a:r>
              <a:rPr lang="ru-RU" b="1" dirty="0" err="1" smtClean="0"/>
              <a:t>RowBackground</a:t>
            </a:r>
            <a:r>
              <a:rPr lang="ru-RU" dirty="0" smtClean="0"/>
              <a:t> - для четных строк </a:t>
            </a:r>
          </a:p>
          <a:p>
            <a:pPr lvl="1"/>
            <a:r>
              <a:rPr lang="ru-RU" b="1" dirty="0" err="1" smtClean="0"/>
              <a:t>AlternatingRowBackground</a:t>
            </a:r>
            <a:r>
              <a:rPr lang="ru-RU" dirty="0" smtClean="0"/>
              <a:t> - для нечетных</a:t>
            </a:r>
          </a:p>
          <a:p>
            <a:r>
              <a:rPr lang="ru-RU" b="1" dirty="0" err="1" smtClean="0"/>
              <a:t>ColumnHeaderHeight</a:t>
            </a:r>
            <a:r>
              <a:rPr lang="ru-RU" b="1" dirty="0" smtClean="0"/>
              <a:t> - </a:t>
            </a:r>
            <a:r>
              <a:rPr lang="ru-RU" dirty="0" smtClean="0"/>
              <a:t>устанавливает высоту строки названий столбцов.</a:t>
            </a:r>
          </a:p>
          <a:p>
            <a:r>
              <a:rPr lang="ru-RU" b="1" dirty="0" err="1" smtClean="0"/>
              <a:t>ColumnWidth</a:t>
            </a:r>
            <a:r>
              <a:rPr lang="ru-RU" b="1" dirty="0" smtClean="0"/>
              <a:t> - </a:t>
            </a:r>
            <a:r>
              <a:rPr lang="ru-RU" dirty="0" smtClean="0"/>
              <a:t>устанавливает ширину столбцов.</a:t>
            </a:r>
          </a:p>
          <a:p>
            <a:r>
              <a:rPr lang="ru-RU" b="1" dirty="0" err="1" smtClean="0"/>
              <a:t>RowHeight</a:t>
            </a:r>
            <a:r>
              <a:rPr lang="ru-RU" b="1" dirty="0" smtClean="0"/>
              <a:t> - </a:t>
            </a:r>
            <a:r>
              <a:rPr lang="ru-RU" dirty="0" smtClean="0"/>
              <a:t>устанавливает высоту строк.</a:t>
            </a:r>
          </a:p>
          <a:p>
            <a:r>
              <a:rPr lang="ru-RU" b="1" dirty="0" err="1" smtClean="0"/>
              <a:t>GridLinesVisability</a:t>
            </a:r>
            <a:r>
              <a:rPr lang="ru-RU" b="1" dirty="0" smtClean="0"/>
              <a:t> - </a:t>
            </a:r>
            <a:r>
              <a:rPr lang="ru-RU" dirty="0" smtClean="0"/>
              <a:t>устанавливает видимость линий, разделяющих столбцы и строки. Имеет четыре значения :</a:t>
            </a:r>
          </a:p>
          <a:p>
            <a:pPr lvl="1"/>
            <a:r>
              <a:rPr lang="ru-RU" dirty="0" smtClean="0"/>
              <a:t> </a:t>
            </a:r>
            <a:r>
              <a:rPr lang="ru-RU" dirty="0" err="1" smtClean="0"/>
              <a:t>All</a:t>
            </a:r>
            <a:r>
              <a:rPr lang="ru-RU" dirty="0" smtClean="0"/>
              <a:t> - видны все линии, </a:t>
            </a:r>
          </a:p>
          <a:p>
            <a:pPr lvl="1"/>
            <a:r>
              <a:rPr lang="ru-RU" dirty="0" err="1" smtClean="0"/>
              <a:t>Horizontal</a:t>
            </a:r>
            <a:r>
              <a:rPr lang="ru-RU" dirty="0" smtClean="0"/>
              <a:t> - видны только горизонтальные линии, </a:t>
            </a:r>
          </a:p>
          <a:p>
            <a:pPr lvl="1"/>
            <a:r>
              <a:rPr lang="ru-RU" dirty="0" err="1" smtClean="0"/>
              <a:t>Vertical</a:t>
            </a:r>
            <a:r>
              <a:rPr lang="ru-RU" dirty="0" smtClean="0"/>
              <a:t> - видны только вертикальные линии</a:t>
            </a:r>
          </a:p>
          <a:p>
            <a:pPr lvl="1"/>
            <a:r>
              <a:rPr lang="ru-RU" dirty="0" err="1" smtClean="0"/>
              <a:t>None</a:t>
            </a:r>
            <a:r>
              <a:rPr lang="ru-RU" dirty="0" smtClean="0"/>
              <a:t> - линии отсутствуют</a:t>
            </a:r>
          </a:p>
          <a:p>
            <a:r>
              <a:rPr lang="ru-RU" b="1" dirty="0" err="1" smtClean="0"/>
              <a:t>HeadersVisability</a:t>
            </a:r>
            <a:r>
              <a:rPr lang="ru-RU" b="1" dirty="0" smtClean="0"/>
              <a:t> -</a:t>
            </a:r>
            <a:r>
              <a:rPr lang="ru-RU" dirty="0" smtClean="0"/>
              <a:t>видимость заголовков</a:t>
            </a:r>
          </a:p>
          <a:p>
            <a:r>
              <a:rPr lang="ru-RU" b="1" dirty="0" err="1" smtClean="0"/>
              <a:t>HorizontalGridLinesBrush</a:t>
            </a:r>
            <a:r>
              <a:rPr lang="ru-RU" dirty="0" smtClean="0"/>
              <a:t> </a:t>
            </a:r>
            <a:r>
              <a:rPr lang="ru-RU" dirty="0" err="1" smtClean="0"/>
              <a:t>и</a:t>
            </a:r>
            <a:r>
              <a:rPr lang="ru-RU" b="1" dirty="0" err="1" smtClean="0"/>
              <a:t>VerticalGridLinesBrush</a:t>
            </a:r>
            <a:r>
              <a:rPr lang="ru-RU" b="1" dirty="0" smtClean="0"/>
              <a:t> - </a:t>
            </a:r>
            <a:r>
              <a:rPr lang="ru-RU" dirty="0" smtClean="0"/>
              <a:t>цвет горизонтальных и вертикальных линий соответственно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err="1" smtClean="0">
                <a:solidFill>
                  <a:srgbClr val="000000"/>
                </a:solidFill>
                <a:latin typeface="verdana"/>
              </a:rPr>
              <a:t>DataGrid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поддерживает варианты столбцов:</a:t>
            </a:r>
          </a:p>
          <a:p>
            <a:pPr lvl="1"/>
            <a:r>
              <a:rPr lang="ru-RU" dirty="0" err="1" smtClean="0"/>
              <a:t>DataGridTextColumn</a:t>
            </a:r>
            <a:r>
              <a:rPr lang="ru-RU" dirty="0" smtClean="0"/>
              <a:t> - отображает элемент </a:t>
            </a:r>
            <a:r>
              <a:rPr lang="ru-RU" dirty="0" err="1" smtClean="0"/>
              <a:t>TextBlock</a:t>
            </a:r>
            <a:r>
              <a:rPr lang="ru-RU" dirty="0" smtClean="0"/>
              <a:t> или </a:t>
            </a:r>
            <a:r>
              <a:rPr lang="ru-RU" dirty="0" err="1" smtClean="0"/>
              <a:t>TextBox</a:t>
            </a:r>
            <a:r>
              <a:rPr lang="ru-RU" dirty="0" smtClean="0"/>
              <a:t> при редактировании</a:t>
            </a:r>
          </a:p>
          <a:p>
            <a:pPr lvl="1"/>
            <a:r>
              <a:rPr lang="ru-RU" dirty="0" err="1" smtClean="0"/>
              <a:t>DataGridHyperlinkColumn</a:t>
            </a:r>
            <a:r>
              <a:rPr lang="ru-RU" dirty="0" smtClean="0"/>
              <a:t> - представляет гиперссылку и позволяет переходить по указанному адресу</a:t>
            </a:r>
          </a:p>
          <a:p>
            <a:pPr lvl="1"/>
            <a:r>
              <a:rPr lang="ru-RU" dirty="0" err="1" smtClean="0"/>
              <a:t>DataGridCheckBoxColumn</a:t>
            </a:r>
            <a:r>
              <a:rPr lang="ru-RU" dirty="0" smtClean="0"/>
              <a:t> - отображает элемент </a:t>
            </a:r>
            <a:r>
              <a:rPr lang="ru-RU" dirty="0" err="1" smtClean="0"/>
              <a:t>CheckBox</a:t>
            </a:r>
            <a:endParaRPr lang="ru-RU" dirty="0" smtClean="0"/>
          </a:p>
          <a:p>
            <a:pPr lvl="1"/>
            <a:r>
              <a:rPr lang="ru-RU" dirty="0" err="1" smtClean="0"/>
              <a:t>DataGridComboBoxColumn</a:t>
            </a:r>
            <a:r>
              <a:rPr lang="ru-RU" dirty="0" smtClean="0"/>
              <a:t> - отображает выпадающий список - элемент </a:t>
            </a:r>
            <a:r>
              <a:rPr lang="ru-RU" dirty="0" err="1" smtClean="0"/>
              <a:t>ComboBox</a:t>
            </a:r>
            <a:endParaRPr lang="ru-RU" dirty="0" smtClean="0"/>
          </a:p>
          <a:p>
            <a:pPr lvl="1"/>
            <a:r>
              <a:rPr lang="ru-RU" dirty="0" err="1" smtClean="0"/>
              <a:t>DataGridTemplateColumn</a:t>
            </a:r>
            <a:r>
              <a:rPr lang="ru-RU" dirty="0" smtClean="0"/>
              <a:t> –  позволяет задать специфичный шаблон для отображения столбца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571612"/>
            <a:ext cx="8472518" cy="514353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предыдущий пример: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sz="18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phonesGrid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AutoGenerateColumns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="False"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HorizontalGridLinesBrush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DarkGray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RowBackground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LightGray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AlternatingRowBackground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="White"&gt;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DataGrid.Items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iPhone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6S" Company="Apple" Price="54990"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Title="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Lumia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950" Company="Microsoft" Price="39990"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local:Phone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Title="Nexus 5X" Company="Google" Price="29990"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DataGrid.Items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DataGrid.Columns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DataGridTextColumn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800" dirty="0" smtClean="0">
                <a:solidFill>
                  <a:srgbClr val="000000"/>
                </a:solidFill>
                <a:latin typeface="Consolas"/>
              </a:rPr>
              <a:t>Модель"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Binding="{Binding Path=Title}" Width="90"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DataGridHyperlinkColumn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800" dirty="0" smtClean="0">
                <a:solidFill>
                  <a:srgbClr val="000000"/>
                </a:solidFill>
                <a:latin typeface="Consolas"/>
              </a:rPr>
              <a:t>Компания"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Binding="{Binding Path=Company}" Width="80"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DataGridTextColumn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Header="</a:t>
            </a:r>
            <a:r>
              <a:rPr lang="ru-RU" sz="1800" dirty="0" smtClean="0">
                <a:solidFill>
                  <a:srgbClr val="000000"/>
                </a:solidFill>
                <a:latin typeface="Consolas"/>
              </a:rPr>
              <a:t>Цена"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Binding="{Binding Path=Price}" Width="50" /&gt;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DataGrid.Columns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DataGrid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125954" name="Picture 2" descr="http://metanit.com/sharp/wpf/pics/4.2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0"/>
            <a:ext cx="2724150" cy="20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142852"/>
            <a:ext cx="8072494" cy="6072230"/>
          </a:xfrm>
        </p:spPr>
        <p:txBody>
          <a:bodyPr>
            <a:normAutofit fontScale="40000" lnSpcReduction="20000"/>
          </a:bodyPr>
          <a:lstStyle/>
          <a:p>
            <a:r>
              <a:rPr lang="ru-RU" dirty="0" smtClean="0"/>
              <a:t>Свойство </a:t>
            </a:r>
            <a:r>
              <a:rPr lang="en-US" b="1" dirty="0" err="1" smtClean="0"/>
              <a:t>RowDetailsTemplate</a:t>
            </a:r>
            <a:r>
              <a:rPr lang="ru-RU" b="1" dirty="0" smtClean="0"/>
              <a:t> -</a:t>
            </a:r>
            <a:r>
              <a:rPr lang="ru-RU" dirty="0" smtClean="0"/>
              <a:t> задает шаблон отображения дополнительной информации данной строки</a:t>
            </a:r>
          </a:p>
          <a:p>
            <a:endParaRPr lang="en-US" dirty="0" smtClean="0"/>
          </a:p>
          <a:p>
            <a:pPr fontAlgn="base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DataGrid</a:t>
            </a:r>
            <a:r>
              <a:rPr lang="en-US" dirty="0" smtClean="0"/>
              <a:t> x:Name="</a:t>
            </a:r>
            <a:r>
              <a:rPr lang="en-US" dirty="0" err="1" smtClean="0"/>
              <a:t>phonesGrid</a:t>
            </a:r>
            <a:r>
              <a:rPr lang="en-US" dirty="0" smtClean="0"/>
              <a:t>" </a:t>
            </a:r>
            <a:r>
              <a:rPr lang="en-US" dirty="0" err="1" smtClean="0"/>
              <a:t>AutoGenerateColumns</a:t>
            </a:r>
            <a:r>
              <a:rPr lang="en-US" dirty="0" smtClean="0"/>
              <a:t>="False" </a:t>
            </a:r>
            <a:r>
              <a:rPr lang="en-US" dirty="0" err="1" smtClean="0"/>
              <a:t>HorizontalGridLinesBrush</a:t>
            </a:r>
            <a:r>
              <a:rPr lang="en-US" dirty="0" smtClean="0"/>
              <a:t>="</a:t>
            </a:r>
            <a:r>
              <a:rPr lang="en-US" dirty="0" err="1" smtClean="0"/>
              <a:t>DarkGray</a:t>
            </a:r>
            <a:r>
              <a:rPr lang="en-US" dirty="0" smtClean="0"/>
              <a:t>"</a:t>
            </a:r>
          </a:p>
          <a:p>
            <a:pPr fontAlgn="base">
              <a:buNone/>
            </a:pPr>
            <a:r>
              <a:rPr lang="en-US" dirty="0" smtClean="0"/>
              <a:t>    </a:t>
            </a:r>
            <a:r>
              <a:rPr lang="en-US" dirty="0" err="1" smtClean="0"/>
              <a:t>RowBackground</a:t>
            </a:r>
            <a:r>
              <a:rPr lang="en-US" dirty="0" smtClean="0"/>
              <a:t>="</a:t>
            </a:r>
            <a:r>
              <a:rPr lang="en-US" dirty="0" err="1" smtClean="0"/>
              <a:t>LightGray</a:t>
            </a:r>
            <a:r>
              <a:rPr lang="en-US" dirty="0" smtClean="0"/>
              <a:t>" </a:t>
            </a:r>
            <a:r>
              <a:rPr lang="en-US" dirty="0" err="1" smtClean="0"/>
              <a:t>AlternatingRowBackground</a:t>
            </a:r>
            <a:r>
              <a:rPr lang="en-US" dirty="0" smtClean="0"/>
              <a:t>="White"&gt;</a:t>
            </a:r>
          </a:p>
          <a:p>
            <a:pPr fontAlgn="base">
              <a:buNone/>
            </a:pPr>
            <a:r>
              <a:rPr lang="en-US" dirty="0" smtClean="0"/>
              <a:t>            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DataGrid.Items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</a:t>
            </a:r>
            <a:r>
              <a:rPr lang="en-US" dirty="0" err="1" smtClean="0"/>
              <a:t>iPhone</a:t>
            </a:r>
            <a:r>
              <a:rPr lang="en-US" dirty="0" smtClean="0"/>
              <a:t> 6S" Company="Apple" Price="54990"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</a:t>
            </a:r>
            <a:r>
              <a:rPr lang="en-US" dirty="0" err="1" smtClean="0"/>
              <a:t>Lumia</a:t>
            </a:r>
            <a:r>
              <a:rPr lang="en-US" dirty="0" smtClean="0"/>
              <a:t> 950" Company="Microsoft" Price="39990"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local:Phone</a:t>
            </a:r>
            <a:r>
              <a:rPr lang="en-US" dirty="0" smtClean="0"/>
              <a:t> Title="Nexus 5X" Company="Google" Price="29990" /&gt;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DataGrid.Items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DataGrid.Columns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DataGridTextColumn</a:t>
            </a:r>
            <a:r>
              <a:rPr lang="en-US" dirty="0" smtClean="0"/>
              <a:t> Header="</a:t>
            </a:r>
            <a:r>
              <a:rPr lang="ru-RU" dirty="0" smtClean="0"/>
              <a:t>Модель" </a:t>
            </a:r>
            <a:r>
              <a:rPr lang="en-US" dirty="0" smtClean="0"/>
              <a:t>Binding="{Binding Path=Title}" Width="90"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DataGridHyperlinkColumn</a:t>
            </a:r>
            <a:r>
              <a:rPr lang="en-US" dirty="0" smtClean="0"/>
              <a:t> Header="</a:t>
            </a:r>
            <a:r>
              <a:rPr lang="ru-RU" dirty="0" smtClean="0"/>
              <a:t>Компания" </a:t>
            </a:r>
            <a:r>
              <a:rPr lang="en-US" dirty="0" smtClean="0"/>
              <a:t>Binding="{Binding Path=Company}" Width="80" /&gt;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DataGridTextColumn</a:t>
            </a:r>
            <a:r>
              <a:rPr lang="en-US" dirty="0" smtClean="0"/>
              <a:t> Header="</a:t>
            </a:r>
            <a:r>
              <a:rPr lang="ru-RU" dirty="0" smtClean="0"/>
              <a:t>Цена" </a:t>
            </a:r>
            <a:r>
              <a:rPr lang="en-US" dirty="0" smtClean="0"/>
              <a:t>Binding="{Binding Path=Price}" Width="50" /&gt;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DataGrid.Columns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</a:t>
            </a:r>
          </a:p>
          <a:p>
            <a:pPr fontAlgn="base">
              <a:buNone/>
            </a:pPr>
            <a:r>
              <a:rPr lang="en-US" dirty="0" smtClean="0"/>
              <a:t>    &lt;</a:t>
            </a:r>
            <a:r>
              <a:rPr lang="en-US" dirty="0" err="1" smtClean="0"/>
              <a:t>DataGrid.RowDetailsTemplate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</a:t>
            </a:r>
            <a:r>
              <a:rPr lang="en-US" dirty="0" err="1" smtClean="0"/>
              <a:t>DataTemplate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    &lt;</a:t>
            </a:r>
            <a:r>
              <a:rPr lang="en-US" dirty="0" err="1" smtClean="0"/>
              <a:t>StackPanel</a:t>
            </a:r>
            <a:r>
              <a:rPr lang="en-US" dirty="0" smtClean="0"/>
              <a:t> Orientation="Horizontal"&gt;</a:t>
            </a:r>
          </a:p>
          <a:p>
            <a:pPr fontAlgn="base">
              <a:buNone/>
            </a:pPr>
            <a:r>
              <a:rPr lang="en-US" dirty="0" smtClean="0"/>
              <a:t>                &lt;</a:t>
            </a:r>
            <a:r>
              <a:rPr lang="en-US" dirty="0" err="1" smtClean="0"/>
              <a:t>TextBlock</a:t>
            </a:r>
            <a:r>
              <a:rPr lang="en-US" dirty="0" smtClean="0"/>
              <a:t> Text="{Binding Path=Price}" /&gt;</a:t>
            </a:r>
          </a:p>
          <a:p>
            <a:pPr fontAlgn="base">
              <a:buNone/>
            </a:pPr>
            <a:r>
              <a:rPr lang="en-US" dirty="0" smtClean="0"/>
              <a:t>                &lt;</a:t>
            </a:r>
            <a:r>
              <a:rPr lang="en-US" dirty="0" err="1" smtClean="0"/>
              <a:t>TextBlock</a:t>
            </a:r>
            <a:r>
              <a:rPr lang="en-US" dirty="0" smtClean="0"/>
              <a:t> Text=" </a:t>
            </a:r>
            <a:r>
              <a:rPr lang="ru-RU" dirty="0" smtClean="0"/>
              <a:t>рублей по скидке" /&gt;</a:t>
            </a:r>
          </a:p>
          <a:p>
            <a:pPr fontAlgn="base">
              <a:buNone/>
            </a:pPr>
            <a:r>
              <a:rPr lang="ru-RU" dirty="0" smtClean="0"/>
              <a:t>            &lt;/</a:t>
            </a:r>
            <a:r>
              <a:rPr lang="en-US" dirty="0" err="1" smtClean="0"/>
              <a:t>StackPanel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   &lt;/</a:t>
            </a:r>
            <a:r>
              <a:rPr lang="en-US" dirty="0" err="1" smtClean="0"/>
              <a:t>DataTemplate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&lt;/</a:t>
            </a:r>
            <a:r>
              <a:rPr lang="en-US" dirty="0" err="1" smtClean="0"/>
              <a:t>DataGrid.RowDetailsTemplate</a:t>
            </a:r>
            <a:r>
              <a:rPr lang="en-US" dirty="0" smtClean="0"/>
              <a:t>&gt;</a:t>
            </a:r>
          </a:p>
          <a:p>
            <a:pPr fontAlgn="base">
              <a:buNone/>
            </a:pPr>
            <a:r>
              <a:rPr lang="en-US" dirty="0" smtClean="0"/>
              <a:t>     </a:t>
            </a:r>
          </a:p>
          <a:p>
            <a:pPr fontAlgn="base">
              <a:buNone/>
            </a:pPr>
            <a:r>
              <a:rPr lang="en-US" dirty="0" smtClean="0"/>
              <a:t>&lt;/</a:t>
            </a:r>
            <a:r>
              <a:rPr lang="en-US" dirty="0" err="1" smtClean="0"/>
              <a:t>DataGrid</a:t>
            </a:r>
            <a:r>
              <a:rPr lang="en-US" dirty="0" smtClean="0"/>
              <a:t>&gt;</a:t>
            </a:r>
            <a:endParaRPr lang="en-US" dirty="0"/>
          </a:p>
        </p:txBody>
      </p:sp>
      <p:pic>
        <p:nvPicPr>
          <p:cNvPr id="124930" name="Picture 2" descr="DataGrid.RowDetailsTemplate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12" y="4572008"/>
            <a:ext cx="2724150" cy="2028826"/>
          </a:xfrm>
          <a:prstGeom prst="rect">
            <a:avLst/>
          </a:prstGeom>
          <a:noFill/>
        </p:spPr>
      </p:pic>
      <p:cxnSp>
        <p:nvCxnSpPr>
          <p:cNvPr id="6" name="Прямая со стрелкой 5"/>
          <p:cNvCxnSpPr/>
          <p:nvPr/>
        </p:nvCxnSpPr>
        <p:spPr>
          <a:xfrm rot="5400000">
            <a:off x="678629" y="1464455"/>
            <a:ext cx="307183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ProgressBar</a:t>
            </a:r>
            <a:r>
              <a:rPr lang="en-US" sz="3200" b="1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en-US" sz="3200" b="1" dirty="0" smtClean="0">
                <a:solidFill>
                  <a:srgbClr val="000000"/>
                </a:solidFill>
                <a:latin typeface="verdana"/>
              </a:rPr>
              <a:t>Slider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9"/>
            <a:ext cx="8229600" cy="3357586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ProgressBar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Slider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элементы, основанные на диапазонах значений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хранят и отображают числовые данные на определенном диапазоне</a:t>
            </a: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являются наследниками класса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RangeBase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наследуют свойства: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Value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указывает на текущее значение элемента (представлено типом 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Double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Maximum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/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Minimum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указывает на максимальное/минимальное значение элемента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357982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  <a:buNone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Slider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обычный ползунок</a:t>
            </a: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Orientation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указывает ориентацию ползунка - горизонтальную(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Horizontal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 или вертикальную (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Vertical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Delay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указывает время в миллисекундах, по истечении которого ползунок переместится на одну единицу после щелчка.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Interval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указывает время в миллисекундах, по истечении которого ползунок может перемещаться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TickPlacement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задает визуализацию шкалы ползунка. По умолчанию имеет значение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None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(отсутствие шкалы). Значение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BottomRight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создают шкалу в нижней части ползунка,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TopLeft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в верхней,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Both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по обоим сторонам.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Ticks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задает только одну отметку на указанном значении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TickFrequency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указывает частоту появления отметок на шкале ползунка.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IsSelectionRangeEnabled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задает затенение участка ползунка. Если оно установлено в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то начальная и конечная отметка затенения задаются с помощью свойств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SelectionStart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и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SelectionEnd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Простейший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слайдер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Slider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Value=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Minimum=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Maximum=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"100"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SelectionStart=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Height=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"30" </a:t>
            </a: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IsSelectionRangeEnabled=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True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ValueChanged=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Slider_ValueChanged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endParaRPr lang="ru-RU" dirty="0" smtClean="0"/>
          </a:p>
          <a:p>
            <a:r>
              <a:rPr lang="ru-RU" dirty="0" smtClean="0"/>
              <a:t>в файле кода обработчик </a:t>
            </a:r>
            <a:r>
              <a:rPr lang="en-US" dirty="0" err="1" smtClean="0"/>
              <a:t>Slider_ValueChanged</a:t>
            </a:r>
            <a:r>
              <a:rPr lang="en-US" dirty="0" smtClean="0"/>
              <a:t>, </a:t>
            </a:r>
            <a:r>
              <a:rPr lang="ru-RU" dirty="0" smtClean="0"/>
              <a:t>который будет срабатывает при возникновении события </a:t>
            </a:r>
            <a:r>
              <a:rPr lang="en-US" dirty="0" err="1" smtClean="0"/>
              <a:t>ValueChanged</a:t>
            </a:r>
            <a:r>
              <a:rPr lang="en-US" dirty="0" smtClean="0"/>
              <a:t> - </a:t>
            </a:r>
            <a:r>
              <a:rPr lang="ru-RU" dirty="0" smtClean="0"/>
              <a:t>изменении значения </a:t>
            </a:r>
            <a:r>
              <a:rPr lang="ru-RU" dirty="0" err="1" smtClean="0"/>
              <a:t>слайдера</a:t>
            </a:r>
            <a:r>
              <a:rPr lang="ru-RU" dirty="0" smtClean="0"/>
              <a:t>(в данном случае обработчик этого события будет изменять выделение </a:t>
            </a:r>
            <a:r>
              <a:rPr lang="ru-RU" dirty="0" err="1" smtClean="0"/>
              <a:t>слайдера</a:t>
            </a:r>
            <a:r>
              <a:rPr lang="ru-RU" dirty="0" smtClean="0"/>
              <a:t>):</a:t>
            </a:r>
          </a:p>
          <a:p>
            <a:pPr fontAlgn="base"/>
            <a:endParaRPr lang="ru-RU" dirty="0" smtClean="0"/>
          </a:p>
          <a:p>
            <a:pPr fontAlgn="base">
              <a:buNone/>
            </a:pPr>
            <a:r>
              <a:rPr lang="en-US" dirty="0" smtClean="0"/>
              <a:t>private void </a:t>
            </a:r>
            <a:r>
              <a:rPr lang="en-US" dirty="0" err="1" smtClean="0"/>
              <a:t>Slider_ValueChanged</a:t>
            </a:r>
            <a:r>
              <a:rPr lang="en-US" dirty="0" smtClean="0"/>
              <a:t>(object sender, </a:t>
            </a:r>
            <a:r>
              <a:rPr lang="en-US" dirty="0" err="1" smtClean="0"/>
              <a:t>RoutedPropertyChangedEventArgs</a:t>
            </a:r>
            <a:r>
              <a:rPr lang="en-US" dirty="0" smtClean="0"/>
              <a:t>&lt;double&gt; e)</a:t>
            </a:r>
          </a:p>
          <a:p>
            <a:pPr fontAlgn="base">
              <a:buNone/>
            </a:pPr>
            <a:r>
              <a:rPr lang="en-US" dirty="0" smtClean="0"/>
              <a:t>{</a:t>
            </a:r>
          </a:p>
          <a:p>
            <a:pPr fontAlgn="base">
              <a:buNone/>
            </a:pPr>
            <a:r>
              <a:rPr lang="en-US" dirty="0" smtClean="0"/>
              <a:t>    ((Slider)sender).</a:t>
            </a:r>
            <a:r>
              <a:rPr lang="en-US" dirty="0" err="1" smtClean="0"/>
              <a:t>SelectionEnd</a:t>
            </a:r>
            <a:r>
              <a:rPr lang="en-US" dirty="0" smtClean="0"/>
              <a:t>=</a:t>
            </a:r>
            <a:r>
              <a:rPr lang="en-US" dirty="0" err="1" smtClean="0"/>
              <a:t>e.NewValue</a:t>
            </a:r>
            <a:r>
              <a:rPr lang="en-US" dirty="0" smtClean="0"/>
              <a:t>;</a:t>
            </a:r>
          </a:p>
          <a:p>
            <a:pPr fontAlgn="base">
              <a:buNone/>
            </a:pPr>
            <a:r>
              <a:rPr lang="en-US" dirty="0" smtClean="0"/>
              <a:t>}</a:t>
            </a:r>
          </a:p>
          <a:p>
            <a:endParaRPr lang="ru-RU" dirty="0"/>
          </a:p>
        </p:txBody>
      </p:sp>
      <p:pic>
        <p:nvPicPr>
          <p:cNvPr id="122882" name="Picture 2" descr="Элемент Slider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12" y="5781674"/>
            <a:ext cx="2724150" cy="10763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ProgressBar</a:t>
            </a:r>
            <a:r>
              <a:rPr lang="ru-RU" b="1" dirty="0" smtClean="0">
                <a:solidFill>
                  <a:srgbClr val="000000"/>
                </a:solidFill>
                <a:latin typeface="verdana"/>
              </a:rPr>
              <a:t> -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индикатор, отображающий выполнение определенного процесса</a:t>
            </a:r>
          </a:p>
          <a:p>
            <a:pPr>
              <a:buNone/>
            </a:pPr>
            <a:endParaRPr lang="ru-RU" b="1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имеет свойство 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Orientation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которое устанавливает вертикальное или горизонтальное расположение индикатора</a:t>
            </a:r>
          </a:p>
          <a:p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Для связи с реальными процессами вся логика изменения индикатора, его свойства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Value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должна </a:t>
            </a:r>
            <a:r>
              <a:rPr lang="ru-RU" dirty="0" smtClean="0">
                <a:solidFill>
                  <a:srgbClr val="C00000"/>
                </a:solidFill>
                <a:latin typeface="verdana"/>
              </a:rPr>
              <a:t>отрабатываться в коде</a:t>
            </a:r>
          </a:p>
          <a:p>
            <a:endParaRPr lang="ru-RU" dirty="0" smtClean="0">
              <a:solidFill>
                <a:srgbClr val="C00000"/>
              </a:solidFill>
              <a:latin typeface="verdana"/>
            </a:endParaRPr>
          </a:p>
          <a:p>
            <a:pPr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ProgressBar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Minimum=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Maximum=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"100"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Value=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"50" </a:t>
            </a:r>
            <a:r>
              <a:rPr lang="ru-RU" dirty="0" err="1" smtClean="0">
                <a:solidFill>
                  <a:srgbClr val="000000"/>
                </a:solidFill>
                <a:latin typeface="Consolas"/>
              </a:rPr>
              <a:t>Height=</a:t>
            </a:r>
            <a:r>
              <a:rPr lang="ru-RU" dirty="0" smtClean="0">
                <a:solidFill>
                  <a:srgbClr val="000000"/>
                </a:solidFill>
                <a:latin typeface="Consolas"/>
              </a:rPr>
              <a:t>"25" /&gt;</a:t>
            </a:r>
          </a:p>
          <a:p>
            <a:endParaRPr lang="ru-RU" dirty="0"/>
          </a:p>
        </p:txBody>
      </p:sp>
      <p:pic>
        <p:nvPicPr>
          <p:cNvPr id="121858" name="Picture 2" descr="Элемент ProgressBar в WP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500042"/>
            <a:ext cx="2724150" cy="10763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868346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Работа с датами</a:t>
            </a:r>
            <a:br>
              <a:rPr lang="ru-RU" sz="3200" b="1" dirty="0" smtClean="0">
                <a:solidFill>
                  <a:srgbClr val="000000"/>
                </a:solidFill>
                <a:latin typeface="verdana"/>
              </a:rPr>
            </a:br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Calendar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sz="3200" b="1" dirty="0" err="1" smtClean="0">
                <a:solidFill>
                  <a:srgbClr val="000000"/>
                </a:solidFill>
                <a:latin typeface="verdana"/>
              </a:rPr>
              <a:t>DatePicker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C00000"/>
                </a:solidFill>
              </a:rPr>
              <a:t>Calendar</a:t>
            </a:r>
            <a:r>
              <a:rPr lang="ru-RU" dirty="0" smtClean="0"/>
              <a:t> - элемент в виде календаря,</a:t>
            </a:r>
          </a:p>
          <a:p>
            <a:pPr>
              <a:spcAft>
                <a:spcPts val="600"/>
              </a:spcAft>
            </a:pPr>
            <a:r>
              <a:rPr lang="ru-RU" b="1" dirty="0" err="1" smtClean="0">
                <a:solidFill>
                  <a:srgbClr val="C00000"/>
                </a:solidFill>
              </a:rPr>
              <a:t>DatePicker</a:t>
            </a:r>
            <a:r>
              <a:rPr lang="ru-RU" dirty="0" smtClean="0"/>
              <a:t> - текстовое поле для ввода даты с выпадающим календарем после ввода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имеют общие свойства: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BlackoutDates</a:t>
            </a:r>
            <a:r>
              <a:rPr lang="ru-RU" b="1" dirty="0" smtClean="0"/>
              <a:t> - </a:t>
            </a:r>
            <a:r>
              <a:rPr lang="ru-RU" dirty="0" smtClean="0"/>
              <a:t>Принимает в качестве значения объект </a:t>
            </a:r>
            <a:r>
              <a:rPr lang="ru-RU" b="1" dirty="0" err="1" smtClean="0"/>
              <a:t>CalendarDateRange</a:t>
            </a:r>
            <a:r>
              <a:rPr lang="ru-RU" dirty="0" smtClean="0"/>
              <a:t>, задающий с помощью свойств </a:t>
            </a:r>
            <a:r>
              <a:rPr lang="ru-RU" b="1" dirty="0" err="1" smtClean="0"/>
              <a:t>Start</a:t>
            </a:r>
            <a:r>
              <a:rPr lang="ru-RU" dirty="0" smtClean="0"/>
              <a:t> и </a:t>
            </a:r>
            <a:r>
              <a:rPr lang="ru-RU" b="1" dirty="0" err="1" smtClean="0"/>
              <a:t>End</a:t>
            </a:r>
            <a:r>
              <a:rPr lang="ru-RU" dirty="0" smtClean="0"/>
              <a:t> диапазон дат, которые будут зачеркнуты в календаре.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DisplayDateStart</a:t>
            </a:r>
            <a:r>
              <a:rPr lang="ru-RU" dirty="0" smtClean="0"/>
              <a:t> </a:t>
            </a:r>
            <a:r>
              <a:rPr lang="ru-RU" dirty="0" err="1" smtClean="0"/>
              <a:t>и</a:t>
            </a:r>
            <a:r>
              <a:rPr lang="ru-RU" b="1" dirty="0" err="1" smtClean="0"/>
              <a:t>DisplayDateEnd</a:t>
            </a:r>
            <a:r>
              <a:rPr lang="ru-RU" b="1" dirty="0" smtClean="0"/>
              <a:t> - </a:t>
            </a:r>
            <a:r>
              <a:rPr lang="ru-RU" dirty="0" smtClean="0"/>
              <a:t>Задают соответственно начальную и конечную дату диапазона, который будет отображаться в календаре.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IsTodayHighlighted</a:t>
            </a:r>
            <a:r>
              <a:rPr lang="ru-RU" b="1" dirty="0" smtClean="0"/>
              <a:t> - </a:t>
            </a:r>
            <a:r>
              <a:rPr lang="ru-RU" dirty="0" smtClean="0"/>
              <a:t>Отмечает, будет ли выделена текущая дата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SelectedDate</a:t>
            </a:r>
            <a:r>
              <a:rPr lang="ru-RU" dirty="0" smtClean="0"/>
              <a:t>(</a:t>
            </a:r>
            <a:r>
              <a:rPr lang="ru-RU" b="1" dirty="0" err="1" smtClean="0"/>
              <a:t>SelectedDates</a:t>
            </a:r>
            <a:r>
              <a:rPr lang="ru-RU" dirty="0" smtClean="0"/>
              <a:t>) - Задает выделенную дату (диапазон выделенных дат)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FirstDayOfWeek</a:t>
            </a:r>
            <a:r>
              <a:rPr lang="ru-RU" b="1" dirty="0" smtClean="0"/>
              <a:t> - </a:t>
            </a:r>
            <a:r>
              <a:rPr lang="ru-RU" dirty="0" smtClean="0"/>
              <a:t>Задает первый день недели</a:t>
            </a:r>
          </a:p>
          <a:p>
            <a:pPr>
              <a:spcAft>
                <a:spcPts val="600"/>
              </a:spcAft>
              <a:buNone/>
            </a:pPr>
            <a:r>
              <a:rPr lang="ru-RU" dirty="0" err="1" smtClean="0"/>
              <a:t>Calendar</a:t>
            </a:r>
            <a:r>
              <a:rPr lang="ru-RU" dirty="0" smtClean="0"/>
              <a:t> имеет два свойства: </a:t>
            </a:r>
          </a:p>
          <a:p>
            <a:pPr>
              <a:spcAft>
                <a:spcPts val="600"/>
              </a:spcAft>
            </a:pPr>
            <a:r>
              <a:rPr lang="ru-RU" b="1" dirty="0" err="1" smtClean="0"/>
              <a:t>DisplayMode</a:t>
            </a:r>
            <a:r>
              <a:rPr lang="ru-RU" dirty="0" smtClean="0"/>
              <a:t>(формат отображения дат) может принимать одно из следующих значений: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Month</a:t>
            </a:r>
            <a:r>
              <a:rPr lang="ru-RU" dirty="0" smtClean="0"/>
              <a:t> (по умолчанию) отображает все дни текущего месяца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Decade</a:t>
            </a:r>
            <a:r>
              <a:rPr lang="ru-RU" dirty="0" smtClean="0"/>
              <a:t> отображает все года текущего десятилетия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Year</a:t>
            </a:r>
            <a:r>
              <a:rPr lang="ru-RU" dirty="0" smtClean="0"/>
              <a:t> отображает все месяцы текущего года</a:t>
            </a:r>
          </a:p>
          <a:p>
            <a:pPr>
              <a:spcAft>
                <a:spcPts val="600"/>
              </a:spcAft>
            </a:pPr>
            <a:r>
              <a:rPr lang="ru-RU" b="1" dirty="0" err="1" smtClean="0"/>
              <a:t>SelectionMode</a:t>
            </a:r>
            <a:r>
              <a:rPr lang="ru-RU" dirty="0" smtClean="0"/>
              <a:t> (способ выделения) может принимать одно из следующих значений: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SingleDate</a:t>
            </a:r>
            <a:r>
              <a:rPr lang="ru-RU" dirty="0" smtClean="0"/>
              <a:t> (по умолчанию) выделяет только одну дату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None</a:t>
            </a:r>
            <a:r>
              <a:rPr lang="ru-RU" dirty="0" smtClean="0"/>
              <a:t> запрещает выделение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SingleRange</a:t>
            </a:r>
            <a:r>
              <a:rPr lang="ru-RU" dirty="0" smtClean="0"/>
              <a:t> по нажатию на </a:t>
            </a:r>
            <a:r>
              <a:rPr lang="ru-RU" dirty="0" err="1" smtClean="0"/>
              <a:t>Ctrl</a:t>
            </a:r>
            <a:r>
              <a:rPr lang="ru-RU" dirty="0" smtClean="0"/>
              <a:t> выделяет несколько последовательно идущих дат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/>
              <a:t>MultipleRange</a:t>
            </a:r>
            <a:r>
              <a:rPr lang="ru-RU" dirty="0" smtClean="0"/>
              <a:t> по нажатию на </a:t>
            </a:r>
            <a:r>
              <a:rPr lang="ru-RU" dirty="0" err="1" smtClean="0"/>
              <a:t>Ctrl</a:t>
            </a:r>
            <a:r>
              <a:rPr lang="ru-RU" dirty="0" smtClean="0"/>
              <a:t> выделяет несколько не последовательно идущих диапазонов дат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44" y="142852"/>
            <a:ext cx="6357982" cy="514353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sz="2600" dirty="0" smtClean="0">
                <a:solidFill>
                  <a:srgbClr val="000000"/>
                </a:solidFill>
                <a:latin typeface="verdana"/>
              </a:rPr>
              <a:t>Например:</a:t>
            </a:r>
          </a:p>
          <a:p>
            <a:pPr fontAlgn="base"/>
            <a:endParaRPr lang="ru-RU" sz="2600" dirty="0" smtClean="0">
              <a:solidFill>
                <a:srgbClr val="000000"/>
              </a:solidFill>
              <a:latin typeface="Consolas"/>
            </a:endParaRPr>
          </a:p>
          <a:p>
            <a:pPr fontAlgn="base">
              <a:buNone/>
            </a:pPr>
            <a:r>
              <a:rPr lang="ru-RU" sz="2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Calendar x:Name="calendar1" 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FirstDayOfWeek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="Monday"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SelectedDatesChanged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calendar_SelectedDatesChanged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Calendar.BlackoutDates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CalendarDateRange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 Start="10/5/2013" End="10/8/2013"&gt;&lt;/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CalendarDateRange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Calendar.BlackoutDates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&lt;/Calendar&gt;</a:t>
            </a:r>
          </a:p>
          <a:p>
            <a:endParaRPr lang="ru-RU" sz="26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2600" dirty="0" smtClean="0">
                <a:solidFill>
                  <a:srgbClr val="000000"/>
                </a:solidFill>
                <a:latin typeface="verdana"/>
              </a:rPr>
              <a:t>при задании даты сначала пишем месяц, а потом число</a:t>
            </a:r>
          </a:p>
          <a:p>
            <a:endParaRPr lang="ru-RU" sz="26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2600" dirty="0" smtClean="0">
                <a:solidFill>
                  <a:srgbClr val="000000"/>
                </a:solidFill>
                <a:latin typeface="verdana"/>
              </a:rPr>
              <a:t>Чтобы использовать в программе выбор даты пользователем, можно обработать событие </a:t>
            </a:r>
            <a:r>
              <a:rPr lang="en-US" sz="2600" dirty="0" err="1" smtClean="0">
                <a:solidFill>
                  <a:srgbClr val="000000"/>
                </a:solidFill>
                <a:latin typeface="verdana"/>
              </a:rPr>
              <a:t>SelectedDatesChanged</a:t>
            </a:r>
            <a:r>
              <a:rPr lang="ru-RU" sz="2600" dirty="0" smtClean="0">
                <a:solidFill>
                  <a:srgbClr val="000000"/>
                </a:solidFill>
                <a:latin typeface="verdana"/>
              </a:rPr>
              <a:t>в коде </a:t>
            </a:r>
            <a:r>
              <a:rPr lang="en-US" sz="2600" dirty="0" smtClean="0">
                <a:solidFill>
                  <a:srgbClr val="000000"/>
                </a:solidFill>
                <a:latin typeface="verdana"/>
              </a:rPr>
              <a:t>c#:</a:t>
            </a:r>
            <a:endParaRPr lang="ru-RU" sz="2600" dirty="0" smtClean="0">
              <a:solidFill>
                <a:srgbClr val="000000"/>
              </a:solidFill>
              <a:latin typeface="verdana"/>
            </a:endParaRPr>
          </a:p>
          <a:p>
            <a:endParaRPr lang="en-US" sz="260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calendar_SelectedDatesChanged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SelectionChangedEventArgs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DateTime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? 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selectedDate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 = calendar1.SelectedDate;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600" dirty="0" err="1" smtClean="0">
                <a:solidFill>
                  <a:srgbClr val="000000"/>
                </a:solidFill>
                <a:latin typeface="Consolas"/>
              </a:rPr>
              <a:t>selectedDate.Value.Date.ToShortDateString</a:t>
            </a: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fontAlgn="base">
              <a:buNone/>
            </a:pPr>
            <a:r>
              <a:rPr lang="en-US" sz="26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4643446"/>
            <a:ext cx="2857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4290"/>
            <a:ext cx="8472518" cy="5286412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Для создания набора выделенных дат надо подключить в </a:t>
            </a:r>
            <a:r>
              <a:rPr lang="en-US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пространство имен 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System: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&lt;Calendar x:Name="calendar1"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FirstDayOfWeek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="Monday"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SelectionMode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MultipleRange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xmlns:sys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clr-namespace:System;assembly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mscorlib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Calendar.SelectedDates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&gt;01/9/2016&lt;/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&gt;01/13/2016&lt;/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&gt;01/24/2016&lt;/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sys:DateTime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    &lt;/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Calendar.SelectedDates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dirty="0" smtClean="0">
                <a:solidFill>
                  <a:srgbClr val="000000"/>
                </a:solidFill>
                <a:latin typeface="Consolas"/>
              </a:rPr>
              <a:t>&lt;/Calendar&gt;</a:t>
            </a:r>
          </a:p>
          <a:p>
            <a:endParaRPr lang="ru-RU" dirty="0"/>
          </a:p>
        </p:txBody>
      </p:sp>
      <p:pic>
        <p:nvPicPr>
          <p:cNvPr id="1177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500570"/>
            <a:ext cx="2857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00"/>
                </a:solidFill>
                <a:latin typeface="verdana"/>
              </a:rPr>
              <a:t>DatePicker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1"/>
            <a:ext cx="8229600" cy="392909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DatePicker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: </a:t>
            </a:r>
          </a:p>
          <a:p>
            <a:pPr lvl="1">
              <a:spcAft>
                <a:spcPts val="600"/>
              </a:spcAft>
            </a:pP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IsDropDownOpen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(показывает, будет ли связанный с элементом всплывающий календарь оставаться открытым после выбора даты) </a:t>
            </a:r>
          </a:p>
          <a:p>
            <a:pPr lvl="1">
              <a:spcAft>
                <a:spcPts val="600"/>
              </a:spcAft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и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SelectedDateFormat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 (формат даты, принимает значение</a:t>
            </a:r>
          </a:p>
          <a:p>
            <a:pPr lvl="2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Short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формат в виде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дд.мм.гггг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или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мм.дд.гггг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</a:p>
          <a:p>
            <a:pPr lvl="2"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значение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Long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- с полными названиями месяцев):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&lt;</a:t>
            </a:r>
            <a:r>
              <a:rPr lang="en-US" dirty="0" err="1" smtClean="0"/>
              <a:t>DatePicker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/>
              <a:t>Name="datePicker1"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/>
              <a:t>IsDropDownOpen</a:t>
            </a:r>
            <a:r>
              <a:rPr lang="en-US" dirty="0" smtClean="0"/>
              <a:t>="True"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/>
              <a:t>SelectedDateFormat</a:t>
            </a:r>
            <a:r>
              <a:rPr lang="en-US" dirty="0" smtClean="0"/>
              <a:t>="Short"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/>
              <a:t>/&gt;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3435</Words>
  <Application>Microsoft Office PowerPoint</Application>
  <PresentationFormat>Экран (4:3)</PresentationFormat>
  <Paragraphs>1394</Paragraphs>
  <Slides>109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109</vt:i4>
      </vt:variant>
    </vt:vector>
  </HeadingPairs>
  <TitlesOfParts>
    <vt:vector size="116" baseType="lpstr">
      <vt:lpstr>Arial</vt:lpstr>
      <vt:lpstr>Calibri</vt:lpstr>
      <vt:lpstr>Consolas</vt:lpstr>
      <vt:lpstr>Courier New</vt:lpstr>
      <vt:lpstr>verdana</vt:lpstr>
      <vt:lpstr>verdana</vt:lpstr>
      <vt:lpstr>Тема Office</vt:lpstr>
      <vt:lpstr>Элементы управления </vt:lpstr>
      <vt:lpstr>элементы управления </vt:lpstr>
      <vt:lpstr>System.Threading.DispatcherObject</vt:lpstr>
      <vt:lpstr>System.Windows.DependencyObject</vt:lpstr>
      <vt:lpstr>Презентация PowerPoint</vt:lpstr>
      <vt:lpstr>Name</vt:lpstr>
      <vt:lpstr>FieldModifier</vt:lpstr>
      <vt:lpstr>Visibility</vt:lpstr>
      <vt:lpstr>Презентация PowerPoint</vt:lpstr>
      <vt:lpstr>Свойства настройки шрифтов</vt:lpstr>
      <vt:lpstr>Cursor</vt:lpstr>
      <vt:lpstr>Презентация PowerPoint</vt:lpstr>
      <vt:lpstr>Презентация PowerPoint</vt:lpstr>
      <vt:lpstr>Презентация PowerPoint</vt:lpstr>
      <vt:lpstr>SolidColorBrush</vt:lpstr>
      <vt:lpstr>Презентация PowerPoint</vt:lpstr>
      <vt:lpstr>Презентация PowerPoint</vt:lpstr>
      <vt:lpstr>кнопка с именем button1:</vt:lpstr>
      <vt:lpstr>в качестве содержимого - объект, унаследованный от UIElement:</vt:lpstr>
      <vt:lpstr>Презентация PowerPoint</vt:lpstr>
      <vt:lpstr>То же самое через код C#:</vt:lpstr>
      <vt:lpstr>Позиционирование контента Content Alignment</vt:lpstr>
      <vt:lpstr>Презентация PowerPoint</vt:lpstr>
      <vt:lpstr>В WPF кнопки представлены целым рядом классов, которые наследуются от базового класса ButtonBase:</vt:lpstr>
      <vt:lpstr>Button</vt:lpstr>
      <vt:lpstr>Презентация PowerPoint</vt:lpstr>
      <vt:lpstr>RepeatButton</vt:lpstr>
      <vt:lpstr>ToggleButton</vt:lpstr>
      <vt:lpstr>checkbox</vt:lpstr>
      <vt:lpstr>Презентация PowerPoint</vt:lpstr>
      <vt:lpstr>Презентация PowerPoint</vt:lpstr>
      <vt:lpstr>Программное добавление флажка:</vt:lpstr>
      <vt:lpstr>Презентация PowerPoint</vt:lpstr>
      <vt:lpstr>Презентация PowerPoint</vt:lpstr>
      <vt:lpstr>Программное добавление элемента RadioButton:</vt:lpstr>
      <vt:lpstr>ToolTip</vt:lpstr>
      <vt:lpstr>Презентация PowerPoint</vt:lpstr>
      <vt:lpstr>Презентация PowerPoint</vt:lpstr>
      <vt:lpstr>Свойства ToolTip</vt:lpstr>
      <vt:lpstr>Презентация PowerPoint</vt:lpstr>
      <vt:lpstr>Презентация PowerPoint</vt:lpstr>
      <vt:lpstr>свойства класса ToolTipService</vt:lpstr>
      <vt:lpstr>Программное создание всплывающей подсказки</vt:lpstr>
      <vt:lpstr>Popup</vt:lpstr>
      <vt:lpstr>Презентация PowerPoint</vt:lpstr>
      <vt:lpstr>Контейнеры GroupBox и Expander</vt:lpstr>
      <vt:lpstr>Презентация PowerPoint</vt:lpstr>
      <vt:lpstr>Однако заголовок GroupBox необязательно представляет простой текст, можно засуть кнопку заказа прямо в заголовок:</vt:lpstr>
      <vt:lpstr>Expander</vt:lpstr>
      <vt:lpstr>Презентация PowerPoint</vt:lpstr>
      <vt:lpstr>можно изменить заголовок, вложив в него, например, кнопку или изображение:</vt:lpstr>
      <vt:lpstr>Презентация PowerPoint</vt:lpstr>
      <vt:lpstr>Программное создание Expandera:</vt:lpstr>
      <vt:lpstr>ScrollViewer Создание прокрутки</vt:lpstr>
      <vt:lpstr>Презентация PowerPoint</vt:lpstr>
      <vt:lpstr>ScrollViewer</vt:lpstr>
      <vt:lpstr>Презентация PowerPoint</vt:lpstr>
      <vt:lpstr>Текстовые элементы управления TextBlock </vt:lpstr>
      <vt:lpstr>Презентация PowerPoint</vt:lpstr>
      <vt:lpstr>изменения параметров отображаемого текста </vt:lpstr>
      <vt:lpstr>TextBox</vt:lpstr>
      <vt:lpstr>TextBox</vt:lpstr>
      <vt:lpstr>Презентация PowerPoint</vt:lpstr>
      <vt:lpstr>Презентация PowerPoint</vt:lpstr>
      <vt:lpstr>Метка (Label)</vt:lpstr>
      <vt:lpstr>PasswordBox</vt:lpstr>
      <vt:lpstr>RichTextBox</vt:lpstr>
      <vt:lpstr>Элементы управления списками</vt:lpstr>
      <vt:lpstr>Презентация PowerPoint</vt:lpstr>
      <vt:lpstr>Элементы управления списками</vt:lpstr>
      <vt:lpstr>Презентация PowerPoint</vt:lpstr>
      <vt:lpstr>То же самое программным способом:</vt:lpstr>
      <vt:lpstr>Презентация PowerPoint</vt:lpstr>
      <vt:lpstr>ListBox</vt:lpstr>
      <vt:lpstr>Компонент ListBoxItem представляет элемент управления содержимым, поэтому можно задавать через его свойство Content более сложные композиции элементов, например:</vt:lpstr>
      <vt:lpstr>Выделение элементов ComboBox</vt:lpstr>
      <vt:lpstr>Презентация PowerPoint</vt:lpstr>
      <vt:lpstr>Событие SelectionChanged</vt:lpstr>
      <vt:lpstr>Свойства</vt:lpstr>
      <vt:lpstr>ListView</vt:lpstr>
      <vt:lpstr>Презентация PowerPoint</vt:lpstr>
      <vt:lpstr>привязка в файле коде</vt:lpstr>
      <vt:lpstr>Презентация PowerPoint</vt:lpstr>
      <vt:lpstr>Создание вкладок и TabControl</vt:lpstr>
      <vt:lpstr>Создание вкладок и TabControl</vt:lpstr>
      <vt:lpstr>Презентация PowerPoint</vt:lpstr>
      <vt:lpstr>Презентация PowerPoint</vt:lpstr>
      <vt:lpstr>Программное добавление вкладок</vt:lpstr>
      <vt:lpstr>Menu - создание стандартных меню:</vt:lpstr>
      <vt:lpstr>Презентация PowerPoint</vt:lpstr>
      <vt:lpstr>Презентация PowerPoint</vt:lpstr>
      <vt:lpstr>Презентация PowerPoint</vt:lpstr>
      <vt:lpstr>ToolBar</vt:lpstr>
      <vt:lpstr>ToolBar</vt:lpstr>
      <vt:lpstr>ToolBar</vt:lpstr>
      <vt:lpstr>StatusBar</vt:lpstr>
      <vt:lpstr>TreeView</vt:lpstr>
      <vt:lpstr>Презентация PowerPoint</vt:lpstr>
      <vt:lpstr>DataGrid</vt:lpstr>
      <vt:lpstr>свойства DataGrid</vt:lpstr>
      <vt:lpstr>Презентация PowerPoint</vt:lpstr>
      <vt:lpstr>Презентация PowerPoint</vt:lpstr>
      <vt:lpstr>ProgressBar и Slider</vt:lpstr>
      <vt:lpstr>Презентация PowerPoint</vt:lpstr>
      <vt:lpstr>Презентация PowerPoint</vt:lpstr>
      <vt:lpstr>Работа с датами Calendar и DatePicker</vt:lpstr>
      <vt:lpstr>Презентация PowerPoint</vt:lpstr>
      <vt:lpstr>Презентация PowerPoint</vt:lpstr>
      <vt:lpstr>DatePicker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http://metanit.com/sharp/wpf/5.1.php</dc:title>
  <dc:creator>Sony</dc:creator>
  <cp:lastModifiedBy>IIT BSUIR</cp:lastModifiedBy>
  <cp:revision>77</cp:revision>
  <dcterms:created xsi:type="dcterms:W3CDTF">2016-12-04T17:22:50Z</dcterms:created>
  <dcterms:modified xsi:type="dcterms:W3CDTF">2017-12-15T18:57:20Z</dcterms:modified>
</cp:coreProperties>
</file>