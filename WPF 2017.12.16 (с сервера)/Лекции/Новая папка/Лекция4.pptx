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84A6-9F63-434A-9BD3-B7C260B334A6}" type="datetimeFigureOut">
              <a:rPr lang="ru-RU" smtClean="0"/>
              <a:pPr/>
              <a:t>2016-12-09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88A0-AE07-46C0-8B25-DC52E3BF140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microsoft.com/winfx/2006/xaml" TargetMode="External"/><Relationship Id="rId2" Type="http://schemas.openxmlformats.org/officeDocument/2006/relationships/hyperlink" Target="http://schemas.microsoft.com/winfx/2006/xaml/presenta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schemas.openxmlformats.org/markup-compatibility/2006" TargetMode="External"/><Relationship Id="rId4" Type="http://schemas.openxmlformats.org/officeDocument/2006/relationships/hyperlink" Target="http://schemas.microsoft.com/expression/blend/2008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i="0" dirty="0" err="1" smtClean="0">
                <a:solidFill>
                  <a:srgbClr val="000000"/>
                </a:solidFill>
                <a:latin typeface="verdana"/>
              </a:rPr>
              <a:t>DependencyObject</a:t>
            </a:r>
            <a:r>
              <a:rPr lang="en-US" b="1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и свойства зависимостей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Введение в </a:t>
            </a:r>
            <a:r>
              <a:rPr lang="en-US" b="1" i="0" dirty="0" smtClean="0">
                <a:solidFill>
                  <a:srgbClr val="000000"/>
                </a:solidFill>
                <a:latin typeface="verdana"/>
              </a:rPr>
              <a:t>Dependency Property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572272"/>
          </a:xfrm>
        </p:spPr>
        <p:txBody>
          <a:bodyPr>
            <a:normAutofit fontScale="32500" lnSpcReduction="20000"/>
          </a:bodyPr>
          <a:lstStyle/>
          <a:p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Width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или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Height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являются не просто стандартными свойствами языка C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#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,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они скрывают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свойства зависимостей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или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dependency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property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(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без свойств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зависимостей были бы невозможны многие ключевые особенности WPF, как привязка данных, стили, анимация и т.д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)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b="0" i="0" u="sng" dirty="0" smtClean="0">
                <a:solidFill>
                  <a:srgbClr val="000000"/>
                </a:solidFill>
                <a:latin typeface="verdana"/>
              </a:rPr>
              <a:t>пример</a:t>
            </a:r>
            <a:r>
              <a:rPr lang="en-US" b="0" i="0" u="sng" dirty="0" smtClean="0">
                <a:solidFill>
                  <a:srgbClr val="000000"/>
                </a:solidFill>
                <a:latin typeface="verdana"/>
              </a:rPr>
              <a:t>:</a:t>
            </a:r>
            <a:r>
              <a:rPr lang="ru-RU" b="0" i="0" u="sng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элемент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TextBlock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у которого есть свойство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Text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sz="3700" dirty="0"/>
              <a:t>public class </a:t>
            </a:r>
            <a:r>
              <a:rPr lang="en-US" sz="3700" dirty="0" err="1"/>
              <a:t>TextBlock</a:t>
            </a:r>
            <a:r>
              <a:rPr lang="en-US" sz="3700" dirty="0"/>
              <a:t> : </a:t>
            </a:r>
            <a:r>
              <a:rPr lang="en-US" sz="3700" dirty="0" err="1"/>
              <a:t>FrameworkElement</a:t>
            </a:r>
            <a:r>
              <a:rPr lang="en-US" sz="3700" dirty="0"/>
              <a:t>, </a:t>
            </a:r>
            <a:r>
              <a:rPr lang="en-US" sz="3700" dirty="0" err="1"/>
              <a:t>IContentHost</a:t>
            </a:r>
            <a:r>
              <a:rPr lang="en-US" sz="3700" dirty="0"/>
              <a:t>, </a:t>
            </a:r>
            <a:r>
              <a:rPr lang="en-US" sz="3700" dirty="0" err="1"/>
              <a:t>IAddChildInternal</a:t>
            </a:r>
            <a:r>
              <a:rPr lang="en-US" sz="3700" dirty="0"/>
              <a:t>, </a:t>
            </a:r>
            <a:r>
              <a:rPr lang="en-US" sz="3700" dirty="0" err="1"/>
              <a:t>IServiceProvider</a:t>
            </a:r>
            <a:r>
              <a:rPr lang="en-US" sz="3700" dirty="0"/>
              <a:t> </a:t>
            </a:r>
            <a:r>
              <a:rPr lang="en-US" sz="3700" dirty="0" smtClean="0"/>
              <a:t>{</a:t>
            </a:r>
            <a:endParaRPr lang="en-US" sz="3700" dirty="0"/>
          </a:p>
          <a:p>
            <a:pPr fontAlgn="base">
              <a:buNone/>
            </a:pPr>
            <a:r>
              <a:rPr lang="en-US" sz="3700" dirty="0"/>
              <a:t>  </a:t>
            </a:r>
            <a:r>
              <a:rPr lang="en-US" sz="3700" dirty="0">
                <a:solidFill>
                  <a:srgbClr val="00B050"/>
                </a:solidFill>
              </a:rPr>
              <a:t>  // </a:t>
            </a:r>
            <a:r>
              <a:rPr lang="ru-RU" sz="3700" dirty="0">
                <a:solidFill>
                  <a:srgbClr val="00B050"/>
                </a:solidFill>
              </a:rPr>
              <a:t>свойство зависимостей</a:t>
            </a:r>
          </a:p>
          <a:p>
            <a:pPr fontAlgn="base">
              <a:buNone/>
            </a:pPr>
            <a:r>
              <a:rPr lang="ru-RU" sz="3700" dirty="0"/>
              <a:t>    </a:t>
            </a:r>
            <a:r>
              <a:rPr lang="en-US" sz="3700" dirty="0"/>
              <a:t>public static </a:t>
            </a:r>
            <a:r>
              <a:rPr lang="en-US" sz="3700" dirty="0" err="1"/>
              <a:t>readonly</a:t>
            </a:r>
            <a:r>
              <a:rPr lang="en-US" sz="3700" dirty="0"/>
              <a:t> </a:t>
            </a:r>
            <a:r>
              <a:rPr lang="en-US" sz="3700" dirty="0" err="1"/>
              <a:t>DependencyProperty</a:t>
            </a:r>
            <a:r>
              <a:rPr lang="en-US" sz="3700" dirty="0"/>
              <a:t> </a:t>
            </a:r>
            <a:r>
              <a:rPr lang="en-US" sz="3700" dirty="0" err="1"/>
              <a:t>TextProperty</a:t>
            </a:r>
            <a:r>
              <a:rPr lang="en-US" sz="3700" dirty="0"/>
              <a:t>;</a:t>
            </a:r>
          </a:p>
          <a:p>
            <a:pPr fontAlgn="base">
              <a:buNone/>
            </a:pPr>
            <a:r>
              <a:rPr lang="en-US" sz="3700" dirty="0"/>
              <a:t>     static </a:t>
            </a:r>
            <a:r>
              <a:rPr lang="en-US" sz="3700" dirty="0" err="1"/>
              <a:t>TextBlock</a:t>
            </a:r>
            <a:r>
              <a:rPr lang="en-US" sz="3700" dirty="0" smtClean="0"/>
              <a:t>()</a:t>
            </a:r>
            <a:r>
              <a:rPr lang="en-US" sz="3700" dirty="0"/>
              <a:t>    {</a:t>
            </a:r>
          </a:p>
          <a:p>
            <a:pPr fontAlgn="base">
              <a:buNone/>
            </a:pPr>
            <a:r>
              <a:rPr lang="en-US" sz="3700" dirty="0"/>
              <a:t>  </a:t>
            </a:r>
            <a:r>
              <a:rPr lang="en-US" sz="3700" dirty="0">
                <a:solidFill>
                  <a:srgbClr val="00B050"/>
                </a:solidFill>
              </a:rPr>
              <a:t>      // </a:t>
            </a:r>
            <a:r>
              <a:rPr lang="ru-RU" sz="3700" dirty="0">
                <a:solidFill>
                  <a:srgbClr val="00B050"/>
                </a:solidFill>
              </a:rPr>
              <a:t>Регистрация свойства</a:t>
            </a:r>
          </a:p>
          <a:p>
            <a:pPr fontAlgn="base">
              <a:buNone/>
            </a:pPr>
            <a:r>
              <a:rPr lang="ru-RU" sz="3700" dirty="0"/>
              <a:t>        </a:t>
            </a:r>
            <a:r>
              <a:rPr lang="en-US" sz="3700" dirty="0" err="1"/>
              <a:t>TextProperty</a:t>
            </a:r>
            <a:r>
              <a:rPr lang="en-US" sz="3700" dirty="0"/>
              <a:t> = </a:t>
            </a:r>
            <a:r>
              <a:rPr lang="en-US" sz="3700" dirty="0" err="1"/>
              <a:t>DependencyProperty.Register</a:t>
            </a:r>
            <a:r>
              <a:rPr lang="en-US" sz="3700" dirty="0"/>
              <a:t>(</a:t>
            </a:r>
          </a:p>
          <a:p>
            <a:pPr fontAlgn="base">
              <a:buNone/>
            </a:pPr>
            <a:r>
              <a:rPr lang="en-US" sz="3700" dirty="0"/>
              <a:t>                    "Text", </a:t>
            </a:r>
          </a:p>
          <a:p>
            <a:pPr fontAlgn="base">
              <a:buNone/>
            </a:pPr>
            <a:r>
              <a:rPr lang="en-US" sz="3700" dirty="0"/>
              <a:t>                    </a:t>
            </a:r>
            <a:r>
              <a:rPr lang="en-US" sz="3700" dirty="0" err="1"/>
              <a:t>typeof</a:t>
            </a:r>
            <a:r>
              <a:rPr lang="en-US" sz="3700" dirty="0"/>
              <a:t>(string),</a:t>
            </a:r>
          </a:p>
          <a:p>
            <a:pPr fontAlgn="base">
              <a:buNone/>
            </a:pPr>
            <a:r>
              <a:rPr lang="en-US" sz="3700" dirty="0"/>
              <a:t>                    </a:t>
            </a:r>
            <a:r>
              <a:rPr lang="en-US" sz="3700" dirty="0" err="1"/>
              <a:t>typeof</a:t>
            </a:r>
            <a:r>
              <a:rPr lang="en-US" sz="3700" dirty="0"/>
              <a:t>(</a:t>
            </a:r>
            <a:r>
              <a:rPr lang="en-US" sz="3700" dirty="0" err="1"/>
              <a:t>TextBlock</a:t>
            </a:r>
            <a:r>
              <a:rPr lang="en-US" sz="3700" dirty="0"/>
              <a:t>),</a:t>
            </a:r>
          </a:p>
          <a:p>
            <a:pPr fontAlgn="base">
              <a:buNone/>
            </a:pPr>
            <a:r>
              <a:rPr lang="en-US" sz="3700" dirty="0"/>
              <a:t>                    new </a:t>
            </a:r>
            <a:r>
              <a:rPr lang="en-US" sz="3700" dirty="0" err="1"/>
              <a:t>FrameworkPropertyMetadata</a:t>
            </a:r>
            <a:r>
              <a:rPr lang="en-US" sz="3700" dirty="0"/>
              <a:t>(</a:t>
            </a:r>
          </a:p>
          <a:p>
            <a:pPr fontAlgn="base">
              <a:buNone/>
            </a:pPr>
            <a:r>
              <a:rPr lang="en-US" sz="3700" dirty="0"/>
              <a:t>                        </a:t>
            </a:r>
            <a:r>
              <a:rPr lang="en-US" sz="3700" dirty="0" err="1"/>
              <a:t>string.Empty</a:t>
            </a:r>
            <a:r>
              <a:rPr lang="en-US" sz="3700" dirty="0"/>
              <a:t>, </a:t>
            </a:r>
          </a:p>
          <a:p>
            <a:pPr fontAlgn="base">
              <a:buNone/>
            </a:pPr>
            <a:r>
              <a:rPr lang="en-US" sz="3700" dirty="0"/>
              <a:t>                        </a:t>
            </a:r>
            <a:r>
              <a:rPr lang="en-US" sz="3700" dirty="0" err="1"/>
              <a:t>FrameworkPropertyMetadataOptions.AffectsMeasure</a:t>
            </a:r>
            <a:r>
              <a:rPr lang="en-US" sz="3700" dirty="0"/>
              <a:t> |</a:t>
            </a:r>
          </a:p>
          <a:p>
            <a:pPr fontAlgn="base">
              <a:buNone/>
            </a:pPr>
            <a:r>
              <a:rPr lang="en-US" sz="3700" dirty="0"/>
              <a:t>                        </a:t>
            </a:r>
            <a:r>
              <a:rPr lang="en-US" sz="3700" dirty="0" err="1"/>
              <a:t>FrameworkPropertyMetadataOptions.AffectsRender</a:t>
            </a:r>
            <a:r>
              <a:rPr lang="en-US" sz="3700" dirty="0"/>
              <a:t>, </a:t>
            </a:r>
          </a:p>
          <a:p>
            <a:pPr fontAlgn="base">
              <a:buNone/>
            </a:pPr>
            <a:r>
              <a:rPr lang="en-US" sz="3700" dirty="0"/>
              <a:t>                        new </a:t>
            </a:r>
            <a:r>
              <a:rPr lang="en-US" sz="3700" dirty="0" err="1"/>
              <a:t>PropertyChangedCallback</a:t>
            </a:r>
            <a:r>
              <a:rPr lang="en-US" sz="3700" dirty="0"/>
              <a:t>(</a:t>
            </a:r>
            <a:r>
              <a:rPr lang="en-US" sz="3700" dirty="0" err="1"/>
              <a:t>OnTextChanged</a:t>
            </a:r>
            <a:r>
              <a:rPr lang="en-US" sz="3700" dirty="0"/>
              <a:t>), </a:t>
            </a:r>
          </a:p>
          <a:p>
            <a:pPr fontAlgn="base">
              <a:buNone/>
            </a:pPr>
            <a:r>
              <a:rPr lang="en-US" sz="3700" dirty="0"/>
              <a:t>                        new </a:t>
            </a:r>
            <a:r>
              <a:rPr lang="en-US" sz="3700" dirty="0" err="1"/>
              <a:t>CoerceValueCallback</a:t>
            </a:r>
            <a:r>
              <a:rPr lang="en-US" sz="3700" dirty="0"/>
              <a:t>(</a:t>
            </a:r>
            <a:r>
              <a:rPr lang="en-US" sz="3700" dirty="0" err="1"/>
              <a:t>CoerceText</a:t>
            </a:r>
            <a:r>
              <a:rPr lang="en-US" sz="3700" dirty="0"/>
              <a:t>)));</a:t>
            </a:r>
          </a:p>
          <a:p>
            <a:pPr fontAlgn="base">
              <a:buNone/>
            </a:pPr>
            <a:r>
              <a:rPr lang="en-US" sz="3700" dirty="0"/>
              <a:t>       </a:t>
            </a:r>
            <a:r>
              <a:rPr lang="en-US" sz="3700" dirty="0">
                <a:solidFill>
                  <a:srgbClr val="00B050"/>
                </a:solidFill>
              </a:rPr>
              <a:t> // </a:t>
            </a:r>
            <a:r>
              <a:rPr lang="ru-RU" sz="3700" dirty="0">
                <a:solidFill>
                  <a:srgbClr val="00B050"/>
                </a:solidFill>
              </a:rPr>
              <a:t>остальной код</a:t>
            </a:r>
          </a:p>
          <a:p>
            <a:pPr fontAlgn="base">
              <a:buNone/>
            </a:pPr>
            <a:r>
              <a:rPr lang="ru-RU" sz="3700" dirty="0"/>
              <a:t>    }</a:t>
            </a:r>
          </a:p>
          <a:p>
            <a:pPr fontAlgn="base">
              <a:buNone/>
            </a:pPr>
            <a:r>
              <a:rPr lang="ru-RU" sz="3700" dirty="0"/>
              <a:t> </a:t>
            </a:r>
            <a:r>
              <a:rPr lang="ru-RU" sz="3700" dirty="0">
                <a:solidFill>
                  <a:srgbClr val="00B050"/>
                </a:solidFill>
              </a:rPr>
              <a:t>    // Обычное свойство .</a:t>
            </a:r>
            <a:r>
              <a:rPr lang="en-US" sz="3700" dirty="0">
                <a:solidFill>
                  <a:srgbClr val="00B050"/>
                </a:solidFill>
              </a:rPr>
              <a:t>NET  - </a:t>
            </a:r>
            <a:r>
              <a:rPr lang="ru-RU" sz="3700" dirty="0">
                <a:solidFill>
                  <a:srgbClr val="00B050"/>
                </a:solidFill>
              </a:rPr>
              <a:t>обертка над свойством зависимостей</a:t>
            </a:r>
          </a:p>
          <a:p>
            <a:pPr fontAlgn="base">
              <a:buNone/>
            </a:pPr>
            <a:r>
              <a:rPr lang="ru-RU" sz="3700" dirty="0">
                <a:solidFill>
                  <a:srgbClr val="00B050"/>
                </a:solidFill>
              </a:rPr>
              <a:t>  </a:t>
            </a:r>
            <a:r>
              <a:rPr lang="ru-RU" sz="3700" dirty="0"/>
              <a:t>  </a:t>
            </a:r>
            <a:r>
              <a:rPr lang="en-US" sz="3700" dirty="0"/>
              <a:t>public string </a:t>
            </a:r>
            <a:r>
              <a:rPr lang="en-US" sz="3700" dirty="0" smtClean="0"/>
              <a:t>Text</a:t>
            </a:r>
            <a:r>
              <a:rPr lang="en-US" sz="3700" dirty="0"/>
              <a:t>    { </a:t>
            </a:r>
          </a:p>
          <a:p>
            <a:pPr fontAlgn="base">
              <a:buNone/>
            </a:pPr>
            <a:r>
              <a:rPr lang="en-US" sz="3700" dirty="0"/>
              <a:t>        get { return (string) </a:t>
            </a:r>
            <a:r>
              <a:rPr lang="en-US" sz="3700" dirty="0" err="1"/>
              <a:t>GetValue</a:t>
            </a:r>
            <a:r>
              <a:rPr lang="en-US" sz="3700" dirty="0"/>
              <a:t>(</a:t>
            </a:r>
            <a:r>
              <a:rPr lang="en-US" sz="3700" dirty="0" err="1"/>
              <a:t>TextProperty</a:t>
            </a:r>
            <a:r>
              <a:rPr lang="en-US" sz="3700" dirty="0"/>
              <a:t>); } </a:t>
            </a:r>
          </a:p>
          <a:p>
            <a:pPr fontAlgn="base">
              <a:buNone/>
            </a:pPr>
            <a:r>
              <a:rPr lang="en-US" sz="3700" dirty="0"/>
              <a:t>        set { </a:t>
            </a:r>
            <a:r>
              <a:rPr lang="en-US" sz="3700" dirty="0" err="1"/>
              <a:t>SetValue</a:t>
            </a:r>
            <a:r>
              <a:rPr lang="en-US" sz="3700" dirty="0"/>
              <a:t>(</a:t>
            </a:r>
            <a:r>
              <a:rPr lang="en-US" sz="3700" dirty="0" err="1"/>
              <a:t>TextProperty</a:t>
            </a:r>
            <a:r>
              <a:rPr lang="en-US" sz="3700" dirty="0"/>
              <a:t>, value); }</a:t>
            </a:r>
          </a:p>
          <a:p>
            <a:pPr fontAlgn="base">
              <a:buNone/>
            </a:pPr>
            <a:r>
              <a:rPr lang="en-US" sz="3700" dirty="0"/>
              <a:t>    }  </a:t>
            </a:r>
          </a:p>
          <a:p>
            <a:pPr fontAlgn="base">
              <a:buNone/>
            </a:pPr>
            <a:r>
              <a:rPr lang="en-US" sz="3700" dirty="0"/>
              <a:t>         private static object </a:t>
            </a:r>
            <a:r>
              <a:rPr lang="en-US" sz="3700" dirty="0" err="1"/>
              <a:t>CoerceText</a:t>
            </a:r>
            <a:r>
              <a:rPr lang="en-US" sz="3700" dirty="0"/>
              <a:t>(</a:t>
            </a:r>
            <a:r>
              <a:rPr lang="en-US" sz="3700" dirty="0" err="1"/>
              <a:t>DependencyObject</a:t>
            </a:r>
            <a:r>
              <a:rPr lang="en-US" sz="3700" dirty="0"/>
              <a:t> d, object value)</a:t>
            </a:r>
          </a:p>
          <a:p>
            <a:pPr fontAlgn="base">
              <a:buNone/>
            </a:pPr>
            <a:r>
              <a:rPr lang="en-US" sz="3700" dirty="0"/>
              <a:t>    </a:t>
            </a:r>
            <a:r>
              <a:rPr lang="en-US" sz="3700" dirty="0" smtClean="0"/>
              <a:t>{</a:t>
            </a:r>
            <a:r>
              <a:rPr lang="en-US" sz="3700" dirty="0"/>
              <a:t>    </a:t>
            </a:r>
            <a:r>
              <a:rPr lang="en-US" sz="3700" dirty="0">
                <a:solidFill>
                  <a:srgbClr val="00B050"/>
                </a:solidFill>
              </a:rPr>
              <a:t>    </a:t>
            </a:r>
            <a:r>
              <a:rPr lang="en-US" sz="3700" dirty="0" smtClean="0">
                <a:solidFill>
                  <a:srgbClr val="00B050"/>
                </a:solidFill>
              </a:rPr>
              <a:t>//.................................</a:t>
            </a:r>
            <a:r>
              <a:rPr lang="en-US" sz="3700" dirty="0"/>
              <a:t>    }</a:t>
            </a:r>
          </a:p>
          <a:p>
            <a:pPr fontAlgn="base">
              <a:buNone/>
            </a:pPr>
            <a:r>
              <a:rPr lang="en-US" sz="3700" dirty="0">
                <a:solidFill>
                  <a:srgbClr val="00B050"/>
                </a:solidFill>
              </a:rPr>
              <a:t>    // </a:t>
            </a:r>
            <a:r>
              <a:rPr lang="ru-RU" sz="3700" dirty="0">
                <a:solidFill>
                  <a:srgbClr val="00B050"/>
                </a:solidFill>
              </a:rPr>
              <a:t>метод, вызываемый при изменении значения свойства </a:t>
            </a:r>
          </a:p>
          <a:p>
            <a:pPr fontAlgn="base">
              <a:buNone/>
            </a:pPr>
            <a:r>
              <a:rPr lang="ru-RU" sz="3700" dirty="0"/>
              <a:t>    </a:t>
            </a:r>
            <a:r>
              <a:rPr lang="en-US" sz="3700" dirty="0"/>
              <a:t>private static void </a:t>
            </a:r>
            <a:r>
              <a:rPr lang="en-US" sz="3700" dirty="0" err="1"/>
              <a:t>OnTextChanged</a:t>
            </a:r>
            <a:r>
              <a:rPr lang="en-US" sz="3700" dirty="0"/>
              <a:t>(</a:t>
            </a:r>
            <a:r>
              <a:rPr lang="en-US" sz="3700" dirty="0" err="1"/>
              <a:t>DependencyObject</a:t>
            </a:r>
            <a:r>
              <a:rPr lang="en-US" sz="3700" dirty="0"/>
              <a:t> d, </a:t>
            </a:r>
            <a:r>
              <a:rPr lang="en-US" sz="3700" dirty="0" err="1"/>
              <a:t>DependencyPropertyChangedEventArgs</a:t>
            </a:r>
            <a:r>
              <a:rPr lang="en-US" sz="3700" dirty="0"/>
              <a:t> e)</a:t>
            </a:r>
          </a:p>
          <a:p>
            <a:pPr fontAlgn="base">
              <a:buNone/>
            </a:pPr>
            <a:r>
              <a:rPr lang="en-US" sz="3700" dirty="0"/>
              <a:t>    {      </a:t>
            </a:r>
            <a:r>
              <a:rPr lang="en-US" sz="3700" dirty="0">
                <a:solidFill>
                  <a:srgbClr val="00B050"/>
                </a:solidFill>
              </a:rPr>
              <a:t>   </a:t>
            </a:r>
            <a:r>
              <a:rPr lang="en-US" sz="3700" dirty="0" smtClean="0">
                <a:solidFill>
                  <a:srgbClr val="00B050"/>
                </a:solidFill>
              </a:rPr>
              <a:t>//...............................</a:t>
            </a:r>
            <a:r>
              <a:rPr lang="en-US" sz="3700" dirty="0"/>
              <a:t>    }</a:t>
            </a:r>
          </a:p>
          <a:p>
            <a:pPr fontAlgn="base">
              <a:buNone/>
            </a:pPr>
            <a:r>
              <a:rPr lang="en-US" sz="3700" dirty="0"/>
              <a:t> </a:t>
            </a:r>
            <a:r>
              <a:rPr lang="en-US" sz="3700" dirty="0">
                <a:solidFill>
                  <a:srgbClr val="00B050"/>
                </a:solidFill>
              </a:rPr>
              <a:t>   // </a:t>
            </a:r>
            <a:r>
              <a:rPr lang="ru-RU" sz="3700" dirty="0">
                <a:solidFill>
                  <a:srgbClr val="00B050"/>
                </a:solidFill>
              </a:rPr>
              <a:t>остальной </a:t>
            </a:r>
            <a:r>
              <a:rPr lang="ru-RU" sz="3700" dirty="0" smtClean="0">
                <a:solidFill>
                  <a:srgbClr val="00B050"/>
                </a:solidFill>
              </a:rPr>
              <a:t>код</a:t>
            </a:r>
          </a:p>
          <a:p>
            <a:endParaRPr lang="ru-RU" sz="37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643570" y="1357298"/>
            <a:ext cx="33575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конструктор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устанавливает в качестве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значения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по умолчанию пустую строку, указывает, что при изменении значения элемент будет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перерисовываться, при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изменении значения свойства будут вызываться методы </a:t>
            </a:r>
            <a:r>
              <a:rPr lang="ru-RU" sz="1200" dirty="0" err="1" smtClean="0">
                <a:solidFill>
                  <a:srgbClr val="000000"/>
                </a:solidFill>
                <a:latin typeface="verdana"/>
              </a:rPr>
              <a:t>OnTextChanged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1200" dirty="0" err="1" smtClean="0">
                <a:solidFill>
                  <a:srgbClr val="000000"/>
                </a:solidFill>
                <a:latin typeface="verdana"/>
              </a:rPr>
              <a:t>CoerceText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.</a:t>
            </a:r>
          </a:p>
        </p:txBody>
      </p:sp>
      <p:cxnSp>
        <p:nvCxnSpPr>
          <p:cNvPr id="6" name="Прямая со стрелкой 5"/>
          <p:cNvCxnSpPr>
            <a:stCxn id="4" idx="1"/>
          </p:cNvCxnSpPr>
          <p:nvPr/>
        </p:nvCxnSpPr>
        <p:spPr>
          <a:xfrm rot="10800000" flipV="1">
            <a:off x="3143240" y="2049796"/>
            <a:ext cx="2500330" cy="7362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5857884" y="2786058"/>
            <a:ext cx="314324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после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регистрации свойства идет обертка - обычное свойство .NET, которое имеет сеттер и геттер и которое вызывает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методы </a:t>
            </a:r>
            <a:r>
              <a:rPr lang="ru-RU" sz="1100" b="1" dirty="0" err="1" smtClean="0">
                <a:solidFill>
                  <a:srgbClr val="000000"/>
                </a:solidFill>
                <a:latin typeface="verdana"/>
              </a:rPr>
              <a:t>GetValue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1100" b="1" dirty="0" err="1" smtClean="0">
                <a:solidFill>
                  <a:srgbClr val="000000"/>
                </a:solidFill>
                <a:latin typeface="verdana"/>
              </a:rPr>
              <a:t>SetValue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 для получения и установки значения соответственно. Эти методы определены в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классе </a:t>
            </a:r>
            <a:r>
              <a:rPr lang="ru-RU" sz="1100" b="1" dirty="0" err="1" smtClean="0">
                <a:solidFill>
                  <a:srgbClr val="000000"/>
                </a:solidFill>
                <a:latin typeface="verdana"/>
              </a:rPr>
              <a:t>System.Windows.DependencyObject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, который является базовым для всех элементов WPF, в том числе и для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TextBlock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, это приносит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ограничение - свойства зависимостей могут быть определены только в тех классах, которые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наследутся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от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DependencyObject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endParaRPr lang="ru-RU" sz="1100" dirty="0" smtClean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2285984" y="4000504"/>
            <a:ext cx="357190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71414"/>
            <a:ext cx="8715436" cy="6786586"/>
          </a:xfrm>
        </p:spPr>
        <p:txBody>
          <a:bodyPr>
            <a:normAutofit fontScale="32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Статическое свойство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TextProperty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является свойством зависимостей, представляя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объект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System.Windows.DependencyProperty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 </a:t>
            </a:r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соглашениям по именованию все свойства зависимостей представляют статические публичные поля (</a:t>
            </a:r>
            <a:r>
              <a:rPr lang="ru-RU" b="0" i="0" dirty="0" err="1" smtClean="0">
                <a:solidFill>
                  <a:srgbClr val="C00000"/>
                </a:solidFill>
                <a:latin typeface="verdana"/>
              </a:rPr>
              <a:t>public</a:t>
            </a:r>
            <a:r>
              <a:rPr lang="ru-RU" b="0" i="0" dirty="0" smtClean="0">
                <a:solidFill>
                  <a:srgbClr val="C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C00000"/>
                </a:solidFill>
                <a:latin typeface="verdana"/>
              </a:rPr>
              <a:t>static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) с суффиксом </a:t>
            </a:r>
            <a:r>
              <a:rPr lang="ru-RU" b="0" i="1" dirty="0" err="1" smtClean="0">
                <a:solidFill>
                  <a:srgbClr val="000000"/>
                </a:solidFill>
                <a:latin typeface="verdana"/>
              </a:rPr>
              <a:t>Property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Затем в статическом конструкторе класса происходит регистрация свойства с помощью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метода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DependencyProperty.Register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()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в который передается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параметров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ы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имя свойства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(в данном случае "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Text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") - как правило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соответствует названию свойства зависимостей без суффикса </a:t>
            </a:r>
            <a:r>
              <a:rPr lang="ru-RU" b="0" i="1" dirty="0" err="1" smtClean="0">
                <a:solidFill>
                  <a:srgbClr val="000000"/>
                </a:solidFill>
                <a:latin typeface="verdana"/>
              </a:rPr>
              <a:t>Property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тип свойства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тип, который владеет свойством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- собственно тот тип, в котором свойство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определено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frameworkpropertymetadata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(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необязательный параметр)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устанавливает дополнительные настройки свойства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необязательный параметр: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может использоваться ссылка на метод, который производит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валидацию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свойства. </a:t>
            </a:r>
          </a:p>
          <a:p>
            <a:pPr>
              <a:spcAft>
                <a:spcPts val="600"/>
              </a:spcAft>
            </a:pP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объект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FrameworkPropertyMetadata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i="0" dirty="0" smtClean="0">
                <a:solidFill>
                  <a:srgbClr val="000000"/>
                </a:solidFill>
                <a:latin typeface="verdana"/>
              </a:rPr>
              <a:t>(из 4 параметра)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содержит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ряд свойств для конфигурации свойства зависимостей: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AffectsArrange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свойство зависимостей будет влиять на процесс компоновки элемента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AffectsMeasure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свойство зависимостей будет учитываться при установке размеров элемента при компоновке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AffectsParentArrange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свойство зависимостей будет влиять на процесс компоновки в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роительском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элементе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AffectsParentMeasure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свойство зависимостей будет учитываться при установке размеров родительского элемента при его компоновке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AffectsRender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свойство зависимостей будет влиять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визуализацию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элемента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BindsTwoWayByDefault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свойство зависимостей будет использовать двустороннюю привязку данных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CoerceValueCallback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хранит ссылку на метод, который применяется для проверки допустимости значения до его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валидации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 Если значение не допустимо, то оно может корректироваться, чтобы соответствовать допустимым диапазонам.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DefaultValue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устанавливает значение по умолчанию для свойства зависимостей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Inherits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true-вложенные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элементы применительно к себе могут изменять значение свойства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зависимостей(например,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контейнер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Windows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задает свойство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FontSize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TextBlock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автоматически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подхватывает его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значение, если в нем самом это свойство не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установлено)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IsAnimationProhibited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свойство зависимостей может применяться при анимации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IsNotDataBindable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свойство зависимостей не будет поддерживать привязку данных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Journal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значение свойства зависимостей будет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журналироваться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(сохраняться)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PropertyChangedCallback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хранит ссылку на метод, который вызывается при изменении значения свойства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SubPropertiesDoNotAffectRender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имеет значение 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true-элемент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не будет перерисовываться, если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какое-то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подсвойства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у свойства зависимостей изменит свое значение</a:t>
            </a:r>
          </a:p>
          <a:p>
            <a:pPr>
              <a:spcAft>
                <a:spcPts val="600"/>
              </a:spcAft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28"/>
            <a:ext cx="8401080" cy="6000791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DependencyObject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поддерживает еще ряд свойств для управления свойствами зависимостей: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ClearValue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очищает значение объекта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DependencyProperty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InvalidateProperty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повторно вычисляет действующее значение объекта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DependencyProperty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ReadLocalValue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считывает значение объекта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DependencyProperty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Например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new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textBlock.Text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 = "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Hello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";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string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string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textBlock.ReadLocalValue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TextBlock.TextProperty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ru-RU" sz="1800" b="0" i="0" dirty="0" smtClean="0">
                <a:solidFill>
                  <a:srgbClr val="00B050"/>
                </a:solidFill>
                <a:latin typeface="Consolas"/>
              </a:rPr>
              <a:t>// </a:t>
            </a:r>
            <a:r>
              <a:rPr lang="ru-RU" sz="1800" b="0" i="0" dirty="0" err="1" smtClean="0">
                <a:solidFill>
                  <a:srgbClr val="00B050"/>
                </a:solidFill>
                <a:latin typeface="Consolas"/>
              </a:rPr>
              <a:t>Hello</a:t>
            </a:r>
            <a:endParaRPr lang="ru-RU" sz="1800" b="0" i="0" dirty="0" smtClean="0">
              <a:solidFill>
                <a:srgbClr val="00B050"/>
              </a:solidFill>
              <a:latin typeface="Consolas"/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textBlock.ClearValue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ru-RU" sz="1800" b="0" i="0" dirty="0" err="1" smtClean="0">
                <a:solidFill>
                  <a:srgbClr val="000000"/>
                </a:solidFill>
                <a:latin typeface="Consolas"/>
              </a:rPr>
              <a:t>TextBlock.TextProperty</a:t>
            </a:r>
            <a:r>
              <a:rPr lang="ru-RU" sz="1800" b="0" i="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ru-RU" sz="1800" dirty="0" smtClean="0">
                <a:solidFill>
                  <a:srgbClr val="00B050"/>
                </a:solidFill>
                <a:latin typeface="Consolas"/>
              </a:rPr>
              <a:t>//теперь значение отсутствует</a:t>
            </a:r>
          </a:p>
          <a:p>
            <a:pPr>
              <a:spcAft>
                <a:spcPts val="600"/>
              </a:spcAft>
            </a:pP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Провайдеры 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свойств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WPF определение значения свойств представляет многоэтапных процесс. На различных стадиях этого процесса применяются различные провайдеры свойств, которые помогают получить значение для свойства зависимостей.</a:t>
            </a:r>
          </a:p>
          <a:p>
            <a:pPr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 извлечении значения свойства система использует 10 провайдеров: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Получение локального значение свойства (то есть то, которое установлено разработчиком через XAML или через код C#)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Вычисление значения с помощью триггеров из шаблона родительского элемента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Вычисление значения из шаблона родительского элемента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Вычисление значения с помощью триггеров из применяемых стилей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Вычисление значения с помощью триггеров из применяемого шаблона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Получение значения из сеттеров применяемых стилей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Вычисление значения с помощью триггеров из применяемых тем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Получение значения из сеттеров применяемых тем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Получение унаследованного значения (если свойство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FrameworkPropertyMetadata.Inherits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имеет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значение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)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Извлечение значения по умолчанию, которое устанавливается через объект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FrameworkPropertyMetadata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Все эти этапы выполняются последовательно сверху вниз. 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на одном этапе было получено значения, то этапы ниже уже не выполняются.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Все десять перечисленных этапов обычно объединяются в одну стадию - 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получение базового значения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Но кроме получения значения есть еще процесс установки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значения, ряд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дополнительных шагов: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Вышеописанные 10 шагов - получение базового значения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значение свойства, полученное на шаге 1, представляет собой сложное выражение (например, выражение привязки данных), то WPF вычисляет значение этого выражения и получает конкретный результат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для свойства применяется анимация, то далее она используется для получения нового значения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После получения значения WPF применяет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делегат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CoerceValueCallback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который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задается в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объекте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FrameworkPropertyMetadata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регистрации свойства. С помощью метода, на который указывает данный делегат, проверяется, входит ли значение в диапазон допустимых значений. Если не входит, то в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заисимости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от логики задается новое значение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конце применяется делегат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ValidateValueCallback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(если он указан при регистрации свойства в качестве пятого параметра), который выполняет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валидацию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 Метод, на который ссылается делегат, возвращает </a:t>
            </a:r>
            <a:r>
              <a:rPr lang="ru-RU" b="0" i="0" dirty="0" err="1" smtClean="0">
                <a:solidFill>
                  <a:srgbClr val="C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при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прохождении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валидации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 Иначе возвращается </a:t>
            </a:r>
            <a:r>
              <a:rPr lang="ru-RU" b="0" i="0" dirty="0" err="1" smtClean="0">
                <a:solidFill>
                  <a:srgbClr val="C00000"/>
                </a:solidFill>
                <a:latin typeface="verdana"/>
              </a:rPr>
              <a:t>false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и генерируется исключение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sz="3600" b="1" i="0" dirty="0" smtClean="0">
                <a:solidFill>
                  <a:srgbClr val="000000"/>
                </a:solidFill>
                <a:latin typeface="verdana"/>
              </a:rPr>
              <a:t>Прикрепляемые </a:t>
            </a:r>
            <a:r>
              <a:rPr lang="ru-RU" sz="3600" b="1" i="0" dirty="0" smtClean="0">
                <a:solidFill>
                  <a:srgbClr val="000000"/>
                </a:solidFill>
                <a:latin typeface="verdana"/>
              </a:rPr>
              <a:t>свойства</a:t>
            </a:r>
            <a:br>
              <a:rPr lang="ru-RU" sz="3600" b="1" i="0" dirty="0" smtClean="0">
                <a:solidFill>
                  <a:srgbClr val="000000"/>
                </a:solidFill>
                <a:latin typeface="verdana"/>
              </a:rPr>
            </a:br>
            <a:r>
              <a:rPr lang="ru-RU" sz="3600" dirty="0" err="1" smtClean="0">
                <a:solidFill>
                  <a:srgbClr val="000000"/>
                </a:solidFill>
                <a:latin typeface="verdana"/>
              </a:rPr>
              <a:t>attached</a:t>
            </a:r>
            <a:r>
              <a:rPr lang="ru-RU" sz="36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600" dirty="0" err="1" smtClean="0">
                <a:solidFill>
                  <a:srgbClr val="000000"/>
                </a:solidFill>
                <a:latin typeface="verdana"/>
              </a:rPr>
              <a:t>properties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42984"/>
            <a:ext cx="8401080" cy="5572164"/>
          </a:xfrm>
        </p:spPr>
        <p:txBody>
          <a:bodyPr>
            <a:normAutofit fontScale="40000" lnSpcReduction="20000"/>
          </a:bodyPr>
          <a:lstStyle/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являются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свойствами зависимостей с той разницей, что они определяются в одном классе, а применяются в другом. 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Например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при установке столбца или строки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грида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в которых размещается элемент управления, используются свойства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Grid.Row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и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Grig.Column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которые как раз и представляют прикрепляемые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свойства, т. е.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эти свойства определены в классе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Grid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но используются в других вложенных элементах: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Grid.RowDefinitions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Grid.RowDefinitions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Grid.ColumnDefinitions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ColumnDefinition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ColumnDefinition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Grid.ColumnDefinitions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Button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x:Name="button1"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Content=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Hello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Grid.Column=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"1"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Grid.Row=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"0" /&gt;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коде C# установка значения для прикрепленных свойств производится с помощью статических методов в формате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Класс.Set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[Свойство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]()</a:t>
            </a:r>
          </a:p>
          <a:p>
            <a:pPr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Например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установим для выше определенной кнопки столбец и строку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грида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>
              <a:buNone/>
            </a:pP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Grid.SetRow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(button1, 1); // вторая строка</a:t>
            </a:r>
          </a:p>
          <a:p>
            <a:pPr fontAlgn="base">
              <a:buNone/>
            </a:pP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Grid.SetColumn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(button1, 1); // второй столбец</a:t>
            </a:r>
          </a:p>
          <a:p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помощью методов типа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Класс.GetСвойство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() 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можно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получать в коде значения прикрепляемых свойств:</a:t>
            </a:r>
          </a:p>
          <a:p>
            <a:pPr fontAlgn="base">
              <a:buNone/>
            </a:pPr>
            <a:endParaRPr lang="ru-RU" b="0" i="0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column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Grid.GetColumn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(button1); // получаем номер столбца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28"/>
            <a:ext cx="840108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200" b="1" dirty="0" smtClean="0">
                <a:solidFill>
                  <a:srgbClr val="C00000"/>
                </a:solidFill>
                <a:latin typeface="verdana"/>
              </a:rPr>
              <a:t>ОТЛИЧИЕ ОТ ОБЫЧНЫХ СВОЙСТВ ЗАВИСИМОСТЕЙ</a:t>
            </a:r>
          </a:p>
          <a:p>
            <a:pPr>
              <a:buNone/>
            </a:pPr>
            <a:endParaRPr lang="ru-RU" sz="1200" b="1" dirty="0" smtClean="0">
              <a:solidFill>
                <a:srgbClr val="C00000"/>
              </a:solidFill>
              <a:latin typeface="verdana"/>
            </a:endParaRPr>
          </a:p>
          <a:p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регистрации прикрепляемого свойства применяется 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метод </a:t>
            </a:r>
            <a:r>
              <a:rPr lang="en-US" sz="1200" b="0" i="0" dirty="0" err="1" smtClean="0">
                <a:solidFill>
                  <a:srgbClr val="000000"/>
                </a:solidFill>
                <a:latin typeface="verdana"/>
              </a:rPr>
              <a:t>RegisterAttached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():</a:t>
            </a:r>
          </a:p>
          <a:p>
            <a:pPr fontAlgn="base"/>
            <a:endParaRPr lang="ru-RU" sz="1200" b="0" i="0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Grid.ColumnProperty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DependencyProperty.RegisterAttached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                    "Column", 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                    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), 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                    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(Grid), 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                    new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FrameworkPropertyMetadata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(0, 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                        new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PropertyChangedCallback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Grid.OnCellAttachedPropertyChanged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)), 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                    new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ValidateValueCallback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Grid.IsIntValueNotNegative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));</a:t>
            </a:r>
            <a:endParaRPr lang="ru-RU" sz="1200" b="0" i="0" dirty="0" smtClean="0">
              <a:solidFill>
                <a:srgbClr val="000000"/>
              </a:solidFill>
              <a:latin typeface="Consolas"/>
            </a:endParaRPr>
          </a:p>
          <a:p>
            <a:pPr fontAlgn="base"/>
            <a:endParaRPr lang="en-US" sz="1200" b="0" i="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Метод </a:t>
            </a:r>
            <a:r>
              <a:rPr lang="en-US" sz="1200" b="0" i="0" dirty="0" err="1" smtClean="0">
                <a:solidFill>
                  <a:srgbClr val="000000"/>
                </a:solidFill>
                <a:latin typeface="verdana"/>
              </a:rPr>
              <a:t>RegisterAttached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() 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принимает 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те 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же параметры, что и метод 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Register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()</a:t>
            </a:r>
            <a:endParaRPr lang="en-US" sz="1200" b="0" i="0" dirty="0" smtClean="0">
              <a:solidFill>
                <a:srgbClr val="000000"/>
              </a:solidFill>
              <a:latin typeface="verdana"/>
            </a:endParaRPr>
          </a:p>
          <a:p>
            <a:endParaRPr lang="ru-RU" sz="1200" b="0" i="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прикрепляемых свойств не создается обертка в виде стандартного свойства 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C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#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, вместо этого 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используется пара статических методов 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Set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Свойство()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Get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Свойство</a:t>
            </a:r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():</a:t>
            </a:r>
          </a:p>
          <a:p>
            <a:endParaRPr lang="ru-RU" sz="1200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public static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GetColumn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UIElement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 element)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if (element == null)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{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    throw new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ArgumentNullException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(...);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return (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element.GetValue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Grid.RowProperty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public static void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SetColumn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UIElement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 element,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 value)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if (element == null)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{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    throw new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ArgumentNullException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();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element.SetValue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Grid.RowProperty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, value);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ru-RU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ru-RU" sz="3200" b="1" i="0" dirty="0" smtClean="0">
                <a:solidFill>
                  <a:srgbClr val="000000"/>
                </a:solidFill>
                <a:latin typeface="verdana"/>
              </a:rPr>
              <a:t>Создание свойств </a:t>
            </a:r>
            <a:r>
              <a:rPr lang="ru-RU" sz="3200" b="1" i="0" dirty="0" smtClean="0">
                <a:solidFill>
                  <a:srgbClr val="000000"/>
                </a:solidFill>
                <a:latin typeface="verdana"/>
              </a:rPr>
              <a:t>зависимостей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ru-RU" b="1" i="0" dirty="0" smtClean="0">
                <a:solidFill>
                  <a:srgbClr val="C00000"/>
                </a:solidFill>
                <a:latin typeface="verdana"/>
              </a:rPr>
              <a:t>ОПРЕДЕЛЕНИЕ СВОИХ СВОЙСТВ ЗАВИСИМОСТЕЙ</a:t>
            </a:r>
          </a:p>
          <a:p>
            <a:pPr>
              <a:buNone/>
            </a:pPr>
            <a:endParaRPr lang="ru-RU" b="1" i="0" dirty="0" smtClean="0">
              <a:solidFill>
                <a:srgbClr val="C00000"/>
              </a:solidFill>
              <a:latin typeface="verdana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определим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нашем проекте новый класс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Phone: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public class Phone :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DependencyObject</a:t>
            </a:r>
            <a:endParaRPr lang="en-US" b="0" i="0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static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readonly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static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readonly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static Phone()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DependencyProperty.Register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("Title",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(string),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(Phone));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DependencyProperty.Register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("Price",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(Phone));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string Title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get { return (string)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set {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, value);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Price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get { return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set {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, value);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15008" y="3857628"/>
            <a:ext cx="32861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В классе определяем 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два свойства 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зависимостей: </a:t>
            </a:r>
            <a:r>
              <a:rPr lang="en-US" sz="1400" dirty="0" err="1" smtClean="0">
                <a:solidFill>
                  <a:srgbClr val="000000"/>
                </a:solidFill>
                <a:latin typeface="verdana"/>
              </a:rPr>
              <a:t>TitleProperty</a:t>
            </a:r>
            <a:r>
              <a:rPr lang="en-US" sz="1400" dirty="0" smtClean="0">
                <a:solidFill>
                  <a:srgbClr val="000000"/>
                </a:solidFill>
                <a:latin typeface="verdana"/>
              </a:rPr>
              <a:t> 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и </a:t>
            </a:r>
            <a:r>
              <a:rPr lang="en-US" sz="1400" dirty="0" err="1" smtClean="0">
                <a:solidFill>
                  <a:srgbClr val="000000"/>
                </a:solidFill>
                <a:latin typeface="verdana"/>
              </a:rPr>
              <a:t>PriceProperty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(они 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объявляются с 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модификаторами </a:t>
            </a:r>
            <a:r>
              <a:rPr lang="en-US" sz="1400" dirty="0" smtClean="0">
                <a:solidFill>
                  <a:srgbClr val="000000"/>
                </a:solidFill>
                <a:latin typeface="verdana"/>
              </a:rPr>
              <a:t>public </a:t>
            </a:r>
            <a:r>
              <a:rPr lang="en-US" sz="1400" dirty="0" smtClean="0">
                <a:solidFill>
                  <a:srgbClr val="000000"/>
                </a:solidFill>
                <a:latin typeface="verdana"/>
              </a:rPr>
              <a:t>static </a:t>
            </a:r>
            <a:r>
              <a:rPr lang="en-US" sz="1400" dirty="0" err="1" smtClean="0">
                <a:solidFill>
                  <a:srgbClr val="000000"/>
                </a:solidFill>
                <a:latin typeface="verdana"/>
              </a:rPr>
              <a:t>readonly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)</a:t>
            </a:r>
            <a:endParaRPr lang="en-US" sz="1400" dirty="0" smtClean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929322" y="785794"/>
            <a:ext cx="32146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solidFill>
                  <a:srgbClr val="C00000"/>
                </a:solidFill>
                <a:latin typeface="verdana"/>
              </a:rPr>
              <a:t>Если хотим применять свойства зависимостей, то надо унаследовать свой класс от абстрактного класса </a:t>
            </a:r>
            <a:r>
              <a:rPr lang="en-US" sz="1200" dirty="0" err="1" smtClean="0">
                <a:solidFill>
                  <a:srgbClr val="C00000"/>
                </a:solidFill>
                <a:latin typeface="verdana"/>
              </a:rPr>
              <a:t>DependencyObject</a:t>
            </a:r>
            <a:endParaRPr lang="ru-RU" sz="1200" dirty="0"/>
          </a:p>
        </p:txBody>
      </p:sp>
      <p:cxnSp>
        <p:nvCxnSpPr>
          <p:cNvPr id="7" name="Прямая со стрелкой 6"/>
          <p:cNvCxnSpPr/>
          <p:nvPr/>
        </p:nvCxnSpPr>
        <p:spPr>
          <a:xfrm rot="10800000">
            <a:off x="4071934" y="2285992"/>
            <a:ext cx="2428892" cy="1643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286248" y="5500702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Затем свойства регистрируются в статическом конструкторе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класса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с помощью метода </a:t>
            </a:r>
            <a:r>
              <a:rPr lang="en-US" sz="1200" b="1" dirty="0" smtClean="0">
                <a:solidFill>
                  <a:srgbClr val="000000"/>
                </a:solidFill>
                <a:latin typeface="verdana"/>
              </a:rPr>
              <a:t>Register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,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и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них создаются обычные свойства-обертки, в которых мы получаем доступ к значению свойств с помощью методов 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GetValue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и 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SetValue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.</a:t>
            </a:r>
            <a:endParaRPr lang="en-US" sz="1200" dirty="0" smtClean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rot="16200000" flipV="1">
            <a:off x="4464843" y="3750471"/>
            <a:ext cx="2143140" cy="1357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8" idx="1"/>
          </p:cNvCxnSpPr>
          <p:nvPr/>
        </p:nvCxnSpPr>
        <p:spPr>
          <a:xfrm rot="10800000">
            <a:off x="1285852" y="4357694"/>
            <a:ext cx="3000396" cy="1650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10800000">
            <a:off x="1928794" y="4929198"/>
            <a:ext cx="2286016" cy="1143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1406" y="0"/>
            <a:ext cx="7258072" cy="6286544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используем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наш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класс, для этого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определим следующую разметку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XAML: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&lt;Window x:Class="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DependencyApp.MainWindow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2"/>
              </a:rPr>
              <a:t>http://schemas.microsoft.com/winfx/2006/xaml/presentation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xmlns:x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3"/>
              </a:rPr>
              <a:t>http://schemas.microsoft.com/winfx/2006/xaml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xmlns:d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4"/>
              </a:rPr>
              <a:t>http://schemas.microsoft.com/expression/blend/2008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xmlns:mc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5"/>
              </a:rPr>
              <a:t>http://schemas.openxmlformats.org/markup-compatibility/2006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xmlns:local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clr-namespace:DependencyApp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mc:Ignorable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="d"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Title="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Height="250" Width="300"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FontSize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="20"&gt;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Window.Resources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Price="600" Title="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6S" x:Key="iPhone6s"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Window.Resources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&lt;Grid x:Name="grid1"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DataContext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="{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StaticResource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iPhone6s}"&gt;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Grid.RowDefinitions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Grid.RowDefinitions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ColumnDefinition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ColumnDefinition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Text="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Модель" /&gt;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Text="{Binding Title}"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="1" 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Text="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Цена"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Grid.Row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="1"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Text="{Binding Price, Mode=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TwoWay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="1"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Grid.Row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="1" 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&lt;Button Content="Check"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Grid.Row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="2"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="2" Click="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Button_Click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&lt;/Grid&gt;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&lt;/Window&gt;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29388" y="1285860"/>
            <a:ext cx="271461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ресурсах окна определяется объект 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Phone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с установкой его свойств 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Price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и</a:t>
            </a:r>
          </a:p>
          <a:p>
            <a:pPr>
              <a:buFont typeface="Arial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Данный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ресурс имеет ключ 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iPhone6s,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по которому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можно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к нему обратиться. </a:t>
            </a:r>
            <a:endParaRPr lang="ru-RU" sz="1100" dirty="0" smtClean="0">
              <a:solidFill>
                <a:srgbClr val="000000"/>
              </a:solidFill>
              <a:latin typeface="verdana"/>
            </a:endParaRPr>
          </a:p>
          <a:p>
            <a:pPr>
              <a:buFont typeface="Arial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контейнера 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Grid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мы задаем этот ресурс как контекст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данных</a:t>
            </a:r>
            <a:endParaRPr lang="ru-RU" sz="1100" dirty="0" smtClean="0">
              <a:solidFill>
                <a:srgbClr val="000000"/>
              </a:solidFill>
              <a:latin typeface="verdana"/>
            </a:endParaRPr>
          </a:p>
          <a:p>
            <a:pPr>
              <a:buFont typeface="Arial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Установка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контекста данных позволяет внутри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грида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привязать отдельные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элементы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к свойства ресурса, то есть объекта 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Phone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sz="1100" dirty="0" smtClean="0">
              <a:solidFill>
                <a:srgbClr val="000000"/>
              </a:solidFill>
              <a:latin typeface="verdana"/>
            </a:endParaRPr>
          </a:p>
          <a:p>
            <a:pPr>
              <a:buFont typeface="Arial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То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же самое и для элемента </a:t>
            </a:r>
            <a:r>
              <a:rPr lang="en-US" sz="1100" dirty="0" err="1" smtClean="0">
                <a:solidFill>
                  <a:srgbClr val="000000"/>
                </a:solidFill>
                <a:latin typeface="verdana"/>
              </a:rPr>
              <a:t>TextBlock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. </a:t>
            </a:r>
            <a:endParaRPr lang="ru-RU" sz="1100" dirty="0" smtClean="0">
              <a:solidFill>
                <a:srgbClr val="000000"/>
              </a:solidFill>
              <a:latin typeface="verdana"/>
            </a:endParaRPr>
          </a:p>
          <a:p>
            <a:pPr>
              <a:buFont typeface="Arial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Однако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en-US" sz="1100" dirty="0" err="1" smtClean="0">
                <a:solidFill>
                  <a:srgbClr val="000000"/>
                </a:solidFill>
                <a:latin typeface="verdana"/>
              </a:rPr>
              <a:t>TextBox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действует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не просто привязка, а </a:t>
            </a:r>
            <a:r>
              <a:rPr lang="ru-RU" sz="1100" dirty="0" smtClean="0">
                <a:solidFill>
                  <a:srgbClr val="C00000"/>
                </a:solidFill>
                <a:latin typeface="verdana"/>
              </a:rPr>
              <a:t>двусторонняя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привязка, обозначенная параметром 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Mode=</a:t>
            </a:r>
            <a:r>
              <a:rPr lang="en-US" sz="1100" dirty="0" err="1" smtClean="0">
                <a:solidFill>
                  <a:srgbClr val="000000"/>
                </a:solidFill>
                <a:latin typeface="verdana"/>
              </a:rPr>
              <a:t>TwoWay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(любые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изменения свойства 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Price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в ресурсе будут отображаться в текстовом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поле, и наоборот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- любые изменения в текстовом поле будут менять значения в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ресурсе)</a:t>
            </a:r>
          </a:p>
          <a:p>
            <a:pPr>
              <a:buFont typeface="Arial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100" dirty="0" smtClean="0">
                <a:solidFill>
                  <a:srgbClr val="7030A0"/>
                </a:solidFill>
                <a:latin typeface="verdana"/>
              </a:rPr>
              <a:t>В </a:t>
            </a:r>
            <a:r>
              <a:rPr lang="ru-RU" sz="1100" dirty="0" smtClean="0">
                <a:solidFill>
                  <a:srgbClr val="7030A0"/>
                </a:solidFill>
                <a:latin typeface="verdana"/>
              </a:rPr>
              <a:t>этом состоит одно из преимуществ использования свойств зависимостей - для обычных свойств подобные привязки бы не работали.</a:t>
            </a:r>
            <a:endParaRPr lang="ru-RU" sz="1100" dirty="0" smtClean="0">
              <a:solidFill>
                <a:srgbClr val="7030A0"/>
              </a:solidFill>
              <a:latin typeface="verdana"/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 rot="10800000" flipV="1">
            <a:off x="2071670" y="1571612"/>
            <a:ext cx="4429156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rot="10800000" flipV="1">
            <a:off x="4286248" y="2000240"/>
            <a:ext cx="2214578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 flipV="1">
            <a:off x="2214546" y="2428868"/>
            <a:ext cx="421484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10800000" flipV="1">
            <a:off x="2214546" y="3571876"/>
            <a:ext cx="4357718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10800000" flipV="1">
            <a:off x="1928794" y="3214686"/>
            <a:ext cx="4572032" cy="1785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rot="10800000" flipV="1">
            <a:off x="4214810" y="4143380"/>
            <a:ext cx="2286016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28"/>
            <a:ext cx="5829312" cy="5840435"/>
          </a:xfrm>
        </p:spPr>
        <p:txBody>
          <a:bodyPr>
            <a:normAutofit/>
          </a:bodyPr>
          <a:lstStyle/>
          <a:p>
            <a:r>
              <a:rPr lang="ru-RU" sz="1600" b="0" i="0" dirty="0" smtClean="0">
                <a:solidFill>
                  <a:srgbClr val="000000"/>
                </a:solidFill>
                <a:latin typeface="verdana"/>
              </a:rPr>
              <a:t>Для проверки значения ресурса </a:t>
            </a:r>
            <a:r>
              <a:rPr lang="ru-RU" sz="1600" b="0" i="0" dirty="0" smtClean="0">
                <a:solidFill>
                  <a:srgbClr val="000000"/>
                </a:solidFill>
                <a:latin typeface="verdana"/>
              </a:rPr>
              <a:t>добавили </a:t>
            </a:r>
            <a:r>
              <a:rPr lang="ru-RU" sz="1600" b="0" i="0" dirty="0" smtClean="0">
                <a:solidFill>
                  <a:srgbClr val="000000"/>
                </a:solidFill>
                <a:latin typeface="verdana"/>
              </a:rPr>
              <a:t>кнопку, у которой </a:t>
            </a:r>
            <a:r>
              <a:rPr lang="ru-RU" sz="1600" b="0" i="0" dirty="0" smtClean="0">
                <a:solidFill>
                  <a:srgbClr val="000000"/>
                </a:solidFill>
                <a:latin typeface="verdana"/>
              </a:rPr>
              <a:t>установили </a:t>
            </a:r>
            <a:r>
              <a:rPr lang="ru-RU" sz="1600" b="0" i="0" dirty="0" smtClean="0">
                <a:solidFill>
                  <a:srgbClr val="000000"/>
                </a:solidFill>
                <a:latin typeface="verdana"/>
              </a:rPr>
              <a:t>обработчик нажатия - </a:t>
            </a:r>
            <a:r>
              <a:rPr lang="en-US" sz="1600" b="0" i="0" dirty="0" err="1" smtClean="0">
                <a:solidFill>
                  <a:srgbClr val="000000"/>
                </a:solidFill>
                <a:latin typeface="verdana"/>
              </a:rPr>
              <a:t>Button_Click</a:t>
            </a:r>
            <a:r>
              <a:rPr lang="en-US" sz="1600" b="0" i="0" dirty="0" smtClean="0">
                <a:solidFill>
                  <a:srgbClr val="000000"/>
                </a:solidFill>
                <a:latin typeface="verdana"/>
              </a:rPr>
              <a:t>. </a:t>
            </a:r>
            <a:endParaRPr lang="ru-RU" sz="1600" b="0" i="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1600" b="0" i="0" dirty="0" smtClean="0">
                <a:solidFill>
                  <a:srgbClr val="000000"/>
                </a:solidFill>
                <a:latin typeface="verdana"/>
              </a:rPr>
              <a:t>также </a:t>
            </a:r>
            <a:r>
              <a:rPr lang="ru-RU" sz="1600" b="0" i="0" dirty="0" smtClean="0">
                <a:solidFill>
                  <a:srgbClr val="000000"/>
                </a:solidFill>
                <a:latin typeface="verdana"/>
              </a:rPr>
              <a:t>добавим код этого обработчика в файл кода </a:t>
            </a:r>
            <a:r>
              <a:rPr lang="en-US" sz="1600" b="0" i="0" dirty="0" smtClean="0">
                <a:solidFill>
                  <a:srgbClr val="000000"/>
                </a:solidFill>
                <a:latin typeface="verdana"/>
              </a:rPr>
              <a:t>C</a:t>
            </a:r>
            <a:r>
              <a:rPr lang="en-US" sz="1600" b="0" i="0" dirty="0" smtClean="0">
                <a:solidFill>
                  <a:srgbClr val="000000"/>
                </a:solidFill>
                <a:latin typeface="verdana"/>
              </a:rPr>
              <a:t>#:</a:t>
            </a:r>
            <a:endParaRPr lang="ru-RU" sz="1600" b="0" i="0" dirty="0" smtClean="0">
              <a:solidFill>
                <a:srgbClr val="000000"/>
              </a:solidFill>
              <a:latin typeface="verdana"/>
            </a:endParaRPr>
          </a:p>
          <a:p>
            <a:endParaRPr lang="en-US" sz="1600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sz="1600" b="0" i="0" dirty="0" err="1" smtClean="0">
                <a:solidFill>
                  <a:srgbClr val="000000"/>
                </a:solidFill>
                <a:latin typeface="Consolas"/>
              </a:rPr>
              <a:t>Button_Click</a:t>
            </a: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sz="1600" b="0" i="0" dirty="0" err="1" smtClean="0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    Phone </a:t>
            </a:r>
            <a:r>
              <a:rPr lang="en-US" sz="1600" b="0" i="0" dirty="0" err="1" smtClean="0">
                <a:solidFill>
                  <a:srgbClr val="000000"/>
                </a:solidFill>
                <a:latin typeface="Consolas"/>
              </a:rPr>
              <a:t>phone</a:t>
            </a: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 = (Phone)</a:t>
            </a:r>
            <a:r>
              <a:rPr lang="en-US" sz="1600" b="0" i="0" dirty="0" err="1" smtClean="0">
                <a:solidFill>
                  <a:srgbClr val="000000"/>
                </a:solidFill>
                <a:latin typeface="Consolas"/>
              </a:rPr>
              <a:t>this.Resources</a:t>
            </a: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["iPhone6s"]; // </a:t>
            </a:r>
            <a:r>
              <a:rPr lang="ru-RU" sz="1600" b="0" i="0" dirty="0" smtClean="0">
                <a:solidFill>
                  <a:srgbClr val="000000"/>
                </a:solidFill>
                <a:latin typeface="Consolas"/>
              </a:rPr>
              <a:t>получаем ресурс по ключу</a:t>
            </a:r>
          </a:p>
          <a:p>
            <a:pPr fontAlgn="base">
              <a:buNone/>
            </a:pPr>
            <a:r>
              <a:rPr lang="ru-RU" sz="1600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b="0" i="0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b="0" i="0" dirty="0" err="1" smtClean="0">
                <a:solidFill>
                  <a:srgbClr val="000000"/>
                </a:solidFill>
                <a:latin typeface="Consolas"/>
              </a:rPr>
              <a:t>phone.Price.ToString</a:t>
            </a: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fontAlgn="base">
              <a:buNone/>
            </a:pPr>
            <a:r>
              <a:rPr lang="en-US" sz="1600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  <p:pic>
        <p:nvPicPr>
          <p:cNvPr id="10242" name="Picture 2" descr="Dependency Property in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60" y="214290"/>
            <a:ext cx="2714625" cy="2276475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5072066" y="4929198"/>
            <a:ext cx="357186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Запустим приложение, изменим значение в текстовом поле, например, на 800 и нажмем на 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кнопку</a:t>
            </a:r>
            <a:endParaRPr lang="ru-RU" sz="1600" dirty="0" smtClean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rot="16200000" flipV="1">
            <a:off x="5965041" y="3607595"/>
            <a:ext cx="235745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0000"/>
                </a:solidFill>
                <a:latin typeface="verdana"/>
              </a:rPr>
              <a:t>Добавление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валидации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715040"/>
          </a:xfrm>
        </p:spPr>
        <p:txBody>
          <a:bodyPr>
            <a:normAutofit fontScale="32500" lnSpcReduction="20000"/>
          </a:bodyPr>
          <a:lstStyle/>
          <a:p>
            <a:pPr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WPF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предоставляет два способа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валидации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значения свойства: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US" b="1" i="0" dirty="0" err="1" smtClean="0">
                <a:solidFill>
                  <a:srgbClr val="000000"/>
                </a:solidFill>
                <a:latin typeface="verdana"/>
              </a:rPr>
              <a:t>ValidateValueCallback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: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делегат, который возвращает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true,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значение проходит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валидацию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и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false -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не проходит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US" b="1" i="0" dirty="0" err="1" smtClean="0">
                <a:solidFill>
                  <a:srgbClr val="000000"/>
                </a:solidFill>
                <a:latin typeface="verdana"/>
              </a:rPr>
              <a:t>CoerceValueCallback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: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делегат, который может подкорректировать уже существующее значение свойства, если оно вдруг не попадает в диапазон допустимых значений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 установке значения сначала срабатывает делегат 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CoerceValueCallback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который может модифицировать это значение, если оно вдруг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является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некорректным. Далее срабатывает делегат 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ValidateValueCallback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который возвращает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true,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значение проходит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валидацию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 В случае, если эти два делегата успешно отработали, то срабатывает делегат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PropertyChangedCallback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который извещает систему об изменении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значении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свойства.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 этом нам необязательно использовать сразу оба эти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делегата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можно применять лишь один из них, а можно их комбинировать вместе.</a:t>
            </a:r>
          </a:p>
          <a:p>
            <a:pPr>
              <a:spcAft>
                <a:spcPts val="600"/>
              </a:spcAft>
              <a:buNone/>
            </a:pPr>
            <a:r>
              <a:rPr lang="ru-RU" b="0" i="1" u="sng" dirty="0" smtClean="0">
                <a:solidFill>
                  <a:srgbClr val="000000"/>
                </a:solidFill>
                <a:latin typeface="verdana"/>
              </a:rPr>
              <a:t>Пример: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применим делегат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ValidateValueCallback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.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для этого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изменим код класса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Phone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public class Phone :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DependencyObject</a:t>
            </a:r>
            <a:endParaRPr lang="en-US" b="0" i="0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static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readonly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static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readonly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static Phone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DependencyProperty.Register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("Title",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(string),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(Phone));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FrameworkPropertyMetadata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metadata = new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FrameworkPropertyMetadata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DependencyProperty.Register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("Price",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(Phone), metadata,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new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ValidateValueCallback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ValidateValue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));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private static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bool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ValidateValue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(object 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)value;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if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&gt;= 0) </a:t>
            </a:r>
            <a:r>
              <a:rPr lang="en-US" b="0" i="0" dirty="0" smtClean="0">
                <a:solidFill>
                  <a:srgbClr val="00B050"/>
                </a:solidFill>
                <a:latin typeface="Consolas"/>
              </a:rPr>
              <a:t>// </a:t>
            </a:r>
            <a:r>
              <a:rPr lang="ru-RU" b="0" i="0" dirty="0" smtClean="0">
                <a:solidFill>
                  <a:srgbClr val="00B050"/>
                </a:solidFill>
                <a:latin typeface="Consolas"/>
              </a:rPr>
              <a:t>если текущее значение от нуля и выше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return true;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return false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public string Title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get { return (string)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set {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, value); 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Price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get 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 return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set {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, value); 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714876" y="5000636"/>
            <a:ext cx="4572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Делегат 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ValidateValueCallback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 указывает на метод 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ValidateValue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, который в качестве параметра принимает новое значение свойства. </a:t>
            </a:r>
            <a:endParaRPr lang="ru-RU" sz="110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Если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оно равно нулю или выше, так как отрицательные цены не имеют смысла, то значение проходит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валидацию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, и метод возвращает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true</a:t>
            </a:r>
            <a:endParaRPr lang="ru-RU" sz="1100" dirty="0" smtClean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 rot="10800000">
            <a:off x="3500430" y="4500570"/>
            <a:ext cx="178595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подобных проверках надо учитывать, что в процессе запуска приложения значения ресурса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Phone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устанавливаются два раза. Первый раз свойство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Price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получает значение по умолчанию для типов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int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то есть число 0. И только потом на следующем этапе инициализации оно получает число 600, которое и установлено в ресурсе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Phone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 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Поэтому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мы, к примеру, изменим логику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валидации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if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(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&gt; 0)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return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ru-RU" b="0" i="0" dirty="0" smtClean="0">
                <a:solidFill>
                  <a:srgbClr val="00B050"/>
                </a:solidFill>
                <a:latin typeface="Consolas"/>
              </a:rPr>
              <a:t>/*</a:t>
            </a:r>
            <a:r>
              <a:rPr lang="ru-RU" dirty="0" smtClean="0">
                <a:solidFill>
                  <a:srgbClr val="00B05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B050"/>
                </a:solidFill>
                <a:latin typeface="verdana"/>
              </a:rPr>
              <a:t>получим </a:t>
            </a:r>
            <a:r>
              <a:rPr lang="ru-RU" dirty="0" smtClean="0">
                <a:solidFill>
                  <a:srgbClr val="00B050"/>
                </a:solidFill>
                <a:latin typeface="verdana"/>
              </a:rPr>
              <a:t>ошибку, </a:t>
            </a:r>
            <a:r>
              <a:rPr lang="ru-RU" dirty="0" smtClean="0">
                <a:solidFill>
                  <a:srgbClr val="00B050"/>
                </a:solidFill>
                <a:latin typeface="verdana"/>
              </a:rPr>
              <a:t>число 0 теперь не является допустимым, но на начальной инициализации объекта </a:t>
            </a:r>
            <a:r>
              <a:rPr lang="ru-RU" dirty="0" err="1" smtClean="0">
                <a:solidFill>
                  <a:srgbClr val="00B050"/>
                </a:solidFill>
                <a:latin typeface="verdana"/>
              </a:rPr>
              <a:t>Phone</a:t>
            </a:r>
            <a:r>
              <a:rPr lang="ru-RU" dirty="0" smtClean="0">
                <a:solidFill>
                  <a:srgbClr val="00B050"/>
                </a:solidFill>
                <a:latin typeface="verdana"/>
              </a:rPr>
              <a:t>, именно 0 устанавливается в качестве значения для свойства </a:t>
            </a:r>
            <a:r>
              <a:rPr lang="ru-RU" dirty="0" err="1" smtClean="0">
                <a:solidFill>
                  <a:srgbClr val="00B050"/>
                </a:solidFill>
                <a:latin typeface="verdana"/>
              </a:rPr>
              <a:t>Price</a:t>
            </a:r>
            <a:r>
              <a:rPr lang="ru-RU" dirty="0" smtClean="0">
                <a:solidFill>
                  <a:srgbClr val="00B050"/>
                </a:solidFill>
                <a:latin typeface="verdana"/>
              </a:rPr>
              <a:t>*/</a:t>
            </a:r>
            <a:endParaRPr lang="ru-RU" b="0" i="0" dirty="0" smtClean="0">
              <a:solidFill>
                <a:srgbClr val="00B050"/>
              </a:solidFill>
              <a:latin typeface="Consolas"/>
            </a:endParaRPr>
          </a:p>
          <a:p>
            <a:pPr fontAlgn="base">
              <a:buNone/>
            </a:pPr>
            <a:endParaRPr lang="ru-RU" b="0" i="0" dirty="0" smtClean="0">
              <a:solidFill>
                <a:srgbClr val="000000"/>
              </a:solidFill>
              <a:latin typeface="Consolas"/>
            </a:endParaRP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запустим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приложение и попробуем установить число меньше 0, то оно не пройдет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валидацию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и ресурс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Phone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сохранит старое значение для свойства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Price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142852"/>
            <a:ext cx="8229600" cy="6572296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ru-RU" b="0" i="0" dirty="0" smtClean="0">
                <a:solidFill>
                  <a:srgbClr val="C00000"/>
                </a:solidFill>
                <a:latin typeface="verdana"/>
              </a:rPr>
              <a:t>применим </a:t>
            </a:r>
            <a:r>
              <a:rPr lang="ru-RU" b="0" i="0" dirty="0" smtClean="0">
                <a:solidFill>
                  <a:srgbClr val="C00000"/>
                </a:solidFill>
                <a:latin typeface="verdana"/>
              </a:rPr>
              <a:t>делегат </a:t>
            </a:r>
            <a:r>
              <a:rPr lang="en-US" b="1" i="0" dirty="0" err="1" smtClean="0">
                <a:solidFill>
                  <a:srgbClr val="C00000"/>
                </a:solidFill>
                <a:latin typeface="verdana"/>
              </a:rPr>
              <a:t>CoerceValueCallback</a:t>
            </a:r>
            <a:r>
              <a:rPr lang="en-US" b="1" i="0" dirty="0" smtClean="0">
                <a:solidFill>
                  <a:srgbClr val="C00000"/>
                </a:solidFill>
                <a:latin typeface="verdana"/>
              </a:rPr>
              <a:t>:</a:t>
            </a:r>
            <a:endParaRPr lang="ru-RU" b="1" i="0" dirty="0" smtClean="0">
              <a:solidFill>
                <a:srgbClr val="C00000"/>
              </a:solidFill>
              <a:latin typeface="verdana"/>
            </a:endParaRPr>
          </a:p>
          <a:p>
            <a:pPr>
              <a:buNone/>
            </a:pPr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public class Phone :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DependencyObject</a:t>
            </a:r>
            <a:endParaRPr lang="en-US" b="0" i="0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static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readonly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static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readonly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static Phone()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DependencyProperty.Register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("Title",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(string),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(Phone));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FrameworkPropertyMetadata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metadata = new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FrameworkPropertyMetadata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metadata.CoerceValueCallback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new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CoerceValueCallback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CorrectValue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DependencyProperty.Register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("Price",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(Phone), metadata,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new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ValidateValueCallback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ValidateValue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private static object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CorrectValue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DependencyObject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d, object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baseValue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baseValue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if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&lt; 1) </a:t>
            </a:r>
            <a:r>
              <a:rPr lang="en-US" sz="3100" dirty="0" smtClean="0">
                <a:solidFill>
                  <a:srgbClr val="00B050"/>
                </a:solidFill>
                <a:latin typeface="Consolas"/>
              </a:rPr>
              <a:t>// </a:t>
            </a:r>
            <a:r>
              <a:rPr lang="ru-RU" sz="3100" dirty="0" smtClean="0">
                <a:solidFill>
                  <a:srgbClr val="00B050"/>
                </a:solidFill>
                <a:latin typeface="Consolas"/>
              </a:rPr>
              <a:t>если меньше 1, возвращаем 1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return 1;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else if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&gt; 1000)  </a:t>
            </a:r>
            <a:r>
              <a:rPr lang="en-US" b="0" i="0" dirty="0" smtClean="0">
                <a:solidFill>
                  <a:srgbClr val="00B050"/>
                </a:solidFill>
                <a:latin typeface="Consolas"/>
              </a:rPr>
              <a:t>// </a:t>
            </a:r>
            <a:r>
              <a:rPr lang="ru-RU" b="0" i="0" dirty="0" smtClean="0">
                <a:solidFill>
                  <a:srgbClr val="00B050"/>
                </a:solidFill>
                <a:latin typeface="Consolas"/>
              </a:rPr>
              <a:t>если больше 1000, возвращаем 1000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return 1000;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return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b="0" i="0" dirty="0" smtClean="0">
                <a:solidFill>
                  <a:srgbClr val="00B050"/>
                </a:solidFill>
                <a:latin typeface="Consolas"/>
              </a:rPr>
              <a:t>// </a:t>
            </a:r>
            <a:r>
              <a:rPr lang="ru-RU" b="0" i="0" dirty="0" smtClean="0">
                <a:solidFill>
                  <a:srgbClr val="00B050"/>
                </a:solidFill>
                <a:latin typeface="Consolas"/>
              </a:rPr>
              <a:t>иначе возвращаем текущее значение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private static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bool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ValidateValue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(object 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)value;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if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currentValue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&gt;= 0) // 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если текущее значение от нуля и выше</a:t>
            </a:r>
          </a:p>
          <a:p>
            <a:pPr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return true;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return false;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public string 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Title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get { return (string)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set {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TitleProperty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, value);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Price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get { return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set {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SetValue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PriceProperty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, value); 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3636" y="2571744"/>
            <a:ext cx="300036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будем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корректировать значение свойства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Price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т. к.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оно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изменяется через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текстовое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поле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Для этого делегат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CoerceValueCallback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будет вызывать метод 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CorrectValue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. Данный метод должен принимать два параметра: </a:t>
            </a:r>
            <a:r>
              <a:rPr lang="ru-RU" sz="1100" b="1" dirty="0" err="1" smtClean="0">
                <a:solidFill>
                  <a:srgbClr val="000000"/>
                </a:solidFill>
                <a:latin typeface="verdana"/>
              </a:rPr>
              <a:t>DependencyObject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валидируемый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объект (в данном случае объект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Phone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) и </a:t>
            </a:r>
            <a:r>
              <a:rPr lang="ru-RU" sz="1100" b="1" dirty="0" err="1" smtClean="0">
                <a:solidFill>
                  <a:srgbClr val="000000"/>
                </a:solidFill>
                <a:latin typeface="verdana"/>
              </a:rPr>
              <a:t>object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 - новое значение для свойства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Price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(либо для другого устанавливаемого свойства).</a:t>
            </a:r>
          </a:p>
          <a:p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В самом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методе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CorrectValue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() получаем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новое значение и модифицируем его, если оно некорректно.</a:t>
            </a:r>
          </a:p>
          <a:p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Больше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ничего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менять не надо, разметка </a:t>
            </a:r>
            <a:r>
              <a:rPr lang="ru-RU" sz="1100" dirty="0" err="1" smtClean="0">
                <a:solidFill>
                  <a:srgbClr val="000000"/>
                </a:solidFill>
                <a:latin typeface="verdana"/>
              </a:rPr>
              <a:t>xaml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 остается прежней. </a:t>
            </a:r>
            <a:endParaRPr lang="ru-RU" sz="110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При запуске приложения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и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вводе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текстовое </a:t>
            </a:r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поле некорректное значение, то сработает этот делегат, который подкорректирует значение.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rot="10800000">
            <a:off x="5072066" y="2143116"/>
            <a:ext cx="1357322" cy="1214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716</Words>
  <Application>Microsoft Office PowerPoint</Application>
  <PresentationFormat>Экран (4:3)</PresentationFormat>
  <Paragraphs>297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DependencyObject и свойства зависимостей</vt:lpstr>
      <vt:lpstr>Слайд 2</vt:lpstr>
      <vt:lpstr>Слайд 3</vt:lpstr>
      <vt:lpstr>Слайд 4</vt:lpstr>
      <vt:lpstr>Провайдеры свойств</vt:lpstr>
      <vt:lpstr>Слайд 6</vt:lpstr>
      <vt:lpstr>Прикрепляемые свойства attached properties</vt:lpstr>
      <vt:lpstr>Слайд 8</vt:lpstr>
      <vt:lpstr>Создание свойств зависимостей</vt:lpstr>
      <vt:lpstr>Слайд 10</vt:lpstr>
      <vt:lpstr>Слайд 11</vt:lpstr>
      <vt:lpstr>Добавление валидации</vt:lpstr>
      <vt:lpstr>Слайд 13</vt:lpstr>
      <vt:lpstr>Слайд 14</vt:lpstr>
    </vt:vector>
  </TitlesOfParts>
  <Company>iit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DependencyObject и свойства зависимостей</dc:title>
  <dc:creator>spfuser</dc:creator>
  <cp:lastModifiedBy>spfuser</cp:lastModifiedBy>
  <cp:revision>10</cp:revision>
  <dcterms:created xsi:type="dcterms:W3CDTF">2016-12-08T18:09:20Z</dcterms:created>
  <dcterms:modified xsi:type="dcterms:W3CDTF">2016-12-09T10:53:16Z</dcterms:modified>
</cp:coreProperties>
</file>