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334" r:id="rId4"/>
    <p:sldId id="258" r:id="rId5"/>
    <p:sldId id="272" r:id="rId6"/>
    <p:sldId id="273" r:id="rId7"/>
    <p:sldId id="275" r:id="rId8"/>
    <p:sldId id="337" r:id="rId9"/>
    <p:sldId id="276" r:id="rId10"/>
    <p:sldId id="277" r:id="rId11"/>
    <p:sldId id="278" r:id="rId12"/>
    <p:sldId id="279" r:id="rId13"/>
    <p:sldId id="280" r:id="rId14"/>
    <p:sldId id="281" r:id="rId15"/>
    <p:sldId id="282" r:id="rId16"/>
    <p:sldId id="335" r:id="rId17"/>
    <p:sldId id="336" r:id="rId18"/>
    <p:sldId id="283" r:id="rId19"/>
    <p:sldId id="284" r:id="rId20"/>
    <p:sldId id="285" r:id="rId21"/>
    <p:sldId id="286" r:id="rId22"/>
    <p:sldId id="287" r:id="rId23"/>
    <p:sldId id="288" r:id="rId24"/>
    <p:sldId id="289" r:id="rId25"/>
    <p:sldId id="290" r:id="rId26"/>
    <p:sldId id="291" r:id="rId27"/>
    <p:sldId id="292" r:id="rId28"/>
    <p:sldId id="293" r:id="rId29"/>
    <p:sldId id="295" r:id="rId30"/>
    <p:sldId id="296" r:id="rId31"/>
    <p:sldId id="297" r:id="rId32"/>
    <p:sldId id="298" r:id="rId33"/>
    <p:sldId id="299" r:id="rId34"/>
    <p:sldId id="301" r:id="rId35"/>
    <p:sldId id="302" r:id="rId36"/>
    <p:sldId id="303" r:id="rId37"/>
    <p:sldId id="304" r:id="rId38"/>
    <p:sldId id="306" r:id="rId39"/>
    <p:sldId id="307" r:id="rId40"/>
    <p:sldId id="308" r:id="rId41"/>
    <p:sldId id="309" r:id="rId42"/>
    <p:sldId id="310" r:id="rId43"/>
    <p:sldId id="311" r:id="rId44"/>
    <p:sldId id="312" r:id="rId45"/>
    <p:sldId id="313" r:id="rId46"/>
    <p:sldId id="314" r:id="rId47"/>
    <p:sldId id="315" r:id="rId48"/>
    <p:sldId id="316" r:id="rId49"/>
    <p:sldId id="317" r:id="rId50"/>
    <p:sldId id="318" r:id="rId51"/>
    <p:sldId id="319" r:id="rId52"/>
    <p:sldId id="320" r:id="rId53"/>
    <p:sldId id="321" r:id="rId54"/>
    <p:sldId id="322" r:id="rId55"/>
    <p:sldId id="323" r:id="rId56"/>
    <p:sldId id="324" r:id="rId57"/>
    <p:sldId id="325" r:id="rId58"/>
    <p:sldId id="326" r:id="rId59"/>
    <p:sldId id="327" r:id="rId60"/>
    <p:sldId id="328" r:id="rId61"/>
    <p:sldId id="329" r:id="rId62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-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385" autoAdjust="0"/>
    <p:restoredTop sz="94660"/>
  </p:normalViewPr>
  <p:slideViewPr>
    <p:cSldViewPr>
      <p:cViewPr varScale="1">
        <p:scale>
          <a:sx n="89" d="100"/>
          <a:sy n="89" d="100"/>
        </p:scale>
        <p:origin x="-1114" y="-6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slide" Target="slides/slide60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688207-EC3A-481C-AA06-184842B24272}" type="datetimeFigureOut">
              <a:rPr lang="ru-RU" smtClean="0"/>
              <a:t>12.12.2016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9049F-9DBF-4E6A-84A6-30C9E441051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567297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688207-EC3A-481C-AA06-184842B24272}" type="datetimeFigureOut">
              <a:rPr lang="ru-RU" smtClean="0"/>
              <a:t>12.12.2016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9049F-9DBF-4E6A-84A6-30C9E441051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881380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688207-EC3A-481C-AA06-184842B24272}" type="datetimeFigureOut">
              <a:rPr lang="ru-RU" smtClean="0"/>
              <a:t>12.12.2016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9049F-9DBF-4E6A-84A6-30C9E441051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35657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688207-EC3A-481C-AA06-184842B24272}" type="datetimeFigureOut">
              <a:rPr lang="ru-RU" smtClean="0"/>
              <a:t>12.12.2016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9049F-9DBF-4E6A-84A6-30C9E441051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24045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688207-EC3A-481C-AA06-184842B24272}" type="datetimeFigureOut">
              <a:rPr lang="ru-RU" smtClean="0"/>
              <a:t>12.12.2016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9049F-9DBF-4E6A-84A6-30C9E441051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808264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688207-EC3A-481C-AA06-184842B24272}" type="datetimeFigureOut">
              <a:rPr lang="ru-RU" smtClean="0"/>
              <a:t>12.12.2016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9049F-9DBF-4E6A-84A6-30C9E441051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894125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688207-EC3A-481C-AA06-184842B24272}" type="datetimeFigureOut">
              <a:rPr lang="ru-RU" smtClean="0"/>
              <a:t>12.12.2016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9049F-9DBF-4E6A-84A6-30C9E441051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378903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688207-EC3A-481C-AA06-184842B24272}" type="datetimeFigureOut">
              <a:rPr lang="ru-RU" smtClean="0"/>
              <a:t>12.12.2016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9049F-9DBF-4E6A-84A6-30C9E441051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850850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688207-EC3A-481C-AA06-184842B24272}" type="datetimeFigureOut">
              <a:rPr lang="ru-RU" smtClean="0"/>
              <a:t>12.12.2016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9049F-9DBF-4E6A-84A6-30C9E441051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526180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688207-EC3A-481C-AA06-184842B24272}" type="datetimeFigureOut">
              <a:rPr lang="ru-RU" smtClean="0"/>
              <a:t>12.12.2016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9049F-9DBF-4E6A-84A6-30C9E441051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897539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688207-EC3A-481C-AA06-184842B24272}" type="datetimeFigureOut">
              <a:rPr lang="ru-RU" smtClean="0"/>
              <a:t>12.12.2016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9049F-9DBF-4E6A-84A6-30C9E441051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56466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688207-EC3A-481C-AA06-184842B24272}" type="datetimeFigureOut">
              <a:rPr lang="ru-RU" smtClean="0"/>
              <a:t>12.12.2016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E9049F-9DBF-4E6A-84A6-30C9E441051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455321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://schemas.microsoft.com/winfx/2006/xaml" TargetMode="External"/><Relationship Id="rId2" Type="http://schemas.openxmlformats.org/officeDocument/2006/relationships/hyperlink" Target="http://schemas.microsoft.com/winfx/2006/xaml/presentation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://schemas.openxmlformats.org/markup-compatibility/2006" TargetMode="External"/><Relationship Id="rId4" Type="http://schemas.openxmlformats.org/officeDocument/2006/relationships/hyperlink" Target="http://schemas.microsoft.com/expression/blend/2008" TargetMode="Externa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b="1" dirty="0"/>
              <a:t>WPF 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Windows Presentation Foundation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2352317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22114"/>
          </a:xfrm>
        </p:spPr>
        <p:txBody>
          <a:bodyPr>
            <a:normAutofit/>
          </a:bodyPr>
          <a:lstStyle/>
          <a:p>
            <a:r>
              <a:rPr lang="ru-RU" sz="3200" b="1" dirty="0" smtClean="0"/>
              <a:t>Преимущества WPF</a:t>
            </a:r>
            <a:endParaRPr lang="ru-RU" sz="32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07504" y="1052736"/>
            <a:ext cx="8784976" cy="5616624"/>
          </a:xfrm>
        </p:spPr>
        <p:txBody>
          <a:bodyPr>
            <a:normAutofit fontScale="55000" lnSpcReduction="20000"/>
          </a:bodyPr>
          <a:lstStyle/>
          <a:p>
            <a:pPr>
              <a:spcAft>
                <a:spcPts val="600"/>
              </a:spcAft>
            </a:pPr>
            <a:r>
              <a:rPr lang="ru-RU" dirty="0" smtClean="0"/>
              <a:t>Возможность</a:t>
            </a:r>
            <a:r>
              <a:rPr lang="ru-RU" dirty="0"/>
              <a:t> </a:t>
            </a:r>
            <a:r>
              <a:rPr lang="ru-RU" b="1" dirty="0"/>
              <a:t>декларативного определения</a:t>
            </a:r>
            <a:r>
              <a:rPr lang="ru-RU" dirty="0"/>
              <a:t> графического интерфейса с помощью специального языка разметки XAML, основанном на </a:t>
            </a:r>
            <a:r>
              <a:rPr lang="ru-RU" dirty="0" err="1"/>
              <a:t>xml</a:t>
            </a:r>
            <a:r>
              <a:rPr lang="ru-RU" dirty="0"/>
              <a:t> и представляющем альтернативу программному созданию графики и элементов управления, а также возможность комбинировать XAML и C#/VB.NET</a:t>
            </a:r>
          </a:p>
          <a:p>
            <a:pPr>
              <a:spcAft>
                <a:spcPts val="600"/>
              </a:spcAft>
            </a:pPr>
            <a:r>
              <a:rPr lang="ru-RU" b="1" dirty="0"/>
              <a:t>Независимость от разрешения </a:t>
            </a:r>
            <a:r>
              <a:rPr lang="ru-RU" b="1" dirty="0" smtClean="0"/>
              <a:t>экрана</a:t>
            </a:r>
            <a:r>
              <a:rPr lang="ru-RU" dirty="0" smtClean="0"/>
              <a:t>, т. к. в </a:t>
            </a:r>
            <a:r>
              <a:rPr lang="ru-RU" dirty="0"/>
              <a:t>WPF все элементы измеряются в независимых от устройства единицах, приложения на WPF легко масштабируются под разные экраны с разным разрешением.</a:t>
            </a:r>
          </a:p>
          <a:p>
            <a:pPr>
              <a:spcAft>
                <a:spcPts val="600"/>
              </a:spcAft>
            </a:pPr>
            <a:r>
              <a:rPr lang="ru-RU" dirty="0"/>
              <a:t>Новые </a:t>
            </a:r>
            <a:r>
              <a:rPr lang="ru-RU" dirty="0" smtClean="0"/>
              <a:t>возможности, </a:t>
            </a:r>
            <a:r>
              <a:rPr lang="ru-RU" dirty="0"/>
              <a:t>например, создание трехмерных моделей, привязка данных, использование таких элементов, как стили, шаблоны, темы и др.</a:t>
            </a:r>
          </a:p>
          <a:p>
            <a:pPr>
              <a:spcAft>
                <a:spcPts val="600"/>
              </a:spcAft>
            </a:pPr>
            <a:r>
              <a:rPr lang="ru-RU" dirty="0"/>
              <a:t>Хорошее </a:t>
            </a:r>
            <a:r>
              <a:rPr lang="ru-RU" b="1" dirty="0"/>
              <a:t>взаимодействие с </a:t>
            </a:r>
            <a:r>
              <a:rPr lang="ru-RU" b="1" dirty="0" err="1"/>
              <a:t>WinForms</a:t>
            </a:r>
            <a:r>
              <a:rPr lang="ru-RU" dirty="0" smtClean="0"/>
              <a:t>, </a:t>
            </a:r>
            <a:r>
              <a:rPr lang="ru-RU" dirty="0"/>
              <a:t>в приложениях WPF можно использовать традиционные элементы управления из </a:t>
            </a:r>
            <a:r>
              <a:rPr lang="ru-RU" dirty="0" err="1"/>
              <a:t>WinForms</a:t>
            </a:r>
            <a:r>
              <a:rPr lang="ru-RU" dirty="0"/>
              <a:t>.</a:t>
            </a:r>
          </a:p>
          <a:p>
            <a:pPr>
              <a:spcAft>
                <a:spcPts val="600"/>
              </a:spcAft>
            </a:pPr>
            <a:r>
              <a:rPr lang="ru-RU" b="1" dirty="0" smtClean="0"/>
              <a:t>Возможности</a:t>
            </a:r>
            <a:r>
              <a:rPr lang="ru-RU" dirty="0"/>
              <a:t> по созданию различных приложений: </a:t>
            </a:r>
            <a:r>
              <a:rPr lang="ru-RU" dirty="0" smtClean="0"/>
              <a:t>мультимедиа, </a:t>
            </a:r>
            <a:r>
              <a:rPr lang="ru-RU" dirty="0"/>
              <a:t>двухмерная и трехмерная графика</a:t>
            </a:r>
            <a:r>
              <a:rPr lang="ru-RU" dirty="0" smtClean="0"/>
              <a:t>, набор </a:t>
            </a:r>
            <a:r>
              <a:rPr lang="ru-RU" dirty="0"/>
              <a:t>встроенных элементов управления, а также возможность самим создавать новые элементы, создание </a:t>
            </a:r>
            <a:r>
              <a:rPr lang="ru-RU" dirty="0" err="1"/>
              <a:t>анимаций</a:t>
            </a:r>
            <a:r>
              <a:rPr lang="ru-RU" dirty="0"/>
              <a:t>, привязка данных, стили, шаблоны, темы и </a:t>
            </a:r>
            <a:r>
              <a:rPr lang="ru-RU" dirty="0" smtClean="0"/>
              <a:t>т.д.</a:t>
            </a:r>
          </a:p>
          <a:p>
            <a:pPr>
              <a:spcAft>
                <a:spcPts val="600"/>
              </a:spcAft>
            </a:pPr>
            <a:r>
              <a:rPr lang="ru-RU" b="1" dirty="0" smtClean="0"/>
              <a:t>Аппаратное </a:t>
            </a:r>
            <a:r>
              <a:rPr lang="ru-RU" b="1" dirty="0"/>
              <a:t>ускорение графики</a:t>
            </a:r>
            <a:r>
              <a:rPr lang="ru-RU" dirty="0"/>
              <a:t> - </a:t>
            </a:r>
            <a:r>
              <a:rPr lang="ru-RU" dirty="0" smtClean="0"/>
              <a:t>все </a:t>
            </a:r>
            <a:r>
              <a:rPr lang="ru-RU" dirty="0"/>
              <a:t>компоненты приложения транслируются в объекты, понятные Direct3D, и затем визуализируются с помощью процессора на видеокарте, что повышает производительность, делает графику более плавной.</a:t>
            </a:r>
          </a:p>
          <a:p>
            <a:pPr>
              <a:spcAft>
                <a:spcPts val="600"/>
              </a:spcAft>
            </a:pPr>
            <a:r>
              <a:rPr lang="ru-RU" dirty="0"/>
              <a:t>Создание приложений под множество ОС семейства </a:t>
            </a:r>
            <a:r>
              <a:rPr lang="ru-RU" dirty="0" err="1"/>
              <a:t>Windows</a:t>
            </a:r>
            <a:r>
              <a:rPr lang="ru-RU" dirty="0"/>
              <a:t> - от </a:t>
            </a:r>
            <a:r>
              <a:rPr lang="ru-RU" dirty="0" err="1"/>
              <a:t>Windows</a:t>
            </a:r>
            <a:r>
              <a:rPr lang="ru-RU" dirty="0"/>
              <a:t> XP до </a:t>
            </a:r>
            <a:r>
              <a:rPr lang="ru-RU" dirty="0" err="1"/>
              <a:t>Windows</a:t>
            </a:r>
            <a:r>
              <a:rPr lang="ru-RU" dirty="0"/>
              <a:t> 10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719905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62074"/>
          </a:xfrm>
        </p:spPr>
        <p:txBody>
          <a:bodyPr>
            <a:normAutofit fontScale="90000"/>
          </a:bodyPr>
          <a:lstStyle/>
          <a:p>
            <a:r>
              <a:rPr lang="ru-RU" b="1" dirty="0"/>
              <a:t>Архитектура </a:t>
            </a:r>
            <a:r>
              <a:rPr lang="en-GB" b="1" dirty="0" smtClean="0"/>
              <a:t>WPF</a:t>
            </a:r>
            <a:endParaRPr lang="ru-RU" dirty="0"/>
          </a:p>
        </p:txBody>
      </p:sp>
      <p:pic>
        <p:nvPicPr>
          <p:cNvPr id="6" name="Объект 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1025" y="764704"/>
            <a:ext cx="5798820" cy="39166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Прямоугольник 6"/>
          <p:cNvSpPr/>
          <p:nvPr/>
        </p:nvSpPr>
        <p:spPr>
          <a:xfrm>
            <a:off x="5770886" y="836712"/>
            <a:ext cx="3347864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600" dirty="0" smtClean="0"/>
              <a:t>WPF </a:t>
            </a:r>
            <a:r>
              <a:rPr lang="ru-RU" sz="1600" dirty="0"/>
              <a:t>разбивается на два уровня: </a:t>
            </a:r>
            <a:r>
              <a:rPr lang="ru-RU" sz="1600" dirty="0" err="1"/>
              <a:t>managed</a:t>
            </a:r>
            <a:r>
              <a:rPr lang="ru-RU" sz="1600" dirty="0"/>
              <a:t> API и </a:t>
            </a:r>
            <a:r>
              <a:rPr lang="ru-RU" sz="1600" dirty="0" err="1"/>
              <a:t>unmanaged</a:t>
            </a:r>
            <a:r>
              <a:rPr lang="ru-RU" sz="1600" dirty="0"/>
              <a:t> API (уровень интеграции с </a:t>
            </a:r>
            <a:r>
              <a:rPr lang="ru-RU" sz="1600" dirty="0" err="1"/>
              <a:t>DirectX</a:t>
            </a:r>
            <a:r>
              <a:rPr lang="ru-RU" sz="1600" dirty="0"/>
              <a:t>). </a:t>
            </a:r>
            <a:r>
              <a:rPr lang="ru-RU" sz="1600" dirty="0" err="1"/>
              <a:t>Managed</a:t>
            </a:r>
            <a:r>
              <a:rPr lang="ru-RU" sz="1600" dirty="0"/>
              <a:t> API (управляемый API-интерфейс) содержит код, исполняемый под управлением общеязыковой среды выполнения .NET - </a:t>
            </a:r>
            <a:r>
              <a:rPr lang="ru-RU" sz="1600" dirty="0" err="1"/>
              <a:t>Common</a:t>
            </a:r>
            <a:r>
              <a:rPr lang="ru-RU" sz="1600" dirty="0"/>
              <a:t> </a:t>
            </a:r>
            <a:r>
              <a:rPr lang="ru-RU" sz="1600" dirty="0" err="1"/>
              <a:t>Language</a:t>
            </a:r>
            <a:r>
              <a:rPr lang="ru-RU" sz="1600" dirty="0"/>
              <a:t> </a:t>
            </a:r>
            <a:r>
              <a:rPr lang="ru-RU" sz="1600" dirty="0" err="1" smtClean="0"/>
              <a:t>Runtime</a:t>
            </a:r>
            <a:r>
              <a:rPr lang="ru-RU" sz="1600" dirty="0" smtClean="0"/>
              <a:t>(описывает </a:t>
            </a:r>
            <a:r>
              <a:rPr lang="ru-RU" sz="1600" dirty="0"/>
              <a:t>основной функционал платформы </a:t>
            </a:r>
            <a:r>
              <a:rPr lang="ru-RU" sz="1600" dirty="0" smtClean="0"/>
              <a:t>WPF), </a:t>
            </a:r>
            <a:r>
              <a:rPr lang="ru-RU" sz="1600" dirty="0"/>
              <a:t>состоит из следующих компонентов</a:t>
            </a:r>
            <a:r>
              <a:rPr lang="ru-RU" sz="1600" dirty="0" smtClean="0"/>
              <a:t>:</a:t>
            </a:r>
            <a:endParaRPr lang="ru-RU" sz="1600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107504" y="4653136"/>
            <a:ext cx="9011246" cy="21698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500" b="1" dirty="0"/>
              <a:t>PresentationFramework.dll</a:t>
            </a:r>
            <a:r>
              <a:rPr lang="ru-RU" sz="1500" dirty="0"/>
              <a:t>: </a:t>
            </a:r>
            <a:r>
              <a:rPr lang="ru-RU" sz="1500" dirty="0" smtClean="0"/>
              <a:t>все </a:t>
            </a:r>
            <a:r>
              <a:rPr lang="ru-RU" sz="1500" dirty="0"/>
              <a:t>основные реализации компонентов и элементов управления, которые используются при построении графического интерфейса</a:t>
            </a:r>
          </a:p>
          <a:p>
            <a:r>
              <a:rPr lang="ru-RU" sz="1500" b="1" dirty="0"/>
              <a:t>PresentationCore.dll</a:t>
            </a:r>
            <a:r>
              <a:rPr lang="ru-RU" sz="1500" dirty="0"/>
              <a:t>: </a:t>
            </a:r>
            <a:r>
              <a:rPr lang="ru-RU" sz="1500" dirty="0" smtClean="0"/>
              <a:t>все </a:t>
            </a:r>
            <a:r>
              <a:rPr lang="ru-RU" sz="1500" dirty="0"/>
              <a:t>базовые типы для большинства классов из </a:t>
            </a:r>
            <a:r>
              <a:rPr lang="ru-RU" sz="1500" dirty="0" smtClean="0"/>
              <a:t>PresentationFramework.dll</a:t>
            </a:r>
            <a:endParaRPr lang="ru-RU" sz="1500" dirty="0"/>
          </a:p>
          <a:p>
            <a:r>
              <a:rPr lang="ru-RU" sz="1500" b="1" dirty="0"/>
              <a:t>WindowsBase.dll</a:t>
            </a:r>
            <a:r>
              <a:rPr lang="ru-RU" sz="1500" dirty="0"/>
              <a:t>: </a:t>
            </a:r>
            <a:r>
              <a:rPr lang="ru-RU" sz="1500" dirty="0" smtClean="0"/>
              <a:t>вспомогательные </a:t>
            </a:r>
            <a:r>
              <a:rPr lang="ru-RU" sz="1500" dirty="0"/>
              <a:t>классы, которые применяются в WPF, но могут также использоваться и вне данной платформы</a:t>
            </a:r>
          </a:p>
          <a:p>
            <a:r>
              <a:rPr lang="ru-RU" sz="1500" b="1" dirty="0" err="1"/>
              <a:t>Unmanaged</a:t>
            </a:r>
            <a:r>
              <a:rPr lang="ru-RU" sz="1500" b="1" dirty="0"/>
              <a:t> API </a:t>
            </a:r>
            <a:r>
              <a:rPr lang="ru-RU" sz="1500" dirty="0"/>
              <a:t>используется для интеграции вышележащего уровня с </a:t>
            </a:r>
            <a:r>
              <a:rPr lang="ru-RU" sz="1500" dirty="0" err="1"/>
              <a:t>DirectX</a:t>
            </a:r>
            <a:r>
              <a:rPr lang="ru-RU" sz="1500" dirty="0"/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500" b="1" dirty="0" smtClean="0"/>
              <a:t>milcore.dll</a:t>
            </a:r>
            <a:r>
              <a:rPr lang="ru-RU" sz="1500" dirty="0"/>
              <a:t>: обеспечивает интеграцию компонентов WPF с </a:t>
            </a:r>
            <a:r>
              <a:rPr lang="ru-RU" sz="1500" dirty="0" err="1"/>
              <a:t>DirectX</a:t>
            </a:r>
            <a:r>
              <a:rPr lang="ru-RU" sz="1500" dirty="0"/>
              <a:t>( написан на неуправляемом коде (С/С++) для взаимодействия с </a:t>
            </a:r>
            <a:r>
              <a:rPr lang="ru-RU" sz="1500" dirty="0" err="1"/>
              <a:t>DirectX</a:t>
            </a:r>
            <a:r>
              <a:rPr lang="ru-RU" sz="1500" dirty="0"/>
              <a:t>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500" b="1" dirty="0"/>
              <a:t>WindowsCodecs.dll</a:t>
            </a:r>
            <a:r>
              <a:rPr lang="ru-RU" sz="1500" dirty="0"/>
              <a:t>: библиотека, </a:t>
            </a:r>
            <a:r>
              <a:rPr lang="ru-RU" sz="1500" dirty="0" err="1"/>
              <a:t>предоставляущая</a:t>
            </a:r>
            <a:r>
              <a:rPr lang="ru-RU" sz="1500" dirty="0"/>
              <a:t> низкоуровневую поддержку для изображений в WPF</a:t>
            </a:r>
          </a:p>
        </p:txBody>
      </p:sp>
    </p:spTree>
    <p:extLst>
      <p:ext uri="{BB962C8B-B14F-4D97-AF65-F5344CB8AC3E}">
        <p14:creationId xmlns:p14="http://schemas.microsoft.com/office/powerpoint/2010/main" val="27621742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78098"/>
          </a:xfrm>
        </p:spPr>
        <p:txBody>
          <a:bodyPr>
            <a:normAutofit fontScale="90000"/>
          </a:bodyPr>
          <a:lstStyle/>
          <a:p>
            <a:r>
              <a:rPr lang="en-GB" sz="3600" b="1" dirty="0" smtClean="0"/>
              <a:t>XAML</a:t>
            </a:r>
            <a:r>
              <a:rPr lang="ru-RU" b="1" dirty="0" smtClean="0"/>
              <a:t/>
            </a:r>
            <a:br>
              <a:rPr lang="ru-RU" b="1" dirty="0" smtClean="0"/>
            </a:br>
            <a:r>
              <a:rPr lang="en-GB" sz="2700" dirty="0" err="1"/>
              <a:t>eXtensible</a:t>
            </a:r>
            <a:r>
              <a:rPr lang="en-GB" sz="2700" dirty="0"/>
              <a:t> Application </a:t>
            </a:r>
            <a:r>
              <a:rPr lang="en-GB" sz="2700" dirty="0" err="1"/>
              <a:t>Markup</a:t>
            </a:r>
            <a:r>
              <a:rPr lang="en-GB" sz="2700" dirty="0"/>
              <a:t> Language</a:t>
            </a:r>
            <a:r>
              <a:rPr lang="en-GB" sz="2700" b="1" dirty="0" smtClean="0"/>
              <a:t> </a:t>
            </a:r>
            <a:endParaRPr lang="ru-RU" sz="27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51520" y="1124744"/>
            <a:ext cx="8640960" cy="5616624"/>
          </a:xfrm>
        </p:spPr>
        <p:txBody>
          <a:bodyPr>
            <a:normAutofit fontScale="62500" lnSpcReduction="20000"/>
          </a:bodyPr>
          <a:lstStyle/>
          <a:p>
            <a:pPr>
              <a:spcAft>
                <a:spcPts val="600"/>
              </a:spcAft>
            </a:pPr>
            <a:r>
              <a:rPr lang="ru-RU" dirty="0"/>
              <a:t>XAML </a:t>
            </a:r>
            <a:r>
              <a:rPr lang="ru-RU" dirty="0" smtClean="0"/>
              <a:t>- </a:t>
            </a:r>
            <a:r>
              <a:rPr lang="ru-RU" dirty="0"/>
              <a:t>язык разметки, используемый для инициализации объектов в технологиях на платформе .NET. </a:t>
            </a:r>
            <a:endParaRPr lang="ru-RU" dirty="0" smtClean="0"/>
          </a:p>
          <a:p>
            <a:pPr>
              <a:spcAft>
                <a:spcPts val="600"/>
              </a:spcAft>
            </a:pPr>
            <a:r>
              <a:rPr lang="ru-RU" dirty="0" smtClean="0"/>
              <a:t>Применительно </a:t>
            </a:r>
            <a:r>
              <a:rPr lang="ru-RU" dirty="0"/>
              <a:t>к WPF (а также к </a:t>
            </a:r>
            <a:r>
              <a:rPr lang="ru-RU" dirty="0" err="1"/>
              <a:t>Silverlight</a:t>
            </a:r>
            <a:r>
              <a:rPr lang="ru-RU" dirty="0"/>
              <a:t>) данный язык используется прежде всего для создания пользовательского интерфейса декларативным </a:t>
            </a:r>
            <a:r>
              <a:rPr lang="ru-RU" dirty="0" smtClean="0"/>
              <a:t>путем( </a:t>
            </a:r>
            <a:r>
              <a:rPr lang="ru-RU" dirty="0"/>
              <a:t>функциональность XAML только графическими интерфейсами не ограничивается: данный язык также используется в технологиях WCF и WF, где он никак не связан с графическим </a:t>
            </a:r>
            <a:r>
              <a:rPr lang="ru-RU" dirty="0" smtClean="0"/>
              <a:t>интерфейсом).</a:t>
            </a:r>
          </a:p>
          <a:p>
            <a:pPr>
              <a:spcAft>
                <a:spcPts val="600"/>
              </a:spcAft>
            </a:pPr>
            <a:r>
              <a:rPr lang="ru-RU" b="1" dirty="0" smtClean="0"/>
              <a:t>XAML преимущества</a:t>
            </a:r>
            <a:r>
              <a:rPr lang="ru-RU" b="1" dirty="0"/>
              <a:t>:</a:t>
            </a:r>
          </a:p>
          <a:p>
            <a:pPr lvl="1">
              <a:spcAft>
                <a:spcPts val="600"/>
              </a:spcAft>
            </a:pPr>
            <a:r>
              <a:rPr lang="ru-RU" dirty="0"/>
              <a:t>Возможность отделить графический интерфейс от логики приложения, благодаря чему над разными частями приложения могут относительно автономно работать разные специалисты: над интерфейсом - дизайнеры, над кодом логики - программисты.</a:t>
            </a:r>
          </a:p>
          <a:p>
            <a:pPr lvl="1">
              <a:spcAft>
                <a:spcPts val="600"/>
              </a:spcAft>
            </a:pPr>
            <a:r>
              <a:rPr lang="ru-RU" dirty="0"/>
              <a:t>Компактность, понятность, код на XAML относительно легко поддерживать.</a:t>
            </a:r>
          </a:p>
          <a:p>
            <a:pPr lvl="1">
              <a:spcAft>
                <a:spcPts val="600"/>
              </a:spcAft>
            </a:pPr>
            <a:r>
              <a:rPr lang="ru-RU" dirty="0"/>
              <a:t>При компиляции приложения в </a:t>
            </a:r>
            <a:r>
              <a:rPr lang="ru-RU" dirty="0" err="1"/>
              <a:t>Visual</a:t>
            </a:r>
            <a:r>
              <a:rPr lang="ru-RU" dirty="0"/>
              <a:t> </a:t>
            </a:r>
            <a:r>
              <a:rPr lang="ru-RU" dirty="0" err="1"/>
              <a:t>Studio</a:t>
            </a:r>
            <a:r>
              <a:rPr lang="ru-RU" dirty="0"/>
              <a:t> код в </a:t>
            </a:r>
            <a:r>
              <a:rPr lang="ru-RU" dirty="0" err="1"/>
              <a:t>xaml</a:t>
            </a:r>
            <a:r>
              <a:rPr lang="ru-RU" dirty="0"/>
              <a:t>-файлах также компилируется в бинарное представление кода </a:t>
            </a:r>
            <a:r>
              <a:rPr lang="ru-RU" dirty="0" err="1"/>
              <a:t>xaml</a:t>
            </a:r>
            <a:r>
              <a:rPr lang="ru-RU" dirty="0"/>
              <a:t>, которое называется BAML (</a:t>
            </a:r>
            <a:r>
              <a:rPr lang="ru-RU" dirty="0" err="1"/>
              <a:t>Binary</a:t>
            </a:r>
            <a:r>
              <a:rPr lang="ru-RU" dirty="0"/>
              <a:t> </a:t>
            </a:r>
            <a:r>
              <a:rPr lang="ru-RU" dirty="0" err="1"/>
              <a:t>Application</a:t>
            </a:r>
            <a:r>
              <a:rPr lang="ru-RU" dirty="0"/>
              <a:t> </a:t>
            </a:r>
            <a:r>
              <a:rPr lang="ru-RU" dirty="0" err="1"/>
              <a:t>Markup</a:t>
            </a:r>
            <a:r>
              <a:rPr lang="ru-RU" dirty="0"/>
              <a:t> </a:t>
            </a:r>
            <a:r>
              <a:rPr lang="ru-RU" dirty="0" err="1"/>
              <a:t>Language</a:t>
            </a:r>
            <a:r>
              <a:rPr lang="ru-RU" dirty="0" smtClean="0"/>
              <a:t>), и </a:t>
            </a:r>
            <a:r>
              <a:rPr lang="ru-RU" dirty="0"/>
              <a:t>затем код </a:t>
            </a:r>
            <a:r>
              <a:rPr lang="ru-RU" dirty="0" err="1"/>
              <a:t>baml</a:t>
            </a:r>
            <a:r>
              <a:rPr lang="ru-RU" dirty="0"/>
              <a:t> встраивается в финальную сборку приложения - </a:t>
            </a:r>
            <a:r>
              <a:rPr lang="ru-RU" dirty="0" err="1"/>
              <a:t>exe</a:t>
            </a:r>
            <a:r>
              <a:rPr lang="ru-RU" dirty="0"/>
              <a:t> или </a:t>
            </a:r>
            <a:r>
              <a:rPr lang="ru-RU" dirty="0" err="1"/>
              <a:t>dll</a:t>
            </a:r>
            <a:r>
              <a:rPr lang="ru-RU" dirty="0"/>
              <a:t>-файл.</a:t>
            </a:r>
          </a:p>
        </p:txBody>
      </p:sp>
    </p:spTree>
    <p:extLst>
      <p:ext uri="{BB962C8B-B14F-4D97-AF65-F5344CB8AC3E}">
        <p14:creationId xmlns:p14="http://schemas.microsoft.com/office/powerpoint/2010/main" val="29382863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18058"/>
          </a:xfrm>
        </p:spPr>
        <p:txBody>
          <a:bodyPr>
            <a:noAutofit/>
          </a:bodyPr>
          <a:lstStyle/>
          <a:p>
            <a:r>
              <a:rPr lang="ru-RU" sz="3200" b="1" dirty="0"/>
              <a:t>Структура и пространства имен </a:t>
            </a:r>
            <a:r>
              <a:rPr lang="ru-RU" sz="3200" b="1" dirty="0" smtClean="0"/>
              <a:t>XAML</a:t>
            </a:r>
            <a:endParaRPr lang="ru-RU" sz="32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908720"/>
            <a:ext cx="8579296" cy="5688632"/>
          </a:xfrm>
        </p:spPr>
        <p:txBody>
          <a:bodyPr>
            <a:normAutofit fontScale="47500" lnSpcReduction="20000"/>
          </a:bodyPr>
          <a:lstStyle/>
          <a:p>
            <a:pPr marL="0" indent="0">
              <a:buNone/>
            </a:pPr>
            <a:r>
              <a:rPr lang="ru-RU" dirty="0" smtClean="0">
                <a:solidFill>
                  <a:srgbClr val="00B050"/>
                </a:solidFill>
              </a:rPr>
              <a:t>//файл</a:t>
            </a:r>
            <a:r>
              <a:rPr lang="ru-RU" dirty="0">
                <a:solidFill>
                  <a:srgbClr val="00B050"/>
                </a:solidFill>
              </a:rPr>
              <a:t> </a:t>
            </a:r>
            <a:r>
              <a:rPr lang="ru-RU" i="1" dirty="0" err="1">
                <a:solidFill>
                  <a:srgbClr val="00B050"/>
                </a:solidFill>
              </a:rPr>
              <a:t>MainWindow.xaml</a:t>
            </a:r>
            <a:r>
              <a:rPr lang="ru-RU" dirty="0">
                <a:solidFill>
                  <a:srgbClr val="00B050"/>
                </a:solidFill>
              </a:rPr>
              <a:t> будет иметь следующую разметку</a:t>
            </a:r>
            <a:r>
              <a:rPr lang="ru-RU" dirty="0" smtClean="0">
                <a:solidFill>
                  <a:srgbClr val="00B050"/>
                </a:solidFill>
              </a:rPr>
              <a:t>:</a:t>
            </a:r>
          </a:p>
          <a:p>
            <a:pPr marL="0" indent="0" fontAlgn="base">
              <a:buNone/>
            </a:pPr>
            <a:r>
              <a:rPr lang="en-US" dirty="0"/>
              <a:t>&lt;Window x:Class="XamlApp.MainWindow"</a:t>
            </a:r>
          </a:p>
          <a:p>
            <a:pPr marL="0" indent="0" fontAlgn="base">
              <a:buNone/>
            </a:pPr>
            <a:r>
              <a:rPr lang="en-US" dirty="0"/>
              <a:t>        </a:t>
            </a:r>
            <a:r>
              <a:rPr lang="en-US" dirty="0" err="1"/>
              <a:t>xmlns</a:t>
            </a:r>
            <a:r>
              <a:rPr lang="en-US" dirty="0"/>
              <a:t>="</a:t>
            </a:r>
            <a:r>
              <a:rPr lang="en-US" dirty="0">
                <a:hlinkClick r:id="rId2"/>
              </a:rPr>
              <a:t>http://schemas.microsoft.com/</a:t>
            </a:r>
            <a:r>
              <a:rPr lang="en-US" dirty="0" err="1">
                <a:hlinkClick r:id="rId2"/>
              </a:rPr>
              <a:t>winfx</a:t>
            </a:r>
            <a:r>
              <a:rPr lang="en-US" dirty="0">
                <a:hlinkClick r:id="rId2"/>
              </a:rPr>
              <a:t>/2006/</a:t>
            </a:r>
            <a:r>
              <a:rPr lang="en-US" dirty="0" err="1">
                <a:hlinkClick r:id="rId2"/>
              </a:rPr>
              <a:t>xaml</a:t>
            </a:r>
            <a:r>
              <a:rPr lang="en-US" dirty="0">
                <a:hlinkClick r:id="rId2"/>
              </a:rPr>
              <a:t>/presentation</a:t>
            </a:r>
            <a:r>
              <a:rPr lang="en-US" dirty="0"/>
              <a:t>"</a:t>
            </a:r>
          </a:p>
          <a:p>
            <a:pPr marL="0" indent="0" fontAlgn="base">
              <a:buNone/>
            </a:pPr>
            <a:r>
              <a:rPr lang="en-US" dirty="0"/>
              <a:t>        </a:t>
            </a:r>
            <a:r>
              <a:rPr lang="en-US" dirty="0" err="1"/>
              <a:t>xmlns:x</a:t>
            </a:r>
            <a:r>
              <a:rPr lang="en-US" dirty="0"/>
              <a:t>="</a:t>
            </a:r>
            <a:r>
              <a:rPr lang="en-US" dirty="0">
                <a:hlinkClick r:id="rId3"/>
              </a:rPr>
              <a:t>http://schemas.microsoft.com/</a:t>
            </a:r>
            <a:r>
              <a:rPr lang="en-US" dirty="0" err="1">
                <a:hlinkClick r:id="rId3"/>
              </a:rPr>
              <a:t>winfx</a:t>
            </a:r>
            <a:r>
              <a:rPr lang="en-US" dirty="0">
                <a:hlinkClick r:id="rId3"/>
              </a:rPr>
              <a:t>/2006/</a:t>
            </a:r>
            <a:r>
              <a:rPr lang="en-US" dirty="0" err="1">
                <a:hlinkClick r:id="rId3"/>
              </a:rPr>
              <a:t>xaml</a:t>
            </a:r>
            <a:r>
              <a:rPr lang="en-US" dirty="0"/>
              <a:t>"</a:t>
            </a:r>
          </a:p>
          <a:p>
            <a:pPr marL="0" indent="0" fontAlgn="base">
              <a:buNone/>
            </a:pPr>
            <a:r>
              <a:rPr lang="en-US" dirty="0"/>
              <a:t>        </a:t>
            </a:r>
            <a:r>
              <a:rPr lang="en-US" dirty="0" err="1"/>
              <a:t>xmlns:d</a:t>
            </a:r>
            <a:r>
              <a:rPr lang="en-US" dirty="0"/>
              <a:t>="</a:t>
            </a:r>
            <a:r>
              <a:rPr lang="en-US" dirty="0">
                <a:hlinkClick r:id="rId4"/>
              </a:rPr>
              <a:t>http://schemas.microsoft.com/expression/blend/2008</a:t>
            </a:r>
            <a:r>
              <a:rPr lang="en-US" dirty="0"/>
              <a:t>"</a:t>
            </a:r>
          </a:p>
          <a:p>
            <a:pPr marL="0" indent="0" fontAlgn="base">
              <a:buNone/>
            </a:pPr>
            <a:r>
              <a:rPr lang="en-US" dirty="0"/>
              <a:t>        </a:t>
            </a:r>
            <a:r>
              <a:rPr lang="en-US" dirty="0" err="1"/>
              <a:t>xmlns:mc</a:t>
            </a:r>
            <a:r>
              <a:rPr lang="en-US" dirty="0"/>
              <a:t>="</a:t>
            </a:r>
            <a:r>
              <a:rPr lang="en-US" dirty="0">
                <a:hlinkClick r:id="rId5"/>
              </a:rPr>
              <a:t>http://schemas.openxmlformats.org/markup-compatibility/2006</a:t>
            </a:r>
            <a:r>
              <a:rPr lang="en-US" dirty="0"/>
              <a:t>"</a:t>
            </a:r>
          </a:p>
          <a:p>
            <a:pPr marL="0" indent="0" fontAlgn="base">
              <a:buNone/>
            </a:pPr>
            <a:r>
              <a:rPr lang="en-US" dirty="0"/>
              <a:t>        </a:t>
            </a:r>
            <a:r>
              <a:rPr lang="en-US" dirty="0" err="1"/>
              <a:t>xmlns:local</a:t>
            </a:r>
            <a:r>
              <a:rPr lang="en-US" dirty="0"/>
              <a:t>="</a:t>
            </a:r>
            <a:r>
              <a:rPr lang="en-US" dirty="0" err="1"/>
              <a:t>clr-namespace:XamlApp</a:t>
            </a:r>
            <a:r>
              <a:rPr lang="en-US" dirty="0"/>
              <a:t>"</a:t>
            </a:r>
          </a:p>
          <a:p>
            <a:pPr marL="0" indent="0" fontAlgn="base">
              <a:buNone/>
            </a:pPr>
            <a:r>
              <a:rPr lang="en-US" dirty="0"/>
              <a:t>        </a:t>
            </a:r>
            <a:r>
              <a:rPr lang="en-US" dirty="0" err="1"/>
              <a:t>mc:Ignorable</a:t>
            </a:r>
            <a:r>
              <a:rPr lang="en-US" dirty="0"/>
              <a:t>="d"</a:t>
            </a:r>
          </a:p>
          <a:p>
            <a:pPr marL="0" indent="0" fontAlgn="base">
              <a:buNone/>
            </a:pPr>
            <a:r>
              <a:rPr lang="en-US" dirty="0"/>
              <a:t>        Title="</a:t>
            </a:r>
            <a:r>
              <a:rPr lang="en-US" dirty="0" err="1"/>
              <a:t>MainWindow</a:t>
            </a:r>
            <a:r>
              <a:rPr lang="en-US" dirty="0"/>
              <a:t>" Height="350" Width="525"&gt;</a:t>
            </a:r>
          </a:p>
          <a:p>
            <a:pPr marL="0" indent="0" fontAlgn="base">
              <a:buNone/>
            </a:pPr>
            <a:r>
              <a:rPr lang="en-US" dirty="0"/>
              <a:t>    &lt;Grid&gt;</a:t>
            </a:r>
          </a:p>
          <a:p>
            <a:pPr marL="0" indent="0" fontAlgn="base">
              <a:buNone/>
            </a:pPr>
            <a:r>
              <a:rPr lang="en-US" dirty="0"/>
              <a:t>         </a:t>
            </a:r>
          </a:p>
          <a:p>
            <a:pPr marL="0" indent="0" fontAlgn="base">
              <a:buNone/>
            </a:pPr>
            <a:r>
              <a:rPr lang="en-US" dirty="0"/>
              <a:t>    &lt;/Grid&gt;</a:t>
            </a:r>
          </a:p>
          <a:p>
            <a:pPr marL="0" indent="0" fontAlgn="base">
              <a:buNone/>
            </a:pPr>
            <a:r>
              <a:rPr lang="en-US" dirty="0"/>
              <a:t>&lt;/Window&gt;</a:t>
            </a:r>
          </a:p>
          <a:p>
            <a:pPr marL="0" indent="0">
              <a:buNone/>
            </a:pPr>
            <a:endParaRPr lang="ru-RU" dirty="0" smtClean="0"/>
          </a:p>
          <a:p>
            <a:pPr marL="0" indent="0">
              <a:spcAft>
                <a:spcPts val="600"/>
              </a:spcAft>
              <a:buNone/>
            </a:pPr>
            <a:r>
              <a:rPr lang="ru-RU" dirty="0" smtClean="0"/>
              <a:t>Иерархия элементов: </a:t>
            </a:r>
          </a:p>
          <a:p>
            <a:pPr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ru-RU" dirty="0" smtClean="0"/>
              <a:t>Элементом </a:t>
            </a:r>
            <a:r>
              <a:rPr lang="ru-RU" dirty="0"/>
              <a:t>верхнего уровня является </a:t>
            </a:r>
            <a:r>
              <a:rPr lang="ru-RU" b="1" dirty="0" err="1"/>
              <a:t>Window</a:t>
            </a:r>
            <a:r>
              <a:rPr lang="ru-RU" dirty="0"/>
              <a:t>, который представляет собой окно </a:t>
            </a:r>
            <a:r>
              <a:rPr lang="ru-RU" dirty="0" smtClean="0"/>
              <a:t>приложения (элемент </a:t>
            </a:r>
            <a:r>
              <a:rPr lang="ru-RU" dirty="0"/>
              <a:t>самого верхнего </a:t>
            </a:r>
            <a:r>
              <a:rPr lang="ru-RU" dirty="0" smtClean="0"/>
              <a:t>уровня).</a:t>
            </a:r>
            <a:endParaRPr lang="ru-RU" dirty="0"/>
          </a:p>
          <a:p>
            <a:pPr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ru-RU" dirty="0"/>
              <a:t>Кроме </a:t>
            </a:r>
            <a:r>
              <a:rPr lang="ru-RU" dirty="0" err="1"/>
              <a:t>Window</a:t>
            </a:r>
            <a:r>
              <a:rPr lang="ru-RU" dirty="0"/>
              <a:t> существует еще два элемента верхнего уровня:</a:t>
            </a:r>
          </a:p>
          <a:p>
            <a:pPr lvl="1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ru-RU" dirty="0" err="1"/>
              <a:t>Page</a:t>
            </a:r>
            <a:endParaRPr lang="ru-RU" dirty="0"/>
          </a:p>
          <a:p>
            <a:pPr lvl="1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ru-RU" dirty="0" err="1"/>
              <a:t>Application</a:t>
            </a:r>
            <a:endParaRPr lang="ru-RU" dirty="0"/>
          </a:p>
          <a:p>
            <a:pPr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ru-RU" dirty="0"/>
              <a:t>Элемент </a:t>
            </a:r>
            <a:r>
              <a:rPr lang="ru-RU" dirty="0" err="1"/>
              <a:t>Window</a:t>
            </a:r>
            <a:r>
              <a:rPr lang="ru-RU" dirty="0"/>
              <a:t> имеет вложенный пустой элемент </a:t>
            </a:r>
            <a:r>
              <a:rPr lang="ru-RU" dirty="0" err="1"/>
              <a:t>Grid</a:t>
            </a:r>
            <a:r>
              <a:rPr lang="ru-RU" dirty="0"/>
              <a:t>, </a:t>
            </a:r>
            <a:r>
              <a:rPr lang="ru-RU" dirty="0" smtClean="0"/>
              <a:t>подобно </a:t>
            </a:r>
            <a:r>
              <a:rPr lang="ru-RU" dirty="0" err="1"/>
              <a:t>html</a:t>
            </a:r>
            <a:r>
              <a:rPr lang="ru-RU" dirty="0"/>
              <a:t>-элементам ряд атрибутов (</a:t>
            </a:r>
            <a:r>
              <a:rPr lang="ru-RU" dirty="0" err="1"/>
              <a:t>Title</a:t>
            </a:r>
            <a:r>
              <a:rPr lang="ru-RU" dirty="0"/>
              <a:t>, </a:t>
            </a:r>
            <a:r>
              <a:rPr lang="ru-RU" dirty="0" err="1"/>
              <a:t>Width</a:t>
            </a:r>
            <a:r>
              <a:rPr lang="ru-RU" dirty="0"/>
              <a:t>, </a:t>
            </a:r>
            <a:r>
              <a:rPr lang="ru-RU" dirty="0" err="1"/>
              <a:t>Height</a:t>
            </a:r>
            <a:r>
              <a:rPr lang="ru-RU" dirty="0"/>
              <a:t>) - </a:t>
            </a:r>
            <a:r>
              <a:rPr lang="ru-RU" dirty="0" smtClean="0"/>
              <a:t>задают </a:t>
            </a:r>
            <a:r>
              <a:rPr lang="ru-RU" dirty="0"/>
              <a:t>заголовок, ширину и высоту </a:t>
            </a:r>
            <a:r>
              <a:rPr lang="ru-RU" dirty="0" smtClean="0"/>
              <a:t>окна.</a:t>
            </a:r>
            <a:endParaRPr lang="ru-RU" dirty="0"/>
          </a:p>
          <a:p>
            <a:endParaRPr lang="ru-RU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7290048" y="1124744"/>
            <a:ext cx="1746448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400" dirty="0"/>
              <a:t>пространства имен, подключаемые в проект по умолчанию</a:t>
            </a:r>
          </a:p>
        </p:txBody>
      </p:sp>
      <p:cxnSp>
        <p:nvCxnSpPr>
          <p:cNvPr id="6" name="Прямая со стрелкой 5"/>
          <p:cNvCxnSpPr/>
          <p:nvPr/>
        </p:nvCxnSpPr>
        <p:spPr>
          <a:xfrm flipH="1">
            <a:off x="6444208" y="1340768"/>
            <a:ext cx="845840" cy="14401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Прямая со стрелкой 7"/>
          <p:cNvCxnSpPr/>
          <p:nvPr/>
        </p:nvCxnSpPr>
        <p:spPr>
          <a:xfrm flipH="1">
            <a:off x="5580112" y="1601797"/>
            <a:ext cx="1709936" cy="99011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199144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90066"/>
          </a:xfrm>
        </p:spPr>
        <p:txBody>
          <a:bodyPr>
            <a:normAutofit fontScale="90000"/>
          </a:bodyPr>
          <a:lstStyle/>
          <a:p>
            <a:r>
              <a:rPr lang="ru-RU" sz="2800" b="1" dirty="0"/>
              <a:t>Пространства имен </a:t>
            </a:r>
            <a:r>
              <a:rPr lang="ru-RU" sz="2800" b="1" dirty="0" smtClean="0"/>
              <a:t>XAML</a:t>
            </a:r>
            <a:endParaRPr lang="ru-RU" sz="28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07504" y="764704"/>
            <a:ext cx="9001000" cy="5976664"/>
          </a:xfrm>
        </p:spPr>
        <p:txBody>
          <a:bodyPr>
            <a:normAutofit fontScale="47500" lnSpcReduction="20000"/>
          </a:bodyPr>
          <a:lstStyle/>
          <a:p>
            <a:pPr>
              <a:spcAft>
                <a:spcPts val="600"/>
              </a:spcAft>
            </a:pPr>
            <a:r>
              <a:rPr lang="ru-RU" sz="3400" dirty="0" smtClean="0"/>
              <a:t>Атрибут</a:t>
            </a:r>
            <a:r>
              <a:rPr lang="ru-RU" sz="3400" dirty="0"/>
              <a:t> </a:t>
            </a:r>
            <a:r>
              <a:rPr lang="ru-RU" sz="3400" b="1" dirty="0" err="1" smtClean="0"/>
              <a:t>xmlns</a:t>
            </a:r>
            <a:r>
              <a:rPr lang="ru-RU" sz="3400" b="1" dirty="0" smtClean="0"/>
              <a:t> </a:t>
            </a:r>
            <a:r>
              <a:rPr lang="ru-RU" sz="3400" dirty="0" smtClean="0"/>
              <a:t>- </a:t>
            </a:r>
            <a:r>
              <a:rPr lang="ru-RU" sz="3400" dirty="0"/>
              <a:t>специальный атрибут для определения пространства имен в XML.</a:t>
            </a:r>
          </a:p>
          <a:p>
            <a:pPr>
              <a:spcAft>
                <a:spcPts val="600"/>
              </a:spcAft>
            </a:pPr>
            <a:r>
              <a:rPr lang="ru-RU" sz="3400" dirty="0"/>
              <a:t> </a:t>
            </a:r>
            <a:r>
              <a:rPr lang="ru-RU" sz="3400" b="1" dirty="0"/>
              <a:t>http://schemas.microsoft.com/winfx/2006/xaml/presentation</a:t>
            </a:r>
            <a:r>
              <a:rPr lang="ru-RU" sz="3400" dirty="0"/>
              <a:t> </a:t>
            </a:r>
            <a:r>
              <a:rPr lang="ru-RU" sz="3400" dirty="0" smtClean="0"/>
              <a:t>- </a:t>
            </a:r>
            <a:r>
              <a:rPr lang="ru-RU" sz="3400" dirty="0"/>
              <a:t>описание и определение большинства элементов </a:t>
            </a:r>
            <a:r>
              <a:rPr lang="ru-RU" sz="3400" dirty="0" smtClean="0"/>
              <a:t>управления( </a:t>
            </a:r>
            <a:r>
              <a:rPr lang="ru-RU" sz="3400" dirty="0"/>
              <a:t>является пространством имен по умолчанию, </a:t>
            </a:r>
            <a:r>
              <a:rPr lang="ru-RU" sz="3400" dirty="0" smtClean="0"/>
              <a:t>объявляется </a:t>
            </a:r>
            <a:r>
              <a:rPr lang="ru-RU" sz="3400" dirty="0"/>
              <a:t>без </a:t>
            </a:r>
            <a:r>
              <a:rPr lang="ru-RU" sz="3400" dirty="0" smtClean="0"/>
              <a:t>префиксов).</a:t>
            </a:r>
            <a:endParaRPr lang="ru-RU" sz="3400" dirty="0"/>
          </a:p>
          <a:p>
            <a:pPr>
              <a:spcAft>
                <a:spcPts val="600"/>
              </a:spcAft>
            </a:pPr>
            <a:r>
              <a:rPr lang="ru-RU" sz="3400" b="1" dirty="0"/>
              <a:t>http://schemas.microsoft.com/winfx/2006/xaml</a:t>
            </a:r>
            <a:r>
              <a:rPr lang="ru-RU" sz="3400" dirty="0"/>
              <a:t> - </a:t>
            </a:r>
            <a:r>
              <a:rPr lang="ru-RU" sz="3400" dirty="0" smtClean="0"/>
              <a:t>определяет свойства XAML( </a:t>
            </a:r>
            <a:r>
              <a:rPr lang="ru-RU" sz="3400" dirty="0"/>
              <a:t>свойство </a:t>
            </a:r>
            <a:r>
              <a:rPr lang="ru-RU" sz="3400" dirty="0" err="1"/>
              <a:t>Name</a:t>
            </a:r>
            <a:r>
              <a:rPr lang="ru-RU" sz="3400" dirty="0"/>
              <a:t> или </a:t>
            </a:r>
            <a:r>
              <a:rPr lang="ru-RU" sz="3400" dirty="0" err="1" smtClean="0"/>
              <a:t>Key</a:t>
            </a:r>
            <a:r>
              <a:rPr lang="ru-RU" sz="3400" dirty="0" smtClean="0"/>
              <a:t>). </a:t>
            </a:r>
            <a:r>
              <a:rPr lang="ru-RU" sz="3400" u="sng" dirty="0" smtClean="0"/>
              <a:t>Префикс x</a:t>
            </a:r>
            <a:r>
              <a:rPr lang="ru-RU" sz="3400" dirty="0" smtClean="0"/>
              <a:t> </a:t>
            </a:r>
            <a:r>
              <a:rPr lang="ru-RU" sz="3400" dirty="0"/>
              <a:t>в определении </a:t>
            </a:r>
            <a:r>
              <a:rPr lang="ru-RU" sz="3400" dirty="0" err="1"/>
              <a:t>xmlns:x</a:t>
            </a:r>
            <a:r>
              <a:rPr lang="ru-RU" sz="3400" dirty="0"/>
              <a:t> означает, что те свойства элементов, которые заключены в этом пространстве имен, будут использоваться с префиксом </a:t>
            </a:r>
            <a:r>
              <a:rPr lang="ru-RU" sz="3400" b="1" dirty="0"/>
              <a:t>x</a:t>
            </a:r>
            <a:r>
              <a:rPr lang="ru-RU" sz="3400" dirty="0"/>
              <a:t> -</a:t>
            </a:r>
            <a:r>
              <a:rPr lang="ru-RU" sz="3400" u="sng" dirty="0" err="1"/>
              <a:t>x:Name</a:t>
            </a:r>
            <a:r>
              <a:rPr lang="ru-RU" sz="3400" u="sng" dirty="0"/>
              <a:t> или </a:t>
            </a:r>
            <a:r>
              <a:rPr lang="ru-RU" sz="3400" u="sng" dirty="0" smtClean="0"/>
              <a:t>x:Key</a:t>
            </a:r>
            <a:r>
              <a:rPr lang="ru-RU" sz="3400" dirty="0" smtClean="0"/>
              <a:t>( это же </a:t>
            </a:r>
            <a:r>
              <a:rPr lang="ru-RU" sz="3400" dirty="0"/>
              <a:t>пространство имен используется </a:t>
            </a:r>
            <a:r>
              <a:rPr lang="ru-RU" sz="3400" dirty="0" smtClean="0"/>
              <a:t>в </a:t>
            </a:r>
            <a:r>
              <a:rPr lang="ru-RU" sz="3400" dirty="0"/>
              <a:t>первой строчке </a:t>
            </a:r>
            <a:r>
              <a:rPr lang="ru-RU" sz="3400" b="1" dirty="0"/>
              <a:t>x:Class="XamlApp.MainWindow"</a:t>
            </a:r>
            <a:r>
              <a:rPr lang="ru-RU" sz="3400" dirty="0"/>
              <a:t> - </a:t>
            </a:r>
            <a:r>
              <a:rPr lang="ru-RU" sz="3400" dirty="0" smtClean="0"/>
              <a:t>создается </a:t>
            </a:r>
            <a:r>
              <a:rPr lang="ru-RU" sz="3400" dirty="0"/>
              <a:t>новый класс </a:t>
            </a:r>
            <a:r>
              <a:rPr lang="ru-RU" sz="3400" dirty="0" err="1"/>
              <a:t>MainWindow</a:t>
            </a:r>
            <a:r>
              <a:rPr lang="ru-RU" sz="3400" dirty="0"/>
              <a:t> и соответствующий ему файл кода, куда будет прописываться логика для данного окна </a:t>
            </a:r>
            <a:r>
              <a:rPr lang="ru-RU" sz="3400" dirty="0" smtClean="0"/>
              <a:t>приложения).</a:t>
            </a:r>
          </a:p>
          <a:p>
            <a:pPr>
              <a:spcAft>
                <a:spcPts val="600"/>
              </a:spcAft>
            </a:pPr>
            <a:r>
              <a:rPr lang="ru-RU" sz="3400" b="1" dirty="0" err="1" smtClean="0"/>
              <a:t>xmlns:d</a:t>
            </a:r>
            <a:r>
              <a:rPr lang="ru-RU" sz="3400" b="1" dirty="0"/>
              <a:t>="http://schemas.microsoft.com/expression/blend/2008"</a:t>
            </a:r>
            <a:r>
              <a:rPr lang="ru-RU" sz="3400" dirty="0"/>
              <a:t>: предоставляет поддержку атрибутов в режиме дизайнера. </a:t>
            </a:r>
            <a:r>
              <a:rPr lang="ru-RU" sz="3400" dirty="0" smtClean="0"/>
              <a:t>Предназначено для </a:t>
            </a:r>
            <a:r>
              <a:rPr lang="ru-RU" sz="3400" dirty="0"/>
              <a:t>другого инструмента по созданию дизайна на XAML - </a:t>
            </a:r>
            <a:r>
              <a:rPr lang="ru-RU" sz="3400" dirty="0" err="1"/>
              <a:t>Microsoft</a:t>
            </a:r>
            <a:r>
              <a:rPr lang="ru-RU" sz="3400" dirty="0"/>
              <a:t> </a:t>
            </a:r>
            <a:r>
              <a:rPr lang="ru-RU" sz="3400" dirty="0" err="1"/>
              <a:t>Expression</a:t>
            </a:r>
            <a:r>
              <a:rPr lang="ru-RU" sz="3400" dirty="0"/>
              <a:t> </a:t>
            </a:r>
            <a:r>
              <a:rPr lang="ru-RU" sz="3400" dirty="0" err="1"/>
              <a:t>Blend</a:t>
            </a:r>
            <a:endParaRPr lang="ru-RU" sz="3400" dirty="0"/>
          </a:p>
          <a:p>
            <a:pPr>
              <a:spcAft>
                <a:spcPts val="600"/>
              </a:spcAft>
            </a:pPr>
            <a:r>
              <a:rPr lang="ru-RU" sz="3400" b="1" dirty="0" err="1"/>
              <a:t>xmlns:mc</a:t>
            </a:r>
            <a:r>
              <a:rPr lang="ru-RU" sz="3400" b="1" dirty="0"/>
              <a:t>="http://schemas.openxmlformats.org/markup-compatibility/2006"</a:t>
            </a:r>
            <a:r>
              <a:rPr lang="ru-RU" sz="3400" dirty="0"/>
              <a:t>: обеспечивает режим совместимости разметок XAML. </a:t>
            </a:r>
          </a:p>
          <a:p>
            <a:pPr lvl="1">
              <a:spcAft>
                <a:spcPts val="600"/>
              </a:spcAft>
            </a:pPr>
            <a:r>
              <a:rPr lang="en-GB" sz="3400" b="1" dirty="0" err="1"/>
              <a:t>mc:Ignorable</a:t>
            </a:r>
            <a:r>
              <a:rPr lang="en-GB" sz="3400" b="1" dirty="0"/>
              <a:t>="</a:t>
            </a:r>
            <a:r>
              <a:rPr lang="en-GB" sz="3400" b="1" dirty="0" smtClean="0"/>
              <a:t>d</a:t>
            </a:r>
            <a:r>
              <a:rPr lang="en-GB" sz="3400" b="1" dirty="0"/>
              <a:t>"</a:t>
            </a:r>
            <a:r>
              <a:rPr lang="ru-RU" sz="3400" b="1" dirty="0" smtClean="0"/>
              <a:t> </a:t>
            </a:r>
            <a:r>
              <a:rPr lang="ru-RU" sz="3400" dirty="0" smtClean="0"/>
              <a:t>- позволяет </a:t>
            </a:r>
            <a:r>
              <a:rPr lang="ru-RU" sz="3400" dirty="0"/>
              <a:t>игнорировать </a:t>
            </a:r>
            <a:r>
              <a:rPr lang="ru-RU" sz="3400" dirty="0" err="1"/>
              <a:t>парсерам</a:t>
            </a:r>
            <a:r>
              <a:rPr lang="ru-RU" sz="3400" dirty="0"/>
              <a:t> XAML во время выполнения приложения дизайнерские атрибуты из пространства имен с префиксом </a:t>
            </a:r>
            <a:r>
              <a:rPr lang="ru-RU" sz="3400" b="1" dirty="0"/>
              <a:t>d</a:t>
            </a:r>
            <a:r>
              <a:rPr lang="ru-RU" sz="3400" dirty="0"/>
              <a:t>, то есть из "http://schemas.microsoft.com/expression/blend/2008"</a:t>
            </a:r>
          </a:p>
          <a:p>
            <a:pPr lvl="1">
              <a:spcAft>
                <a:spcPts val="600"/>
              </a:spcAft>
            </a:pPr>
            <a:r>
              <a:rPr lang="ru-RU" sz="3400" b="1" dirty="0" err="1"/>
              <a:t>xmlns:local</a:t>
            </a:r>
            <a:r>
              <a:rPr lang="ru-RU" sz="3400" b="1" dirty="0"/>
              <a:t>="</a:t>
            </a:r>
            <a:r>
              <a:rPr lang="ru-RU" sz="3400" b="1" dirty="0" err="1"/>
              <a:t>clr-namespace:XamlApp</a:t>
            </a:r>
            <a:r>
              <a:rPr lang="ru-RU" sz="3400" b="1" dirty="0"/>
              <a:t>"</a:t>
            </a:r>
            <a:r>
              <a:rPr lang="ru-RU" sz="3400" dirty="0"/>
              <a:t>: пространство имен текущего проекта. Так как </a:t>
            </a:r>
            <a:r>
              <a:rPr lang="ru-RU" sz="3400" dirty="0" smtClean="0"/>
              <a:t>проект </a:t>
            </a:r>
            <a:r>
              <a:rPr lang="ru-RU" sz="3400" dirty="0"/>
              <a:t>называется </a:t>
            </a:r>
            <a:r>
              <a:rPr lang="ru-RU" sz="3400" dirty="0" err="1"/>
              <a:t>XamlApp</a:t>
            </a:r>
            <a:r>
              <a:rPr lang="ru-RU" sz="3400" dirty="0"/>
              <a:t>, то </a:t>
            </a:r>
            <a:r>
              <a:rPr lang="ru-RU" sz="3400" dirty="0" err="1"/>
              <a:t>простраство</a:t>
            </a:r>
            <a:r>
              <a:rPr lang="ru-RU" sz="3400" dirty="0"/>
              <a:t> имен называется аналогично. И через префикс </a:t>
            </a:r>
            <a:r>
              <a:rPr lang="ru-RU" sz="3400" i="1" dirty="0" err="1"/>
              <a:t>local</a:t>
            </a:r>
            <a:r>
              <a:rPr lang="ru-RU" sz="3400" dirty="0"/>
              <a:t> </a:t>
            </a:r>
            <a:r>
              <a:rPr lang="ru-RU" sz="3400" dirty="0" smtClean="0"/>
              <a:t> можно </a:t>
            </a:r>
            <a:r>
              <a:rPr lang="ru-RU" sz="3400" dirty="0"/>
              <a:t>получить в XAML различные объекты, которые </a:t>
            </a:r>
            <a:r>
              <a:rPr lang="ru-RU" sz="3400" dirty="0" smtClean="0"/>
              <a:t>определяются в </a:t>
            </a:r>
            <a:r>
              <a:rPr lang="ru-RU" sz="3400" dirty="0"/>
              <a:t>проекте.</a:t>
            </a:r>
          </a:p>
          <a:p>
            <a:pPr>
              <a:spcAft>
                <a:spcPts val="600"/>
              </a:spcAft>
            </a:pPr>
            <a:r>
              <a:rPr lang="ru-RU" sz="3400" dirty="0" smtClean="0"/>
              <a:t>эти </a:t>
            </a:r>
            <a:r>
              <a:rPr lang="ru-RU" sz="3400" dirty="0"/>
              <a:t>пространства имен </a:t>
            </a:r>
            <a:r>
              <a:rPr lang="ru-RU" sz="3400" b="1" i="1" u="sng" dirty="0"/>
              <a:t>не эквивалентны </a:t>
            </a:r>
            <a:r>
              <a:rPr lang="ru-RU" sz="3400" dirty="0"/>
              <a:t>тем пространствам имен, которые подключаются при помощи директивы </a:t>
            </a:r>
            <a:r>
              <a:rPr lang="ru-RU" sz="3400" dirty="0" err="1"/>
              <a:t>using</a:t>
            </a:r>
            <a:r>
              <a:rPr lang="ru-RU" sz="3400" dirty="0"/>
              <a:t> в </a:t>
            </a:r>
            <a:r>
              <a:rPr lang="ru-RU" sz="3400" dirty="0" smtClean="0"/>
              <a:t>С#. </a:t>
            </a:r>
            <a:endParaRPr lang="ru-RU" sz="3400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8418062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7504" y="274638"/>
            <a:ext cx="8712968" cy="850106"/>
          </a:xfrm>
        </p:spPr>
        <p:txBody>
          <a:bodyPr>
            <a:normAutofit fontScale="90000"/>
          </a:bodyPr>
          <a:lstStyle/>
          <a:p>
            <a:r>
              <a:rPr lang="en-GB" sz="2800" b="1" dirty="0"/>
              <a:t>http://schemas.microsoft.com/winfx/2006/xaml/presentation</a:t>
            </a:r>
            <a:r>
              <a:rPr lang="en-GB" sz="2800" dirty="0"/>
              <a:t> </a:t>
            </a:r>
            <a:r>
              <a:rPr lang="ru-RU" sz="2800" dirty="0" smtClean="0"/>
              <a:t/>
            </a:r>
            <a:br>
              <a:rPr lang="ru-RU" sz="2800" dirty="0" smtClean="0"/>
            </a:br>
            <a:r>
              <a:rPr lang="ru-RU" sz="2800" dirty="0" smtClean="0"/>
              <a:t>подключает </a:t>
            </a:r>
            <a:r>
              <a:rPr lang="ru-RU" sz="2800" dirty="0"/>
              <a:t>в проект </a:t>
            </a:r>
            <a:r>
              <a:rPr lang="ru-RU" sz="2800" dirty="0" smtClean="0"/>
              <a:t>пространства </a:t>
            </a:r>
            <a:r>
              <a:rPr lang="ru-RU" sz="2800" dirty="0"/>
              <a:t>имен:</a:t>
            </a:r>
            <a:br>
              <a:rPr lang="ru-RU" sz="2800" dirty="0"/>
            </a:br>
            <a:endParaRPr lang="ru-RU" sz="28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908720"/>
            <a:ext cx="8229600" cy="5760640"/>
          </a:xfrm>
        </p:spPr>
        <p:txBody>
          <a:bodyPr>
            <a:normAutofit fontScale="62500" lnSpcReduction="20000"/>
          </a:bodyPr>
          <a:lstStyle/>
          <a:p>
            <a:r>
              <a:rPr lang="en-GB" dirty="0" err="1" smtClean="0"/>
              <a:t>System.Windows</a:t>
            </a:r>
            <a:endParaRPr lang="en-GB" dirty="0"/>
          </a:p>
          <a:p>
            <a:r>
              <a:rPr lang="en-GB" dirty="0" err="1"/>
              <a:t>System.Windows.Automation</a:t>
            </a:r>
            <a:endParaRPr lang="en-GB" dirty="0"/>
          </a:p>
          <a:p>
            <a:r>
              <a:rPr lang="en-GB" dirty="0" err="1"/>
              <a:t>System.Windows.Controls</a:t>
            </a:r>
            <a:endParaRPr lang="en-GB" dirty="0"/>
          </a:p>
          <a:p>
            <a:r>
              <a:rPr lang="en-GB" dirty="0" err="1"/>
              <a:t>System.Windows.Controls.Primitives</a:t>
            </a:r>
            <a:endParaRPr lang="en-GB" dirty="0"/>
          </a:p>
          <a:p>
            <a:r>
              <a:rPr lang="en-GB" dirty="0" err="1"/>
              <a:t>System.Windows.Data</a:t>
            </a:r>
            <a:endParaRPr lang="en-GB" dirty="0"/>
          </a:p>
          <a:p>
            <a:r>
              <a:rPr lang="en-GB" dirty="0" err="1"/>
              <a:t>System.Windows.Documents</a:t>
            </a:r>
            <a:endParaRPr lang="en-GB" dirty="0"/>
          </a:p>
          <a:p>
            <a:r>
              <a:rPr lang="en-GB" dirty="0" err="1"/>
              <a:t>System.Windows.Forms.Integration</a:t>
            </a:r>
            <a:endParaRPr lang="en-GB" dirty="0"/>
          </a:p>
          <a:p>
            <a:r>
              <a:rPr lang="en-GB" dirty="0" err="1"/>
              <a:t>System.Windows.Ink</a:t>
            </a:r>
            <a:endParaRPr lang="en-GB" dirty="0"/>
          </a:p>
          <a:p>
            <a:r>
              <a:rPr lang="en-GB" dirty="0" err="1"/>
              <a:t>System.Windows.Input</a:t>
            </a:r>
            <a:endParaRPr lang="en-GB" dirty="0"/>
          </a:p>
          <a:p>
            <a:r>
              <a:rPr lang="en-GB" dirty="0" err="1"/>
              <a:t>System.Windows.Media</a:t>
            </a:r>
            <a:endParaRPr lang="en-GB" dirty="0"/>
          </a:p>
          <a:p>
            <a:r>
              <a:rPr lang="en-GB" dirty="0" err="1"/>
              <a:t>System.Windows.Media.Animation</a:t>
            </a:r>
            <a:endParaRPr lang="en-GB" dirty="0"/>
          </a:p>
          <a:p>
            <a:r>
              <a:rPr lang="en-GB" dirty="0" err="1"/>
              <a:t>System.Windows.Media.Effects</a:t>
            </a:r>
            <a:endParaRPr lang="en-GB" dirty="0"/>
          </a:p>
          <a:p>
            <a:r>
              <a:rPr lang="en-GB" dirty="0" err="1"/>
              <a:t>System.Windows.Media.Imaging</a:t>
            </a:r>
            <a:endParaRPr lang="en-GB" dirty="0"/>
          </a:p>
          <a:p>
            <a:r>
              <a:rPr lang="en-GB" dirty="0"/>
              <a:t>System.Windows.Media.Media3D</a:t>
            </a:r>
          </a:p>
          <a:p>
            <a:r>
              <a:rPr lang="en-GB" dirty="0" err="1"/>
              <a:t>System.Windows.Media.TextFormatting</a:t>
            </a:r>
            <a:endParaRPr lang="en-GB" dirty="0"/>
          </a:p>
          <a:p>
            <a:r>
              <a:rPr lang="en-GB" dirty="0" err="1"/>
              <a:t>System.Windows.Navigation</a:t>
            </a:r>
            <a:endParaRPr lang="en-GB" dirty="0"/>
          </a:p>
          <a:p>
            <a:r>
              <a:rPr lang="en-GB" dirty="0" err="1"/>
              <a:t>System.Windows.Shapes</a:t>
            </a:r>
            <a:endParaRPr lang="en-GB" dirty="0"/>
          </a:p>
          <a:p>
            <a:r>
              <a:rPr lang="en-GB" dirty="0" err="1"/>
              <a:t>System.Windows.Shell</a:t>
            </a:r>
            <a:endParaRPr lang="en-GB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3223633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06090"/>
          </a:xfrm>
        </p:spPr>
        <p:txBody>
          <a:bodyPr>
            <a:normAutofit fontScale="90000"/>
          </a:bodyPr>
          <a:lstStyle/>
          <a:p>
            <a:pPr lvl="0"/>
            <a:r>
              <a:rPr lang="ru-RU" altLang="ru-RU" dirty="0">
                <a:solidFill>
                  <a:srgbClr val="333333"/>
                </a:solidFill>
                <a:latin typeface="Helvetica Neue"/>
                <a:cs typeface="Arial" pitchFamily="34" charset="0"/>
              </a:rPr>
              <a:t>Комментарии в </a:t>
            </a:r>
            <a:r>
              <a:rPr lang="ru-RU" altLang="ru-RU" dirty="0" smtClean="0">
                <a:solidFill>
                  <a:srgbClr val="333333"/>
                </a:solidFill>
                <a:latin typeface="Helvetica Neue"/>
                <a:cs typeface="Arial" pitchFamily="34" charset="0"/>
              </a:rPr>
              <a:t>XAML</a:t>
            </a:r>
            <a:endParaRPr lang="ru-RU" dirty="0"/>
          </a:p>
        </p:txBody>
      </p:sp>
      <p:graphicFrame>
        <p:nvGraphicFramePr>
          <p:cNvPr id="5" name="Таблица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33301619"/>
              </p:ext>
            </p:extLst>
          </p:nvPr>
        </p:nvGraphicFramePr>
        <p:xfrm>
          <a:off x="492466" y="4869160"/>
          <a:ext cx="8229600" cy="777240"/>
        </p:xfrm>
        <a:graphic>
          <a:graphicData uri="http://schemas.openxmlformats.org/drawingml/2006/table">
            <a:tbl>
              <a:tblPr/>
              <a:tblGrid>
                <a:gridCol w="219531"/>
                <a:gridCol w="8010069"/>
              </a:tblGrid>
              <a:tr h="253305">
                <a:tc gridSpan="2">
                  <a:txBody>
                    <a:bodyPr/>
                    <a:lstStyle/>
                    <a:p>
                      <a:endParaRPr lang="ru-RU" sz="1700" dirty="0"/>
                    </a:p>
                  </a:txBody>
                  <a:tcPr marL="0" marR="0" marT="0" marB="0" anchor="ctr"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</a:tr>
              <a:tr h="506610">
                <a:tc>
                  <a:txBody>
                    <a:bodyPr/>
                    <a:lstStyle/>
                    <a:p>
                      <a:pPr algn="r" fontAlgn="base"/>
                      <a:r>
                        <a:rPr lang="ru-RU" sz="1700" b="0" i="0">
                          <a:solidFill>
                            <a:srgbClr val="AFAFAF"/>
                          </a:solidFill>
                          <a:effectLst/>
                          <a:latin typeface="Consolas"/>
                        </a:rPr>
                        <a:t>1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700" b="0" i="0" dirty="0">
                          <a:effectLst/>
                          <a:latin typeface="Consolas"/>
                        </a:rPr>
                        <a:t>&lt;!--&lt;Image Margin="0,0,0,0" Source="Untitled-2.png" Stretch="Fill" x:Name="BackgroundPng"/&gt;—&gt;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graphicFrame>
        <p:nvGraphicFramePr>
          <p:cNvPr id="6" name="Таблица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18802296"/>
              </p:ext>
            </p:extLst>
          </p:nvPr>
        </p:nvGraphicFramePr>
        <p:xfrm>
          <a:off x="457200" y="3212976"/>
          <a:ext cx="8035469" cy="1319863"/>
        </p:xfrm>
        <a:graphic>
          <a:graphicData uri="http://schemas.openxmlformats.org/drawingml/2006/table">
            <a:tbl>
              <a:tblPr/>
              <a:tblGrid>
                <a:gridCol w="25400"/>
                <a:gridCol w="8010069"/>
              </a:tblGrid>
              <a:tr h="542623">
                <a:tc gridSpan="2">
                  <a:txBody>
                    <a:bodyPr/>
                    <a:lstStyle/>
                    <a:p>
                      <a:endParaRPr lang="ru-RU" sz="1700" dirty="0"/>
                    </a:p>
                  </a:txBody>
                  <a:tcPr marL="0" marR="0" marT="0" marB="0" anchor="ctr"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</a:tr>
              <a:tr h="759915">
                <a:tc>
                  <a:txBody>
                    <a:bodyPr/>
                    <a:lstStyle/>
                    <a:p>
                      <a:pPr algn="r" fontAlgn="base"/>
                      <a:r>
                        <a:rPr lang="ru-RU" sz="1700" b="0" i="0">
                          <a:solidFill>
                            <a:srgbClr val="AFAFAF"/>
                          </a:solidFill>
                          <a:effectLst/>
                          <a:latin typeface="Consolas"/>
                        </a:rPr>
                        <a:t>1</a:t>
                      </a:r>
                    </a:p>
                    <a:p>
                      <a:pPr algn="r" fontAlgn="base"/>
                      <a:r>
                        <a:rPr lang="ru-RU" sz="1700" b="0" i="0">
                          <a:solidFill>
                            <a:srgbClr val="AFAFAF"/>
                          </a:solidFill>
                          <a:effectLst/>
                          <a:latin typeface="Consolas"/>
                        </a:rPr>
                        <a:t>2</a:t>
                      </a:r>
                    </a:p>
                    <a:p>
                      <a:pPr algn="r" fontAlgn="base"/>
                      <a:r>
                        <a:rPr lang="ru-RU" sz="1700" b="0" i="0">
                          <a:solidFill>
                            <a:srgbClr val="AFAFAF"/>
                          </a:solidFill>
                          <a:effectLst/>
                          <a:latin typeface="Consolas"/>
                        </a:rPr>
                        <a:t>3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700" b="0" i="0" dirty="0">
                          <a:effectLst/>
                          <a:latin typeface="Consolas"/>
                        </a:rPr>
                        <a:t>&lt;Grid&gt;</a:t>
                      </a:r>
                    </a:p>
                    <a:p>
                      <a:pPr algn="l" fontAlgn="base"/>
                      <a:r>
                        <a:rPr lang="en-US" sz="1700" b="0" i="0" dirty="0">
                          <a:effectLst/>
                          <a:latin typeface="Consolas"/>
                        </a:rPr>
                        <a:t>       &lt;!-- &lt;</a:t>
                      </a:r>
                      <a:r>
                        <a:rPr lang="en-US" sz="1700" b="0" i="0" dirty="0" err="1">
                          <a:effectLst/>
                          <a:latin typeface="Consolas"/>
                        </a:rPr>
                        <a:t>TextBlock</a:t>
                      </a:r>
                      <a:r>
                        <a:rPr lang="en-US" sz="1700" b="0" i="0" dirty="0">
                          <a:effectLst/>
                          <a:latin typeface="Consolas"/>
                        </a:rPr>
                        <a:t> Text="{Binding Path=Name}" /&gt; --&gt;</a:t>
                      </a:r>
                    </a:p>
                    <a:p>
                      <a:pPr algn="l" fontAlgn="base"/>
                      <a:r>
                        <a:rPr lang="en-US" sz="1700" b="0" i="0" dirty="0">
                          <a:effectLst/>
                          <a:latin typeface="Consolas"/>
                        </a:rPr>
                        <a:t>&lt;/Grid&gt;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457200" y="3496519"/>
            <a:ext cx="35266" cy="1538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0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Helvetica Neue"/>
                <a:cs typeface="Arial" pitchFamily="34" charset="0"/>
              </a:rPr>
              <a:t>.</a:t>
            </a: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8" name="Прямоугольник 7"/>
          <p:cNvSpPr/>
          <p:nvPr/>
        </p:nvSpPr>
        <p:spPr>
          <a:xfrm>
            <a:off x="323528" y="1028343"/>
            <a:ext cx="8712968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ru-RU" altLang="ru-RU" sz="1400" dirty="0" smtClean="0">
                <a:solidFill>
                  <a:srgbClr val="333333"/>
                </a:solidFill>
                <a:latin typeface="Helvetica Neue"/>
                <a:cs typeface="Arial" pitchFamily="34" charset="0"/>
              </a:rPr>
              <a:t>Комментарии </a:t>
            </a:r>
            <a:r>
              <a:rPr lang="ru-RU" altLang="ru-RU" sz="1400" dirty="0">
                <a:solidFill>
                  <a:srgbClr val="333333"/>
                </a:solidFill>
                <a:latin typeface="Helvetica Neue"/>
                <a:cs typeface="Arial" pitchFamily="34" charset="0"/>
              </a:rPr>
              <a:t>– помогают читать код, отключать/включать временно куски кода при отладке</a:t>
            </a:r>
            <a:r>
              <a:rPr lang="ru-RU" altLang="ru-RU" sz="1400" dirty="0" smtClean="0">
                <a:solidFill>
                  <a:srgbClr val="333333"/>
                </a:solidFill>
                <a:latin typeface="Helvetica Neue"/>
                <a:cs typeface="Arial" pitchFamily="34" charset="0"/>
              </a:rPr>
              <a:t>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ru-RU" altLang="ru-RU" sz="1400" dirty="0">
              <a:solidFill>
                <a:srgbClr val="333333"/>
              </a:solidFill>
              <a:latin typeface="Helvetica Neue"/>
              <a:cs typeface="Arial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ru-RU" altLang="ru-RU" sz="14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0" name="Объект 9"/>
          <p:cNvSpPr>
            <a:spLocks noGrp="1"/>
          </p:cNvSpPr>
          <p:nvPr>
            <p:ph idx="1"/>
          </p:nvPr>
        </p:nvSpPr>
        <p:spPr>
          <a:xfrm>
            <a:off x="445356" y="1556792"/>
            <a:ext cx="4690864" cy="576063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ru-RU" dirty="0" smtClean="0">
                <a:latin typeface="Consolas"/>
              </a:rPr>
              <a:t>&lt;!-- Это простой комментарий --&gt;</a:t>
            </a:r>
          </a:p>
          <a:p>
            <a:endParaRPr lang="ru-RU" dirty="0"/>
          </a:p>
        </p:txBody>
      </p:sp>
      <p:sp>
        <p:nvSpPr>
          <p:cNvPr id="11" name="Прямоугольник 10"/>
          <p:cNvSpPr/>
          <p:nvPr/>
        </p:nvSpPr>
        <p:spPr>
          <a:xfrm>
            <a:off x="323528" y="2136339"/>
            <a:ext cx="8496944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ru-RU" altLang="ru-RU" dirty="0">
                <a:solidFill>
                  <a:srgbClr val="333333"/>
                </a:solidFill>
                <a:latin typeface="Helvetica Neue"/>
                <a:cs typeface="Arial" pitchFamily="34" charset="0"/>
              </a:rPr>
              <a:t>вложенные комментарии сделать не получится. Например, в данном примере внутрь тега </a:t>
            </a:r>
            <a:r>
              <a:rPr lang="ru-RU" altLang="ru-RU" dirty="0" err="1">
                <a:solidFill>
                  <a:srgbClr val="333333"/>
                </a:solidFill>
                <a:latin typeface="Helvetica Neue"/>
                <a:cs typeface="Arial" pitchFamily="34" charset="0"/>
              </a:rPr>
              <a:t>Grid</a:t>
            </a:r>
            <a:r>
              <a:rPr lang="ru-RU" altLang="ru-RU" dirty="0">
                <a:solidFill>
                  <a:srgbClr val="333333"/>
                </a:solidFill>
                <a:latin typeface="Helvetica Neue"/>
                <a:cs typeface="Arial" pitchFamily="34" charset="0"/>
              </a:rPr>
              <a:t> вложен комментарий, такая разметка выдаст ошибку</a:t>
            </a:r>
            <a:r>
              <a:rPr lang="ru-RU" altLang="ru-RU" dirty="0" smtClean="0">
                <a:solidFill>
                  <a:srgbClr val="333333"/>
                </a:solidFill>
                <a:latin typeface="Helvetica Neue"/>
                <a:cs typeface="Arial" pitchFamily="34" charset="0"/>
              </a:rPr>
              <a:t>:</a:t>
            </a:r>
            <a:endParaRPr lang="ru-RU" altLang="ru-RU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2" name="Прямоугольник 11"/>
          <p:cNvSpPr/>
          <p:nvPr/>
        </p:nvSpPr>
        <p:spPr>
          <a:xfrm>
            <a:off x="474833" y="5805264"/>
            <a:ext cx="8363272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ru-RU" altLang="ru-RU" dirty="0">
                <a:solidFill>
                  <a:srgbClr val="333333"/>
                </a:solidFill>
                <a:latin typeface="Helvetica Neue"/>
                <a:cs typeface="Arial" pitchFamily="34" charset="0"/>
              </a:rPr>
              <a:t>Для того чтобы закомментировать выделенный фрагмент кода, можно нажать сочетание клавиш CTRL+K+C, а для обратного эффекта нужно нажать CTRL+K+U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700048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06090"/>
          </a:xfrm>
        </p:spPr>
        <p:txBody>
          <a:bodyPr>
            <a:normAutofit/>
          </a:bodyPr>
          <a:lstStyle/>
          <a:p>
            <a:r>
              <a:rPr lang="ru-RU" sz="3200" b="1" dirty="0"/>
              <a:t>Элементы и их </a:t>
            </a:r>
            <a:r>
              <a:rPr lang="ru-RU" sz="3200" b="1" dirty="0" smtClean="0"/>
              <a:t>атрибуты</a:t>
            </a:r>
            <a:endParaRPr lang="ru-RU" sz="32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908720"/>
            <a:ext cx="8229600" cy="5217443"/>
          </a:xfrm>
        </p:spPr>
        <p:txBody>
          <a:bodyPr>
            <a:normAutofit fontScale="77500" lnSpcReduction="20000"/>
          </a:bodyPr>
          <a:lstStyle/>
          <a:p>
            <a:pPr>
              <a:spcAft>
                <a:spcPts val="600"/>
              </a:spcAft>
            </a:pPr>
            <a:r>
              <a:rPr lang="ru-RU" dirty="0" smtClean="0"/>
              <a:t>Каждый </a:t>
            </a:r>
            <a:r>
              <a:rPr lang="ru-RU" dirty="0"/>
              <a:t>элемент, как и любой элемент XML, должен иметь открытый и закрытый тег, как в случае с элементом </a:t>
            </a:r>
            <a:r>
              <a:rPr lang="ru-RU" b="1" dirty="0" err="1"/>
              <a:t>Window</a:t>
            </a:r>
            <a:r>
              <a:rPr lang="ru-RU" dirty="0" smtClean="0"/>
              <a:t>: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en-GB" b="1" dirty="0" smtClean="0">
                <a:solidFill>
                  <a:srgbClr val="7030A0"/>
                </a:solidFill>
              </a:rPr>
              <a:t>&lt;Window&gt;</a:t>
            </a:r>
            <a:r>
              <a:rPr lang="ru-RU" b="1" dirty="0" smtClean="0">
                <a:solidFill>
                  <a:srgbClr val="7030A0"/>
                </a:solidFill>
              </a:rPr>
              <a:t>	</a:t>
            </a:r>
            <a:r>
              <a:rPr lang="en-GB" b="1" dirty="0" smtClean="0">
                <a:solidFill>
                  <a:srgbClr val="7030A0"/>
                </a:solidFill>
              </a:rPr>
              <a:t>&lt;/Window&gt;</a:t>
            </a:r>
            <a:endParaRPr lang="ru-RU" b="1" dirty="0" smtClean="0">
              <a:solidFill>
                <a:srgbClr val="7030A0"/>
              </a:solidFill>
            </a:endParaRPr>
          </a:p>
          <a:p>
            <a:pPr>
              <a:spcAft>
                <a:spcPts val="600"/>
              </a:spcAft>
            </a:pPr>
            <a:r>
              <a:rPr lang="ru-RU" dirty="0"/>
              <a:t>Либо элемент может иметь </a:t>
            </a:r>
            <a:r>
              <a:rPr lang="ru-RU" dirty="0" smtClean="0"/>
              <a:t>сокращенную </a:t>
            </a:r>
            <a:r>
              <a:rPr lang="ru-RU" dirty="0"/>
              <a:t>форму с закрывающим слешем в конце, </a:t>
            </a:r>
            <a:r>
              <a:rPr lang="ru-RU" dirty="0" smtClean="0"/>
              <a:t>: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en-GB" b="1" dirty="0">
                <a:solidFill>
                  <a:srgbClr val="7030A0"/>
                </a:solidFill>
              </a:rPr>
              <a:t>&lt;Window /&gt;</a:t>
            </a:r>
            <a:endParaRPr lang="ru-RU" b="1" dirty="0">
              <a:solidFill>
                <a:srgbClr val="7030A0"/>
              </a:solidFill>
            </a:endParaRPr>
          </a:p>
          <a:p>
            <a:pPr>
              <a:spcAft>
                <a:spcPts val="600"/>
              </a:spcAft>
            </a:pPr>
            <a:r>
              <a:rPr lang="ru-RU" dirty="0" smtClean="0"/>
              <a:t>Каждый элемент </a:t>
            </a:r>
            <a:r>
              <a:rPr lang="ru-RU" dirty="0"/>
              <a:t>в XAML соответствует определенному классу C#(в отличие от элементов </a:t>
            </a:r>
            <a:r>
              <a:rPr lang="ru-RU" dirty="0" err="1"/>
              <a:t>xml</a:t>
            </a:r>
            <a:r>
              <a:rPr lang="ru-RU" dirty="0"/>
              <a:t> ). </a:t>
            </a:r>
            <a:endParaRPr lang="ru-RU" dirty="0" smtClean="0"/>
          </a:p>
          <a:p>
            <a:pPr marL="0" indent="0">
              <a:spcAft>
                <a:spcPts val="600"/>
              </a:spcAft>
              <a:buNone/>
            </a:pPr>
            <a:r>
              <a:rPr lang="ru-RU" dirty="0" smtClean="0"/>
              <a:t>элемент </a:t>
            </a:r>
            <a:r>
              <a:rPr lang="ru-RU" b="1" dirty="0" err="1"/>
              <a:t>Button</a:t>
            </a:r>
            <a:r>
              <a:rPr lang="ru-RU" dirty="0"/>
              <a:t> </a:t>
            </a:r>
            <a:r>
              <a:rPr lang="ru-RU" dirty="0" smtClean="0"/>
              <a:t>класс</a:t>
            </a:r>
            <a:r>
              <a:rPr lang="ru-RU" dirty="0"/>
              <a:t> </a:t>
            </a:r>
            <a:r>
              <a:rPr lang="ru-RU" b="1" dirty="0" err="1" smtClean="0"/>
              <a:t>System.Windows.Controls.Button</a:t>
            </a:r>
            <a:endParaRPr lang="ru-RU" dirty="0" smtClean="0"/>
          </a:p>
          <a:p>
            <a:pPr marL="0" indent="0">
              <a:spcAft>
                <a:spcPts val="600"/>
              </a:spcAft>
              <a:buNone/>
            </a:pPr>
            <a:r>
              <a:rPr lang="ru-RU" dirty="0" smtClean="0"/>
              <a:t>свойства класса </a:t>
            </a:r>
            <a:r>
              <a:rPr lang="ru-RU" dirty="0"/>
              <a:t>соответствуют атрибутам элемента </a:t>
            </a:r>
            <a:r>
              <a:rPr lang="ru-RU" b="1" dirty="0" err="1" smtClean="0"/>
              <a:t>Button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187018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4082"/>
          </a:xfrm>
        </p:spPr>
        <p:txBody>
          <a:bodyPr>
            <a:normAutofit/>
          </a:bodyPr>
          <a:lstStyle/>
          <a:p>
            <a:r>
              <a:rPr lang="ru-RU" sz="3200" dirty="0" smtClean="0"/>
              <a:t>кнопка в разметке </a:t>
            </a:r>
            <a:r>
              <a:rPr lang="ru-RU" sz="3200" dirty="0"/>
              <a:t>окна: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51520" y="980728"/>
            <a:ext cx="8435280" cy="514543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1600" dirty="0"/>
              <a:t>&lt;Window x:Class="XamlApp.MainWindow"</a:t>
            </a:r>
          </a:p>
          <a:p>
            <a:pPr marL="0" indent="0">
              <a:buNone/>
            </a:pPr>
            <a:r>
              <a:rPr lang="en-GB" sz="1600" dirty="0"/>
              <a:t>        </a:t>
            </a:r>
            <a:r>
              <a:rPr lang="en-GB" sz="1600" dirty="0" err="1"/>
              <a:t>xmlns</a:t>
            </a:r>
            <a:r>
              <a:rPr lang="en-GB" sz="1600" dirty="0"/>
              <a:t>="http://schemas.microsoft.com/</a:t>
            </a:r>
            <a:r>
              <a:rPr lang="en-GB" sz="1600" dirty="0" err="1"/>
              <a:t>winfx</a:t>
            </a:r>
            <a:r>
              <a:rPr lang="en-GB" sz="1600" dirty="0"/>
              <a:t>/2006/</a:t>
            </a:r>
            <a:r>
              <a:rPr lang="en-GB" sz="1600" dirty="0" err="1"/>
              <a:t>xaml</a:t>
            </a:r>
            <a:r>
              <a:rPr lang="en-GB" sz="1600" dirty="0"/>
              <a:t>/presentation"</a:t>
            </a:r>
          </a:p>
          <a:p>
            <a:pPr marL="0" indent="0">
              <a:buNone/>
            </a:pPr>
            <a:r>
              <a:rPr lang="en-GB" sz="1600" dirty="0"/>
              <a:t>        </a:t>
            </a:r>
            <a:r>
              <a:rPr lang="en-GB" sz="1600" dirty="0" err="1"/>
              <a:t>xmlns:x</a:t>
            </a:r>
            <a:r>
              <a:rPr lang="en-GB" sz="1600" dirty="0"/>
              <a:t>="http://schemas.microsoft.com/</a:t>
            </a:r>
            <a:r>
              <a:rPr lang="en-GB" sz="1600" dirty="0" err="1"/>
              <a:t>winfx</a:t>
            </a:r>
            <a:r>
              <a:rPr lang="en-GB" sz="1600" dirty="0"/>
              <a:t>/2006/</a:t>
            </a:r>
            <a:r>
              <a:rPr lang="en-GB" sz="1600" dirty="0" err="1"/>
              <a:t>xaml</a:t>
            </a:r>
            <a:r>
              <a:rPr lang="en-GB" sz="1600" dirty="0"/>
              <a:t>"</a:t>
            </a:r>
          </a:p>
          <a:p>
            <a:pPr marL="0" indent="0">
              <a:buNone/>
            </a:pPr>
            <a:r>
              <a:rPr lang="en-GB" sz="1600" dirty="0"/>
              <a:t>        </a:t>
            </a:r>
            <a:r>
              <a:rPr lang="en-GB" sz="1600" dirty="0" err="1"/>
              <a:t>xmlns:d</a:t>
            </a:r>
            <a:r>
              <a:rPr lang="en-GB" sz="1600" dirty="0"/>
              <a:t>="http://schemas.microsoft.com/expression/blend/2008"</a:t>
            </a:r>
          </a:p>
          <a:p>
            <a:pPr marL="0" indent="0">
              <a:buNone/>
            </a:pPr>
            <a:r>
              <a:rPr lang="en-GB" sz="1600" dirty="0"/>
              <a:t>        </a:t>
            </a:r>
            <a:r>
              <a:rPr lang="en-GB" sz="1600" dirty="0" err="1"/>
              <a:t>xmlns:mc</a:t>
            </a:r>
            <a:r>
              <a:rPr lang="en-GB" sz="1600" dirty="0"/>
              <a:t>="http://schemas.openxmlformats.org/</a:t>
            </a:r>
            <a:r>
              <a:rPr lang="en-GB" sz="1600" dirty="0" err="1"/>
              <a:t>markup</a:t>
            </a:r>
            <a:r>
              <a:rPr lang="en-GB" sz="1600" dirty="0"/>
              <a:t>-compatibility/2006"</a:t>
            </a:r>
          </a:p>
          <a:p>
            <a:pPr marL="0" indent="0">
              <a:buNone/>
            </a:pPr>
            <a:r>
              <a:rPr lang="en-GB" sz="1600" dirty="0"/>
              <a:t>        </a:t>
            </a:r>
            <a:r>
              <a:rPr lang="en-GB" sz="1600" dirty="0" err="1"/>
              <a:t>xmlns:local</a:t>
            </a:r>
            <a:r>
              <a:rPr lang="en-GB" sz="1600" dirty="0"/>
              <a:t>="</a:t>
            </a:r>
            <a:r>
              <a:rPr lang="en-GB" sz="1600" dirty="0" err="1"/>
              <a:t>clr-namespace:XamlApp</a:t>
            </a:r>
            <a:r>
              <a:rPr lang="en-GB" sz="1600" dirty="0"/>
              <a:t>"</a:t>
            </a:r>
          </a:p>
          <a:p>
            <a:pPr marL="0" indent="0">
              <a:buNone/>
            </a:pPr>
            <a:r>
              <a:rPr lang="en-GB" sz="1600" dirty="0"/>
              <a:t>        </a:t>
            </a:r>
            <a:r>
              <a:rPr lang="en-GB" sz="1600" dirty="0" err="1"/>
              <a:t>mc:Ignorable</a:t>
            </a:r>
            <a:r>
              <a:rPr lang="en-GB" sz="1600" dirty="0"/>
              <a:t>="d"</a:t>
            </a:r>
          </a:p>
          <a:p>
            <a:pPr marL="0" indent="0">
              <a:buNone/>
            </a:pPr>
            <a:r>
              <a:rPr lang="en-US" sz="1600" dirty="0"/>
              <a:t>        Title="</a:t>
            </a:r>
            <a:r>
              <a:rPr lang="en-US" sz="1600" dirty="0" err="1"/>
              <a:t>MainWindow</a:t>
            </a:r>
            <a:r>
              <a:rPr lang="en-US" sz="1600" dirty="0"/>
              <a:t>" Height="350" Width="525"&gt;</a:t>
            </a:r>
          </a:p>
          <a:p>
            <a:pPr marL="0" indent="0">
              <a:buNone/>
            </a:pPr>
            <a:r>
              <a:rPr lang="en-GB" sz="1600" dirty="0"/>
              <a:t>    &lt;Grid x:Name="grid1"&gt;</a:t>
            </a:r>
          </a:p>
          <a:p>
            <a:pPr marL="0" indent="0">
              <a:buNone/>
            </a:pPr>
            <a:r>
              <a:rPr lang="en-US" sz="1600" dirty="0"/>
              <a:t>        &lt;Button x:Name="button1"  Width="100" Height="30" Content="</a:t>
            </a:r>
            <a:r>
              <a:rPr lang="en-US" sz="1600" dirty="0" err="1"/>
              <a:t>Кнопка</a:t>
            </a:r>
            <a:r>
              <a:rPr lang="en-US" sz="1600" dirty="0"/>
              <a:t>" /&gt;</a:t>
            </a:r>
          </a:p>
          <a:p>
            <a:pPr marL="0" indent="0">
              <a:buNone/>
            </a:pPr>
            <a:r>
              <a:rPr lang="en-GB" sz="1600" dirty="0"/>
              <a:t>    &lt;/Grid&gt;</a:t>
            </a:r>
          </a:p>
          <a:p>
            <a:pPr marL="0" indent="0">
              <a:buNone/>
            </a:pPr>
            <a:r>
              <a:rPr lang="en-GB" sz="1600" dirty="0"/>
              <a:t>&lt;/Window&gt;</a:t>
            </a:r>
          </a:p>
          <a:p>
            <a:endParaRPr lang="ru-RU" dirty="0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51516" y="4291077"/>
            <a:ext cx="3987726" cy="25673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Прямоугольник 4"/>
          <p:cNvSpPr/>
          <p:nvPr/>
        </p:nvSpPr>
        <p:spPr>
          <a:xfrm>
            <a:off x="107504" y="4512927"/>
            <a:ext cx="4716016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lang="ru-RU" altLang="ru-RU" sz="1200" dirty="0" smtClean="0">
                <a:latin typeface="Verdana" pitchFamily="34" charset="0"/>
              </a:rPr>
              <a:t>определены </a:t>
            </a:r>
            <a:r>
              <a:rPr lang="ru-RU" altLang="ru-RU" sz="1200" dirty="0">
                <a:latin typeface="Verdana" pitchFamily="34" charset="0"/>
              </a:rPr>
              <a:t>атрибуты </a:t>
            </a:r>
            <a:r>
              <a:rPr lang="ru-RU" altLang="ru-RU" sz="1200" dirty="0">
                <a:latin typeface="Courier New" pitchFamily="49" charset="0"/>
                <a:cs typeface="Courier New" pitchFamily="49" charset="0"/>
              </a:rPr>
              <a:t>x:Name</a:t>
            </a:r>
            <a:r>
              <a:rPr lang="ru-RU" altLang="ru-RU" sz="1200" dirty="0">
                <a:latin typeface="Verdana" pitchFamily="34" charset="0"/>
              </a:rPr>
              <a:t> (имя кнопки), </a:t>
            </a:r>
            <a:r>
              <a:rPr lang="ru-RU" altLang="ru-RU" sz="1200" dirty="0" err="1">
                <a:latin typeface="Courier New" pitchFamily="49" charset="0"/>
                <a:cs typeface="Courier New" pitchFamily="49" charset="0"/>
              </a:rPr>
              <a:t>Width</a:t>
            </a:r>
            <a:r>
              <a:rPr lang="ru-RU" altLang="ru-RU" sz="1200" dirty="0">
                <a:latin typeface="Verdana" pitchFamily="34" charset="0"/>
              </a:rPr>
              <a:t>, </a:t>
            </a:r>
            <a:r>
              <a:rPr lang="ru-RU" altLang="ru-RU" sz="1200" dirty="0" err="1">
                <a:latin typeface="Courier New" pitchFamily="49" charset="0"/>
                <a:cs typeface="Courier New" pitchFamily="49" charset="0"/>
              </a:rPr>
              <a:t>Height</a:t>
            </a:r>
            <a:r>
              <a:rPr lang="ru-RU" altLang="ru-RU" sz="1200" dirty="0">
                <a:latin typeface="Verdana" pitchFamily="34" charset="0"/>
              </a:rPr>
              <a:t> и </a:t>
            </a:r>
            <a:r>
              <a:rPr lang="ru-RU" altLang="ru-RU" sz="1200" dirty="0" err="1" smtClean="0">
                <a:latin typeface="Courier New" pitchFamily="49" charset="0"/>
                <a:cs typeface="Courier New" pitchFamily="49" charset="0"/>
              </a:rPr>
              <a:t>Content</a:t>
            </a:r>
            <a:r>
              <a:rPr lang="ru-RU" altLang="ru-RU" sz="1200" dirty="0">
                <a:latin typeface="Verdana" pitchFamily="34" charset="0"/>
              </a:rPr>
              <a:t> </a:t>
            </a:r>
            <a:r>
              <a:rPr lang="ru-RU" altLang="ru-RU" sz="1200" dirty="0" smtClean="0">
                <a:latin typeface="Verdana" pitchFamily="34" charset="0"/>
              </a:rPr>
              <a:t>(атрибут</a:t>
            </a:r>
            <a:r>
              <a:rPr lang="ru-RU" altLang="ru-RU" sz="1200" dirty="0">
                <a:latin typeface="Verdana" pitchFamily="34" charset="0"/>
              </a:rPr>
              <a:t> </a:t>
            </a:r>
            <a:r>
              <a:rPr lang="ru-RU" altLang="ru-RU" sz="1200" dirty="0">
                <a:latin typeface="Courier New" pitchFamily="49" charset="0"/>
                <a:cs typeface="Courier New" pitchFamily="49" charset="0"/>
              </a:rPr>
              <a:t>x:Name</a:t>
            </a:r>
            <a:r>
              <a:rPr lang="ru-RU" altLang="ru-RU" sz="1200" dirty="0">
                <a:latin typeface="Verdana" pitchFamily="34" charset="0"/>
              </a:rPr>
              <a:t> берется в данном случае из пространства имен </a:t>
            </a:r>
            <a:r>
              <a:rPr lang="ru-RU" altLang="ru-RU" sz="1200" b="1" dirty="0">
                <a:latin typeface="Verdana" pitchFamily="34" charset="0"/>
              </a:rPr>
              <a:t>"http://schemas.microsoft.com/winfx/2006/xaml", </a:t>
            </a:r>
            <a:r>
              <a:rPr lang="ru-RU" altLang="ru-RU" sz="1200" dirty="0">
                <a:latin typeface="Verdana" pitchFamily="34" charset="0"/>
              </a:rPr>
              <a:t>которое сопоставляется с префиксом </a:t>
            </a:r>
            <a:r>
              <a:rPr lang="ru-RU" altLang="ru-RU" sz="1200" b="1" dirty="0" smtClean="0"/>
              <a:t>x)</a:t>
            </a:r>
            <a:r>
              <a:rPr lang="ru-RU" altLang="ru-RU" sz="1200" dirty="0" smtClean="0">
                <a:latin typeface="Verdana" pitchFamily="34" charset="0"/>
              </a:rPr>
              <a:t>.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lang="ru-RU" altLang="ru-RU" sz="1200" dirty="0" smtClean="0">
                <a:latin typeface="Verdana" pitchFamily="34" charset="0"/>
              </a:rPr>
              <a:t>Остальные атрибуты </a:t>
            </a:r>
            <a:r>
              <a:rPr lang="ru-RU" altLang="ru-RU" sz="1200" dirty="0">
                <a:latin typeface="Verdana" pitchFamily="34" charset="0"/>
              </a:rPr>
              <a:t>не используют префиксы, поэтому берутся из основного пространства имен "http://schemas.microsoft.com/winfx/2006/xaml/presentation</a:t>
            </a:r>
            <a:r>
              <a:rPr lang="ru-RU" altLang="ru-RU" sz="1200" dirty="0" smtClean="0">
                <a:latin typeface="Verdana" pitchFamily="34" charset="0"/>
              </a:rPr>
              <a:t>"</a:t>
            </a:r>
            <a:endParaRPr lang="ru-RU" sz="1200" dirty="0"/>
          </a:p>
        </p:txBody>
      </p:sp>
      <p:sp>
        <p:nvSpPr>
          <p:cNvPr id="6" name="Прямоугольник 5"/>
          <p:cNvSpPr/>
          <p:nvPr/>
        </p:nvSpPr>
        <p:spPr>
          <a:xfrm>
            <a:off x="7145379" y="2459504"/>
            <a:ext cx="1998622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altLang="ru-RU" sz="1400" dirty="0">
                <a:latin typeface="Verdana" pitchFamily="34" charset="0"/>
              </a:rPr>
              <a:t>вложенный элемент </a:t>
            </a:r>
            <a:r>
              <a:rPr lang="ru-RU" altLang="ru-RU" sz="1400" dirty="0" err="1">
                <a:latin typeface="Verdana" pitchFamily="34" charset="0"/>
              </a:rPr>
              <a:t>Grid</a:t>
            </a:r>
            <a:r>
              <a:rPr lang="ru-RU" altLang="ru-RU" sz="1400" dirty="0">
                <a:latin typeface="Verdana" pitchFamily="34" charset="0"/>
              </a:rPr>
              <a:t> - контейнер для других элементов</a:t>
            </a:r>
            <a:endParaRPr lang="ru-RU" sz="1400" dirty="0"/>
          </a:p>
        </p:txBody>
      </p:sp>
      <p:cxnSp>
        <p:nvCxnSpPr>
          <p:cNvPr id="8" name="Прямая со стрелкой 7"/>
          <p:cNvCxnSpPr/>
          <p:nvPr/>
        </p:nvCxnSpPr>
        <p:spPr>
          <a:xfrm flipH="1">
            <a:off x="2699792" y="2636912"/>
            <a:ext cx="4536504" cy="86409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Прямоугольник 8"/>
          <p:cNvSpPr/>
          <p:nvPr/>
        </p:nvSpPr>
        <p:spPr>
          <a:xfrm>
            <a:off x="6516216" y="764704"/>
            <a:ext cx="284380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altLang="ru-RU" sz="1400" dirty="0">
                <a:latin typeface="Verdana" pitchFamily="34" charset="0"/>
              </a:rPr>
              <a:t>элемент самого высшего уровня - </a:t>
            </a:r>
            <a:r>
              <a:rPr lang="ru-RU" altLang="ru-RU" sz="1400" dirty="0" err="1">
                <a:latin typeface="Verdana" pitchFamily="34" charset="0"/>
              </a:rPr>
              <a:t>Window</a:t>
            </a:r>
            <a:endParaRPr lang="ru-RU" sz="1400" dirty="0"/>
          </a:p>
        </p:txBody>
      </p:sp>
      <p:cxnSp>
        <p:nvCxnSpPr>
          <p:cNvPr id="11" name="Прямая со стрелкой 10"/>
          <p:cNvCxnSpPr>
            <a:stCxn id="9" idx="1"/>
          </p:cNvCxnSpPr>
          <p:nvPr/>
        </p:nvCxnSpPr>
        <p:spPr>
          <a:xfrm flipH="1">
            <a:off x="3635896" y="1026314"/>
            <a:ext cx="2880320" cy="17043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Прямоугольник 11"/>
          <p:cNvSpPr/>
          <p:nvPr/>
        </p:nvSpPr>
        <p:spPr>
          <a:xfrm>
            <a:off x="7236296" y="3501008"/>
            <a:ext cx="1656184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altLang="ru-RU" sz="1400" dirty="0">
                <a:latin typeface="Verdana" pitchFamily="34" charset="0"/>
              </a:rPr>
              <a:t>элемент </a:t>
            </a:r>
            <a:r>
              <a:rPr lang="ru-RU" altLang="ru-RU" sz="1400" dirty="0" err="1" smtClean="0">
                <a:latin typeface="Verdana" pitchFamily="34" charset="0"/>
              </a:rPr>
              <a:t>Button</a:t>
            </a:r>
            <a:endParaRPr lang="ru-RU" sz="1400" dirty="0"/>
          </a:p>
        </p:txBody>
      </p:sp>
      <p:cxnSp>
        <p:nvCxnSpPr>
          <p:cNvPr id="14" name="Прямая со стрелкой 13"/>
          <p:cNvCxnSpPr/>
          <p:nvPr/>
        </p:nvCxnSpPr>
        <p:spPr>
          <a:xfrm flipH="1">
            <a:off x="2051720" y="3645024"/>
            <a:ext cx="5184576" cy="11759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Прямая со стрелкой 15"/>
          <p:cNvCxnSpPr/>
          <p:nvPr/>
        </p:nvCxnSpPr>
        <p:spPr>
          <a:xfrm flipV="1">
            <a:off x="2699792" y="3861048"/>
            <a:ext cx="216024" cy="57606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110911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06090"/>
          </a:xfrm>
        </p:spPr>
        <p:txBody>
          <a:bodyPr>
            <a:normAutofit/>
          </a:bodyPr>
          <a:lstStyle/>
          <a:p>
            <a:r>
              <a:rPr lang="ru-RU" sz="3200" b="1" dirty="0"/>
              <a:t>Специальные символы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95536" y="980728"/>
            <a:ext cx="8229600" cy="4958011"/>
          </a:xfrm>
        </p:spPr>
        <p:txBody>
          <a:bodyPr>
            <a:normAutofit/>
          </a:bodyPr>
          <a:lstStyle/>
          <a:p>
            <a:r>
              <a:rPr lang="ru-RU" sz="2000" b="0" i="0" dirty="0" smtClean="0">
                <a:solidFill>
                  <a:srgbClr val="000000"/>
                </a:solidFill>
                <a:effectLst/>
                <a:latin typeface="verdana"/>
              </a:rPr>
              <a:t>При определении интерфейса в XAML мы можем столкнуться с некоторыми ограничениями. В </a:t>
            </a:r>
            <a:r>
              <a:rPr lang="ru-RU" sz="2000" b="0" i="0" dirty="0" err="1" smtClean="0">
                <a:solidFill>
                  <a:srgbClr val="000000"/>
                </a:solidFill>
                <a:effectLst/>
                <a:latin typeface="verdana"/>
              </a:rPr>
              <a:t>частости</a:t>
            </a:r>
            <a:r>
              <a:rPr lang="ru-RU" sz="2000" b="0" i="0" dirty="0" smtClean="0">
                <a:solidFill>
                  <a:srgbClr val="000000"/>
                </a:solidFill>
                <a:effectLst/>
                <a:latin typeface="verdana"/>
              </a:rPr>
              <a:t>, мы не можем использовать специальные символы, такие как знак амперсанда </a:t>
            </a:r>
            <a:r>
              <a:rPr lang="ru-RU" sz="2000" b="1" i="0" dirty="0" smtClean="0">
                <a:solidFill>
                  <a:srgbClr val="000000"/>
                </a:solidFill>
                <a:effectLst/>
                <a:latin typeface="verdana"/>
              </a:rPr>
              <a:t>&amp;</a:t>
            </a:r>
            <a:r>
              <a:rPr lang="ru-RU" sz="2000" b="0" i="0" dirty="0" smtClean="0">
                <a:solidFill>
                  <a:srgbClr val="000000"/>
                </a:solidFill>
                <a:effectLst/>
                <a:latin typeface="verdana"/>
              </a:rPr>
              <a:t>, кавычки </a:t>
            </a:r>
            <a:r>
              <a:rPr lang="ru-RU" sz="2000" b="1" i="0" dirty="0" smtClean="0">
                <a:solidFill>
                  <a:srgbClr val="000000"/>
                </a:solidFill>
                <a:effectLst/>
                <a:latin typeface="verdana"/>
              </a:rPr>
              <a:t>"</a:t>
            </a:r>
            <a:r>
              <a:rPr lang="ru-RU" sz="2000" b="0" i="0" dirty="0" smtClean="0">
                <a:solidFill>
                  <a:srgbClr val="000000"/>
                </a:solidFill>
                <a:effectLst/>
                <a:latin typeface="verdana"/>
              </a:rPr>
              <a:t> и угловые скобки </a:t>
            </a:r>
            <a:r>
              <a:rPr lang="ru-RU" sz="2000" b="1" i="0" dirty="0" smtClean="0">
                <a:solidFill>
                  <a:srgbClr val="000000"/>
                </a:solidFill>
                <a:effectLst/>
                <a:latin typeface="verdana"/>
              </a:rPr>
              <a:t>&lt;</a:t>
            </a:r>
            <a:r>
              <a:rPr lang="ru-RU" sz="2000" b="0" i="0" dirty="0" smtClean="0">
                <a:solidFill>
                  <a:srgbClr val="000000"/>
                </a:solidFill>
                <a:effectLst/>
                <a:latin typeface="verdana"/>
              </a:rPr>
              <a:t> и </a:t>
            </a:r>
            <a:r>
              <a:rPr lang="ru-RU" sz="2000" b="1" i="0" dirty="0" smtClean="0">
                <a:solidFill>
                  <a:srgbClr val="000000"/>
                </a:solidFill>
                <a:effectLst/>
                <a:latin typeface="verdana"/>
              </a:rPr>
              <a:t>&gt;</a:t>
            </a:r>
            <a:r>
              <a:rPr lang="ru-RU" sz="2000" b="0" i="0" dirty="0" smtClean="0">
                <a:solidFill>
                  <a:srgbClr val="000000"/>
                </a:solidFill>
                <a:effectLst/>
                <a:latin typeface="verdana"/>
              </a:rPr>
              <a:t>. </a:t>
            </a:r>
          </a:p>
          <a:p>
            <a:r>
              <a:rPr lang="ru-RU" sz="2000" b="0" i="0" dirty="0" smtClean="0">
                <a:solidFill>
                  <a:srgbClr val="000000"/>
                </a:solidFill>
                <a:effectLst/>
                <a:latin typeface="verdana"/>
              </a:rPr>
              <a:t>В этом случае нам надо использовать специальные коды символов:</a:t>
            </a:r>
          </a:p>
        </p:txBody>
      </p:sp>
      <p:graphicFrame>
        <p:nvGraphicFramePr>
          <p:cNvPr id="4" name="Таблица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32776534"/>
              </p:ext>
            </p:extLst>
          </p:nvPr>
        </p:nvGraphicFramePr>
        <p:xfrm>
          <a:off x="3347864" y="3573016"/>
          <a:ext cx="1872208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4096"/>
                <a:gridCol w="1008112"/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>
                          <a:effectLst/>
                        </a:rPr>
                        <a:t>Символ</a:t>
                      </a:r>
                    </a:p>
                  </a:txBody>
                  <a:tcPr marL="7620" marR="7620" marT="7620" marB="7620"/>
                </a:tc>
                <a:tc>
                  <a:txBody>
                    <a:bodyPr/>
                    <a:lstStyle/>
                    <a:p>
                      <a:r>
                        <a:rPr lang="ru-RU">
                          <a:effectLst/>
                        </a:rPr>
                        <a:t>Код</a:t>
                      </a:r>
                    </a:p>
                  </a:txBody>
                  <a:tcPr marL="7620" marR="7620" marT="7620" marB="7620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ru-RU">
                          <a:effectLst/>
                        </a:rPr>
                        <a:t>&lt;</a:t>
                      </a:r>
                    </a:p>
                  </a:txBody>
                  <a:tcPr marL="7620" marR="7620" marT="7620" marB="7620"/>
                </a:tc>
                <a:tc>
                  <a:txBody>
                    <a:bodyPr/>
                    <a:lstStyle/>
                    <a:p>
                      <a:r>
                        <a:rPr lang="en-GB">
                          <a:effectLst/>
                        </a:rPr>
                        <a:t>&amp;lt;</a:t>
                      </a:r>
                    </a:p>
                  </a:txBody>
                  <a:tcPr marL="7620" marR="7620" marT="7620" marB="7620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ru-RU">
                          <a:effectLst/>
                        </a:rPr>
                        <a:t>&gt;</a:t>
                      </a:r>
                    </a:p>
                  </a:txBody>
                  <a:tcPr marL="7620" marR="7620" marT="7620" marB="7620"/>
                </a:tc>
                <a:tc>
                  <a:txBody>
                    <a:bodyPr/>
                    <a:lstStyle/>
                    <a:p>
                      <a:r>
                        <a:rPr lang="en-GB">
                          <a:effectLst/>
                        </a:rPr>
                        <a:t>&amp;gt;</a:t>
                      </a:r>
                    </a:p>
                  </a:txBody>
                  <a:tcPr marL="7620" marR="7620" marT="7620" marB="7620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ru-RU">
                          <a:effectLst/>
                        </a:rPr>
                        <a:t>&amp;</a:t>
                      </a:r>
                    </a:p>
                  </a:txBody>
                  <a:tcPr marL="7620" marR="7620" marT="7620" marB="7620"/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effectLst/>
                        </a:rPr>
                        <a:t>&amp;amp;</a:t>
                      </a:r>
                    </a:p>
                  </a:txBody>
                  <a:tcPr marL="7620" marR="7620" marT="7620" marB="7620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ru-RU">
                          <a:effectLst/>
                        </a:rPr>
                        <a:t>"</a:t>
                      </a:r>
                    </a:p>
                  </a:txBody>
                  <a:tcPr marL="7620" marR="7620" marT="7620" marB="7620"/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effectLst/>
                        </a:rPr>
                        <a:t>&amp;</a:t>
                      </a:r>
                      <a:r>
                        <a:rPr lang="en-GB" dirty="0" err="1">
                          <a:effectLst/>
                        </a:rPr>
                        <a:t>quot</a:t>
                      </a:r>
                      <a:r>
                        <a:rPr lang="en-GB" dirty="0">
                          <a:effectLst/>
                        </a:rPr>
                        <a:t>;</a:t>
                      </a:r>
                    </a:p>
                  </a:txBody>
                  <a:tcPr marL="7620" marR="7620" marT="7620" marB="762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988355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404664"/>
            <a:ext cx="8229600" cy="572149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it-IT" sz="2000" b="1" dirty="0" smtClean="0">
                <a:solidFill>
                  <a:srgbClr val="7030A0"/>
                </a:solidFill>
              </a:rPr>
              <a:t>&lt;Button</a:t>
            </a:r>
            <a:r>
              <a:rPr lang="it-IT" sz="2000" b="1" dirty="0">
                <a:solidFill>
                  <a:srgbClr val="7030A0"/>
                </a:solidFill>
              </a:rPr>
              <a:t> </a:t>
            </a:r>
            <a:r>
              <a:rPr lang="it-IT" sz="2000" b="1" dirty="0" smtClean="0">
                <a:solidFill>
                  <a:srgbClr val="7030A0"/>
                </a:solidFill>
              </a:rPr>
              <a:t>Content="&amp;lt;&amp;quot;Hello&amp;quot;&amp;gt;"</a:t>
            </a:r>
            <a:r>
              <a:rPr lang="it-IT" sz="2000" b="1" dirty="0">
                <a:solidFill>
                  <a:srgbClr val="7030A0"/>
                </a:solidFill>
              </a:rPr>
              <a:t> </a:t>
            </a:r>
            <a:r>
              <a:rPr lang="it-IT" sz="2000" b="1" dirty="0" smtClean="0">
                <a:solidFill>
                  <a:srgbClr val="7030A0"/>
                </a:solidFill>
              </a:rPr>
              <a:t>/&gt;</a:t>
            </a:r>
            <a:endParaRPr lang="ru-RU" sz="2000" b="1" dirty="0" smtClean="0">
              <a:solidFill>
                <a:srgbClr val="7030A0"/>
              </a:solidFill>
            </a:endParaRPr>
          </a:p>
          <a:p>
            <a:endParaRPr lang="ru-RU" sz="2000" dirty="0"/>
          </a:p>
          <a:p>
            <a:r>
              <a:rPr lang="ru-RU" sz="2000" dirty="0"/>
              <a:t> XAML по умолчанию будет убирать все эти пробелы. </a:t>
            </a:r>
            <a:r>
              <a:rPr lang="ru-RU" sz="2000" dirty="0" smtClean="0"/>
              <a:t>Чтобы сохранить </a:t>
            </a:r>
            <a:r>
              <a:rPr lang="ru-RU" sz="2000" dirty="0"/>
              <a:t>пробелы, </a:t>
            </a:r>
            <a:r>
              <a:rPr lang="ru-RU" sz="2000" dirty="0" smtClean="0"/>
              <a:t>надо </a:t>
            </a:r>
            <a:r>
              <a:rPr lang="ru-RU" sz="2000" dirty="0"/>
              <a:t>использовать атрибут </a:t>
            </a:r>
            <a:r>
              <a:rPr lang="ru-RU" sz="2000" dirty="0" err="1" smtClean="0"/>
              <a:t>xml:space</a:t>
            </a:r>
            <a:r>
              <a:rPr lang="ru-RU" sz="2000" dirty="0" smtClean="0"/>
              <a:t>="</a:t>
            </a:r>
            <a:r>
              <a:rPr lang="ru-RU" sz="2000" dirty="0" err="1" smtClean="0"/>
              <a:t>preserve</a:t>
            </a:r>
            <a:r>
              <a:rPr lang="ru-RU" sz="2000" dirty="0" smtClean="0"/>
              <a:t>":</a:t>
            </a:r>
          </a:p>
          <a:p>
            <a:endParaRPr lang="ru-RU" sz="2000" dirty="0" smtClean="0"/>
          </a:p>
          <a:p>
            <a:pPr marL="0" indent="0" fontAlgn="base">
              <a:buNone/>
            </a:pPr>
            <a:r>
              <a:rPr lang="en-US" sz="2000" b="1" dirty="0">
                <a:solidFill>
                  <a:srgbClr val="7030A0"/>
                </a:solidFill>
              </a:rPr>
              <a:t>&lt;Button </a:t>
            </a:r>
            <a:r>
              <a:rPr lang="en-US" sz="2000" b="1" dirty="0" err="1">
                <a:solidFill>
                  <a:srgbClr val="7030A0"/>
                </a:solidFill>
              </a:rPr>
              <a:t>xml:space</a:t>
            </a:r>
            <a:r>
              <a:rPr lang="en-US" sz="2000" b="1" dirty="0">
                <a:solidFill>
                  <a:srgbClr val="7030A0"/>
                </a:solidFill>
              </a:rPr>
              <a:t>="preserve"&gt;</a:t>
            </a:r>
          </a:p>
          <a:p>
            <a:pPr marL="0" indent="0" fontAlgn="base">
              <a:buNone/>
            </a:pPr>
            <a:r>
              <a:rPr lang="en-US" sz="2000" b="1" dirty="0">
                <a:solidFill>
                  <a:srgbClr val="7030A0"/>
                </a:solidFill>
              </a:rPr>
              <a:t>    Hello         World</a:t>
            </a:r>
          </a:p>
          <a:p>
            <a:pPr marL="0" indent="0" fontAlgn="base">
              <a:buNone/>
            </a:pPr>
            <a:r>
              <a:rPr lang="en-US" sz="2000" b="1" dirty="0">
                <a:solidFill>
                  <a:srgbClr val="7030A0"/>
                </a:solidFill>
              </a:rPr>
              <a:t>&lt;/Button&gt;</a:t>
            </a:r>
          </a:p>
          <a:p>
            <a:endParaRPr lang="ru-RU" dirty="0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27984" y="3284984"/>
            <a:ext cx="3977354" cy="25185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7310157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06090"/>
          </a:xfrm>
        </p:spPr>
        <p:txBody>
          <a:bodyPr>
            <a:normAutofit/>
          </a:bodyPr>
          <a:lstStyle/>
          <a:p>
            <a:r>
              <a:rPr lang="ru-RU" sz="3200" b="1" dirty="0"/>
              <a:t>Файлы отделенного </a:t>
            </a:r>
            <a:r>
              <a:rPr lang="ru-RU" sz="3200" b="1" dirty="0" smtClean="0"/>
              <a:t>кода</a:t>
            </a:r>
            <a:endParaRPr lang="ru-RU" sz="32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980728"/>
            <a:ext cx="8507288" cy="5616624"/>
          </a:xfrm>
        </p:spPr>
        <p:txBody>
          <a:bodyPr>
            <a:normAutofit fontScale="70000" lnSpcReduction="20000"/>
          </a:bodyPr>
          <a:lstStyle/>
          <a:p>
            <a:pPr>
              <a:spcAft>
                <a:spcPts val="600"/>
              </a:spcAft>
            </a:pPr>
            <a:r>
              <a:rPr lang="ru-RU" sz="2900" b="0" i="0" dirty="0" smtClean="0">
                <a:solidFill>
                  <a:srgbClr val="000000"/>
                </a:solidFill>
                <a:effectLst/>
                <a:latin typeface="verdana"/>
              </a:rPr>
              <a:t>При создании нового проекта WPF в дополнение к создаваемому файлу </a:t>
            </a:r>
            <a:r>
              <a:rPr lang="ru-RU" sz="2900" b="0" i="1" dirty="0" err="1" smtClean="0">
                <a:solidFill>
                  <a:srgbClr val="000000"/>
                </a:solidFill>
                <a:effectLst/>
                <a:latin typeface="verdana"/>
              </a:rPr>
              <a:t>MainWindow.xaml</a:t>
            </a:r>
            <a:r>
              <a:rPr lang="ru-RU" sz="2900" b="0" i="0" dirty="0" smtClean="0">
                <a:solidFill>
                  <a:srgbClr val="000000"/>
                </a:solidFill>
                <a:effectLst/>
                <a:latin typeface="verdana"/>
              </a:rPr>
              <a:t> создается также файл отделенного кода </a:t>
            </a:r>
            <a:r>
              <a:rPr lang="ru-RU" sz="2900" b="0" i="1" dirty="0" err="1" smtClean="0">
                <a:solidFill>
                  <a:srgbClr val="000000"/>
                </a:solidFill>
                <a:effectLst/>
                <a:latin typeface="verdana"/>
              </a:rPr>
              <a:t>MainWindow.xaml.cs</a:t>
            </a:r>
            <a:r>
              <a:rPr lang="ru-RU" sz="2900" b="0" i="0" dirty="0" smtClean="0">
                <a:solidFill>
                  <a:srgbClr val="000000"/>
                </a:solidFill>
                <a:effectLst/>
                <a:latin typeface="verdana"/>
              </a:rPr>
              <a:t>, где, как предполагается, должна находится логика приложения связанная с разметкой из </a:t>
            </a:r>
            <a:r>
              <a:rPr lang="ru-RU" sz="2900" b="0" i="0" dirty="0" err="1" smtClean="0">
                <a:solidFill>
                  <a:srgbClr val="000000"/>
                </a:solidFill>
                <a:effectLst/>
                <a:latin typeface="verdana"/>
              </a:rPr>
              <a:t>MainWindow.xaml</a:t>
            </a:r>
            <a:r>
              <a:rPr lang="ru-RU" sz="2900" b="0" i="0" dirty="0" smtClean="0">
                <a:solidFill>
                  <a:srgbClr val="000000"/>
                </a:solidFill>
                <a:effectLst/>
                <a:latin typeface="verdana"/>
              </a:rPr>
              <a:t>. </a:t>
            </a:r>
          </a:p>
          <a:p>
            <a:pPr>
              <a:spcAft>
                <a:spcPts val="600"/>
              </a:spcAft>
            </a:pPr>
            <a:r>
              <a:rPr lang="ru-RU" sz="2900" b="0" i="0" dirty="0" smtClean="0">
                <a:solidFill>
                  <a:srgbClr val="000000"/>
                </a:solidFill>
                <a:effectLst/>
                <a:latin typeface="verdana"/>
              </a:rPr>
              <a:t>Файлы XAML позволяют нам определить интерфейс окна, но для создания логики приложения, например, для определения обработчиков событий элементов управления, все равно придется воспользоваться кодом C#.</a:t>
            </a:r>
          </a:p>
          <a:p>
            <a:pPr fontAlgn="base">
              <a:spcAft>
                <a:spcPts val="600"/>
              </a:spcAft>
            </a:pPr>
            <a:r>
              <a:rPr lang="ru-RU" sz="2900" b="0" i="0" dirty="0" smtClean="0">
                <a:solidFill>
                  <a:srgbClr val="000000"/>
                </a:solidFill>
                <a:effectLst/>
                <a:latin typeface="verdana"/>
              </a:rPr>
              <a:t>По умолчанию в разметке окна используется атрибут </a:t>
            </a:r>
            <a:r>
              <a:rPr lang="ru-RU" sz="2900" b="1" i="0" dirty="0" smtClean="0">
                <a:solidFill>
                  <a:srgbClr val="000000"/>
                </a:solidFill>
                <a:effectLst/>
                <a:latin typeface="verdana"/>
              </a:rPr>
              <a:t>x:Class</a:t>
            </a:r>
            <a:r>
              <a:rPr lang="ru-RU" sz="2900" b="0" i="0" dirty="0" smtClean="0">
                <a:solidFill>
                  <a:srgbClr val="000000"/>
                </a:solidFill>
                <a:effectLst/>
                <a:latin typeface="verdana"/>
              </a:rPr>
              <a:t>:</a:t>
            </a:r>
          </a:p>
          <a:p>
            <a:pPr marL="0" indent="0" fontAlgn="base">
              <a:spcAft>
                <a:spcPts val="600"/>
              </a:spcAft>
              <a:buNone/>
            </a:pPr>
            <a:r>
              <a:rPr lang="en-GB" sz="2900" b="1" dirty="0" smtClean="0">
                <a:solidFill>
                  <a:srgbClr val="7030A0"/>
                </a:solidFill>
              </a:rPr>
              <a:t>&lt;</a:t>
            </a:r>
            <a:r>
              <a:rPr lang="en-GB" sz="2900" b="1" dirty="0">
                <a:solidFill>
                  <a:srgbClr val="7030A0"/>
                </a:solidFill>
              </a:rPr>
              <a:t>Window x:Class="XamlApp.MainWindow" </a:t>
            </a:r>
          </a:p>
          <a:p>
            <a:pPr marL="0" indent="0" fontAlgn="base">
              <a:spcAft>
                <a:spcPts val="600"/>
              </a:spcAft>
              <a:buNone/>
            </a:pPr>
            <a:r>
              <a:rPr lang="en-GB" sz="2900" b="1" dirty="0" smtClean="0">
                <a:solidFill>
                  <a:srgbClr val="7030A0"/>
                </a:solidFill>
              </a:rPr>
              <a:t>.......</a:t>
            </a:r>
            <a:endParaRPr lang="ru-RU" sz="2900" b="1" dirty="0" smtClean="0">
              <a:solidFill>
                <a:srgbClr val="7030A0"/>
              </a:solidFill>
            </a:endParaRPr>
          </a:p>
          <a:p>
            <a:pPr marL="0" indent="0" fontAlgn="base">
              <a:spcAft>
                <a:spcPts val="600"/>
              </a:spcAft>
              <a:buNone/>
            </a:pPr>
            <a:r>
              <a:rPr lang="ru-RU" sz="2900" dirty="0"/>
              <a:t>Атрибут </a:t>
            </a:r>
            <a:r>
              <a:rPr lang="ru-RU" sz="2900" b="1" dirty="0"/>
              <a:t>x:Class</a:t>
            </a:r>
            <a:r>
              <a:rPr lang="ru-RU" sz="2900" dirty="0"/>
              <a:t> указывает на класс, который будет представлять данное окно и в который будет компилироваться код в XAML при компиляции. То есть во время компиляции будет генерироваться класс </a:t>
            </a:r>
            <a:r>
              <a:rPr lang="ru-RU" sz="2900" b="1" dirty="0" err="1"/>
              <a:t>XamlApp.MainWindow</a:t>
            </a:r>
            <a:r>
              <a:rPr lang="ru-RU" sz="2900" dirty="0"/>
              <a:t>, унаследованный от класса </a:t>
            </a:r>
            <a:r>
              <a:rPr lang="ru-RU" sz="2900" dirty="0" err="1" smtClean="0"/>
              <a:t>System.Windows.Window</a:t>
            </a:r>
            <a:r>
              <a:rPr lang="ru-RU" sz="2900" dirty="0"/>
              <a:t>.</a:t>
            </a:r>
            <a:endParaRPr lang="en-GB" sz="2900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617931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16632"/>
            <a:ext cx="8507288" cy="6696744"/>
          </a:xfrm>
        </p:spPr>
        <p:txBody>
          <a:bodyPr>
            <a:normAutofit fontScale="40000" lnSpcReduction="20000"/>
          </a:bodyPr>
          <a:lstStyle/>
          <a:p>
            <a:r>
              <a:rPr lang="ru-RU" b="0" i="0" dirty="0" smtClean="0">
                <a:solidFill>
                  <a:srgbClr val="000000"/>
                </a:solidFill>
                <a:effectLst/>
                <a:latin typeface="verdana"/>
              </a:rPr>
              <a:t>Кроме того в файле отделенного кода </a:t>
            </a:r>
            <a:r>
              <a:rPr lang="ru-RU" b="0" i="1" dirty="0" err="1" smtClean="0">
                <a:solidFill>
                  <a:srgbClr val="000000"/>
                </a:solidFill>
                <a:effectLst/>
                <a:latin typeface="verdana"/>
              </a:rPr>
              <a:t>MainWindow.xaml.cs</a:t>
            </a:r>
            <a:r>
              <a:rPr lang="ru-RU" b="0" i="0" dirty="0" smtClean="0">
                <a:solidFill>
                  <a:srgbClr val="000000"/>
                </a:solidFill>
                <a:effectLst/>
                <a:latin typeface="verdana"/>
              </a:rPr>
              <a:t>, который </a:t>
            </a:r>
            <a:r>
              <a:rPr lang="ru-RU" b="0" i="0" dirty="0" err="1" smtClean="0">
                <a:solidFill>
                  <a:srgbClr val="000000"/>
                </a:solidFill>
                <a:effectLst/>
                <a:latin typeface="verdana"/>
              </a:rPr>
              <a:t>Visual</a:t>
            </a:r>
            <a:r>
              <a:rPr lang="ru-RU" b="0" i="0" dirty="0" smtClean="0">
                <a:solidFill>
                  <a:srgbClr val="000000"/>
                </a:solidFill>
                <a:effectLst/>
                <a:latin typeface="verdana"/>
              </a:rPr>
              <a:t> </a:t>
            </a:r>
            <a:r>
              <a:rPr lang="ru-RU" b="0" i="0" dirty="0" err="1" smtClean="0">
                <a:solidFill>
                  <a:srgbClr val="000000"/>
                </a:solidFill>
                <a:effectLst/>
                <a:latin typeface="verdana"/>
              </a:rPr>
              <a:t>Studio</a:t>
            </a:r>
            <a:r>
              <a:rPr lang="ru-RU" b="0" i="0" dirty="0" smtClean="0">
                <a:solidFill>
                  <a:srgbClr val="000000"/>
                </a:solidFill>
                <a:effectLst/>
                <a:latin typeface="verdana"/>
              </a:rPr>
              <a:t> создает автоматически, также можно найти класс с тем же именем - в данном случае класс </a:t>
            </a:r>
            <a:r>
              <a:rPr lang="ru-RU" b="0" i="0" dirty="0" err="1" smtClean="0">
                <a:solidFill>
                  <a:srgbClr val="000000"/>
                </a:solidFill>
                <a:effectLst/>
                <a:latin typeface="verdana"/>
              </a:rPr>
              <a:t>XamlApp.MainWindow</a:t>
            </a:r>
            <a:r>
              <a:rPr lang="ru-RU" b="0" i="0" dirty="0" smtClean="0">
                <a:solidFill>
                  <a:srgbClr val="000000"/>
                </a:solidFill>
                <a:effectLst/>
                <a:latin typeface="verdana"/>
              </a:rPr>
              <a:t>. По умолчанию он имеет некоторый код:</a:t>
            </a:r>
          </a:p>
          <a:p>
            <a:pPr marL="0" indent="0" fontAlgn="base">
              <a:buNone/>
            </a:pPr>
            <a:r>
              <a:rPr lang="en-GB" dirty="0"/>
              <a:t>using System;</a:t>
            </a:r>
          </a:p>
          <a:p>
            <a:pPr marL="0" indent="0" fontAlgn="base">
              <a:buNone/>
            </a:pPr>
            <a:r>
              <a:rPr lang="en-GB" dirty="0"/>
              <a:t>using </a:t>
            </a:r>
            <a:r>
              <a:rPr lang="en-GB" dirty="0" err="1"/>
              <a:t>System.Collections.Generic</a:t>
            </a:r>
            <a:r>
              <a:rPr lang="en-GB" dirty="0"/>
              <a:t>;</a:t>
            </a:r>
          </a:p>
          <a:p>
            <a:pPr marL="0" indent="0" fontAlgn="base">
              <a:buNone/>
            </a:pPr>
            <a:r>
              <a:rPr lang="en-GB" dirty="0"/>
              <a:t>using </a:t>
            </a:r>
            <a:r>
              <a:rPr lang="en-GB" dirty="0" err="1"/>
              <a:t>System.Linq</a:t>
            </a:r>
            <a:r>
              <a:rPr lang="en-GB" dirty="0"/>
              <a:t>;</a:t>
            </a:r>
          </a:p>
          <a:p>
            <a:pPr marL="0" indent="0" fontAlgn="base">
              <a:buNone/>
            </a:pPr>
            <a:r>
              <a:rPr lang="en-GB" dirty="0"/>
              <a:t>using </a:t>
            </a:r>
            <a:r>
              <a:rPr lang="en-GB" dirty="0" err="1"/>
              <a:t>System.Text</a:t>
            </a:r>
            <a:r>
              <a:rPr lang="en-GB" dirty="0"/>
              <a:t>;</a:t>
            </a:r>
          </a:p>
          <a:p>
            <a:pPr marL="0" indent="0" fontAlgn="base">
              <a:buNone/>
            </a:pPr>
            <a:r>
              <a:rPr lang="en-GB" dirty="0"/>
              <a:t>using </a:t>
            </a:r>
            <a:r>
              <a:rPr lang="en-GB" dirty="0" err="1"/>
              <a:t>System.Threading.Tasks</a:t>
            </a:r>
            <a:r>
              <a:rPr lang="en-GB" dirty="0"/>
              <a:t>;</a:t>
            </a:r>
          </a:p>
          <a:p>
            <a:pPr marL="0" indent="0" fontAlgn="base">
              <a:buNone/>
            </a:pPr>
            <a:r>
              <a:rPr lang="en-GB" dirty="0"/>
              <a:t>using </a:t>
            </a:r>
            <a:r>
              <a:rPr lang="en-GB" dirty="0" err="1"/>
              <a:t>System.Windows</a:t>
            </a:r>
            <a:r>
              <a:rPr lang="en-GB" dirty="0"/>
              <a:t>;</a:t>
            </a:r>
          </a:p>
          <a:p>
            <a:pPr marL="0" indent="0" fontAlgn="base">
              <a:buNone/>
            </a:pPr>
            <a:r>
              <a:rPr lang="en-GB" dirty="0"/>
              <a:t>using </a:t>
            </a:r>
            <a:r>
              <a:rPr lang="en-GB" dirty="0" err="1"/>
              <a:t>System.Windows.Controls</a:t>
            </a:r>
            <a:r>
              <a:rPr lang="en-GB" dirty="0"/>
              <a:t>;</a:t>
            </a:r>
          </a:p>
          <a:p>
            <a:pPr marL="0" indent="0" fontAlgn="base">
              <a:buNone/>
            </a:pPr>
            <a:r>
              <a:rPr lang="en-GB" dirty="0"/>
              <a:t>using </a:t>
            </a:r>
            <a:r>
              <a:rPr lang="en-GB" dirty="0" err="1"/>
              <a:t>System.Windows.Data</a:t>
            </a:r>
            <a:r>
              <a:rPr lang="en-GB" dirty="0"/>
              <a:t>;</a:t>
            </a:r>
          </a:p>
          <a:p>
            <a:pPr marL="0" indent="0" fontAlgn="base">
              <a:buNone/>
            </a:pPr>
            <a:r>
              <a:rPr lang="en-GB" dirty="0"/>
              <a:t>using </a:t>
            </a:r>
            <a:r>
              <a:rPr lang="en-GB" dirty="0" err="1"/>
              <a:t>System.Windows.Documents</a:t>
            </a:r>
            <a:r>
              <a:rPr lang="en-GB" dirty="0"/>
              <a:t>;</a:t>
            </a:r>
          </a:p>
          <a:p>
            <a:pPr marL="0" indent="0" fontAlgn="base">
              <a:buNone/>
            </a:pPr>
            <a:r>
              <a:rPr lang="en-GB" dirty="0"/>
              <a:t>using </a:t>
            </a:r>
            <a:r>
              <a:rPr lang="en-GB" dirty="0" err="1"/>
              <a:t>System.Windows.Input</a:t>
            </a:r>
            <a:r>
              <a:rPr lang="en-GB" dirty="0"/>
              <a:t>;</a:t>
            </a:r>
          </a:p>
          <a:p>
            <a:pPr marL="0" indent="0" fontAlgn="base">
              <a:buNone/>
            </a:pPr>
            <a:r>
              <a:rPr lang="en-GB" dirty="0"/>
              <a:t>using </a:t>
            </a:r>
            <a:r>
              <a:rPr lang="en-GB" dirty="0" err="1"/>
              <a:t>System.Windows.Media</a:t>
            </a:r>
            <a:r>
              <a:rPr lang="en-GB" dirty="0"/>
              <a:t>;</a:t>
            </a:r>
          </a:p>
          <a:p>
            <a:pPr marL="0" indent="0" fontAlgn="base">
              <a:buNone/>
            </a:pPr>
            <a:r>
              <a:rPr lang="en-GB" dirty="0"/>
              <a:t>using </a:t>
            </a:r>
            <a:r>
              <a:rPr lang="en-GB" dirty="0" err="1"/>
              <a:t>System.Windows.Media.Imaging</a:t>
            </a:r>
            <a:r>
              <a:rPr lang="en-GB" dirty="0"/>
              <a:t>;</a:t>
            </a:r>
          </a:p>
          <a:p>
            <a:pPr marL="0" indent="0" fontAlgn="base">
              <a:buNone/>
            </a:pPr>
            <a:r>
              <a:rPr lang="en-GB" dirty="0"/>
              <a:t>using </a:t>
            </a:r>
            <a:r>
              <a:rPr lang="en-GB" dirty="0" err="1"/>
              <a:t>System.Windows.Navigation</a:t>
            </a:r>
            <a:r>
              <a:rPr lang="en-GB" dirty="0"/>
              <a:t>;</a:t>
            </a:r>
          </a:p>
          <a:p>
            <a:pPr marL="0" indent="0" fontAlgn="base">
              <a:buNone/>
            </a:pPr>
            <a:r>
              <a:rPr lang="en-GB" dirty="0"/>
              <a:t>using </a:t>
            </a:r>
            <a:r>
              <a:rPr lang="en-GB" dirty="0" err="1"/>
              <a:t>System.Windows.Shapes</a:t>
            </a:r>
            <a:r>
              <a:rPr lang="en-GB" dirty="0"/>
              <a:t>;</a:t>
            </a:r>
          </a:p>
          <a:p>
            <a:pPr marL="0" indent="0" fontAlgn="base">
              <a:buNone/>
            </a:pPr>
            <a:r>
              <a:rPr lang="en-GB" dirty="0"/>
              <a:t> </a:t>
            </a:r>
          </a:p>
          <a:p>
            <a:pPr marL="0" indent="0" fontAlgn="base">
              <a:buNone/>
            </a:pPr>
            <a:r>
              <a:rPr lang="en-GB" dirty="0"/>
              <a:t>namespace </a:t>
            </a:r>
            <a:r>
              <a:rPr lang="en-GB" dirty="0" err="1"/>
              <a:t>XamlApp</a:t>
            </a:r>
            <a:endParaRPr lang="en-GB" dirty="0"/>
          </a:p>
          <a:p>
            <a:pPr marL="0" indent="0" fontAlgn="base">
              <a:buNone/>
            </a:pPr>
            <a:r>
              <a:rPr lang="en-GB" dirty="0"/>
              <a:t>{</a:t>
            </a:r>
          </a:p>
          <a:p>
            <a:pPr marL="0" indent="0" fontAlgn="base">
              <a:buNone/>
            </a:pPr>
            <a:r>
              <a:rPr lang="en-GB" dirty="0"/>
              <a:t>    public partial class </a:t>
            </a:r>
            <a:r>
              <a:rPr lang="en-GB" dirty="0" err="1"/>
              <a:t>MainWindow</a:t>
            </a:r>
            <a:r>
              <a:rPr lang="en-GB" dirty="0"/>
              <a:t> : Window</a:t>
            </a:r>
          </a:p>
          <a:p>
            <a:pPr marL="0" indent="0" fontAlgn="base">
              <a:buNone/>
            </a:pPr>
            <a:r>
              <a:rPr lang="en-GB" dirty="0"/>
              <a:t>    {</a:t>
            </a:r>
          </a:p>
          <a:p>
            <a:pPr marL="0" indent="0" fontAlgn="base">
              <a:buNone/>
            </a:pPr>
            <a:r>
              <a:rPr lang="en-GB" dirty="0"/>
              <a:t>        public </a:t>
            </a:r>
            <a:r>
              <a:rPr lang="en-GB" dirty="0" err="1"/>
              <a:t>MainWindow</a:t>
            </a:r>
            <a:r>
              <a:rPr lang="en-GB" dirty="0"/>
              <a:t>()</a:t>
            </a:r>
          </a:p>
          <a:p>
            <a:pPr marL="0" indent="0" fontAlgn="base">
              <a:buNone/>
            </a:pPr>
            <a:r>
              <a:rPr lang="en-GB" dirty="0"/>
              <a:t>        {</a:t>
            </a:r>
          </a:p>
          <a:p>
            <a:pPr marL="0" indent="0" fontAlgn="base">
              <a:buNone/>
            </a:pPr>
            <a:r>
              <a:rPr lang="en-GB" dirty="0"/>
              <a:t>            </a:t>
            </a:r>
            <a:r>
              <a:rPr lang="en-GB" dirty="0" err="1"/>
              <a:t>InitializeComponent</a:t>
            </a:r>
            <a:r>
              <a:rPr lang="en-GB" dirty="0"/>
              <a:t>();</a:t>
            </a:r>
          </a:p>
          <a:p>
            <a:pPr marL="0" indent="0" fontAlgn="base">
              <a:buNone/>
            </a:pPr>
            <a:r>
              <a:rPr lang="en-GB" dirty="0"/>
              <a:t>        }</a:t>
            </a:r>
          </a:p>
          <a:p>
            <a:pPr marL="0" indent="0" fontAlgn="base">
              <a:buNone/>
            </a:pPr>
            <a:r>
              <a:rPr lang="en-GB" dirty="0"/>
              <a:t>    }</a:t>
            </a:r>
          </a:p>
          <a:p>
            <a:pPr marL="0" indent="0" fontAlgn="base">
              <a:buNone/>
            </a:pPr>
            <a:r>
              <a:rPr lang="en-GB" dirty="0"/>
              <a:t>}</a:t>
            </a:r>
          </a:p>
          <a:p>
            <a:pPr marL="0" indent="0">
              <a:buNone/>
            </a:pPr>
            <a:r>
              <a:rPr lang="ru-RU" dirty="0" smtClean="0"/>
              <a:t>Пустой класс</a:t>
            </a:r>
            <a:r>
              <a:rPr lang="ru-RU" dirty="0"/>
              <a:t>, но этот класс уже выполняет некоторую </a:t>
            </a:r>
            <a:r>
              <a:rPr lang="ru-RU" dirty="0" smtClean="0"/>
              <a:t>работу:</a:t>
            </a:r>
          </a:p>
          <a:p>
            <a:r>
              <a:rPr lang="ru-RU" dirty="0" smtClean="0"/>
              <a:t>Во </a:t>
            </a:r>
            <a:r>
              <a:rPr lang="ru-RU" dirty="0"/>
              <a:t>время компиляции этот класс объединяется с классом, сгенерированном из кода XAML. Чтобы такое слияние классов во время компиляции произошло, класс </a:t>
            </a:r>
            <a:r>
              <a:rPr lang="ru-RU" dirty="0" err="1"/>
              <a:t>XamlApp.MainWindow</a:t>
            </a:r>
            <a:r>
              <a:rPr lang="ru-RU" dirty="0"/>
              <a:t> определяется как частичный с модификатором </a:t>
            </a:r>
            <a:r>
              <a:rPr lang="ru-RU" b="1" dirty="0" err="1"/>
              <a:t>partial</a:t>
            </a:r>
            <a:r>
              <a:rPr lang="ru-RU" dirty="0"/>
              <a:t>. </a:t>
            </a:r>
            <a:endParaRPr lang="ru-RU" dirty="0" smtClean="0"/>
          </a:p>
          <a:p>
            <a:r>
              <a:rPr lang="ru-RU" dirty="0" smtClean="0"/>
              <a:t>А </a:t>
            </a:r>
            <a:r>
              <a:rPr lang="ru-RU" dirty="0"/>
              <a:t>через метод </a:t>
            </a:r>
            <a:r>
              <a:rPr lang="ru-RU" dirty="0" err="1" smtClean="0"/>
              <a:t>InitializeComponent</a:t>
            </a:r>
            <a:r>
              <a:rPr lang="ru-RU" dirty="0" smtClean="0"/>
              <a:t>()</a:t>
            </a:r>
            <a:r>
              <a:rPr lang="ru-RU" dirty="0"/>
              <a:t> класс </a:t>
            </a:r>
            <a:r>
              <a:rPr lang="ru-RU" dirty="0" err="1"/>
              <a:t>MainWindow</a:t>
            </a:r>
            <a:r>
              <a:rPr lang="ru-RU" dirty="0"/>
              <a:t> вызывает скомпилированный ранее код XAML, разбирает его и по нему строит графический интерфейс окна.</a:t>
            </a:r>
          </a:p>
        </p:txBody>
      </p:sp>
    </p:spTree>
    <p:extLst>
      <p:ext uri="{BB962C8B-B14F-4D97-AF65-F5344CB8AC3E}">
        <p14:creationId xmlns:p14="http://schemas.microsoft.com/office/powerpoint/2010/main" val="11332606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62074"/>
          </a:xfrm>
        </p:spPr>
        <p:txBody>
          <a:bodyPr>
            <a:normAutofit fontScale="90000"/>
          </a:bodyPr>
          <a:lstStyle/>
          <a:p>
            <a:r>
              <a:rPr lang="ru-RU" sz="3200" b="1" dirty="0" smtClean="0"/>
              <a:t>Взаимодействие кода C# и XAML</a:t>
            </a:r>
            <a:endParaRPr lang="ru-RU" sz="32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764704"/>
            <a:ext cx="8229600" cy="5361459"/>
          </a:xfrm>
        </p:spPr>
        <p:txBody>
          <a:bodyPr>
            <a:normAutofit/>
          </a:bodyPr>
          <a:lstStyle/>
          <a:p>
            <a:r>
              <a:rPr lang="ru-RU" dirty="0" smtClean="0"/>
              <a:t>В </a:t>
            </a:r>
            <a:r>
              <a:rPr lang="ru-RU" dirty="0"/>
              <a:t>приложении часто требуется обратиться к какому-нибудь элементу управления. Для этого надо установить у элемента в XAML свойство </a:t>
            </a:r>
            <a:r>
              <a:rPr lang="ru-RU" dirty="0" err="1"/>
              <a:t>Name</a:t>
            </a:r>
            <a:r>
              <a:rPr lang="ru-RU" dirty="0"/>
              <a:t>.</a:t>
            </a:r>
          </a:p>
          <a:p>
            <a:r>
              <a:rPr lang="ru-RU" dirty="0"/>
              <a:t>Еще одной точкой взаимодействия между </a:t>
            </a:r>
            <a:r>
              <a:rPr lang="ru-RU" dirty="0" err="1"/>
              <a:t>xaml</a:t>
            </a:r>
            <a:r>
              <a:rPr lang="ru-RU" dirty="0"/>
              <a:t> и C# являются события. С помощью атрибутов в XAML мы можем задать события, которые будут связанны с обработчиками в коде C#.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80659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62074"/>
          </a:xfrm>
        </p:spPr>
        <p:txBody>
          <a:bodyPr>
            <a:normAutofit fontScale="90000"/>
          </a:bodyPr>
          <a:lstStyle/>
          <a:p>
            <a:r>
              <a:rPr lang="ru-RU" sz="3200" dirty="0" smtClean="0"/>
              <a:t>кнопка и текстовое поле</a:t>
            </a:r>
            <a:endParaRPr lang="ru-RU" sz="32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07504" y="908720"/>
            <a:ext cx="8856984" cy="521744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1500" dirty="0"/>
              <a:t>&lt;Window x:Class="XamlApp.MainWindow"</a:t>
            </a:r>
          </a:p>
          <a:p>
            <a:pPr marL="0" indent="0">
              <a:buNone/>
            </a:pPr>
            <a:r>
              <a:rPr lang="en-GB" sz="1500" dirty="0" err="1" smtClean="0"/>
              <a:t>xmlns</a:t>
            </a:r>
            <a:r>
              <a:rPr lang="en-GB" sz="1500" dirty="0"/>
              <a:t>="http://schemas.microsoft.com/</a:t>
            </a:r>
            <a:r>
              <a:rPr lang="en-GB" sz="1500" dirty="0" err="1"/>
              <a:t>winfx</a:t>
            </a:r>
            <a:r>
              <a:rPr lang="en-GB" sz="1500" dirty="0"/>
              <a:t>/2006/</a:t>
            </a:r>
            <a:r>
              <a:rPr lang="en-GB" sz="1500" dirty="0" err="1"/>
              <a:t>xaml</a:t>
            </a:r>
            <a:r>
              <a:rPr lang="en-GB" sz="1500" dirty="0"/>
              <a:t>/presentation"</a:t>
            </a:r>
          </a:p>
          <a:p>
            <a:pPr marL="0" indent="0">
              <a:buNone/>
            </a:pPr>
            <a:r>
              <a:rPr lang="en-GB" sz="1500" dirty="0"/>
              <a:t>        </a:t>
            </a:r>
            <a:r>
              <a:rPr lang="en-GB" sz="1500" dirty="0" err="1"/>
              <a:t>xmlns:x</a:t>
            </a:r>
            <a:r>
              <a:rPr lang="en-GB" sz="1500" dirty="0"/>
              <a:t>="http://schemas.microsoft.com/</a:t>
            </a:r>
            <a:r>
              <a:rPr lang="en-GB" sz="1500" dirty="0" err="1"/>
              <a:t>winfx</a:t>
            </a:r>
            <a:r>
              <a:rPr lang="en-GB" sz="1500" dirty="0"/>
              <a:t>/2006/</a:t>
            </a:r>
            <a:r>
              <a:rPr lang="en-GB" sz="1500" dirty="0" err="1"/>
              <a:t>xaml</a:t>
            </a:r>
            <a:r>
              <a:rPr lang="en-GB" sz="1500" dirty="0"/>
              <a:t>"</a:t>
            </a:r>
          </a:p>
          <a:p>
            <a:pPr marL="0" indent="0">
              <a:buNone/>
            </a:pPr>
            <a:r>
              <a:rPr lang="en-US" sz="1500" dirty="0"/>
              <a:t>        Title="</a:t>
            </a:r>
            <a:r>
              <a:rPr lang="en-US" sz="1500" dirty="0" err="1"/>
              <a:t>MainWindow</a:t>
            </a:r>
            <a:r>
              <a:rPr lang="en-US" sz="1500" dirty="0"/>
              <a:t>" Height="350" Width="525"&gt;</a:t>
            </a:r>
          </a:p>
          <a:p>
            <a:pPr marL="0" indent="0">
              <a:buNone/>
            </a:pPr>
            <a:r>
              <a:rPr lang="ru-RU" sz="1500" dirty="0"/>
              <a:t>   </a:t>
            </a:r>
          </a:p>
          <a:p>
            <a:pPr marL="0" indent="0">
              <a:buNone/>
            </a:pPr>
            <a:r>
              <a:rPr lang="en-GB" sz="1500" dirty="0"/>
              <a:t>        &lt;Grid x:Name="grid1"&gt;</a:t>
            </a:r>
          </a:p>
          <a:p>
            <a:pPr marL="0" indent="0">
              <a:buNone/>
            </a:pPr>
            <a:r>
              <a:rPr lang="en-US" sz="1500" dirty="0"/>
              <a:t>            &lt;</a:t>
            </a:r>
            <a:r>
              <a:rPr lang="en-US" sz="1500" dirty="0" err="1"/>
              <a:t>TextBox</a:t>
            </a:r>
            <a:r>
              <a:rPr lang="en-US" sz="1500" dirty="0"/>
              <a:t> x:Name="textBox1" Width="150" Height="30" </a:t>
            </a:r>
            <a:r>
              <a:rPr lang="en-US" sz="1500" dirty="0" err="1"/>
              <a:t>VerticalAlignment</a:t>
            </a:r>
            <a:r>
              <a:rPr lang="en-US" sz="1500" dirty="0"/>
              <a:t>="Top" Margin="20" /&gt;</a:t>
            </a:r>
          </a:p>
          <a:p>
            <a:pPr marL="0" indent="0">
              <a:buNone/>
            </a:pPr>
            <a:r>
              <a:rPr lang="en-US" sz="1500" dirty="0"/>
              <a:t>            &lt;Button x:Name="button1"  Width="100" Height="30" Content="</a:t>
            </a:r>
            <a:r>
              <a:rPr lang="en-US" sz="1500" dirty="0" err="1"/>
              <a:t>Кнопка</a:t>
            </a:r>
            <a:r>
              <a:rPr lang="en-US" sz="1500" dirty="0"/>
              <a:t>" Click="</a:t>
            </a:r>
            <a:r>
              <a:rPr lang="en-US" sz="1500" dirty="0" err="1"/>
              <a:t>Button_Click</a:t>
            </a:r>
            <a:r>
              <a:rPr lang="en-US" sz="1500" dirty="0"/>
              <a:t>" /&gt;</a:t>
            </a:r>
          </a:p>
          <a:p>
            <a:pPr marL="0" indent="0">
              <a:buNone/>
            </a:pPr>
            <a:r>
              <a:rPr lang="en-GB" sz="1500" dirty="0" smtClean="0"/>
              <a:t>    </a:t>
            </a:r>
            <a:r>
              <a:rPr lang="en-GB" sz="1500" dirty="0"/>
              <a:t>&lt;/Grid&gt;</a:t>
            </a:r>
          </a:p>
          <a:p>
            <a:pPr marL="0" indent="0">
              <a:buNone/>
            </a:pPr>
            <a:r>
              <a:rPr lang="en-GB" sz="1500" dirty="0"/>
              <a:t>&lt;/Window&gt;</a:t>
            </a:r>
          </a:p>
          <a:p>
            <a:endParaRPr lang="ru-RU" sz="2400" dirty="0"/>
          </a:p>
          <a:p>
            <a:endParaRPr lang="ru-RU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179512" y="4365104"/>
            <a:ext cx="8712968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При определении имен в XAML надо учитывать, что оба пространства имен </a:t>
            </a:r>
            <a:r>
              <a:rPr lang="ru-RU" b="1" dirty="0"/>
              <a:t>"http://schemas.microsoft.com/winfx/2006/xaml/presentation" </a:t>
            </a:r>
            <a:r>
              <a:rPr lang="ru-RU" dirty="0"/>
              <a:t>и </a:t>
            </a:r>
            <a:r>
              <a:rPr lang="ru-RU" b="1" dirty="0"/>
              <a:t>"http://schemas.microsoft.com/winfx/2006/xaml" </a:t>
            </a:r>
            <a:r>
              <a:rPr lang="ru-RU" dirty="0"/>
              <a:t>определяют атрибут </a:t>
            </a:r>
            <a:r>
              <a:rPr lang="ru-RU" b="1" dirty="0" err="1"/>
              <a:t>Name</a:t>
            </a:r>
            <a:r>
              <a:rPr lang="ru-RU" dirty="0"/>
              <a:t>, который устанавливает имя элемента. </a:t>
            </a:r>
            <a:endParaRPr lang="ru-RU" dirty="0" smtClean="0"/>
          </a:p>
          <a:p>
            <a:r>
              <a:rPr lang="ru-RU" dirty="0" smtClean="0"/>
              <a:t>Атрибут используется </a:t>
            </a:r>
            <a:r>
              <a:rPr lang="ru-RU" dirty="0"/>
              <a:t>с префиксом </a:t>
            </a:r>
            <a:r>
              <a:rPr lang="ru-RU" b="1" dirty="0"/>
              <a:t>x</a:t>
            </a:r>
            <a:r>
              <a:rPr lang="ru-RU" dirty="0"/>
              <a:t>: x:Name. Какое именно пространство имен использовать в данном случае, не столь важно, а </a:t>
            </a:r>
            <a:r>
              <a:rPr lang="ru-RU" dirty="0" smtClean="0"/>
              <a:t>определения </a:t>
            </a:r>
            <a:r>
              <a:rPr lang="ru-RU" dirty="0"/>
              <a:t>имени </a:t>
            </a:r>
            <a:r>
              <a:rPr lang="ru-RU" b="1" dirty="0"/>
              <a:t>x:Name="button1" и </a:t>
            </a:r>
            <a:r>
              <a:rPr lang="ru-RU" b="1" dirty="0" err="1"/>
              <a:t>Name</a:t>
            </a:r>
            <a:r>
              <a:rPr lang="ru-RU" b="1" dirty="0"/>
              <a:t>="button1"</a:t>
            </a:r>
            <a:r>
              <a:rPr lang="ru-RU" dirty="0"/>
              <a:t> фактически </a:t>
            </a:r>
            <a:r>
              <a:rPr lang="ru-RU" dirty="0" smtClean="0"/>
              <a:t>равноценны</a:t>
            </a:r>
            <a:r>
              <a:rPr lang="ru-RU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1188050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62074"/>
          </a:xfrm>
        </p:spPr>
        <p:txBody>
          <a:bodyPr>
            <a:noAutofit/>
          </a:bodyPr>
          <a:lstStyle/>
          <a:p>
            <a:r>
              <a:rPr lang="ru-RU" sz="2800" dirty="0" smtClean="0"/>
              <a:t>файл </a:t>
            </a:r>
            <a:r>
              <a:rPr lang="ru-RU" sz="2800" dirty="0"/>
              <a:t>отделенного кода, добавив в него обработчик нажатия кнопки: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79512" y="1124744"/>
            <a:ext cx="8507288" cy="5472608"/>
          </a:xfrm>
        </p:spPr>
        <p:txBody>
          <a:bodyPr>
            <a:normAutofit fontScale="40000" lnSpcReduction="20000"/>
          </a:bodyPr>
          <a:lstStyle/>
          <a:p>
            <a:pPr marL="0" indent="0">
              <a:buNone/>
            </a:pPr>
            <a:r>
              <a:rPr lang="en-GB" dirty="0"/>
              <a:t>using </a:t>
            </a:r>
            <a:r>
              <a:rPr lang="en-GB" dirty="0" err="1"/>
              <a:t>System.Windows.Media</a:t>
            </a:r>
            <a:r>
              <a:rPr lang="en-GB" dirty="0"/>
              <a:t>;</a:t>
            </a:r>
          </a:p>
          <a:p>
            <a:pPr marL="0" indent="0">
              <a:buNone/>
            </a:pPr>
            <a:r>
              <a:rPr lang="en-GB" dirty="0"/>
              <a:t>using </a:t>
            </a:r>
            <a:r>
              <a:rPr lang="en-GB" dirty="0" err="1"/>
              <a:t>System.Windows.Media.Imaging</a:t>
            </a:r>
            <a:r>
              <a:rPr lang="en-GB" dirty="0"/>
              <a:t>;</a:t>
            </a:r>
          </a:p>
          <a:p>
            <a:pPr marL="0" indent="0">
              <a:buNone/>
            </a:pPr>
            <a:r>
              <a:rPr lang="en-GB" dirty="0"/>
              <a:t>using </a:t>
            </a:r>
            <a:r>
              <a:rPr lang="en-GB" dirty="0" err="1"/>
              <a:t>System.Windows.Navigation</a:t>
            </a:r>
            <a:r>
              <a:rPr lang="en-GB" dirty="0"/>
              <a:t>;</a:t>
            </a:r>
          </a:p>
          <a:p>
            <a:pPr marL="0" indent="0">
              <a:buNone/>
            </a:pPr>
            <a:r>
              <a:rPr lang="en-GB" dirty="0"/>
              <a:t>using </a:t>
            </a:r>
            <a:r>
              <a:rPr lang="en-GB" dirty="0" err="1"/>
              <a:t>System.Windows.Shapes</a:t>
            </a:r>
            <a:r>
              <a:rPr lang="en-GB" dirty="0"/>
              <a:t>;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en-GB" dirty="0"/>
              <a:t>namespace </a:t>
            </a:r>
            <a:r>
              <a:rPr lang="en-GB" dirty="0" err="1"/>
              <a:t>XamlApp</a:t>
            </a:r>
            <a:endParaRPr lang="en-GB" dirty="0"/>
          </a:p>
          <a:p>
            <a:pPr marL="0" indent="0">
              <a:buNone/>
            </a:pPr>
            <a:r>
              <a:rPr lang="ru-RU" dirty="0"/>
              <a:t>{</a:t>
            </a:r>
          </a:p>
          <a:p>
            <a:pPr marL="0" indent="0">
              <a:buNone/>
            </a:pPr>
            <a:r>
              <a:rPr lang="en-GB" dirty="0"/>
              <a:t>    /// &lt;summary&gt;</a:t>
            </a:r>
          </a:p>
          <a:p>
            <a:pPr marL="0" indent="0">
              <a:buNone/>
            </a:pPr>
            <a:r>
              <a:rPr lang="en-GB" dirty="0"/>
              <a:t>    /// Interaction logic for </a:t>
            </a:r>
            <a:r>
              <a:rPr lang="en-GB" dirty="0" err="1"/>
              <a:t>MainWindow.xaml</a:t>
            </a:r>
            <a:endParaRPr lang="en-GB" dirty="0"/>
          </a:p>
          <a:p>
            <a:pPr marL="0" indent="0">
              <a:buNone/>
            </a:pPr>
            <a:r>
              <a:rPr lang="en-GB" dirty="0"/>
              <a:t>    /// &lt;/summary&gt;</a:t>
            </a:r>
          </a:p>
          <a:p>
            <a:pPr marL="0" indent="0">
              <a:buNone/>
            </a:pPr>
            <a:r>
              <a:rPr lang="en-US" dirty="0"/>
              <a:t>    public partial class </a:t>
            </a:r>
            <a:r>
              <a:rPr lang="en-US" dirty="0" err="1"/>
              <a:t>MainWindow</a:t>
            </a:r>
            <a:r>
              <a:rPr lang="en-US" dirty="0"/>
              <a:t> : Window</a:t>
            </a:r>
          </a:p>
          <a:p>
            <a:pPr marL="0" indent="0">
              <a:buNone/>
            </a:pPr>
            <a:r>
              <a:rPr lang="ru-RU" dirty="0"/>
              <a:t>    {</a:t>
            </a:r>
          </a:p>
          <a:p>
            <a:pPr marL="0" indent="0">
              <a:buNone/>
            </a:pPr>
            <a:r>
              <a:rPr lang="en-GB" dirty="0" smtClean="0"/>
              <a:t>        public </a:t>
            </a:r>
            <a:r>
              <a:rPr lang="en-GB" dirty="0" err="1" smtClean="0"/>
              <a:t>MainWindow</a:t>
            </a:r>
            <a:r>
              <a:rPr lang="en-GB" dirty="0" smtClean="0"/>
              <a:t>()</a:t>
            </a:r>
          </a:p>
          <a:p>
            <a:pPr marL="0" indent="0">
              <a:buNone/>
            </a:pPr>
            <a:r>
              <a:rPr lang="ru-RU" dirty="0" smtClean="0"/>
              <a:t>        </a:t>
            </a:r>
            <a:r>
              <a:rPr lang="ru-RU" dirty="0"/>
              <a:t>{</a:t>
            </a:r>
          </a:p>
          <a:p>
            <a:pPr marL="0" indent="0">
              <a:buNone/>
            </a:pPr>
            <a:r>
              <a:rPr lang="en-GB" dirty="0"/>
              <a:t>            </a:t>
            </a:r>
            <a:r>
              <a:rPr lang="en-GB" dirty="0" err="1"/>
              <a:t>InitializeComponent</a:t>
            </a:r>
            <a:r>
              <a:rPr lang="en-GB" dirty="0"/>
              <a:t>();</a:t>
            </a:r>
          </a:p>
          <a:p>
            <a:pPr marL="0" indent="0">
              <a:buNone/>
            </a:pPr>
            <a:r>
              <a:rPr lang="ru-RU" dirty="0"/>
              <a:t>        }</a:t>
            </a:r>
          </a:p>
          <a:p>
            <a:pPr marL="0" indent="0">
              <a:buNone/>
            </a:pPr>
            <a:r>
              <a:rPr lang="en-US" dirty="0"/>
              <a:t>        private void </a:t>
            </a:r>
            <a:r>
              <a:rPr lang="en-US" dirty="0" err="1"/>
              <a:t>Button_Click</a:t>
            </a:r>
            <a:r>
              <a:rPr lang="en-US" dirty="0"/>
              <a:t>(object sender, </a:t>
            </a:r>
            <a:r>
              <a:rPr lang="en-US" dirty="0" err="1"/>
              <a:t>RoutedEventArgs</a:t>
            </a:r>
            <a:r>
              <a:rPr lang="en-US" dirty="0"/>
              <a:t> e)</a:t>
            </a:r>
          </a:p>
          <a:p>
            <a:pPr marL="0" indent="0">
              <a:buNone/>
            </a:pPr>
            <a:r>
              <a:rPr lang="ru-RU" dirty="0"/>
              <a:t>        {</a:t>
            </a:r>
          </a:p>
          <a:p>
            <a:pPr marL="0" indent="0">
              <a:buNone/>
            </a:pPr>
            <a:r>
              <a:rPr lang="ru-RU" dirty="0"/>
              <a:t>            </a:t>
            </a:r>
            <a:r>
              <a:rPr lang="ru-RU" dirty="0" err="1"/>
              <a:t>string</a:t>
            </a:r>
            <a:r>
              <a:rPr lang="ru-RU" dirty="0"/>
              <a:t> </a:t>
            </a:r>
            <a:r>
              <a:rPr lang="ru-RU" dirty="0" err="1"/>
              <a:t>text</a:t>
            </a:r>
            <a:r>
              <a:rPr lang="ru-RU" dirty="0"/>
              <a:t> = textBox1.Text</a:t>
            </a:r>
            <a:r>
              <a:rPr lang="ru-RU" dirty="0" smtClean="0"/>
              <a:t>;	</a:t>
            </a:r>
            <a:r>
              <a:rPr lang="ru-RU" dirty="0" smtClean="0">
                <a:solidFill>
                  <a:srgbClr val="00B050"/>
                </a:solidFill>
              </a:rPr>
              <a:t>//</a:t>
            </a:r>
            <a:r>
              <a:rPr lang="ru-RU" dirty="0">
                <a:solidFill>
                  <a:srgbClr val="00B050"/>
                </a:solidFill>
              </a:rPr>
              <a:t>Определив имена элементов в XAML, можем к ним обращаться в </a:t>
            </a:r>
            <a:r>
              <a:rPr lang="ru-RU" dirty="0" smtClean="0">
                <a:solidFill>
                  <a:srgbClr val="00B050"/>
                </a:solidFill>
              </a:rPr>
              <a:t>коде c#</a:t>
            </a:r>
            <a:endParaRPr lang="ru-RU" dirty="0">
              <a:solidFill>
                <a:srgbClr val="00B050"/>
              </a:solidFill>
            </a:endParaRPr>
          </a:p>
          <a:p>
            <a:pPr marL="0" indent="0">
              <a:buNone/>
            </a:pPr>
            <a:r>
              <a:rPr lang="en-GB" dirty="0"/>
              <a:t>            if (text != "")</a:t>
            </a:r>
          </a:p>
          <a:p>
            <a:pPr marL="0" indent="0">
              <a:buNone/>
            </a:pPr>
            <a:r>
              <a:rPr lang="ru-RU" dirty="0"/>
              <a:t>            {</a:t>
            </a:r>
          </a:p>
          <a:p>
            <a:pPr marL="0" indent="0">
              <a:buNone/>
            </a:pPr>
            <a:r>
              <a:rPr lang="en-GB" dirty="0"/>
              <a:t>                </a:t>
            </a:r>
            <a:r>
              <a:rPr lang="en-GB" dirty="0" err="1"/>
              <a:t>MessageBox.Show</a:t>
            </a:r>
            <a:r>
              <a:rPr lang="en-GB" dirty="0"/>
              <a:t>(text);</a:t>
            </a:r>
          </a:p>
          <a:p>
            <a:pPr marL="0" indent="0">
              <a:buNone/>
            </a:pPr>
            <a:r>
              <a:rPr lang="ru-RU" dirty="0"/>
              <a:t>            }</a:t>
            </a:r>
          </a:p>
          <a:p>
            <a:pPr marL="0" indent="0">
              <a:buNone/>
            </a:pPr>
            <a:r>
              <a:rPr lang="ru-RU" dirty="0"/>
              <a:t>        }</a:t>
            </a:r>
          </a:p>
          <a:p>
            <a:pPr marL="0" indent="0">
              <a:buNone/>
            </a:pPr>
            <a:r>
              <a:rPr lang="ru-RU" dirty="0"/>
              <a:t>    }</a:t>
            </a:r>
          </a:p>
          <a:p>
            <a:pPr marL="0" indent="0">
              <a:buNone/>
            </a:pPr>
            <a:r>
              <a:rPr lang="ru-RU" dirty="0"/>
              <a:t>}</a:t>
            </a:r>
          </a:p>
          <a:p>
            <a:pPr marL="0" indent="0">
              <a:buNone/>
            </a:pPr>
            <a:endParaRPr lang="ru-RU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4283968" y="1052736"/>
            <a:ext cx="4572000" cy="1384995"/>
          </a:xfrm>
          <a:prstGeom prst="rect">
            <a:avLst/>
          </a:prstGeom>
        </p:spPr>
        <p:txBody>
          <a:bodyPr>
            <a:spAutoFit/>
          </a:bodyPr>
          <a:lstStyle/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lang="ru-RU" altLang="ru-RU" sz="1200" dirty="0">
                <a:solidFill>
                  <a:srgbClr val="000000"/>
                </a:solidFill>
                <a:latin typeface="Verdana" pitchFamily="34" charset="0"/>
                <a:cs typeface="Arial" pitchFamily="34" charset="0"/>
              </a:rPr>
              <a:t>В обработчике нажатия кнопки просто выводится сообщение , введенное в текстовое поле. После определения обработчика </a:t>
            </a:r>
            <a:r>
              <a:rPr lang="ru-RU" altLang="ru-RU" sz="1200" dirty="0" smtClean="0">
                <a:solidFill>
                  <a:srgbClr val="000000"/>
                </a:solidFill>
                <a:latin typeface="Verdana" pitchFamily="34" charset="0"/>
                <a:cs typeface="Arial" pitchFamily="34" charset="0"/>
              </a:rPr>
              <a:t>его можно </a:t>
            </a:r>
            <a:r>
              <a:rPr lang="ru-RU" altLang="ru-RU" sz="1200" dirty="0">
                <a:solidFill>
                  <a:srgbClr val="000000"/>
                </a:solidFill>
                <a:latin typeface="Verdana" pitchFamily="34" charset="0"/>
                <a:cs typeface="Arial" pitchFamily="34" charset="0"/>
              </a:rPr>
              <a:t>связать с событием нажатия кнопки в </a:t>
            </a:r>
            <a:r>
              <a:rPr lang="ru-RU" altLang="ru-RU" sz="1200" dirty="0" err="1">
                <a:solidFill>
                  <a:srgbClr val="000000"/>
                </a:solidFill>
                <a:latin typeface="Verdana" pitchFamily="34" charset="0"/>
                <a:cs typeface="Arial" pitchFamily="34" charset="0"/>
              </a:rPr>
              <a:t>xaml</a:t>
            </a:r>
            <a:r>
              <a:rPr lang="ru-RU" altLang="ru-RU" sz="1200" dirty="0">
                <a:solidFill>
                  <a:srgbClr val="000000"/>
                </a:solidFill>
                <a:latin typeface="Verdana" pitchFamily="34" charset="0"/>
                <a:cs typeface="Arial" pitchFamily="34" charset="0"/>
              </a:rPr>
              <a:t> через атрибут </a:t>
            </a:r>
            <a:r>
              <a:rPr lang="ru-RU" altLang="ru-RU" sz="1200" dirty="0" err="1">
                <a:solidFill>
                  <a:srgbClr val="000000"/>
                </a:solidFill>
                <a:latin typeface="Verdana" pitchFamily="34" charset="0"/>
                <a:cs typeface="Arial" pitchFamily="34" charset="0"/>
              </a:rPr>
              <a:t>Click</a:t>
            </a:r>
            <a:r>
              <a:rPr lang="ru-RU" altLang="ru-RU" sz="1200" dirty="0">
                <a:solidFill>
                  <a:srgbClr val="000000"/>
                </a:solidFill>
                <a:latin typeface="Verdana" pitchFamily="34" charset="0"/>
                <a:cs typeface="Arial" pitchFamily="34" charset="0"/>
              </a:rPr>
              <a:t>: </a:t>
            </a:r>
            <a:r>
              <a:rPr lang="ru-RU" altLang="ru-RU" sz="1200" dirty="0" err="1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Click</a:t>
            </a:r>
            <a:r>
              <a:rPr lang="ru-RU" altLang="ru-RU" sz="1200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="</a:t>
            </a:r>
            <a:r>
              <a:rPr lang="ru-RU" altLang="ru-RU" sz="1200" dirty="0" err="1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Button_Click</a:t>
            </a:r>
            <a:r>
              <a:rPr lang="ru-RU" altLang="ru-RU" sz="1200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"</a:t>
            </a:r>
            <a:r>
              <a:rPr lang="ru-RU" altLang="ru-RU" sz="1200" dirty="0">
                <a:solidFill>
                  <a:srgbClr val="000000"/>
                </a:solidFill>
                <a:latin typeface="Verdana" pitchFamily="34" charset="0"/>
                <a:cs typeface="Arial" pitchFamily="34" charset="0"/>
              </a:rPr>
              <a:t>. В результате после нажатия на кнопку </a:t>
            </a:r>
            <a:r>
              <a:rPr lang="ru-RU" altLang="ru-RU" sz="1200" dirty="0" smtClean="0">
                <a:solidFill>
                  <a:srgbClr val="000000"/>
                </a:solidFill>
                <a:latin typeface="Verdana" pitchFamily="34" charset="0"/>
                <a:cs typeface="Arial" pitchFamily="34" charset="0"/>
              </a:rPr>
              <a:t>увидим </a:t>
            </a:r>
            <a:r>
              <a:rPr lang="ru-RU" altLang="ru-RU" sz="1200" dirty="0">
                <a:solidFill>
                  <a:srgbClr val="000000"/>
                </a:solidFill>
                <a:latin typeface="Verdana" pitchFamily="34" charset="0"/>
                <a:cs typeface="Arial" pitchFamily="34" charset="0"/>
              </a:rPr>
              <a:t>в окне введенное в текстовое поле сообщение.</a:t>
            </a:r>
            <a:r>
              <a:rPr lang="ru-RU" altLang="ru-RU" sz="1200" dirty="0">
                <a:latin typeface="Arial" pitchFamily="34" charset="0"/>
                <a:cs typeface="Arial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0310188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7624" y="1484784"/>
            <a:ext cx="6791325" cy="4257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809932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62074"/>
          </a:xfrm>
        </p:spPr>
        <p:txBody>
          <a:bodyPr>
            <a:normAutofit fontScale="90000"/>
          </a:bodyPr>
          <a:lstStyle/>
          <a:p>
            <a:r>
              <a:rPr lang="ru-RU" sz="3200" b="1" dirty="0"/>
              <a:t>Создание элементов в коде C</a:t>
            </a:r>
            <a:r>
              <a:rPr lang="ru-RU" sz="3200" b="1" dirty="0" smtClean="0"/>
              <a:t>#</a:t>
            </a:r>
            <a:endParaRPr lang="ru-RU" sz="32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052736"/>
            <a:ext cx="8229600" cy="507342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2000" dirty="0"/>
              <a:t>&lt;Window x:Class="XamlApp.MainWindow"</a:t>
            </a:r>
          </a:p>
          <a:p>
            <a:pPr marL="0" indent="0">
              <a:buNone/>
            </a:pPr>
            <a:r>
              <a:rPr lang="en-GB" sz="2000" dirty="0"/>
              <a:t>        </a:t>
            </a:r>
            <a:r>
              <a:rPr lang="en-GB" sz="2000" dirty="0" err="1"/>
              <a:t>xmlns</a:t>
            </a:r>
            <a:r>
              <a:rPr lang="en-GB" sz="2000" dirty="0"/>
              <a:t>="http://schemas.microsoft.com/</a:t>
            </a:r>
            <a:r>
              <a:rPr lang="en-GB" sz="2000" dirty="0" err="1"/>
              <a:t>winfx</a:t>
            </a:r>
            <a:r>
              <a:rPr lang="en-GB" sz="2000" dirty="0"/>
              <a:t>/2006/</a:t>
            </a:r>
            <a:r>
              <a:rPr lang="en-GB" sz="2000" dirty="0" err="1"/>
              <a:t>xaml</a:t>
            </a:r>
            <a:r>
              <a:rPr lang="en-GB" sz="2000" dirty="0"/>
              <a:t>/presentation"</a:t>
            </a:r>
          </a:p>
          <a:p>
            <a:pPr marL="0" indent="0">
              <a:buNone/>
            </a:pPr>
            <a:r>
              <a:rPr lang="en-GB" sz="2000" dirty="0"/>
              <a:t>        </a:t>
            </a:r>
            <a:r>
              <a:rPr lang="en-GB" sz="2000" dirty="0" err="1"/>
              <a:t>xmlns:x</a:t>
            </a:r>
            <a:r>
              <a:rPr lang="en-GB" sz="2000" dirty="0"/>
              <a:t>="http://schemas.microsoft.com/</a:t>
            </a:r>
            <a:r>
              <a:rPr lang="en-GB" sz="2000" dirty="0" err="1"/>
              <a:t>winfx</a:t>
            </a:r>
            <a:r>
              <a:rPr lang="en-GB" sz="2000" dirty="0"/>
              <a:t>/2006/</a:t>
            </a:r>
            <a:r>
              <a:rPr lang="en-GB" sz="2000" dirty="0" err="1"/>
              <a:t>xaml</a:t>
            </a:r>
            <a:r>
              <a:rPr lang="en-GB" sz="2000" dirty="0"/>
              <a:t>"</a:t>
            </a:r>
          </a:p>
          <a:p>
            <a:pPr marL="0" indent="0">
              <a:buNone/>
            </a:pPr>
            <a:r>
              <a:rPr lang="en-US" sz="2000" dirty="0"/>
              <a:t>        Title="</a:t>
            </a:r>
            <a:r>
              <a:rPr lang="en-US" sz="2000" dirty="0" err="1"/>
              <a:t>MainWindow</a:t>
            </a:r>
            <a:r>
              <a:rPr lang="en-US" sz="2000" dirty="0"/>
              <a:t>" Height="350" Width="525"&gt;</a:t>
            </a:r>
          </a:p>
          <a:p>
            <a:pPr marL="0" indent="0">
              <a:buNone/>
            </a:pPr>
            <a:r>
              <a:rPr lang="en-GB" sz="2000" b="1" dirty="0">
                <a:solidFill>
                  <a:srgbClr val="C00000"/>
                </a:solidFill>
              </a:rPr>
              <a:t>    &lt;Grid x:Name="layoutGrid"&gt;</a:t>
            </a:r>
          </a:p>
          <a:p>
            <a:pPr marL="0" indent="0">
              <a:buNone/>
            </a:pPr>
            <a:r>
              <a:rPr lang="ru-RU" sz="2000" dirty="0"/>
              <a:t>      </a:t>
            </a:r>
            <a:r>
              <a:rPr lang="ru-RU" sz="2000" dirty="0" smtClean="0"/>
              <a:t> </a:t>
            </a:r>
            <a:endParaRPr lang="ru-RU" sz="2000" dirty="0"/>
          </a:p>
          <a:p>
            <a:pPr marL="0" indent="0">
              <a:buNone/>
            </a:pPr>
            <a:r>
              <a:rPr lang="en-GB" sz="2000" dirty="0" smtClean="0"/>
              <a:t>    </a:t>
            </a:r>
            <a:r>
              <a:rPr lang="en-GB" sz="2000" dirty="0"/>
              <a:t>&lt;/Grid&gt;</a:t>
            </a:r>
          </a:p>
          <a:p>
            <a:pPr marL="0" indent="0">
              <a:buNone/>
            </a:pPr>
            <a:r>
              <a:rPr lang="en-GB" sz="2000" dirty="0"/>
              <a:t>&lt;/Window&gt;</a:t>
            </a:r>
          </a:p>
          <a:p>
            <a:endParaRPr lang="ru-RU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4067944" y="3717032"/>
            <a:ext cx="4572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lang="ru-RU" altLang="ru-RU" dirty="0" smtClean="0">
                <a:solidFill>
                  <a:srgbClr val="000000"/>
                </a:solidFill>
                <a:latin typeface="Verdana" pitchFamily="34" charset="0"/>
                <a:cs typeface="Arial" pitchFamily="34" charset="0"/>
              </a:rPr>
              <a:t>для </a:t>
            </a:r>
            <a:r>
              <a:rPr lang="ru-RU" altLang="ru-RU" dirty="0">
                <a:solidFill>
                  <a:srgbClr val="000000"/>
                </a:solidFill>
                <a:latin typeface="Verdana" pitchFamily="34" charset="0"/>
                <a:cs typeface="Arial" pitchFamily="34" charset="0"/>
              </a:rPr>
              <a:t>элемента </a:t>
            </a:r>
            <a:r>
              <a:rPr lang="ru-RU" altLang="ru-RU" dirty="0" err="1">
                <a:solidFill>
                  <a:srgbClr val="000000"/>
                </a:solidFill>
                <a:latin typeface="Verdana" pitchFamily="34" charset="0"/>
                <a:cs typeface="Arial" pitchFamily="34" charset="0"/>
              </a:rPr>
              <a:t>Grid</a:t>
            </a:r>
            <a:r>
              <a:rPr lang="ru-RU" altLang="ru-RU" dirty="0">
                <a:solidFill>
                  <a:srgbClr val="000000"/>
                </a:solidFill>
                <a:latin typeface="Verdana" pitchFamily="34" charset="0"/>
                <a:cs typeface="Arial" pitchFamily="34" charset="0"/>
              </a:rPr>
              <a:t> установлено свойство </a:t>
            </a:r>
            <a:r>
              <a:rPr lang="ru-RU" altLang="ru-RU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x:Name</a:t>
            </a:r>
            <a:r>
              <a:rPr lang="ru-RU" altLang="ru-RU" dirty="0">
                <a:solidFill>
                  <a:srgbClr val="000000"/>
                </a:solidFill>
                <a:latin typeface="Verdana" pitchFamily="34" charset="0"/>
                <a:cs typeface="Arial" pitchFamily="34" charset="0"/>
              </a:rPr>
              <a:t>, через которое мы можем к нему обращаться в </a:t>
            </a:r>
            <a:r>
              <a:rPr lang="ru-RU" altLang="ru-RU" dirty="0" smtClean="0">
                <a:solidFill>
                  <a:srgbClr val="000000"/>
                </a:solidFill>
                <a:latin typeface="Verdana" pitchFamily="34" charset="0"/>
                <a:cs typeface="Arial" pitchFamily="34" charset="0"/>
              </a:rPr>
              <a:t>коде</a:t>
            </a:r>
            <a:endParaRPr lang="ru-RU" altLang="ru-RU" sz="4400"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909999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88640"/>
            <a:ext cx="8435280" cy="6480720"/>
          </a:xfrm>
        </p:spPr>
        <p:txBody>
          <a:bodyPr>
            <a:normAutofit fontScale="40000" lnSpcReduction="20000"/>
          </a:bodyPr>
          <a:lstStyle/>
          <a:p>
            <a:pPr marL="0" indent="0">
              <a:buNone/>
            </a:pPr>
            <a:r>
              <a:rPr lang="ru-RU" dirty="0" smtClean="0">
                <a:solidFill>
                  <a:srgbClr val="00B050"/>
                </a:solidFill>
              </a:rPr>
              <a:t>/*</a:t>
            </a:r>
            <a:r>
              <a:rPr lang="ru-RU" dirty="0">
                <a:solidFill>
                  <a:srgbClr val="00B050"/>
                </a:solidFill>
              </a:rPr>
              <a:t>В конструкторе </a:t>
            </a:r>
            <a:r>
              <a:rPr lang="ru-RU" dirty="0" err="1">
                <a:solidFill>
                  <a:srgbClr val="00B050"/>
                </a:solidFill>
              </a:rPr>
              <a:t>странцы</a:t>
            </a:r>
            <a:r>
              <a:rPr lang="ru-RU" dirty="0">
                <a:solidFill>
                  <a:srgbClr val="00B050"/>
                </a:solidFill>
              </a:rPr>
              <a:t> создается элемент </a:t>
            </a:r>
            <a:r>
              <a:rPr lang="ru-RU" dirty="0" err="1">
                <a:solidFill>
                  <a:srgbClr val="00B050"/>
                </a:solidFill>
              </a:rPr>
              <a:t>Button</a:t>
            </a:r>
            <a:r>
              <a:rPr lang="ru-RU" dirty="0">
                <a:solidFill>
                  <a:srgbClr val="00B050"/>
                </a:solidFill>
              </a:rPr>
              <a:t> и добавляется в </a:t>
            </a:r>
            <a:r>
              <a:rPr lang="ru-RU" dirty="0" err="1" smtClean="0">
                <a:solidFill>
                  <a:srgbClr val="00B050"/>
                </a:solidFill>
              </a:rPr>
              <a:t>Grid</a:t>
            </a:r>
            <a:r>
              <a:rPr lang="ru-RU" dirty="0" smtClean="0">
                <a:solidFill>
                  <a:srgbClr val="00B050"/>
                </a:solidFill>
              </a:rPr>
              <a:t>*/</a:t>
            </a:r>
          </a:p>
          <a:p>
            <a:pPr marL="0" indent="0">
              <a:buNone/>
            </a:pPr>
            <a:r>
              <a:rPr lang="en-GB" dirty="0" smtClean="0"/>
              <a:t>using </a:t>
            </a:r>
            <a:r>
              <a:rPr lang="en-GB" dirty="0" err="1"/>
              <a:t>System.Windows.Media</a:t>
            </a:r>
            <a:r>
              <a:rPr lang="en-GB" dirty="0"/>
              <a:t>;</a:t>
            </a:r>
          </a:p>
          <a:p>
            <a:pPr marL="0" indent="0">
              <a:buNone/>
            </a:pPr>
            <a:r>
              <a:rPr lang="en-GB" dirty="0"/>
              <a:t>using </a:t>
            </a:r>
            <a:r>
              <a:rPr lang="en-GB" dirty="0" err="1"/>
              <a:t>System.Windows.Media.Imaging</a:t>
            </a:r>
            <a:r>
              <a:rPr lang="en-GB" dirty="0"/>
              <a:t>;</a:t>
            </a:r>
          </a:p>
          <a:p>
            <a:pPr marL="0" indent="0">
              <a:buNone/>
            </a:pPr>
            <a:r>
              <a:rPr lang="en-GB" dirty="0"/>
              <a:t>using </a:t>
            </a:r>
            <a:r>
              <a:rPr lang="en-GB" dirty="0" err="1"/>
              <a:t>System.Windows.Navigation</a:t>
            </a:r>
            <a:r>
              <a:rPr lang="en-GB" dirty="0"/>
              <a:t>;</a:t>
            </a:r>
          </a:p>
          <a:p>
            <a:pPr marL="0" indent="0">
              <a:buNone/>
            </a:pPr>
            <a:r>
              <a:rPr lang="en-GB" dirty="0"/>
              <a:t>using </a:t>
            </a:r>
            <a:r>
              <a:rPr lang="en-GB" dirty="0" err="1"/>
              <a:t>System.Windows.Shapes</a:t>
            </a:r>
            <a:r>
              <a:rPr lang="en-GB" dirty="0"/>
              <a:t>;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en-GB" dirty="0"/>
              <a:t>namespace </a:t>
            </a:r>
            <a:r>
              <a:rPr lang="en-GB" dirty="0" err="1"/>
              <a:t>XamlApp</a:t>
            </a:r>
            <a:endParaRPr lang="en-GB" dirty="0"/>
          </a:p>
          <a:p>
            <a:pPr marL="0" indent="0">
              <a:buNone/>
            </a:pPr>
            <a:r>
              <a:rPr lang="ru-RU" dirty="0"/>
              <a:t>{</a:t>
            </a:r>
          </a:p>
          <a:p>
            <a:pPr marL="0" indent="0">
              <a:buNone/>
            </a:pPr>
            <a:r>
              <a:rPr lang="en-GB" dirty="0">
                <a:solidFill>
                  <a:srgbClr val="00B050"/>
                </a:solidFill>
              </a:rPr>
              <a:t>    /// &lt;summary&gt;</a:t>
            </a:r>
          </a:p>
          <a:p>
            <a:pPr marL="0" indent="0">
              <a:buNone/>
            </a:pPr>
            <a:r>
              <a:rPr lang="en-GB" dirty="0">
                <a:solidFill>
                  <a:srgbClr val="00B050"/>
                </a:solidFill>
              </a:rPr>
              <a:t>    /// Interaction logic for </a:t>
            </a:r>
            <a:r>
              <a:rPr lang="en-GB" dirty="0" err="1">
                <a:solidFill>
                  <a:srgbClr val="00B050"/>
                </a:solidFill>
              </a:rPr>
              <a:t>MainWindow.xaml</a:t>
            </a:r>
            <a:endParaRPr lang="en-GB" dirty="0">
              <a:solidFill>
                <a:srgbClr val="00B050"/>
              </a:solidFill>
            </a:endParaRPr>
          </a:p>
          <a:p>
            <a:pPr marL="0" indent="0">
              <a:buNone/>
            </a:pPr>
            <a:r>
              <a:rPr lang="en-GB" dirty="0">
                <a:solidFill>
                  <a:srgbClr val="00B050"/>
                </a:solidFill>
              </a:rPr>
              <a:t>    /// &lt;/summary&gt;</a:t>
            </a:r>
          </a:p>
          <a:p>
            <a:pPr marL="0" indent="0">
              <a:buNone/>
            </a:pPr>
            <a:r>
              <a:rPr lang="en-US" dirty="0"/>
              <a:t>    public partial class </a:t>
            </a:r>
            <a:r>
              <a:rPr lang="en-US" dirty="0" err="1"/>
              <a:t>MainWindow</a:t>
            </a:r>
            <a:r>
              <a:rPr lang="en-US" dirty="0"/>
              <a:t> : Window</a:t>
            </a:r>
          </a:p>
          <a:p>
            <a:pPr marL="0" indent="0">
              <a:buNone/>
            </a:pPr>
            <a:r>
              <a:rPr lang="ru-RU" dirty="0"/>
              <a:t>    {</a:t>
            </a:r>
          </a:p>
          <a:p>
            <a:pPr marL="0" indent="0">
              <a:buNone/>
            </a:pPr>
            <a:r>
              <a:rPr lang="en-GB" dirty="0"/>
              <a:t>        public </a:t>
            </a:r>
            <a:r>
              <a:rPr lang="en-GB" dirty="0" err="1"/>
              <a:t>MainWindow</a:t>
            </a:r>
            <a:r>
              <a:rPr lang="en-GB" dirty="0"/>
              <a:t>()</a:t>
            </a:r>
          </a:p>
          <a:p>
            <a:pPr marL="0" indent="0">
              <a:buNone/>
            </a:pPr>
            <a:r>
              <a:rPr lang="ru-RU" dirty="0"/>
              <a:t>        {</a:t>
            </a:r>
          </a:p>
          <a:p>
            <a:pPr marL="0" indent="0">
              <a:buNone/>
            </a:pPr>
            <a:r>
              <a:rPr lang="en-GB" dirty="0"/>
              <a:t>            </a:t>
            </a:r>
            <a:r>
              <a:rPr lang="en-GB" dirty="0" err="1"/>
              <a:t>InitializeComponent</a:t>
            </a:r>
            <a:r>
              <a:rPr lang="en-GB" dirty="0"/>
              <a:t>();</a:t>
            </a:r>
          </a:p>
          <a:p>
            <a:pPr marL="0" indent="0">
              <a:buNone/>
            </a:pPr>
            <a:r>
              <a:rPr lang="en-GB" dirty="0"/>
              <a:t>            Button </a:t>
            </a:r>
            <a:r>
              <a:rPr lang="en-GB" dirty="0" err="1"/>
              <a:t>myButton</a:t>
            </a:r>
            <a:r>
              <a:rPr lang="en-GB" dirty="0"/>
              <a:t> = new Button();</a:t>
            </a:r>
          </a:p>
          <a:p>
            <a:pPr marL="0" indent="0">
              <a:buNone/>
            </a:pPr>
            <a:r>
              <a:rPr lang="en-GB" dirty="0"/>
              <a:t>            </a:t>
            </a:r>
            <a:r>
              <a:rPr lang="en-GB" dirty="0" err="1"/>
              <a:t>myButton.Width</a:t>
            </a:r>
            <a:r>
              <a:rPr lang="en-GB" dirty="0"/>
              <a:t> = 100;</a:t>
            </a:r>
          </a:p>
          <a:p>
            <a:pPr marL="0" indent="0">
              <a:buNone/>
            </a:pPr>
            <a:r>
              <a:rPr lang="en-GB" dirty="0"/>
              <a:t>            </a:t>
            </a:r>
            <a:r>
              <a:rPr lang="en-GB" dirty="0" err="1"/>
              <a:t>myButton.Height</a:t>
            </a:r>
            <a:r>
              <a:rPr lang="en-GB" dirty="0"/>
              <a:t> = 30;</a:t>
            </a:r>
          </a:p>
          <a:p>
            <a:pPr marL="0" indent="0">
              <a:buNone/>
            </a:pPr>
            <a:r>
              <a:rPr lang="en-GB" dirty="0"/>
              <a:t>            </a:t>
            </a:r>
            <a:r>
              <a:rPr lang="en-GB" dirty="0" err="1"/>
              <a:t>myButton.Content</a:t>
            </a:r>
            <a:r>
              <a:rPr lang="en-GB" dirty="0"/>
              <a:t> = "</a:t>
            </a:r>
            <a:r>
              <a:rPr lang="ru-RU" dirty="0"/>
              <a:t>Кнопка";</a:t>
            </a:r>
          </a:p>
          <a:p>
            <a:pPr marL="0" indent="0">
              <a:buNone/>
            </a:pPr>
            <a:r>
              <a:rPr lang="en-GB" dirty="0"/>
              <a:t>            </a:t>
            </a:r>
            <a:r>
              <a:rPr lang="en-GB" dirty="0" err="1"/>
              <a:t>layoutGrid.Children.Add</a:t>
            </a:r>
            <a:r>
              <a:rPr lang="en-GB" dirty="0"/>
              <a:t>(</a:t>
            </a:r>
            <a:r>
              <a:rPr lang="en-GB" dirty="0" err="1"/>
              <a:t>myButton</a:t>
            </a:r>
            <a:r>
              <a:rPr lang="en-GB" dirty="0"/>
              <a:t>);</a:t>
            </a:r>
          </a:p>
          <a:p>
            <a:pPr marL="0" indent="0">
              <a:buNone/>
            </a:pPr>
            <a:r>
              <a:rPr lang="ru-RU" dirty="0"/>
              <a:t>        }</a:t>
            </a:r>
          </a:p>
          <a:p>
            <a:pPr marL="0" indent="0">
              <a:buNone/>
            </a:pPr>
            <a:r>
              <a:rPr lang="en-US" dirty="0">
                <a:solidFill>
                  <a:srgbClr val="00B050"/>
                </a:solidFill>
              </a:rPr>
              <a:t>        //private void </a:t>
            </a:r>
            <a:r>
              <a:rPr lang="en-US" dirty="0" err="1">
                <a:solidFill>
                  <a:srgbClr val="00B050"/>
                </a:solidFill>
              </a:rPr>
              <a:t>Button_Click</a:t>
            </a:r>
            <a:r>
              <a:rPr lang="en-US" dirty="0">
                <a:solidFill>
                  <a:srgbClr val="00B050"/>
                </a:solidFill>
              </a:rPr>
              <a:t>(object sender, </a:t>
            </a:r>
            <a:r>
              <a:rPr lang="en-US" dirty="0" err="1">
                <a:solidFill>
                  <a:srgbClr val="00B050"/>
                </a:solidFill>
              </a:rPr>
              <a:t>RoutedEventArgs</a:t>
            </a:r>
            <a:r>
              <a:rPr lang="en-US" dirty="0">
                <a:solidFill>
                  <a:srgbClr val="00B050"/>
                </a:solidFill>
              </a:rPr>
              <a:t> e)</a:t>
            </a:r>
          </a:p>
          <a:p>
            <a:pPr marL="0" indent="0">
              <a:buNone/>
            </a:pPr>
            <a:r>
              <a:rPr lang="ru-RU" dirty="0">
                <a:solidFill>
                  <a:srgbClr val="00B050"/>
                </a:solidFill>
              </a:rPr>
              <a:t>        //{</a:t>
            </a:r>
          </a:p>
          <a:p>
            <a:pPr marL="0" indent="0">
              <a:buNone/>
            </a:pPr>
            <a:r>
              <a:rPr lang="ru-RU" dirty="0">
                <a:solidFill>
                  <a:srgbClr val="00B050"/>
                </a:solidFill>
              </a:rPr>
              <a:t>        //    </a:t>
            </a:r>
            <a:r>
              <a:rPr lang="ru-RU" dirty="0" err="1">
                <a:solidFill>
                  <a:srgbClr val="00B050"/>
                </a:solidFill>
              </a:rPr>
              <a:t>string</a:t>
            </a:r>
            <a:r>
              <a:rPr lang="ru-RU" dirty="0">
                <a:solidFill>
                  <a:srgbClr val="00B050"/>
                </a:solidFill>
              </a:rPr>
              <a:t> </a:t>
            </a:r>
            <a:r>
              <a:rPr lang="ru-RU" dirty="0" err="1">
                <a:solidFill>
                  <a:srgbClr val="00B050"/>
                </a:solidFill>
              </a:rPr>
              <a:t>text</a:t>
            </a:r>
            <a:r>
              <a:rPr lang="ru-RU" dirty="0">
                <a:solidFill>
                  <a:srgbClr val="00B050"/>
                </a:solidFill>
              </a:rPr>
              <a:t> = textBox1.Text;//Определив имена элементов в XAML, можем к ним обращаться в коде c#</a:t>
            </a:r>
          </a:p>
          <a:p>
            <a:pPr marL="0" indent="0">
              <a:buNone/>
            </a:pPr>
            <a:r>
              <a:rPr lang="en-GB" dirty="0">
                <a:solidFill>
                  <a:srgbClr val="00B050"/>
                </a:solidFill>
              </a:rPr>
              <a:t>        //    if (text != "")</a:t>
            </a:r>
          </a:p>
          <a:p>
            <a:pPr marL="0" indent="0">
              <a:buNone/>
            </a:pPr>
            <a:r>
              <a:rPr lang="ru-RU" dirty="0">
                <a:solidFill>
                  <a:srgbClr val="00B050"/>
                </a:solidFill>
              </a:rPr>
              <a:t>        //    {</a:t>
            </a:r>
          </a:p>
          <a:p>
            <a:pPr marL="0" indent="0">
              <a:buNone/>
            </a:pPr>
            <a:r>
              <a:rPr lang="en-GB" dirty="0">
                <a:solidFill>
                  <a:srgbClr val="00B050"/>
                </a:solidFill>
              </a:rPr>
              <a:t>        //        </a:t>
            </a:r>
            <a:r>
              <a:rPr lang="en-GB" dirty="0" err="1">
                <a:solidFill>
                  <a:srgbClr val="00B050"/>
                </a:solidFill>
              </a:rPr>
              <a:t>MessageBox.Show</a:t>
            </a:r>
            <a:r>
              <a:rPr lang="en-GB" dirty="0">
                <a:solidFill>
                  <a:srgbClr val="00B050"/>
                </a:solidFill>
              </a:rPr>
              <a:t>(text);</a:t>
            </a:r>
          </a:p>
          <a:p>
            <a:pPr marL="0" indent="0">
              <a:buNone/>
            </a:pPr>
            <a:r>
              <a:rPr lang="ru-RU" dirty="0">
                <a:solidFill>
                  <a:srgbClr val="00B050"/>
                </a:solidFill>
              </a:rPr>
              <a:t>        //    }</a:t>
            </a:r>
          </a:p>
          <a:p>
            <a:pPr marL="0" indent="0">
              <a:buNone/>
            </a:pPr>
            <a:r>
              <a:rPr lang="ru-RU" dirty="0">
                <a:solidFill>
                  <a:srgbClr val="00B050"/>
                </a:solidFill>
              </a:rPr>
              <a:t>      //  }</a:t>
            </a:r>
          </a:p>
          <a:p>
            <a:pPr marL="0" indent="0">
              <a:buNone/>
            </a:pPr>
            <a:r>
              <a:rPr lang="ru-RU" dirty="0"/>
              <a:t>    }</a:t>
            </a:r>
          </a:p>
          <a:p>
            <a:pPr marL="0" indent="0">
              <a:buNone/>
            </a:pPr>
            <a:r>
              <a:rPr lang="ru-RU" dirty="0"/>
              <a:t>}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1007311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62074"/>
          </a:xfrm>
        </p:spPr>
        <p:txBody>
          <a:bodyPr>
            <a:normAutofit fontScale="90000"/>
          </a:bodyPr>
          <a:lstStyle/>
          <a:p>
            <a:r>
              <a:rPr lang="ru-RU" sz="3200" b="1" dirty="0"/>
              <a:t>Сложные свойства и конвертеры </a:t>
            </a:r>
            <a:r>
              <a:rPr lang="ru-RU" sz="3200" b="1" dirty="0" smtClean="0"/>
              <a:t>типов</a:t>
            </a:r>
            <a:endParaRPr lang="ru-RU" sz="3200" dirty="0"/>
          </a:p>
        </p:txBody>
      </p:sp>
      <p:pic>
        <p:nvPicPr>
          <p:cNvPr id="1229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733611"/>
            <a:ext cx="8754982" cy="56886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Прямоугольник 2"/>
          <p:cNvSpPr/>
          <p:nvPr/>
        </p:nvSpPr>
        <p:spPr>
          <a:xfrm>
            <a:off x="5436096" y="4941168"/>
            <a:ext cx="352853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400" dirty="0">
                <a:solidFill>
                  <a:srgbClr val="000000"/>
                </a:solidFill>
                <a:latin typeface="verdana"/>
              </a:rPr>
              <a:t>Чтобы выровнять кнопку по центру</a:t>
            </a:r>
            <a:endParaRPr lang="ru-RU" sz="1400" dirty="0"/>
          </a:p>
        </p:txBody>
      </p:sp>
      <p:cxnSp>
        <p:nvCxnSpPr>
          <p:cNvPr id="5" name="Прямая со стрелкой 4"/>
          <p:cNvCxnSpPr/>
          <p:nvPr/>
        </p:nvCxnSpPr>
        <p:spPr>
          <a:xfrm flipH="1">
            <a:off x="5580112" y="5157192"/>
            <a:ext cx="216024" cy="36004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567843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06090"/>
          </a:xfrm>
        </p:spPr>
        <p:txBody>
          <a:bodyPr>
            <a:normAutofit/>
          </a:bodyPr>
          <a:lstStyle/>
          <a:p>
            <a:r>
              <a:rPr lang="ru-RU" sz="3200" b="0" i="0" dirty="0" smtClean="0">
                <a:solidFill>
                  <a:srgbClr val="000000"/>
                </a:solidFill>
                <a:effectLst/>
                <a:latin typeface="verdana"/>
              </a:rPr>
              <a:t>Определение кнопки в коде c#</a:t>
            </a:r>
            <a:endParaRPr lang="ru-RU" sz="32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980728"/>
            <a:ext cx="8229600" cy="514543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1800" dirty="0"/>
              <a:t> Button </a:t>
            </a:r>
            <a:r>
              <a:rPr lang="en-GB" sz="1800" dirty="0" err="1"/>
              <a:t>myButton</a:t>
            </a:r>
            <a:r>
              <a:rPr lang="en-GB" sz="1800" dirty="0"/>
              <a:t> = new Button();</a:t>
            </a:r>
          </a:p>
          <a:p>
            <a:pPr marL="0" indent="0">
              <a:buNone/>
            </a:pPr>
            <a:r>
              <a:rPr lang="en-GB" sz="1800" dirty="0"/>
              <a:t>            </a:t>
            </a:r>
            <a:r>
              <a:rPr lang="en-GB" sz="1800" dirty="0" err="1"/>
              <a:t>myButton.Content</a:t>
            </a:r>
            <a:r>
              <a:rPr lang="en-GB" sz="1800" dirty="0"/>
              <a:t> = "</a:t>
            </a:r>
            <a:r>
              <a:rPr lang="ru-RU" sz="1800" dirty="0"/>
              <a:t>Кнопка";</a:t>
            </a:r>
          </a:p>
          <a:p>
            <a:pPr marL="0" indent="0">
              <a:buNone/>
            </a:pPr>
            <a:r>
              <a:rPr lang="en-GB" sz="1800" dirty="0"/>
              <a:t>            </a:t>
            </a:r>
            <a:r>
              <a:rPr lang="en-GB" sz="1800" dirty="0" err="1"/>
              <a:t>myButton.Width</a:t>
            </a:r>
            <a:r>
              <a:rPr lang="en-GB" sz="1800" dirty="0"/>
              <a:t> = 120;</a:t>
            </a:r>
          </a:p>
          <a:p>
            <a:pPr marL="0" indent="0">
              <a:buNone/>
            </a:pPr>
            <a:r>
              <a:rPr lang="en-GB" sz="1800" dirty="0"/>
              <a:t>            </a:t>
            </a:r>
            <a:r>
              <a:rPr lang="en-GB" sz="1800" dirty="0" err="1"/>
              <a:t>myButton.Height</a:t>
            </a:r>
            <a:r>
              <a:rPr lang="en-GB" sz="1800" dirty="0"/>
              <a:t> = 40;</a:t>
            </a:r>
          </a:p>
          <a:p>
            <a:pPr marL="0" indent="0">
              <a:buNone/>
            </a:pPr>
            <a:r>
              <a:rPr lang="en-GB" sz="1800" dirty="0"/>
              <a:t>            </a:t>
            </a:r>
            <a:r>
              <a:rPr lang="en-GB" sz="1800" dirty="0" err="1"/>
              <a:t>myButton.HorizontalAlignment</a:t>
            </a:r>
            <a:r>
              <a:rPr lang="en-GB" sz="1800" dirty="0"/>
              <a:t> = </a:t>
            </a:r>
            <a:r>
              <a:rPr lang="en-GB" sz="1800" dirty="0" err="1"/>
              <a:t>HorizontalAlignment.Center</a:t>
            </a:r>
            <a:r>
              <a:rPr lang="en-GB" sz="1800" dirty="0"/>
              <a:t>;</a:t>
            </a:r>
          </a:p>
          <a:p>
            <a:pPr marL="0" indent="0">
              <a:buNone/>
            </a:pPr>
            <a:r>
              <a:rPr lang="en-GB" sz="1800" dirty="0"/>
              <a:t>            </a:t>
            </a:r>
            <a:r>
              <a:rPr lang="en-GB" sz="1800" dirty="0" err="1"/>
              <a:t>myButton.Background</a:t>
            </a:r>
            <a:r>
              <a:rPr lang="en-GB" sz="1800" dirty="0"/>
              <a:t> = new </a:t>
            </a:r>
            <a:r>
              <a:rPr lang="en-GB" sz="1800" dirty="0" err="1"/>
              <a:t>System.Windows.Media.SolidColorBrush</a:t>
            </a:r>
            <a:r>
              <a:rPr lang="en-GB" sz="1800" dirty="0"/>
              <a:t>(</a:t>
            </a:r>
            <a:r>
              <a:rPr lang="en-GB" sz="1800" dirty="0" err="1"/>
              <a:t>System.Windows.Media.Colors.Red</a:t>
            </a:r>
            <a:r>
              <a:rPr lang="en-GB" sz="1800" dirty="0"/>
              <a:t>);</a:t>
            </a:r>
          </a:p>
          <a:p>
            <a:endParaRPr lang="ru-RU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3203848" y="3923764"/>
            <a:ext cx="515237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400" dirty="0">
                <a:solidFill>
                  <a:srgbClr val="000000"/>
                </a:solidFill>
                <a:latin typeface="verdana"/>
              </a:rPr>
              <a:t>для установки фонового цвета класс </a:t>
            </a:r>
            <a:r>
              <a:rPr lang="ru-RU" sz="1400" dirty="0" err="1">
                <a:solidFill>
                  <a:srgbClr val="000000"/>
                </a:solidFill>
                <a:latin typeface="verdana"/>
              </a:rPr>
              <a:t>SolidColorBrush</a:t>
            </a:r>
            <a:endParaRPr lang="ru-RU" sz="1400" dirty="0"/>
          </a:p>
        </p:txBody>
      </p:sp>
      <p:cxnSp>
        <p:nvCxnSpPr>
          <p:cNvPr id="6" name="Прямая со стрелкой 5"/>
          <p:cNvCxnSpPr/>
          <p:nvPr/>
        </p:nvCxnSpPr>
        <p:spPr>
          <a:xfrm flipH="1" flipV="1">
            <a:off x="3851920" y="3212976"/>
            <a:ext cx="936104" cy="64807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582420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78098"/>
          </a:xfrm>
        </p:spPr>
        <p:txBody>
          <a:bodyPr>
            <a:normAutofit fontScale="90000"/>
          </a:bodyPr>
          <a:lstStyle/>
          <a:p>
            <a:r>
              <a:rPr lang="ru-RU" sz="3200" b="1" dirty="0" err="1">
                <a:solidFill>
                  <a:srgbClr val="000000"/>
                </a:solidFill>
                <a:latin typeface="verdana"/>
              </a:rPr>
              <a:t>type</a:t>
            </a:r>
            <a:r>
              <a:rPr lang="ru-RU" sz="3200" b="1" dirty="0">
                <a:solidFill>
                  <a:srgbClr val="000000"/>
                </a:solidFill>
                <a:latin typeface="verdana"/>
              </a:rPr>
              <a:t> </a:t>
            </a:r>
            <a:r>
              <a:rPr lang="ru-RU" sz="3200" b="1" dirty="0" err="1">
                <a:solidFill>
                  <a:srgbClr val="000000"/>
                </a:solidFill>
                <a:latin typeface="verdana"/>
              </a:rPr>
              <a:t>conventer</a:t>
            </a:r>
            <a:r>
              <a:rPr lang="ru-RU" sz="3200" b="1" dirty="0">
                <a:solidFill>
                  <a:srgbClr val="000000"/>
                </a:solidFill>
                <a:latin typeface="verdana"/>
              </a:rPr>
              <a:t> </a:t>
            </a:r>
            <a:r>
              <a:rPr lang="ru-RU" sz="3200" b="1" dirty="0" smtClean="0">
                <a:solidFill>
                  <a:srgbClr val="000000"/>
                </a:solidFill>
                <a:latin typeface="verdana"/>
              </a:rPr>
              <a:t/>
            </a:r>
            <a:br>
              <a:rPr lang="ru-RU" sz="3200" b="1" dirty="0" smtClean="0">
                <a:solidFill>
                  <a:srgbClr val="000000"/>
                </a:solidFill>
                <a:latin typeface="verdana"/>
              </a:rPr>
            </a:br>
            <a:r>
              <a:rPr lang="ru-RU" sz="3200" dirty="0" smtClean="0">
                <a:solidFill>
                  <a:srgbClr val="000000"/>
                </a:solidFill>
                <a:latin typeface="verdana"/>
              </a:rPr>
              <a:t>конвертеры </a:t>
            </a:r>
            <a:r>
              <a:rPr lang="ru-RU" sz="3200" dirty="0">
                <a:solidFill>
                  <a:srgbClr val="000000"/>
                </a:solidFill>
                <a:latin typeface="verdana"/>
              </a:rPr>
              <a:t>типов</a:t>
            </a:r>
            <a:endParaRPr lang="ru-RU" sz="32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268760"/>
            <a:ext cx="8507288" cy="5256584"/>
          </a:xfrm>
        </p:spPr>
        <p:txBody>
          <a:bodyPr>
            <a:normAutofit fontScale="62500" lnSpcReduction="20000"/>
          </a:bodyPr>
          <a:lstStyle/>
          <a:p>
            <a:pPr>
              <a:spcAft>
                <a:spcPts val="600"/>
              </a:spcAft>
            </a:pPr>
            <a:r>
              <a:rPr lang="ru-RU" b="0" i="0" dirty="0" smtClean="0">
                <a:solidFill>
                  <a:srgbClr val="000000"/>
                </a:solidFill>
                <a:effectLst/>
                <a:latin typeface="verdana"/>
              </a:rPr>
              <a:t>по отношению к коду XAML применяются специальные объекты - </a:t>
            </a:r>
            <a:r>
              <a:rPr lang="ru-RU" b="1" i="0" dirty="0" err="1" smtClean="0">
                <a:solidFill>
                  <a:srgbClr val="000000"/>
                </a:solidFill>
                <a:effectLst/>
                <a:latin typeface="verdana"/>
              </a:rPr>
              <a:t>type</a:t>
            </a:r>
            <a:r>
              <a:rPr lang="ru-RU" b="1" i="0" dirty="0" smtClean="0">
                <a:solidFill>
                  <a:srgbClr val="000000"/>
                </a:solidFill>
                <a:effectLst/>
                <a:latin typeface="verdana"/>
              </a:rPr>
              <a:t> </a:t>
            </a:r>
            <a:r>
              <a:rPr lang="ru-RU" b="1" i="0" dirty="0" err="1" smtClean="0">
                <a:solidFill>
                  <a:srgbClr val="000000"/>
                </a:solidFill>
                <a:effectLst/>
                <a:latin typeface="verdana"/>
              </a:rPr>
              <a:t>conventer</a:t>
            </a:r>
            <a:r>
              <a:rPr lang="ru-RU" b="0" i="0" dirty="0" smtClean="0">
                <a:solidFill>
                  <a:srgbClr val="000000"/>
                </a:solidFill>
                <a:effectLst/>
                <a:latin typeface="verdana"/>
              </a:rPr>
              <a:t> (конвертеры типов), которые могут преобразовать значения из XAML к тем типам тех объектов, которые используются в коде C#.</a:t>
            </a:r>
          </a:p>
          <a:p>
            <a:pPr>
              <a:spcAft>
                <a:spcPts val="600"/>
              </a:spcAft>
            </a:pPr>
            <a:r>
              <a:rPr lang="ru-RU" b="0" i="0" dirty="0" smtClean="0">
                <a:solidFill>
                  <a:srgbClr val="000000"/>
                </a:solidFill>
                <a:effectLst/>
                <a:latin typeface="verdana"/>
              </a:rPr>
              <a:t>В WPF имеются встроенные конвертеры для большинства типов данных:</a:t>
            </a:r>
          </a:p>
          <a:p>
            <a:pPr lvl="1">
              <a:spcAft>
                <a:spcPts val="600"/>
              </a:spcAft>
            </a:pPr>
            <a:r>
              <a:rPr lang="ru-RU" b="0" i="0" dirty="0" err="1" smtClean="0">
                <a:solidFill>
                  <a:srgbClr val="000000"/>
                </a:solidFill>
                <a:effectLst/>
                <a:latin typeface="verdana"/>
              </a:rPr>
              <a:t>Brush</a:t>
            </a:r>
            <a:r>
              <a:rPr lang="ru-RU" b="0" i="0" dirty="0" smtClean="0">
                <a:solidFill>
                  <a:srgbClr val="000000"/>
                </a:solidFill>
                <a:effectLst/>
                <a:latin typeface="verdana"/>
              </a:rPr>
              <a:t>, </a:t>
            </a:r>
          </a:p>
          <a:p>
            <a:pPr lvl="1">
              <a:spcAft>
                <a:spcPts val="600"/>
              </a:spcAft>
            </a:pPr>
            <a:r>
              <a:rPr lang="ru-RU" b="0" i="0" dirty="0" err="1" smtClean="0">
                <a:solidFill>
                  <a:srgbClr val="000000"/>
                </a:solidFill>
                <a:effectLst/>
                <a:latin typeface="verdana"/>
              </a:rPr>
              <a:t>Color</a:t>
            </a:r>
            <a:r>
              <a:rPr lang="ru-RU" b="0" i="0" dirty="0" smtClean="0">
                <a:solidFill>
                  <a:srgbClr val="000000"/>
                </a:solidFill>
                <a:effectLst/>
                <a:latin typeface="verdana"/>
              </a:rPr>
              <a:t>, </a:t>
            </a:r>
          </a:p>
          <a:p>
            <a:pPr lvl="1">
              <a:spcAft>
                <a:spcPts val="600"/>
              </a:spcAft>
            </a:pPr>
            <a:r>
              <a:rPr lang="ru-RU" b="0" i="0" dirty="0" err="1" smtClean="0">
                <a:solidFill>
                  <a:srgbClr val="000000"/>
                </a:solidFill>
                <a:effectLst/>
                <a:latin typeface="verdana"/>
              </a:rPr>
              <a:t>FontWeight</a:t>
            </a:r>
            <a:r>
              <a:rPr lang="ru-RU" b="0" i="0" dirty="0" smtClean="0">
                <a:solidFill>
                  <a:srgbClr val="000000"/>
                </a:solidFill>
                <a:effectLst/>
                <a:latin typeface="verdana"/>
              </a:rPr>
              <a:t> и т.д. </a:t>
            </a:r>
          </a:p>
          <a:p>
            <a:pPr>
              <a:spcAft>
                <a:spcPts val="600"/>
              </a:spcAft>
            </a:pPr>
            <a:r>
              <a:rPr lang="ru-RU" b="0" i="0" dirty="0" smtClean="0">
                <a:solidFill>
                  <a:srgbClr val="000000"/>
                </a:solidFill>
                <a:effectLst/>
                <a:latin typeface="verdana"/>
              </a:rPr>
              <a:t>Все конвертеры типов </a:t>
            </a:r>
            <a:r>
              <a:rPr lang="ru-RU" b="0" i="0" dirty="0" err="1" smtClean="0">
                <a:solidFill>
                  <a:srgbClr val="000000"/>
                </a:solidFill>
                <a:effectLst/>
                <a:latin typeface="verdana"/>
              </a:rPr>
              <a:t>явлются</a:t>
            </a:r>
            <a:r>
              <a:rPr lang="ru-RU" b="0" i="0" dirty="0" smtClean="0">
                <a:solidFill>
                  <a:srgbClr val="000000"/>
                </a:solidFill>
                <a:effectLst/>
                <a:latin typeface="verdana"/>
              </a:rPr>
              <a:t> производными от класса </a:t>
            </a:r>
            <a:r>
              <a:rPr lang="ru-RU" b="1" i="0" dirty="0" err="1" smtClean="0">
                <a:solidFill>
                  <a:srgbClr val="000000"/>
                </a:solidFill>
                <a:effectLst/>
                <a:latin typeface="verdana"/>
              </a:rPr>
              <a:t>TypeConverter</a:t>
            </a:r>
            <a:r>
              <a:rPr lang="ru-RU" b="0" i="0" dirty="0" smtClean="0">
                <a:solidFill>
                  <a:srgbClr val="000000"/>
                </a:solidFill>
                <a:effectLst/>
                <a:latin typeface="verdana"/>
              </a:rPr>
              <a:t>. </a:t>
            </a:r>
          </a:p>
          <a:p>
            <a:pPr>
              <a:spcAft>
                <a:spcPts val="600"/>
              </a:spcAft>
            </a:pPr>
            <a:r>
              <a:rPr lang="ru-RU" b="0" i="0" dirty="0" smtClean="0">
                <a:solidFill>
                  <a:srgbClr val="000000"/>
                </a:solidFill>
                <a:effectLst/>
                <a:latin typeface="verdana"/>
              </a:rPr>
              <a:t>Например, конкретно для преобразования значения </a:t>
            </a:r>
            <a:r>
              <a:rPr lang="ru-RU" b="0" i="0" dirty="0" err="1" smtClean="0">
                <a:solidFill>
                  <a:srgbClr val="000000"/>
                </a:solidFill>
                <a:effectLst/>
                <a:latin typeface="verdana"/>
              </a:rPr>
              <a:t>Background</a:t>
            </a:r>
            <a:r>
              <a:rPr lang="ru-RU" b="0" i="0" dirty="0" smtClean="0">
                <a:solidFill>
                  <a:srgbClr val="000000"/>
                </a:solidFill>
                <a:effectLst/>
                <a:latin typeface="verdana"/>
              </a:rPr>
              <a:t>="</a:t>
            </a:r>
            <a:r>
              <a:rPr lang="ru-RU" b="0" i="0" dirty="0" err="1" smtClean="0">
                <a:solidFill>
                  <a:srgbClr val="000000"/>
                </a:solidFill>
                <a:effectLst/>
                <a:latin typeface="verdana"/>
              </a:rPr>
              <a:t>Red</a:t>
            </a:r>
            <a:r>
              <a:rPr lang="ru-RU" b="0" i="0" dirty="0" smtClean="0">
                <a:solidFill>
                  <a:srgbClr val="000000"/>
                </a:solidFill>
                <a:effectLst/>
                <a:latin typeface="verdana"/>
              </a:rPr>
              <a:t>" в объект </a:t>
            </a:r>
            <a:r>
              <a:rPr lang="ru-RU" b="0" i="0" dirty="0" err="1" smtClean="0">
                <a:solidFill>
                  <a:srgbClr val="000000"/>
                </a:solidFill>
                <a:effectLst/>
                <a:latin typeface="verdana"/>
              </a:rPr>
              <a:t>SolidColorBrush</a:t>
            </a:r>
            <a:r>
              <a:rPr lang="ru-RU" b="0" i="0" dirty="0" smtClean="0">
                <a:solidFill>
                  <a:srgbClr val="000000"/>
                </a:solidFill>
                <a:effectLst/>
                <a:latin typeface="verdana"/>
              </a:rPr>
              <a:t> используется производный класс </a:t>
            </a:r>
            <a:r>
              <a:rPr lang="ru-RU" b="1" i="0" dirty="0" err="1" smtClean="0">
                <a:solidFill>
                  <a:srgbClr val="000000"/>
                </a:solidFill>
                <a:effectLst/>
                <a:latin typeface="verdana"/>
              </a:rPr>
              <a:t>BrushConverter</a:t>
            </a:r>
            <a:r>
              <a:rPr lang="ru-RU" b="0" i="0" dirty="0" smtClean="0">
                <a:solidFill>
                  <a:srgbClr val="000000"/>
                </a:solidFill>
                <a:effectLst/>
                <a:latin typeface="verdana"/>
              </a:rPr>
              <a:t>. </a:t>
            </a:r>
          </a:p>
          <a:p>
            <a:pPr>
              <a:spcAft>
                <a:spcPts val="600"/>
              </a:spcAft>
            </a:pPr>
            <a:r>
              <a:rPr lang="ru-RU" b="0" i="0" dirty="0" smtClean="0">
                <a:solidFill>
                  <a:srgbClr val="000000"/>
                </a:solidFill>
                <a:effectLst/>
                <a:latin typeface="verdana"/>
              </a:rPr>
              <a:t>При необходимости можно создать свои конвертеры для каких-то собственных типов данных.</a:t>
            </a:r>
          </a:p>
          <a:p>
            <a:pPr>
              <a:spcAft>
                <a:spcPts val="600"/>
              </a:spcAft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973234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908720"/>
            <a:ext cx="8229600" cy="5760640"/>
          </a:xfrm>
        </p:spPr>
        <p:txBody>
          <a:bodyPr>
            <a:normAutofit fontScale="62500" lnSpcReduction="20000"/>
          </a:bodyPr>
          <a:lstStyle/>
          <a:p>
            <a:r>
              <a:rPr lang="ru-RU" b="0" i="0" dirty="0" smtClean="0">
                <a:solidFill>
                  <a:srgbClr val="000000"/>
                </a:solidFill>
                <a:effectLst/>
                <a:latin typeface="verdana"/>
              </a:rPr>
              <a:t>Фактически установка значения в XAML </a:t>
            </a:r>
            <a:r>
              <a:rPr lang="ru-RU" b="1" dirty="0" err="1" smtClean="0">
                <a:solidFill>
                  <a:srgbClr val="C00000"/>
                </a:solidFill>
              </a:rPr>
              <a:t>Background</a:t>
            </a:r>
            <a:r>
              <a:rPr lang="ru-RU" b="1" dirty="0">
                <a:solidFill>
                  <a:srgbClr val="C00000"/>
                </a:solidFill>
              </a:rPr>
              <a:t>="</a:t>
            </a:r>
            <a:r>
              <a:rPr lang="ru-RU" b="1" dirty="0" err="1">
                <a:solidFill>
                  <a:srgbClr val="C00000"/>
                </a:solidFill>
              </a:rPr>
              <a:t>Red</a:t>
            </a:r>
            <a:r>
              <a:rPr lang="ru-RU" b="1" dirty="0">
                <a:solidFill>
                  <a:srgbClr val="C00000"/>
                </a:solidFill>
              </a:rPr>
              <a:t>"</a:t>
            </a:r>
            <a:r>
              <a:rPr lang="ru-RU" b="1" dirty="0" smtClean="0">
                <a:solidFill>
                  <a:srgbClr val="C00000"/>
                </a:solidFill>
                <a:latin typeface="verdana"/>
              </a:rPr>
              <a:t> </a:t>
            </a:r>
            <a:r>
              <a:rPr lang="ru-RU" b="0" i="0" dirty="0" smtClean="0">
                <a:solidFill>
                  <a:srgbClr val="000000"/>
                </a:solidFill>
                <a:effectLst/>
                <a:latin typeface="verdana"/>
              </a:rPr>
              <a:t>сводилась бы к следующему вызову в коде c#:</a:t>
            </a:r>
          </a:p>
          <a:p>
            <a:endParaRPr lang="ru-RU" b="0" i="0" dirty="0" smtClean="0">
              <a:solidFill>
                <a:srgbClr val="000000"/>
              </a:solidFill>
              <a:effectLst/>
              <a:latin typeface="verdana"/>
            </a:endParaRPr>
          </a:p>
          <a:p>
            <a:pPr marL="0" indent="0" fontAlgn="base">
              <a:buNone/>
            </a:pPr>
            <a:r>
              <a:rPr lang="en-GB" b="1" dirty="0" err="1">
                <a:solidFill>
                  <a:srgbClr val="7030A0"/>
                </a:solidFill>
              </a:rPr>
              <a:t>myButton.Background</a:t>
            </a:r>
            <a:r>
              <a:rPr lang="en-GB" b="1" dirty="0">
                <a:solidFill>
                  <a:srgbClr val="7030A0"/>
                </a:solidFill>
              </a:rPr>
              <a:t> = (Brush)</a:t>
            </a:r>
            <a:r>
              <a:rPr lang="en-GB" b="1" dirty="0" err="1">
                <a:solidFill>
                  <a:srgbClr val="7030A0"/>
                </a:solidFill>
              </a:rPr>
              <a:t>System.ComponentModel.TypeDescriptor</a:t>
            </a:r>
            <a:endParaRPr lang="en-GB" b="1" dirty="0">
              <a:solidFill>
                <a:srgbClr val="7030A0"/>
              </a:solidFill>
            </a:endParaRPr>
          </a:p>
          <a:p>
            <a:pPr marL="0" indent="0" fontAlgn="base">
              <a:buNone/>
            </a:pPr>
            <a:r>
              <a:rPr lang="en-GB" b="1" dirty="0">
                <a:solidFill>
                  <a:srgbClr val="7030A0"/>
                </a:solidFill>
              </a:rPr>
              <a:t>        .</a:t>
            </a:r>
            <a:r>
              <a:rPr lang="en-GB" b="1" dirty="0" err="1">
                <a:solidFill>
                  <a:srgbClr val="7030A0"/>
                </a:solidFill>
              </a:rPr>
              <a:t>GetConverter</a:t>
            </a:r>
            <a:r>
              <a:rPr lang="en-GB" b="1" dirty="0">
                <a:solidFill>
                  <a:srgbClr val="7030A0"/>
                </a:solidFill>
              </a:rPr>
              <a:t>(</a:t>
            </a:r>
            <a:r>
              <a:rPr lang="en-GB" b="1" dirty="0" err="1">
                <a:solidFill>
                  <a:srgbClr val="7030A0"/>
                </a:solidFill>
              </a:rPr>
              <a:t>typeof</a:t>
            </a:r>
            <a:r>
              <a:rPr lang="en-GB" b="1" dirty="0">
                <a:solidFill>
                  <a:srgbClr val="7030A0"/>
                </a:solidFill>
              </a:rPr>
              <a:t>(Brush)).</a:t>
            </a:r>
            <a:r>
              <a:rPr lang="en-GB" b="1" dirty="0" err="1">
                <a:solidFill>
                  <a:srgbClr val="7030A0"/>
                </a:solidFill>
              </a:rPr>
              <a:t>ConvertFromInvariantString</a:t>
            </a:r>
            <a:r>
              <a:rPr lang="en-GB" b="1" dirty="0">
                <a:solidFill>
                  <a:srgbClr val="7030A0"/>
                </a:solidFill>
              </a:rPr>
              <a:t>("Red</a:t>
            </a:r>
            <a:r>
              <a:rPr lang="en-GB" b="1" dirty="0" smtClean="0">
                <a:solidFill>
                  <a:srgbClr val="7030A0"/>
                </a:solidFill>
              </a:rPr>
              <a:t>");</a:t>
            </a:r>
            <a:endParaRPr lang="ru-RU" b="1" dirty="0" smtClean="0">
              <a:solidFill>
                <a:srgbClr val="7030A0"/>
              </a:solidFill>
            </a:endParaRPr>
          </a:p>
          <a:p>
            <a:pPr marL="0" indent="0" fontAlgn="base">
              <a:buNone/>
            </a:pPr>
            <a:endParaRPr lang="en-GB" b="1" dirty="0">
              <a:solidFill>
                <a:srgbClr val="7030A0"/>
              </a:solidFill>
            </a:endParaRPr>
          </a:p>
          <a:p>
            <a:r>
              <a:rPr lang="ru-RU" dirty="0"/>
              <a:t>В данном случае программа пытается получить конвертер для типа </a:t>
            </a:r>
            <a:r>
              <a:rPr lang="ru-RU" b="1" dirty="0" err="1"/>
              <a:t>Brush</a:t>
            </a:r>
            <a:r>
              <a:rPr lang="ru-RU" dirty="0"/>
              <a:t> (базового класса для </a:t>
            </a:r>
            <a:r>
              <a:rPr lang="ru-RU" b="1" dirty="0" err="1"/>
              <a:t>SolidColorBrush</a:t>
            </a:r>
            <a:r>
              <a:rPr lang="ru-RU" dirty="0"/>
              <a:t>) и затем преобразовать строку "</a:t>
            </a:r>
            <a:r>
              <a:rPr lang="ru-RU" b="1" dirty="0" err="1">
                <a:solidFill>
                  <a:srgbClr val="C00000"/>
                </a:solidFill>
              </a:rPr>
              <a:t>Red</a:t>
            </a:r>
            <a:r>
              <a:rPr lang="ru-RU" dirty="0"/>
              <a:t>" в конкретный цвет. Для получения нужного конвертера, программа обращается к метаданных класса </a:t>
            </a:r>
            <a:r>
              <a:rPr lang="ru-RU" b="1" dirty="0" err="1"/>
              <a:t>Brush</a:t>
            </a:r>
            <a:r>
              <a:rPr lang="ru-RU" dirty="0"/>
              <a:t>. </a:t>
            </a:r>
            <a:r>
              <a:rPr lang="ru-RU" dirty="0" smtClean="0"/>
              <a:t>Он имеет </a:t>
            </a:r>
            <a:r>
              <a:rPr lang="ru-RU" dirty="0"/>
              <a:t>следующий атрибут</a:t>
            </a:r>
            <a:r>
              <a:rPr lang="ru-RU" dirty="0" smtClean="0"/>
              <a:t>:</a:t>
            </a:r>
          </a:p>
          <a:p>
            <a:pPr marL="0" indent="0" fontAlgn="base">
              <a:buNone/>
            </a:pPr>
            <a:r>
              <a:rPr lang="en-US" b="1" dirty="0">
                <a:solidFill>
                  <a:srgbClr val="7030A0"/>
                </a:solidFill>
              </a:rPr>
              <a:t>[</a:t>
            </a:r>
            <a:r>
              <a:rPr lang="en-US" b="1" dirty="0" err="1">
                <a:solidFill>
                  <a:srgbClr val="7030A0"/>
                </a:solidFill>
              </a:rPr>
              <a:t>TypeConverter</a:t>
            </a:r>
            <a:r>
              <a:rPr lang="en-US" b="1" dirty="0">
                <a:solidFill>
                  <a:srgbClr val="7030A0"/>
                </a:solidFill>
              </a:rPr>
              <a:t>(</a:t>
            </a:r>
            <a:r>
              <a:rPr lang="en-US" b="1" dirty="0" err="1">
                <a:solidFill>
                  <a:srgbClr val="7030A0"/>
                </a:solidFill>
              </a:rPr>
              <a:t>typeof</a:t>
            </a:r>
            <a:r>
              <a:rPr lang="en-US" b="1" dirty="0">
                <a:solidFill>
                  <a:srgbClr val="7030A0"/>
                </a:solidFill>
              </a:rPr>
              <a:t>(</a:t>
            </a:r>
            <a:r>
              <a:rPr lang="en-US" b="1" dirty="0" err="1">
                <a:solidFill>
                  <a:srgbClr val="7030A0"/>
                </a:solidFill>
              </a:rPr>
              <a:t>BrushConverter</a:t>
            </a:r>
            <a:r>
              <a:rPr lang="en-US" b="1" dirty="0">
                <a:solidFill>
                  <a:srgbClr val="7030A0"/>
                </a:solidFill>
              </a:rPr>
              <a:t>))]</a:t>
            </a:r>
          </a:p>
          <a:p>
            <a:pPr marL="0" indent="0" fontAlgn="base">
              <a:buNone/>
            </a:pPr>
            <a:r>
              <a:rPr lang="en-US" b="1" dirty="0">
                <a:solidFill>
                  <a:srgbClr val="7030A0"/>
                </a:solidFill>
              </a:rPr>
              <a:t>public abstract class Brush</a:t>
            </a:r>
          </a:p>
          <a:p>
            <a:endParaRPr lang="ru-RU" dirty="0" smtClean="0"/>
          </a:p>
          <a:p>
            <a:r>
              <a:rPr lang="ru-RU" dirty="0" smtClean="0"/>
              <a:t>Данный </a:t>
            </a:r>
            <a:r>
              <a:rPr lang="ru-RU" dirty="0"/>
              <a:t>атрибут и позволяет системе определить, какой тип конвертера использовать.</a:t>
            </a:r>
          </a:p>
        </p:txBody>
      </p:sp>
    </p:spTree>
    <p:extLst>
      <p:ext uri="{BB962C8B-B14F-4D97-AF65-F5344CB8AC3E}">
        <p14:creationId xmlns:p14="http://schemas.microsoft.com/office/powerpoint/2010/main" val="24126345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3200" b="0" i="0" dirty="0" smtClean="0">
                <a:solidFill>
                  <a:srgbClr val="000000"/>
                </a:solidFill>
                <a:effectLst/>
                <a:latin typeface="verdana"/>
              </a:rPr>
              <a:t>явное использование этих объектов в коде XAML:</a:t>
            </a:r>
            <a:endParaRPr lang="ru-RU" sz="32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sz="2900" dirty="0"/>
              <a:t> &lt;Button x:Name="myButton" Width="120" Height="40" Content="</a:t>
            </a:r>
            <a:r>
              <a:rPr lang="en-US" sz="2900" dirty="0" err="1"/>
              <a:t>Кнопка</a:t>
            </a:r>
            <a:r>
              <a:rPr lang="en-US" sz="2900" dirty="0"/>
              <a:t>"&gt;</a:t>
            </a:r>
          </a:p>
          <a:p>
            <a:pPr marL="0" indent="0">
              <a:buNone/>
            </a:pPr>
            <a:r>
              <a:rPr lang="en-GB" sz="2900" dirty="0"/>
              <a:t>            &lt;</a:t>
            </a:r>
            <a:r>
              <a:rPr lang="en-GB" sz="2900" dirty="0" err="1"/>
              <a:t>Button.HorizontalAlignment</a:t>
            </a:r>
            <a:r>
              <a:rPr lang="en-GB" sz="2900" dirty="0"/>
              <a:t>&gt;</a:t>
            </a:r>
          </a:p>
          <a:p>
            <a:pPr marL="0" indent="0">
              <a:buNone/>
            </a:pPr>
            <a:r>
              <a:rPr lang="en-GB" sz="2900" dirty="0"/>
              <a:t>                &lt;</a:t>
            </a:r>
            <a:r>
              <a:rPr lang="en-GB" sz="2900" dirty="0" err="1"/>
              <a:t>HorizontalAlignment</a:t>
            </a:r>
            <a:r>
              <a:rPr lang="en-GB" sz="2900" dirty="0"/>
              <a:t>&gt;</a:t>
            </a:r>
            <a:r>
              <a:rPr lang="en-GB" sz="2900" dirty="0" err="1"/>
              <a:t>Center</a:t>
            </a:r>
            <a:r>
              <a:rPr lang="en-GB" sz="2900" dirty="0"/>
              <a:t>&lt;/</a:t>
            </a:r>
            <a:r>
              <a:rPr lang="en-GB" sz="2900" dirty="0" err="1"/>
              <a:t>HorizontalAlignment</a:t>
            </a:r>
            <a:r>
              <a:rPr lang="en-GB" sz="2900" dirty="0"/>
              <a:t>&gt;</a:t>
            </a:r>
          </a:p>
          <a:p>
            <a:pPr marL="0" indent="0">
              <a:buNone/>
            </a:pPr>
            <a:r>
              <a:rPr lang="en-GB" sz="2900" dirty="0"/>
              <a:t>            &lt;/</a:t>
            </a:r>
            <a:r>
              <a:rPr lang="en-GB" sz="2900" dirty="0" err="1"/>
              <a:t>Button.HorizontalAlignment</a:t>
            </a:r>
            <a:r>
              <a:rPr lang="en-GB" sz="2900" dirty="0"/>
              <a:t>&gt;</a:t>
            </a:r>
          </a:p>
          <a:p>
            <a:pPr marL="0" indent="0">
              <a:buNone/>
            </a:pPr>
            <a:endParaRPr lang="ru-RU" sz="2900" dirty="0"/>
          </a:p>
          <a:p>
            <a:pPr marL="0" indent="0">
              <a:buNone/>
            </a:pPr>
            <a:r>
              <a:rPr lang="en-GB" sz="2900" dirty="0"/>
              <a:t>            &lt;</a:t>
            </a:r>
            <a:r>
              <a:rPr lang="en-GB" sz="2900" dirty="0" err="1"/>
              <a:t>Button.Background</a:t>
            </a:r>
            <a:r>
              <a:rPr lang="en-GB" sz="2900" dirty="0"/>
              <a:t>&gt;</a:t>
            </a:r>
          </a:p>
          <a:p>
            <a:pPr marL="0" indent="0">
              <a:buNone/>
            </a:pPr>
            <a:r>
              <a:rPr lang="en-GB" sz="2900" dirty="0"/>
              <a:t>                &lt;</a:t>
            </a:r>
            <a:r>
              <a:rPr lang="en-GB" sz="2900" dirty="0" err="1"/>
              <a:t>SolidColorBrush</a:t>
            </a:r>
            <a:r>
              <a:rPr lang="en-GB" sz="2900" dirty="0"/>
              <a:t> Opacity="0.5" </a:t>
            </a:r>
            <a:r>
              <a:rPr lang="en-GB" sz="2900" dirty="0" err="1"/>
              <a:t>Color</a:t>
            </a:r>
            <a:r>
              <a:rPr lang="en-GB" sz="2900" dirty="0"/>
              <a:t>="Red" /&gt;</a:t>
            </a:r>
          </a:p>
          <a:p>
            <a:pPr marL="0" indent="0">
              <a:buNone/>
            </a:pPr>
            <a:r>
              <a:rPr lang="en-GB" sz="2900" dirty="0"/>
              <a:t>            &lt;/</a:t>
            </a:r>
            <a:r>
              <a:rPr lang="en-GB" sz="2900" dirty="0" err="1"/>
              <a:t>Button.Background</a:t>
            </a:r>
            <a:r>
              <a:rPr lang="en-GB" sz="2900" dirty="0"/>
              <a:t>&gt;</a:t>
            </a:r>
          </a:p>
          <a:p>
            <a:pPr marL="0" indent="0">
              <a:buNone/>
            </a:pPr>
            <a:r>
              <a:rPr lang="en-GB" sz="2900" dirty="0"/>
              <a:t>        &lt;/</a:t>
            </a:r>
            <a:r>
              <a:rPr lang="en-GB" sz="2900" dirty="0" smtClean="0"/>
              <a:t>Button&gt;</a:t>
            </a:r>
            <a:endParaRPr lang="ru-RU" sz="2900" dirty="0" smtClean="0"/>
          </a:p>
          <a:p>
            <a:endParaRPr lang="ru-RU" b="0" i="0" dirty="0">
              <a:solidFill>
                <a:srgbClr val="000000"/>
              </a:solidFill>
              <a:effectLst/>
              <a:latin typeface="verdana"/>
            </a:endParaRPr>
          </a:p>
          <a:p>
            <a:r>
              <a:rPr lang="ru-RU" b="0" i="0" dirty="0" smtClean="0">
                <a:solidFill>
                  <a:srgbClr val="000000"/>
                </a:solidFill>
                <a:effectLst/>
                <a:latin typeface="verdana"/>
              </a:rPr>
              <a:t>Преимуществом такого подхода является то, что у объектов мы можем установить дополнительные параметры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1103108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50106"/>
          </a:xfrm>
        </p:spPr>
        <p:txBody>
          <a:bodyPr>
            <a:normAutofit/>
          </a:bodyPr>
          <a:lstStyle/>
          <a:p>
            <a:r>
              <a:rPr lang="ru-RU" sz="3200" b="1" i="0" dirty="0" smtClean="0">
                <a:solidFill>
                  <a:srgbClr val="000000"/>
                </a:solidFill>
                <a:effectLst/>
                <a:latin typeface="verdana"/>
              </a:rPr>
              <a:t>Пространства имен из C# в XAML</a:t>
            </a:r>
            <a:endParaRPr lang="ru-RU" sz="32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052736"/>
            <a:ext cx="8229600" cy="5073427"/>
          </a:xfrm>
        </p:spPr>
        <p:txBody>
          <a:bodyPr>
            <a:normAutofit fontScale="70000" lnSpcReduction="20000"/>
          </a:bodyPr>
          <a:lstStyle/>
          <a:p>
            <a:pPr>
              <a:spcAft>
                <a:spcPts val="600"/>
              </a:spcAft>
            </a:pPr>
            <a:r>
              <a:rPr lang="ru-RU" b="0" i="0" dirty="0" smtClean="0">
                <a:solidFill>
                  <a:srgbClr val="000000"/>
                </a:solidFill>
                <a:effectLst/>
                <a:latin typeface="verdana"/>
              </a:rPr>
              <a:t>По умолчанию в WPF в XAML подключается предустановленный набор пространств имен</a:t>
            </a:r>
            <a:r>
              <a:rPr lang="ru-RU" b="1" i="0" dirty="0" smtClean="0">
                <a:solidFill>
                  <a:srgbClr val="000000"/>
                </a:solidFill>
                <a:effectLst/>
                <a:latin typeface="verdana"/>
              </a:rPr>
              <a:t> </a:t>
            </a:r>
            <a:r>
              <a:rPr lang="ru-RU" b="1" i="0" dirty="0" err="1" smtClean="0">
                <a:solidFill>
                  <a:srgbClr val="000000"/>
                </a:solidFill>
                <a:effectLst/>
                <a:latin typeface="verdana"/>
              </a:rPr>
              <a:t>xml</a:t>
            </a:r>
            <a:r>
              <a:rPr lang="ru-RU" b="0" i="0" dirty="0" smtClean="0">
                <a:solidFill>
                  <a:srgbClr val="000000"/>
                </a:solidFill>
                <a:effectLst/>
                <a:latin typeface="verdana"/>
              </a:rPr>
              <a:t>. Но можем задействовать любые другие пространства имен и их функциональность в том числе и стандартные пространства имен платформы .NET (например, </a:t>
            </a:r>
            <a:r>
              <a:rPr lang="ru-RU" b="0" i="0" dirty="0" err="1" smtClean="0">
                <a:solidFill>
                  <a:srgbClr val="000000"/>
                </a:solidFill>
                <a:effectLst/>
                <a:latin typeface="verdana"/>
              </a:rPr>
              <a:t>System</a:t>
            </a:r>
            <a:r>
              <a:rPr lang="ru-RU" b="0" i="0" dirty="0" smtClean="0">
                <a:solidFill>
                  <a:srgbClr val="000000"/>
                </a:solidFill>
                <a:effectLst/>
                <a:latin typeface="verdana"/>
              </a:rPr>
              <a:t> или </a:t>
            </a:r>
            <a:r>
              <a:rPr lang="ru-RU" b="0" i="0" dirty="0" err="1" smtClean="0">
                <a:solidFill>
                  <a:srgbClr val="000000"/>
                </a:solidFill>
                <a:effectLst/>
                <a:latin typeface="verdana"/>
              </a:rPr>
              <a:t>System.Collections</a:t>
            </a:r>
            <a:r>
              <a:rPr lang="ru-RU" b="0" i="0" dirty="0" smtClean="0">
                <a:solidFill>
                  <a:srgbClr val="000000"/>
                </a:solidFill>
                <a:effectLst/>
                <a:latin typeface="verdana"/>
              </a:rPr>
              <a:t>).</a:t>
            </a:r>
          </a:p>
          <a:p>
            <a:pPr>
              <a:spcAft>
                <a:spcPts val="600"/>
              </a:spcAft>
            </a:pPr>
            <a:r>
              <a:rPr lang="ru-RU" b="0" i="0" dirty="0" smtClean="0">
                <a:solidFill>
                  <a:srgbClr val="000000"/>
                </a:solidFill>
                <a:effectLst/>
                <a:latin typeface="verdana"/>
              </a:rPr>
              <a:t> Например, по умолчанию в определении элемента </a:t>
            </a:r>
            <a:r>
              <a:rPr lang="ru-RU" b="0" i="0" dirty="0" err="1" smtClean="0">
                <a:solidFill>
                  <a:srgbClr val="000000"/>
                </a:solidFill>
                <a:effectLst/>
                <a:latin typeface="verdana"/>
              </a:rPr>
              <a:t>Window</a:t>
            </a:r>
            <a:r>
              <a:rPr lang="ru-RU" b="0" i="0" dirty="0" smtClean="0">
                <a:solidFill>
                  <a:srgbClr val="000000"/>
                </a:solidFill>
                <a:effectLst/>
                <a:latin typeface="verdana"/>
              </a:rPr>
              <a:t> подключается локальное пространство имен: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en-GB" b="1" i="0" dirty="0" err="1" smtClean="0">
                <a:solidFill>
                  <a:srgbClr val="7030A0"/>
                </a:solidFill>
                <a:effectLst/>
                <a:latin typeface="Consolas"/>
              </a:rPr>
              <a:t>xmlns:local</a:t>
            </a:r>
            <a:r>
              <a:rPr lang="en-GB" b="1" i="0" dirty="0" smtClean="0">
                <a:solidFill>
                  <a:srgbClr val="7030A0"/>
                </a:solidFill>
                <a:effectLst/>
                <a:latin typeface="Consolas"/>
              </a:rPr>
              <a:t>="</a:t>
            </a:r>
            <a:r>
              <a:rPr lang="en-GB" b="1" dirty="0" err="1">
                <a:solidFill>
                  <a:srgbClr val="7030A0"/>
                </a:solidFill>
                <a:latin typeface="Consolas"/>
              </a:rPr>
              <a:t>clr-namespace:XamlApp</a:t>
            </a:r>
            <a:r>
              <a:rPr lang="en-GB" b="1" dirty="0">
                <a:solidFill>
                  <a:srgbClr val="7030A0"/>
                </a:solidFill>
                <a:latin typeface="Consolas"/>
              </a:rPr>
              <a:t>" </a:t>
            </a:r>
            <a:endParaRPr lang="ru-RU" b="1" i="0" dirty="0" smtClean="0">
              <a:solidFill>
                <a:srgbClr val="7030A0"/>
              </a:solidFill>
              <a:effectLst/>
              <a:latin typeface="Consolas"/>
            </a:endParaRPr>
          </a:p>
          <a:p>
            <a:pPr>
              <a:spcAft>
                <a:spcPts val="600"/>
              </a:spcAft>
            </a:pPr>
            <a:r>
              <a:rPr lang="ru-RU" b="0" i="0" dirty="0" smtClean="0">
                <a:solidFill>
                  <a:srgbClr val="000000"/>
                </a:solidFill>
                <a:effectLst/>
                <a:latin typeface="verdana"/>
              </a:rPr>
              <a:t>Локальное пространство имен, как правило, называется по имени проекта (проект называется </a:t>
            </a:r>
            <a:r>
              <a:rPr lang="ru-RU" b="0" i="0" dirty="0" err="1" smtClean="0">
                <a:solidFill>
                  <a:srgbClr val="000000"/>
                </a:solidFill>
                <a:effectLst/>
                <a:latin typeface="verdana"/>
              </a:rPr>
              <a:t>XamlApp</a:t>
            </a:r>
            <a:r>
              <a:rPr lang="ru-RU" b="0" i="0" dirty="0" smtClean="0">
                <a:solidFill>
                  <a:srgbClr val="000000"/>
                </a:solidFill>
                <a:effectLst/>
                <a:latin typeface="verdana"/>
              </a:rPr>
              <a:t>) и позволяет подключить все классы, которые определены в коде C# в проекте. </a:t>
            </a:r>
          </a:p>
          <a:p>
            <a:pPr>
              <a:spcAft>
                <a:spcPts val="600"/>
              </a:spcAft>
            </a:pPr>
            <a:r>
              <a:rPr lang="ru-RU" b="0" i="0" dirty="0" smtClean="0">
                <a:solidFill>
                  <a:srgbClr val="000000"/>
                </a:solidFill>
                <a:effectLst/>
                <a:latin typeface="verdana"/>
              </a:rPr>
              <a:t>Например, добавим в проект следующий класс:</a:t>
            </a:r>
          </a:p>
          <a:p>
            <a:endParaRPr lang="ru-RU" b="0" i="0" dirty="0" smtClean="0">
              <a:solidFill>
                <a:srgbClr val="000000"/>
              </a:solidFill>
              <a:effectLst/>
              <a:latin typeface="verdana"/>
            </a:endParaRP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7515497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 dirty="0"/>
          </a:p>
        </p:txBody>
      </p:sp>
      <p:pic>
        <p:nvPicPr>
          <p:cNvPr id="1331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22375" y="1835150"/>
            <a:ext cx="6699250" cy="318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Объект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683568" y="5301208"/>
            <a:ext cx="8136904" cy="11695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lang="ru-RU" altLang="ru-RU" sz="1400" dirty="0">
                <a:solidFill>
                  <a:srgbClr val="000000"/>
                </a:solidFill>
                <a:latin typeface="Verdana" pitchFamily="34" charset="0"/>
                <a:cs typeface="Arial" pitchFamily="34" charset="0"/>
              </a:rPr>
              <a:t>Так как пространство имен проекта проецируется на префикс </a:t>
            </a:r>
            <a:r>
              <a:rPr lang="ru-RU" altLang="ru-RU" sz="1400" b="1" dirty="0" err="1">
                <a:solidFill>
                  <a:srgbClr val="000000"/>
                </a:solidFill>
                <a:latin typeface="Verdana" pitchFamily="34" charset="0"/>
              </a:rPr>
              <a:t>local</a:t>
            </a:r>
            <a:r>
              <a:rPr lang="ru-RU" altLang="ru-RU" sz="1400" dirty="0">
                <a:solidFill>
                  <a:srgbClr val="000000"/>
                </a:solidFill>
                <a:latin typeface="Verdana" pitchFamily="34" charset="0"/>
                <a:cs typeface="Arial" pitchFamily="34" charset="0"/>
              </a:rPr>
              <a:t>, то все классы проекта используются в форме </a:t>
            </a:r>
            <a:r>
              <a:rPr lang="ru-RU" altLang="ru-RU" sz="1400" b="1" i="1" dirty="0" err="1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local:Название_Класса</a:t>
            </a:r>
            <a:r>
              <a:rPr lang="ru-RU" altLang="ru-RU" sz="1400" b="1" i="1" dirty="0">
                <a:solidFill>
                  <a:srgbClr val="000000"/>
                </a:solidFill>
                <a:latin typeface="Verdana" pitchFamily="34" charset="0"/>
                <a:cs typeface="Arial" pitchFamily="34" charset="0"/>
              </a:rPr>
              <a:t>.</a:t>
            </a:r>
            <a:r>
              <a:rPr lang="ru-RU" altLang="ru-RU" sz="1400" dirty="0">
                <a:solidFill>
                  <a:srgbClr val="000000"/>
                </a:solidFill>
                <a:latin typeface="Verdana" pitchFamily="34" charset="0"/>
                <a:cs typeface="Arial" pitchFamily="34" charset="0"/>
              </a:rPr>
              <a:t> Так в данном случае объект </a:t>
            </a:r>
            <a:r>
              <a:rPr lang="ru-RU" altLang="ru-RU" sz="1400" dirty="0" err="1">
                <a:solidFill>
                  <a:srgbClr val="000000"/>
                </a:solidFill>
                <a:latin typeface="Verdana" pitchFamily="34" charset="0"/>
                <a:cs typeface="Arial" pitchFamily="34" charset="0"/>
              </a:rPr>
              <a:t>Phone</a:t>
            </a:r>
            <a:r>
              <a:rPr lang="ru-RU" altLang="ru-RU" sz="1400" dirty="0">
                <a:solidFill>
                  <a:srgbClr val="000000"/>
                </a:solidFill>
                <a:latin typeface="Verdana" pitchFamily="34" charset="0"/>
                <a:cs typeface="Arial" pitchFamily="34" charset="0"/>
              </a:rPr>
              <a:t> устанавливается в качестве содержимого кнопки через свойство </a:t>
            </a:r>
            <a:r>
              <a:rPr lang="ru-RU" altLang="ru-RU" sz="1400" dirty="0" err="1">
                <a:solidFill>
                  <a:srgbClr val="000000"/>
                </a:solidFill>
                <a:latin typeface="Verdana" pitchFamily="34" charset="0"/>
                <a:cs typeface="Arial" pitchFamily="34" charset="0"/>
              </a:rPr>
              <a:t>Content</a:t>
            </a:r>
            <a:r>
              <a:rPr lang="ru-RU" altLang="ru-RU" sz="1400" dirty="0">
                <a:solidFill>
                  <a:srgbClr val="000000"/>
                </a:solidFill>
                <a:latin typeface="Verdana" pitchFamily="34" charset="0"/>
                <a:cs typeface="Arial" pitchFamily="34" charset="0"/>
              </a:rPr>
              <a:t>. Для сложных объектов это свойство принимает их строковое представление, которое возвращается методом </a:t>
            </a:r>
            <a:r>
              <a:rPr lang="ru-RU" altLang="ru-RU" sz="1400" dirty="0" err="1">
                <a:solidFill>
                  <a:srgbClr val="000000"/>
                </a:solidFill>
                <a:latin typeface="Verdana" pitchFamily="34" charset="0"/>
                <a:cs typeface="Arial" pitchFamily="34" charset="0"/>
              </a:rPr>
              <a:t>ToString</a:t>
            </a:r>
            <a:r>
              <a:rPr lang="ru-RU" altLang="ru-RU" sz="1400" dirty="0">
                <a:solidFill>
                  <a:srgbClr val="000000"/>
                </a:solidFill>
                <a:latin typeface="Verdana" pitchFamily="34" charset="0"/>
                <a:cs typeface="Arial" pitchFamily="34" charset="0"/>
              </a:rPr>
              <a:t>():</a:t>
            </a:r>
            <a:r>
              <a:rPr lang="ru-RU" altLang="ru-RU" sz="1400" dirty="0">
                <a:latin typeface="Arial" pitchFamily="34" charset="0"/>
                <a:cs typeface="Arial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3163690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22114"/>
          </a:xfrm>
        </p:spPr>
        <p:txBody>
          <a:bodyPr>
            <a:normAutofit fontScale="90000"/>
          </a:bodyPr>
          <a:lstStyle/>
          <a:p>
            <a:r>
              <a:rPr lang="ru-RU" sz="2800" dirty="0" smtClean="0"/>
              <a:t>можно </a:t>
            </a:r>
            <a:r>
              <a:rPr lang="ru-RU" sz="2800" dirty="0"/>
              <a:t>подключить любые </a:t>
            </a:r>
            <a:r>
              <a:rPr lang="ru-RU" sz="2800" dirty="0" smtClean="0"/>
              <a:t>пространства </a:t>
            </a:r>
            <a:r>
              <a:rPr lang="ru-RU" sz="2800" dirty="0"/>
              <a:t>имен, классы которых </a:t>
            </a:r>
            <a:r>
              <a:rPr lang="ru-RU" sz="2800" dirty="0" smtClean="0"/>
              <a:t>хотим </a:t>
            </a:r>
            <a:r>
              <a:rPr lang="ru-RU" sz="2800" dirty="0"/>
              <a:t>использовать в </a:t>
            </a:r>
            <a:r>
              <a:rPr lang="ru-RU" sz="2800" dirty="0" smtClean="0"/>
              <a:t>приложении:</a:t>
            </a:r>
            <a:endParaRPr lang="ru-RU" sz="28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23528" y="1124744"/>
            <a:ext cx="8229600" cy="5544616"/>
          </a:xfrm>
        </p:spPr>
        <p:txBody>
          <a:bodyPr>
            <a:normAutofit fontScale="40000" lnSpcReduction="20000"/>
          </a:bodyPr>
          <a:lstStyle/>
          <a:p>
            <a:pPr marL="0" indent="0">
              <a:buNone/>
            </a:pPr>
            <a:r>
              <a:rPr lang="en-GB" dirty="0"/>
              <a:t>&lt;Window x:Class="XamlApp.MainWindow"</a:t>
            </a:r>
          </a:p>
          <a:p>
            <a:pPr marL="0" indent="0">
              <a:buNone/>
            </a:pPr>
            <a:r>
              <a:rPr lang="en-GB" dirty="0"/>
              <a:t>         </a:t>
            </a:r>
            <a:r>
              <a:rPr lang="en-GB" dirty="0" err="1"/>
              <a:t>xmlns</a:t>
            </a:r>
            <a:r>
              <a:rPr lang="en-GB" dirty="0"/>
              <a:t>="http://schemas.microsoft.com/</a:t>
            </a:r>
            <a:r>
              <a:rPr lang="en-GB" dirty="0" err="1"/>
              <a:t>winfx</a:t>
            </a:r>
            <a:r>
              <a:rPr lang="en-GB" dirty="0"/>
              <a:t>/2006/</a:t>
            </a:r>
            <a:r>
              <a:rPr lang="en-GB" dirty="0" err="1"/>
              <a:t>xaml</a:t>
            </a:r>
            <a:r>
              <a:rPr lang="en-GB" dirty="0"/>
              <a:t>/presentation"</a:t>
            </a:r>
          </a:p>
          <a:p>
            <a:pPr marL="0" indent="0">
              <a:buNone/>
            </a:pPr>
            <a:r>
              <a:rPr lang="en-GB" dirty="0"/>
              <a:t>        </a:t>
            </a:r>
            <a:r>
              <a:rPr lang="en-GB" dirty="0" err="1"/>
              <a:t>xmlns:x</a:t>
            </a:r>
            <a:r>
              <a:rPr lang="en-GB" dirty="0"/>
              <a:t>="http://schemas.microsoft.com/</a:t>
            </a:r>
            <a:r>
              <a:rPr lang="en-GB" dirty="0" err="1"/>
              <a:t>winfx</a:t>
            </a:r>
            <a:r>
              <a:rPr lang="en-GB" dirty="0"/>
              <a:t>/2006/</a:t>
            </a:r>
            <a:r>
              <a:rPr lang="en-GB" dirty="0" err="1"/>
              <a:t>xaml</a:t>
            </a:r>
            <a:r>
              <a:rPr lang="en-GB" dirty="0"/>
              <a:t>"</a:t>
            </a:r>
          </a:p>
          <a:p>
            <a:pPr marL="0" indent="0">
              <a:buNone/>
            </a:pPr>
            <a:r>
              <a:rPr lang="en-GB" dirty="0"/>
              <a:t>        </a:t>
            </a:r>
            <a:r>
              <a:rPr lang="en-GB" dirty="0" err="1"/>
              <a:t>xmlns:d</a:t>
            </a:r>
            <a:r>
              <a:rPr lang="en-GB" dirty="0"/>
              <a:t>="http://schemas.microsoft.com/expression/blend/2008"</a:t>
            </a:r>
          </a:p>
          <a:p>
            <a:pPr marL="0" indent="0">
              <a:buNone/>
            </a:pPr>
            <a:r>
              <a:rPr lang="en-GB" dirty="0"/>
              <a:t>        </a:t>
            </a:r>
            <a:r>
              <a:rPr lang="en-GB" dirty="0" err="1"/>
              <a:t>xmlns:mc</a:t>
            </a:r>
            <a:r>
              <a:rPr lang="en-GB" dirty="0"/>
              <a:t>="http://schemas.openxmlformats.org/</a:t>
            </a:r>
            <a:r>
              <a:rPr lang="en-GB" dirty="0" err="1"/>
              <a:t>markup</a:t>
            </a:r>
            <a:r>
              <a:rPr lang="en-GB" dirty="0"/>
              <a:t>-compatibility/2006"</a:t>
            </a:r>
          </a:p>
          <a:p>
            <a:pPr marL="0" indent="0">
              <a:buNone/>
            </a:pPr>
            <a:r>
              <a:rPr lang="en-GB" dirty="0"/>
              <a:t>        </a:t>
            </a:r>
            <a:r>
              <a:rPr lang="en-GB" dirty="0" err="1"/>
              <a:t>xmlns:local</a:t>
            </a:r>
            <a:r>
              <a:rPr lang="en-GB" dirty="0"/>
              <a:t>="</a:t>
            </a:r>
            <a:r>
              <a:rPr lang="en-GB" dirty="0" err="1"/>
              <a:t>clr-namespace:XamlApp</a:t>
            </a:r>
            <a:r>
              <a:rPr lang="en-GB" dirty="0"/>
              <a:t>"</a:t>
            </a:r>
          </a:p>
          <a:p>
            <a:pPr marL="0" indent="0">
              <a:buNone/>
            </a:pPr>
            <a:r>
              <a:rPr lang="en-GB" dirty="0"/>
              <a:t>        </a:t>
            </a:r>
            <a:r>
              <a:rPr lang="en-GB" dirty="0" err="1"/>
              <a:t>xmlns:col</a:t>
            </a:r>
            <a:r>
              <a:rPr lang="en-GB" dirty="0"/>
              <a:t>="</a:t>
            </a:r>
            <a:r>
              <a:rPr lang="en-GB" dirty="0" err="1"/>
              <a:t>clr-namespace:System.Collections;assembly</a:t>
            </a:r>
            <a:r>
              <a:rPr lang="en-GB" dirty="0"/>
              <a:t>=</a:t>
            </a:r>
            <a:r>
              <a:rPr lang="en-GB" dirty="0" err="1"/>
              <a:t>mscorlib</a:t>
            </a:r>
            <a:r>
              <a:rPr lang="en-GB" dirty="0"/>
              <a:t>"</a:t>
            </a:r>
          </a:p>
          <a:p>
            <a:pPr marL="0" indent="0">
              <a:buNone/>
            </a:pPr>
            <a:r>
              <a:rPr lang="en-GB" dirty="0"/>
              <a:t>        </a:t>
            </a:r>
            <a:r>
              <a:rPr lang="en-GB" dirty="0" err="1"/>
              <a:t>xmlns:sys</a:t>
            </a:r>
            <a:r>
              <a:rPr lang="en-GB" dirty="0"/>
              <a:t>="</a:t>
            </a:r>
            <a:r>
              <a:rPr lang="en-GB" dirty="0" err="1"/>
              <a:t>clr-namespace:System;assembly</a:t>
            </a:r>
            <a:r>
              <a:rPr lang="en-GB" dirty="0"/>
              <a:t>=</a:t>
            </a:r>
            <a:r>
              <a:rPr lang="en-GB" dirty="0" err="1"/>
              <a:t>mscorlib</a:t>
            </a:r>
            <a:r>
              <a:rPr lang="en-GB" dirty="0"/>
              <a:t>"</a:t>
            </a:r>
          </a:p>
          <a:p>
            <a:pPr marL="0" indent="0">
              <a:buNone/>
            </a:pPr>
            <a:r>
              <a:rPr lang="en-GB" dirty="0"/>
              <a:t>        </a:t>
            </a:r>
            <a:r>
              <a:rPr lang="en-GB" dirty="0" err="1"/>
              <a:t>mc:Ignorable</a:t>
            </a:r>
            <a:r>
              <a:rPr lang="en-GB" dirty="0"/>
              <a:t>="d"</a:t>
            </a:r>
          </a:p>
          <a:p>
            <a:pPr marL="0" indent="0">
              <a:buNone/>
            </a:pPr>
            <a:r>
              <a:rPr lang="en-US" dirty="0"/>
              <a:t>        Title="</a:t>
            </a:r>
            <a:r>
              <a:rPr lang="en-US" dirty="0" err="1"/>
              <a:t>MainWindow</a:t>
            </a:r>
            <a:r>
              <a:rPr lang="en-US" dirty="0"/>
              <a:t>" Height="350" Width="525"&gt;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en-GB" dirty="0"/>
              <a:t>    &lt;</a:t>
            </a:r>
            <a:r>
              <a:rPr lang="en-GB" dirty="0" err="1"/>
              <a:t>Window.Resources</a:t>
            </a:r>
            <a:r>
              <a:rPr lang="en-GB" dirty="0"/>
              <a:t>&gt;</a:t>
            </a:r>
          </a:p>
          <a:p>
            <a:pPr marL="0" indent="0">
              <a:buNone/>
            </a:pPr>
            <a:r>
              <a:rPr lang="en-GB" dirty="0"/>
              <a:t>        &lt;</a:t>
            </a:r>
            <a:r>
              <a:rPr lang="en-GB" dirty="0" err="1"/>
              <a:t>col:ArrayList</a:t>
            </a:r>
            <a:r>
              <a:rPr lang="en-GB" dirty="0"/>
              <a:t> x:Key="days"&gt;</a:t>
            </a:r>
          </a:p>
          <a:p>
            <a:pPr marL="0" indent="0">
              <a:buNone/>
            </a:pPr>
            <a:r>
              <a:rPr lang="en-GB" dirty="0"/>
              <a:t>            &lt;</a:t>
            </a:r>
            <a:r>
              <a:rPr lang="en-GB" dirty="0" err="1"/>
              <a:t>sys:String</a:t>
            </a:r>
            <a:r>
              <a:rPr lang="en-GB" dirty="0"/>
              <a:t>&gt;</a:t>
            </a:r>
            <a:r>
              <a:rPr lang="ru-RU" dirty="0"/>
              <a:t>Понедельник&lt;/</a:t>
            </a:r>
            <a:r>
              <a:rPr lang="en-GB" dirty="0" err="1"/>
              <a:t>sys:String</a:t>
            </a:r>
            <a:r>
              <a:rPr lang="en-GB" dirty="0"/>
              <a:t>&gt;</a:t>
            </a:r>
          </a:p>
          <a:p>
            <a:pPr marL="0" indent="0">
              <a:buNone/>
            </a:pPr>
            <a:r>
              <a:rPr lang="en-GB" dirty="0"/>
              <a:t>            &lt;</a:t>
            </a:r>
            <a:r>
              <a:rPr lang="en-GB" dirty="0" err="1"/>
              <a:t>sys:String</a:t>
            </a:r>
            <a:r>
              <a:rPr lang="en-GB" dirty="0"/>
              <a:t>&gt;</a:t>
            </a:r>
            <a:r>
              <a:rPr lang="ru-RU" dirty="0"/>
              <a:t>Вторник&lt;/</a:t>
            </a:r>
            <a:r>
              <a:rPr lang="en-GB" dirty="0" err="1"/>
              <a:t>sys:String</a:t>
            </a:r>
            <a:r>
              <a:rPr lang="en-GB" dirty="0"/>
              <a:t>&gt;</a:t>
            </a:r>
          </a:p>
          <a:p>
            <a:pPr marL="0" indent="0">
              <a:buNone/>
            </a:pPr>
            <a:r>
              <a:rPr lang="en-GB" dirty="0"/>
              <a:t>            &lt;</a:t>
            </a:r>
            <a:r>
              <a:rPr lang="en-GB" dirty="0" err="1"/>
              <a:t>sys:String</a:t>
            </a:r>
            <a:r>
              <a:rPr lang="en-GB" dirty="0"/>
              <a:t>&gt;</a:t>
            </a:r>
            <a:r>
              <a:rPr lang="ru-RU" dirty="0"/>
              <a:t>Среда&lt;/</a:t>
            </a:r>
            <a:r>
              <a:rPr lang="en-GB" dirty="0" err="1"/>
              <a:t>sys:String</a:t>
            </a:r>
            <a:r>
              <a:rPr lang="en-GB" dirty="0"/>
              <a:t>&gt;</a:t>
            </a:r>
          </a:p>
          <a:p>
            <a:pPr marL="0" indent="0">
              <a:buNone/>
            </a:pPr>
            <a:r>
              <a:rPr lang="en-GB" dirty="0"/>
              <a:t>            &lt;</a:t>
            </a:r>
            <a:r>
              <a:rPr lang="en-GB" dirty="0" err="1"/>
              <a:t>sys:String</a:t>
            </a:r>
            <a:r>
              <a:rPr lang="en-GB" dirty="0"/>
              <a:t>&gt;</a:t>
            </a:r>
            <a:r>
              <a:rPr lang="ru-RU" dirty="0"/>
              <a:t>Четверг&lt;/</a:t>
            </a:r>
            <a:r>
              <a:rPr lang="en-GB" dirty="0" err="1"/>
              <a:t>sys:String</a:t>
            </a:r>
            <a:r>
              <a:rPr lang="en-GB" dirty="0"/>
              <a:t>&gt;</a:t>
            </a:r>
          </a:p>
          <a:p>
            <a:pPr marL="0" indent="0">
              <a:buNone/>
            </a:pPr>
            <a:r>
              <a:rPr lang="en-GB" dirty="0"/>
              <a:t>            &lt;</a:t>
            </a:r>
            <a:r>
              <a:rPr lang="en-GB" dirty="0" err="1"/>
              <a:t>sys:String</a:t>
            </a:r>
            <a:r>
              <a:rPr lang="en-GB" dirty="0"/>
              <a:t>&gt;</a:t>
            </a:r>
            <a:r>
              <a:rPr lang="ru-RU" dirty="0"/>
              <a:t>Пятница&lt;/</a:t>
            </a:r>
            <a:r>
              <a:rPr lang="en-GB" dirty="0" err="1"/>
              <a:t>sys:String</a:t>
            </a:r>
            <a:r>
              <a:rPr lang="en-GB" dirty="0"/>
              <a:t>&gt;</a:t>
            </a:r>
          </a:p>
          <a:p>
            <a:pPr marL="0" indent="0">
              <a:buNone/>
            </a:pPr>
            <a:r>
              <a:rPr lang="en-GB" dirty="0"/>
              <a:t>            &lt;</a:t>
            </a:r>
            <a:r>
              <a:rPr lang="en-GB" dirty="0" err="1"/>
              <a:t>sys:String</a:t>
            </a:r>
            <a:r>
              <a:rPr lang="en-GB" dirty="0"/>
              <a:t>&gt;</a:t>
            </a:r>
            <a:r>
              <a:rPr lang="ru-RU" dirty="0"/>
              <a:t>Суббота&lt;/</a:t>
            </a:r>
            <a:r>
              <a:rPr lang="en-GB" dirty="0" err="1"/>
              <a:t>sys:String</a:t>
            </a:r>
            <a:r>
              <a:rPr lang="en-GB" dirty="0"/>
              <a:t>&gt;</a:t>
            </a:r>
          </a:p>
          <a:p>
            <a:pPr marL="0" indent="0">
              <a:buNone/>
            </a:pPr>
            <a:r>
              <a:rPr lang="en-GB" dirty="0"/>
              <a:t>            &lt;</a:t>
            </a:r>
            <a:r>
              <a:rPr lang="en-GB" dirty="0" err="1"/>
              <a:t>sys:String</a:t>
            </a:r>
            <a:r>
              <a:rPr lang="en-GB" dirty="0"/>
              <a:t>&gt;</a:t>
            </a:r>
            <a:r>
              <a:rPr lang="ru-RU" dirty="0"/>
              <a:t>Воскресенье&lt;/</a:t>
            </a:r>
            <a:r>
              <a:rPr lang="en-GB" dirty="0" err="1"/>
              <a:t>sys:String</a:t>
            </a:r>
            <a:r>
              <a:rPr lang="en-GB" dirty="0"/>
              <a:t>&gt;</a:t>
            </a:r>
          </a:p>
          <a:p>
            <a:pPr marL="0" indent="0">
              <a:buNone/>
            </a:pPr>
            <a:r>
              <a:rPr lang="en-GB" dirty="0"/>
              <a:t>        &lt;/</a:t>
            </a:r>
            <a:r>
              <a:rPr lang="en-GB" dirty="0" err="1"/>
              <a:t>col:ArrayList</a:t>
            </a:r>
            <a:r>
              <a:rPr lang="en-GB" dirty="0"/>
              <a:t>&gt;</a:t>
            </a:r>
          </a:p>
          <a:p>
            <a:pPr marL="0" indent="0">
              <a:buNone/>
            </a:pPr>
            <a:r>
              <a:rPr lang="en-GB" dirty="0"/>
              <a:t>    &lt;/</a:t>
            </a:r>
            <a:r>
              <a:rPr lang="en-GB" dirty="0" err="1"/>
              <a:t>Window.Resources</a:t>
            </a:r>
            <a:r>
              <a:rPr lang="en-GB" dirty="0"/>
              <a:t>&gt;</a:t>
            </a:r>
          </a:p>
          <a:p>
            <a:pPr marL="0" indent="0">
              <a:buNone/>
            </a:pPr>
            <a:r>
              <a:rPr lang="en-GB" dirty="0"/>
              <a:t>    &lt;Grid x:Name="layoutGrid"&gt;</a:t>
            </a:r>
          </a:p>
          <a:p>
            <a:pPr marL="0" indent="0">
              <a:buNone/>
            </a:pPr>
            <a:r>
              <a:rPr lang="ru-RU" dirty="0"/>
              <a:t>        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en-GB" dirty="0"/>
              <a:t>    &lt;/Grid&gt;</a:t>
            </a:r>
          </a:p>
          <a:p>
            <a:pPr marL="0" indent="0">
              <a:buNone/>
            </a:pPr>
            <a:r>
              <a:rPr lang="en-GB" dirty="0"/>
              <a:t>&lt;/Window&gt;</a:t>
            </a:r>
          </a:p>
          <a:p>
            <a:pPr marL="0" indent="0">
              <a:buNone/>
            </a:pPr>
            <a:endParaRPr lang="ru-RU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5436096" y="4221088"/>
            <a:ext cx="3275856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lang="ru-RU" altLang="ru-RU" sz="1400" dirty="0">
                <a:solidFill>
                  <a:srgbClr val="000000"/>
                </a:solidFill>
                <a:latin typeface="Verdana" pitchFamily="34" charset="0"/>
                <a:cs typeface="Arial" pitchFamily="34" charset="0"/>
              </a:rPr>
              <a:t>Благодаря этому </a:t>
            </a:r>
            <a:r>
              <a:rPr lang="ru-RU" altLang="ru-RU" sz="1400" dirty="0" smtClean="0">
                <a:solidFill>
                  <a:srgbClr val="000000"/>
                </a:solidFill>
                <a:latin typeface="Verdana" pitchFamily="34" charset="0"/>
                <a:cs typeface="Arial" pitchFamily="34" charset="0"/>
              </a:rPr>
              <a:t>становятся </a:t>
            </a:r>
            <a:r>
              <a:rPr lang="ru-RU" altLang="ru-RU" sz="1400" dirty="0">
                <a:solidFill>
                  <a:srgbClr val="000000"/>
                </a:solidFill>
                <a:latin typeface="Verdana" pitchFamily="34" charset="0"/>
                <a:cs typeface="Arial" pitchFamily="34" charset="0"/>
              </a:rPr>
              <a:t>доступными объекты из пространств имен </a:t>
            </a:r>
            <a:r>
              <a:rPr lang="ru-RU" altLang="ru-RU" sz="1400" dirty="0" err="1">
                <a:solidFill>
                  <a:srgbClr val="000000"/>
                </a:solidFill>
                <a:latin typeface="Verdana" pitchFamily="34" charset="0"/>
                <a:cs typeface="Arial" pitchFamily="34" charset="0"/>
              </a:rPr>
              <a:t>System.Collections</a:t>
            </a:r>
            <a:r>
              <a:rPr lang="ru-RU" altLang="ru-RU" sz="1400" dirty="0">
                <a:solidFill>
                  <a:srgbClr val="000000"/>
                </a:solidFill>
                <a:latin typeface="Verdana" pitchFamily="34" charset="0"/>
                <a:cs typeface="Arial" pitchFamily="34" charset="0"/>
              </a:rPr>
              <a:t> и </a:t>
            </a:r>
            <a:r>
              <a:rPr lang="ru-RU" altLang="ru-RU" sz="1400" dirty="0" err="1">
                <a:solidFill>
                  <a:srgbClr val="000000"/>
                </a:solidFill>
                <a:latin typeface="Verdana" pitchFamily="34" charset="0"/>
                <a:cs typeface="Arial" pitchFamily="34" charset="0"/>
              </a:rPr>
              <a:t>System</a:t>
            </a:r>
            <a:r>
              <a:rPr lang="ru-RU" altLang="ru-RU" sz="1400" dirty="0">
                <a:solidFill>
                  <a:srgbClr val="000000"/>
                </a:solidFill>
                <a:latin typeface="Verdana" pitchFamily="34" charset="0"/>
                <a:cs typeface="Arial" pitchFamily="34" charset="0"/>
              </a:rPr>
              <a:t>. И затем используя префикс, </a:t>
            </a:r>
            <a:r>
              <a:rPr lang="ru-RU" altLang="ru-RU" sz="1400" dirty="0" smtClean="0">
                <a:solidFill>
                  <a:srgbClr val="000000"/>
                </a:solidFill>
                <a:latin typeface="Verdana" pitchFamily="34" charset="0"/>
                <a:cs typeface="Arial" pitchFamily="34" charset="0"/>
              </a:rPr>
              <a:t>можно </a:t>
            </a:r>
            <a:r>
              <a:rPr lang="ru-RU" altLang="ru-RU" sz="1400" dirty="0">
                <a:solidFill>
                  <a:srgbClr val="000000"/>
                </a:solidFill>
                <a:latin typeface="Verdana" pitchFamily="34" charset="0"/>
                <a:cs typeface="Arial" pitchFamily="34" charset="0"/>
              </a:rPr>
              <a:t>использовать объекты, входящие в данные пространства имен: </a:t>
            </a:r>
            <a:r>
              <a:rPr lang="ru-RU" altLang="ru-RU" sz="1400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&lt;</a:t>
            </a:r>
            <a:r>
              <a:rPr lang="ru-RU" altLang="ru-RU" sz="1400" dirty="0" err="1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col:ArrayList</a:t>
            </a:r>
            <a:r>
              <a:rPr lang="ru-RU" altLang="ru-RU" sz="1400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....</a:t>
            </a:r>
            <a:r>
              <a:rPr lang="ru-RU" altLang="ru-RU" sz="1400" dirty="0">
                <a:latin typeface="Arial" pitchFamily="34" charset="0"/>
                <a:cs typeface="Arial" pitchFamily="34" charset="0"/>
              </a:rPr>
              <a:t> </a:t>
            </a:r>
          </a:p>
        </p:txBody>
      </p:sp>
      <p:cxnSp>
        <p:nvCxnSpPr>
          <p:cNvPr id="7" name="Прямая со стрелкой 6"/>
          <p:cNvCxnSpPr/>
          <p:nvPr/>
        </p:nvCxnSpPr>
        <p:spPr>
          <a:xfrm flipH="1" flipV="1">
            <a:off x="2699792" y="3652574"/>
            <a:ext cx="2880320" cy="92855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Прямоугольник 7"/>
          <p:cNvSpPr/>
          <p:nvPr/>
        </p:nvSpPr>
        <p:spPr>
          <a:xfrm>
            <a:off x="6084168" y="1124744"/>
            <a:ext cx="3054199" cy="11695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400" dirty="0">
                <a:solidFill>
                  <a:srgbClr val="000000"/>
                </a:solidFill>
                <a:latin typeface="verdana"/>
              </a:rPr>
              <a:t>Общий синтаксис подключения пространств </a:t>
            </a:r>
            <a:r>
              <a:rPr lang="ru-RU" sz="1400" dirty="0" smtClean="0">
                <a:solidFill>
                  <a:srgbClr val="000000"/>
                </a:solidFill>
                <a:latin typeface="verdana"/>
              </a:rPr>
              <a:t>имен:</a:t>
            </a:r>
            <a:r>
              <a:rPr lang="ru-RU" sz="1400" dirty="0">
                <a:solidFill>
                  <a:srgbClr val="000000"/>
                </a:solidFill>
                <a:latin typeface="verdana"/>
              </a:rPr>
              <a:t> </a:t>
            </a:r>
            <a:r>
              <a:rPr lang="ru-RU" sz="1400" b="1" dirty="0" err="1">
                <a:solidFill>
                  <a:srgbClr val="C00000"/>
                </a:solidFill>
              </a:rPr>
              <a:t>xmlns:Префикс</a:t>
            </a:r>
            <a:r>
              <a:rPr lang="ru-RU" sz="1400" b="1" dirty="0">
                <a:solidFill>
                  <a:srgbClr val="C00000"/>
                </a:solidFill>
              </a:rPr>
              <a:t>="</a:t>
            </a:r>
            <a:r>
              <a:rPr lang="ru-RU" sz="1400" b="1" dirty="0" err="1">
                <a:solidFill>
                  <a:srgbClr val="C00000"/>
                </a:solidFill>
              </a:rPr>
              <a:t>clr-namespace:Пространство_имен</a:t>
            </a:r>
            <a:r>
              <a:rPr lang="ru-RU" sz="1400" b="1" dirty="0" smtClean="0">
                <a:solidFill>
                  <a:srgbClr val="C00000"/>
                </a:solidFill>
              </a:rPr>
              <a:t>;</a:t>
            </a:r>
          </a:p>
          <a:p>
            <a:r>
              <a:rPr lang="ru-RU" sz="1400" b="1" dirty="0" err="1" smtClean="0">
                <a:solidFill>
                  <a:srgbClr val="C00000"/>
                </a:solidFill>
              </a:rPr>
              <a:t>assembly</a:t>
            </a:r>
            <a:r>
              <a:rPr lang="ru-RU" sz="1400" b="1" dirty="0" smtClean="0">
                <a:solidFill>
                  <a:srgbClr val="C00000"/>
                </a:solidFill>
              </a:rPr>
              <a:t>=</a:t>
            </a:r>
            <a:r>
              <a:rPr lang="ru-RU" sz="1400" b="1" dirty="0" err="1" smtClean="0">
                <a:solidFill>
                  <a:srgbClr val="C00000"/>
                </a:solidFill>
              </a:rPr>
              <a:t>имя_сборки</a:t>
            </a:r>
            <a:r>
              <a:rPr lang="ru-RU" sz="1400" b="1" dirty="0">
                <a:solidFill>
                  <a:srgbClr val="C00000"/>
                </a:solidFill>
              </a:rPr>
              <a:t>"</a:t>
            </a:r>
          </a:p>
        </p:txBody>
      </p:sp>
      <p:cxnSp>
        <p:nvCxnSpPr>
          <p:cNvPr id="10" name="Прямая со стрелкой 9"/>
          <p:cNvCxnSpPr/>
          <p:nvPr/>
        </p:nvCxnSpPr>
        <p:spPr>
          <a:xfrm flipH="1" flipV="1">
            <a:off x="4644008" y="2492896"/>
            <a:ext cx="1440160" cy="7200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Прямоугольник 10"/>
          <p:cNvSpPr/>
          <p:nvPr/>
        </p:nvSpPr>
        <p:spPr>
          <a:xfrm>
            <a:off x="5646487" y="2492896"/>
            <a:ext cx="3491880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200" dirty="0">
                <a:solidFill>
                  <a:srgbClr val="000000"/>
                </a:solidFill>
                <a:latin typeface="verdana"/>
              </a:rPr>
              <a:t>подключили пространство имен </a:t>
            </a:r>
            <a:r>
              <a:rPr lang="ru-RU" sz="1200" b="1" dirty="0" err="1">
                <a:solidFill>
                  <a:srgbClr val="000000"/>
                </a:solidFill>
                <a:latin typeface="verdana"/>
              </a:rPr>
              <a:t>System.Collections</a:t>
            </a:r>
            <a:r>
              <a:rPr lang="ru-RU" sz="1200" dirty="0">
                <a:solidFill>
                  <a:srgbClr val="000000"/>
                </a:solidFill>
                <a:latin typeface="verdana"/>
              </a:rPr>
              <a:t>, классы которого находятся в сборке </a:t>
            </a:r>
            <a:r>
              <a:rPr lang="ru-RU" sz="1200" b="1" dirty="0" err="1">
                <a:solidFill>
                  <a:srgbClr val="000000"/>
                </a:solidFill>
                <a:latin typeface="verdana"/>
              </a:rPr>
              <a:t>mscorlib</a:t>
            </a:r>
            <a:r>
              <a:rPr lang="ru-RU" sz="1200" dirty="0">
                <a:solidFill>
                  <a:srgbClr val="000000"/>
                </a:solidFill>
                <a:latin typeface="verdana"/>
              </a:rPr>
              <a:t>. И данное подключенное пространство имен </a:t>
            </a:r>
            <a:r>
              <a:rPr lang="ru-RU" sz="1200" dirty="0" smtClean="0">
                <a:solidFill>
                  <a:srgbClr val="000000"/>
                </a:solidFill>
                <a:latin typeface="verdana"/>
              </a:rPr>
              <a:t>отображено </a:t>
            </a:r>
            <a:r>
              <a:rPr lang="ru-RU" sz="1200" dirty="0">
                <a:solidFill>
                  <a:srgbClr val="000000"/>
                </a:solidFill>
                <a:latin typeface="verdana"/>
              </a:rPr>
              <a:t>на префикс </a:t>
            </a:r>
            <a:r>
              <a:rPr lang="ru-RU" sz="1200" dirty="0" err="1">
                <a:solidFill>
                  <a:srgbClr val="000000"/>
                </a:solidFill>
                <a:latin typeface="verdana"/>
              </a:rPr>
              <a:t>col</a:t>
            </a:r>
            <a:r>
              <a:rPr lang="ru-RU" sz="1200" dirty="0">
                <a:solidFill>
                  <a:srgbClr val="000000"/>
                </a:solidFill>
                <a:latin typeface="verdana"/>
              </a:rPr>
              <a:t>.</a:t>
            </a:r>
            <a:endParaRPr lang="ru-RU" sz="1200" dirty="0"/>
          </a:p>
        </p:txBody>
      </p:sp>
      <p:cxnSp>
        <p:nvCxnSpPr>
          <p:cNvPr id="16" name="Прямая со стрелкой 15"/>
          <p:cNvCxnSpPr/>
          <p:nvPr/>
        </p:nvCxnSpPr>
        <p:spPr>
          <a:xfrm flipH="1">
            <a:off x="2699792" y="3429000"/>
            <a:ext cx="3024336" cy="14401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662352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06090"/>
          </a:xfrm>
        </p:spPr>
        <p:txBody>
          <a:bodyPr>
            <a:normAutofit/>
          </a:bodyPr>
          <a:lstStyle/>
          <a:p>
            <a:r>
              <a:rPr lang="ru-RU" sz="3200" b="1" i="0" dirty="0" smtClean="0">
                <a:solidFill>
                  <a:srgbClr val="000000"/>
                </a:solidFill>
                <a:effectLst/>
                <a:latin typeface="verdana"/>
              </a:rPr>
              <a:t>Компоновка</a:t>
            </a:r>
            <a:endParaRPr lang="ru-RU" sz="32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79512" y="1052736"/>
            <a:ext cx="8856984" cy="5616624"/>
          </a:xfrm>
        </p:spPr>
        <p:txBody>
          <a:bodyPr>
            <a:normAutofit fontScale="40000" lnSpcReduction="20000"/>
          </a:bodyPr>
          <a:lstStyle/>
          <a:p>
            <a:pPr>
              <a:spcAft>
                <a:spcPts val="600"/>
              </a:spcAft>
            </a:pPr>
            <a:r>
              <a:rPr lang="ru-RU" b="0" i="0" dirty="0" smtClean="0">
                <a:solidFill>
                  <a:srgbClr val="000000"/>
                </a:solidFill>
                <a:effectLst/>
                <a:latin typeface="verdana"/>
              </a:rPr>
              <a:t>Компоновка (</a:t>
            </a:r>
            <a:r>
              <a:rPr lang="ru-RU" b="0" i="0" dirty="0" err="1" smtClean="0">
                <a:solidFill>
                  <a:srgbClr val="000000"/>
                </a:solidFill>
                <a:effectLst/>
                <a:latin typeface="verdana"/>
              </a:rPr>
              <a:t>layout</a:t>
            </a:r>
            <a:r>
              <a:rPr lang="ru-RU" b="0" i="0" dirty="0" smtClean="0">
                <a:solidFill>
                  <a:srgbClr val="000000"/>
                </a:solidFill>
                <a:effectLst/>
                <a:latin typeface="verdana"/>
              </a:rPr>
              <a:t>) представляет собой процесс размещения элементов внутри контейнера. </a:t>
            </a:r>
          </a:p>
          <a:p>
            <a:pPr>
              <a:spcAft>
                <a:spcPts val="600"/>
              </a:spcAft>
            </a:pPr>
            <a:r>
              <a:rPr lang="ru-RU" b="0" i="0" dirty="0" smtClean="0">
                <a:solidFill>
                  <a:srgbClr val="000000"/>
                </a:solidFill>
                <a:effectLst/>
                <a:latin typeface="verdana"/>
              </a:rPr>
              <a:t>WPF использует так называемый "резиновый дизайн", где весь процесс позиционирования элементов осуществляется с помощью компоновки.</a:t>
            </a:r>
          </a:p>
          <a:p>
            <a:pPr>
              <a:spcAft>
                <a:spcPts val="600"/>
              </a:spcAft>
            </a:pPr>
            <a:r>
              <a:rPr lang="ru-RU" b="0" i="0" dirty="0" smtClean="0">
                <a:solidFill>
                  <a:srgbClr val="000000"/>
                </a:solidFill>
                <a:effectLst/>
                <a:latin typeface="verdana"/>
              </a:rPr>
              <a:t>Благодаря компоновке можно удобным образом настроить элементы интерфейса, позиционировать их определенным образом(например, элементы компоновки в WPF позволяют при </a:t>
            </a:r>
            <a:r>
              <a:rPr lang="ru-RU" b="0" i="0" dirty="0" err="1" smtClean="0">
                <a:solidFill>
                  <a:srgbClr val="000000"/>
                </a:solidFill>
                <a:effectLst/>
                <a:latin typeface="verdana"/>
              </a:rPr>
              <a:t>ресайзе</a:t>
            </a:r>
            <a:r>
              <a:rPr lang="ru-RU" b="0" i="0" dirty="0" smtClean="0">
                <a:solidFill>
                  <a:srgbClr val="000000"/>
                </a:solidFill>
                <a:effectLst/>
                <a:latin typeface="verdana"/>
              </a:rPr>
              <a:t> - сжатии или растяжении масштабировать элементы, что очень удобно, а визуально не создает всяких шероховатостей типа незаполненных пустот на форме).</a:t>
            </a:r>
          </a:p>
          <a:p>
            <a:pPr>
              <a:spcAft>
                <a:spcPts val="600"/>
              </a:spcAft>
            </a:pPr>
            <a:r>
              <a:rPr lang="ru-RU" b="0" i="0" dirty="0" smtClean="0">
                <a:solidFill>
                  <a:srgbClr val="000000"/>
                </a:solidFill>
                <a:effectLst/>
                <a:latin typeface="verdana"/>
              </a:rPr>
              <a:t>В WPF компоновка осуществляется при помощи специальных контейнеров. </a:t>
            </a:r>
          </a:p>
          <a:p>
            <a:pPr>
              <a:spcAft>
                <a:spcPts val="600"/>
              </a:spcAft>
            </a:pPr>
            <a:r>
              <a:rPr lang="ru-RU" b="0" i="0" dirty="0" smtClean="0">
                <a:solidFill>
                  <a:srgbClr val="000000"/>
                </a:solidFill>
                <a:effectLst/>
                <a:latin typeface="verdana"/>
              </a:rPr>
              <a:t>Фреймворк предоставляет нам следующие контейнеры: </a:t>
            </a:r>
          </a:p>
          <a:p>
            <a:pPr lvl="1">
              <a:spcAft>
                <a:spcPts val="600"/>
              </a:spcAft>
            </a:pPr>
            <a:r>
              <a:rPr lang="ru-RU" b="1" i="0" dirty="0" err="1" smtClean="0">
                <a:solidFill>
                  <a:srgbClr val="000000"/>
                </a:solidFill>
                <a:effectLst/>
                <a:latin typeface="verdana"/>
              </a:rPr>
              <a:t>Grid</a:t>
            </a:r>
            <a:r>
              <a:rPr lang="ru-RU" b="0" i="0" dirty="0" smtClean="0">
                <a:solidFill>
                  <a:srgbClr val="000000"/>
                </a:solidFill>
                <a:effectLst/>
                <a:latin typeface="verdana"/>
              </a:rPr>
              <a:t>, </a:t>
            </a:r>
          </a:p>
          <a:p>
            <a:pPr lvl="1">
              <a:spcAft>
                <a:spcPts val="600"/>
              </a:spcAft>
            </a:pPr>
            <a:r>
              <a:rPr lang="ru-RU" b="1" i="0" dirty="0" err="1" smtClean="0">
                <a:solidFill>
                  <a:srgbClr val="000000"/>
                </a:solidFill>
                <a:effectLst/>
                <a:latin typeface="verdana"/>
              </a:rPr>
              <a:t>UniformGrid</a:t>
            </a:r>
            <a:r>
              <a:rPr lang="ru-RU" b="0" i="0" dirty="0" smtClean="0">
                <a:solidFill>
                  <a:srgbClr val="000000"/>
                </a:solidFill>
                <a:effectLst/>
                <a:latin typeface="verdana"/>
              </a:rPr>
              <a:t>, </a:t>
            </a:r>
          </a:p>
          <a:p>
            <a:pPr lvl="1">
              <a:spcAft>
                <a:spcPts val="600"/>
              </a:spcAft>
            </a:pPr>
            <a:r>
              <a:rPr lang="ru-RU" b="1" i="0" dirty="0" err="1" smtClean="0">
                <a:solidFill>
                  <a:srgbClr val="000000"/>
                </a:solidFill>
                <a:effectLst/>
                <a:latin typeface="verdana"/>
              </a:rPr>
              <a:t>StackPanel</a:t>
            </a:r>
            <a:r>
              <a:rPr lang="ru-RU" b="0" i="0" dirty="0" smtClean="0">
                <a:solidFill>
                  <a:srgbClr val="000000"/>
                </a:solidFill>
                <a:effectLst/>
                <a:latin typeface="verdana"/>
              </a:rPr>
              <a:t>, </a:t>
            </a:r>
          </a:p>
          <a:p>
            <a:pPr lvl="1">
              <a:spcAft>
                <a:spcPts val="600"/>
              </a:spcAft>
            </a:pPr>
            <a:r>
              <a:rPr lang="ru-RU" b="1" i="0" dirty="0" err="1" smtClean="0">
                <a:solidFill>
                  <a:srgbClr val="000000"/>
                </a:solidFill>
                <a:effectLst/>
                <a:latin typeface="verdana"/>
              </a:rPr>
              <a:t>WrapPanel</a:t>
            </a:r>
            <a:r>
              <a:rPr lang="ru-RU" b="0" i="0" dirty="0" smtClean="0">
                <a:solidFill>
                  <a:srgbClr val="000000"/>
                </a:solidFill>
                <a:effectLst/>
                <a:latin typeface="verdana"/>
              </a:rPr>
              <a:t>, </a:t>
            </a:r>
          </a:p>
          <a:p>
            <a:pPr lvl="1">
              <a:spcAft>
                <a:spcPts val="600"/>
              </a:spcAft>
            </a:pPr>
            <a:r>
              <a:rPr lang="ru-RU" b="1" i="0" dirty="0" err="1" smtClean="0">
                <a:solidFill>
                  <a:srgbClr val="000000"/>
                </a:solidFill>
                <a:effectLst/>
                <a:latin typeface="verdana"/>
              </a:rPr>
              <a:t>DockPanel</a:t>
            </a:r>
            <a:r>
              <a:rPr lang="ru-RU" b="0" i="0" dirty="0" smtClean="0">
                <a:solidFill>
                  <a:srgbClr val="000000"/>
                </a:solidFill>
                <a:effectLst/>
                <a:latin typeface="verdana"/>
              </a:rPr>
              <a:t> </a:t>
            </a:r>
          </a:p>
          <a:p>
            <a:pPr lvl="1">
              <a:spcAft>
                <a:spcPts val="600"/>
              </a:spcAft>
            </a:pPr>
            <a:r>
              <a:rPr lang="ru-RU" b="1" i="0" dirty="0" err="1" smtClean="0">
                <a:solidFill>
                  <a:srgbClr val="000000"/>
                </a:solidFill>
                <a:effectLst/>
                <a:latin typeface="verdana"/>
              </a:rPr>
              <a:t>Canvas</a:t>
            </a:r>
            <a:r>
              <a:rPr lang="ru-RU" b="0" i="0" dirty="0" smtClean="0">
                <a:solidFill>
                  <a:srgbClr val="000000"/>
                </a:solidFill>
                <a:effectLst/>
                <a:latin typeface="verdana"/>
              </a:rPr>
              <a:t>.</a:t>
            </a:r>
          </a:p>
          <a:p>
            <a:pPr>
              <a:spcAft>
                <a:spcPts val="600"/>
              </a:spcAft>
            </a:pPr>
            <a:r>
              <a:rPr lang="ru-RU" b="0" i="0" dirty="0" smtClean="0">
                <a:solidFill>
                  <a:srgbClr val="000000"/>
                </a:solidFill>
                <a:effectLst/>
                <a:latin typeface="verdana"/>
              </a:rPr>
              <a:t>Различные контейнеры могут содержать внутри себя другие контейнеры. </a:t>
            </a:r>
          </a:p>
          <a:p>
            <a:pPr>
              <a:spcAft>
                <a:spcPts val="600"/>
              </a:spcAft>
            </a:pPr>
            <a:r>
              <a:rPr lang="ru-RU" b="0" i="0" dirty="0" smtClean="0">
                <a:solidFill>
                  <a:srgbClr val="000000"/>
                </a:solidFill>
                <a:effectLst/>
                <a:latin typeface="verdana"/>
              </a:rPr>
              <a:t>Кроме данных контейнеров существует еще ряд элементов, такие как </a:t>
            </a:r>
            <a:r>
              <a:rPr lang="ru-RU" b="0" i="0" dirty="0" err="1" smtClean="0">
                <a:solidFill>
                  <a:srgbClr val="000000"/>
                </a:solidFill>
                <a:effectLst/>
                <a:latin typeface="verdana"/>
              </a:rPr>
              <a:t>TabPanel</a:t>
            </a:r>
            <a:r>
              <a:rPr lang="ru-RU" b="0" i="0" dirty="0" smtClean="0">
                <a:solidFill>
                  <a:srgbClr val="000000"/>
                </a:solidFill>
                <a:effectLst/>
                <a:latin typeface="verdana"/>
              </a:rPr>
              <a:t>, которые могут включать другие элементы и даже контейнеры компоновки, однако на саму компоновку не столь влияют в отличие от выше перечисленных. </a:t>
            </a:r>
          </a:p>
          <a:p>
            <a:pPr>
              <a:spcAft>
                <a:spcPts val="600"/>
              </a:spcAft>
            </a:pPr>
            <a:r>
              <a:rPr lang="ru-RU" b="0" i="0" dirty="0" smtClean="0">
                <a:solidFill>
                  <a:srgbClr val="000000"/>
                </a:solidFill>
                <a:effectLst/>
                <a:latin typeface="verdana"/>
              </a:rPr>
              <a:t>если не хватает стандартных контейнеров, можно определить свои с нужной функциональностью.</a:t>
            </a:r>
          </a:p>
          <a:p>
            <a:pPr>
              <a:spcAft>
                <a:spcPts val="600"/>
              </a:spcAft>
            </a:pPr>
            <a:r>
              <a:rPr lang="ru-RU" b="1" i="0" dirty="0" smtClean="0">
                <a:solidFill>
                  <a:srgbClr val="C00000"/>
                </a:solidFill>
                <a:effectLst/>
                <a:latin typeface="verdana"/>
              </a:rPr>
              <a:t>Контейнеры компоновки позволяют эффективно распределить доступное пространство между элементами, найти для него наиболее предпочтительные размеры.</a:t>
            </a:r>
          </a:p>
          <a:p>
            <a:pPr>
              <a:spcAft>
                <a:spcPts val="600"/>
              </a:spcAft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7610575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78098"/>
          </a:xfrm>
        </p:spPr>
        <p:txBody>
          <a:bodyPr>
            <a:normAutofit fontScale="90000"/>
          </a:bodyPr>
          <a:lstStyle/>
          <a:p>
            <a:r>
              <a:rPr lang="ru-RU" sz="2800" b="1" i="0" dirty="0" smtClean="0">
                <a:solidFill>
                  <a:srgbClr val="C00000"/>
                </a:solidFill>
                <a:effectLst/>
                <a:latin typeface="verdana"/>
              </a:rPr>
              <a:t>контейнеры компоновки наследуются от абстрактного класса </a:t>
            </a:r>
            <a:r>
              <a:rPr lang="ru-RU" sz="2800" b="1" dirty="0" err="1" smtClean="0">
                <a:solidFill>
                  <a:srgbClr val="C00000"/>
                </a:solidFill>
              </a:rPr>
              <a:t>Panel</a:t>
            </a:r>
            <a:endParaRPr lang="ru-RU" sz="2800" b="1" dirty="0">
              <a:solidFill>
                <a:srgbClr val="C00000"/>
              </a:solidFill>
            </a:endParaRPr>
          </a:p>
        </p:txBody>
      </p:sp>
      <p:sp>
        <p:nvSpPr>
          <p:cNvPr id="6" name="AutoShape 5" descr="Элементы компоновки в WPF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8" name="Объект 7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475656" y="1321422"/>
            <a:ext cx="5976664" cy="50351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375859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332656"/>
            <a:ext cx="8229600" cy="6048672"/>
          </a:xfrm>
        </p:spPr>
        <p:txBody>
          <a:bodyPr>
            <a:normAutofit fontScale="70000" lnSpcReduction="20000"/>
          </a:bodyPr>
          <a:lstStyle/>
          <a:p>
            <a:pPr marL="0" indent="0">
              <a:spcAft>
                <a:spcPts val="600"/>
              </a:spcAft>
              <a:buNone/>
            </a:pPr>
            <a:r>
              <a:rPr lang="ru-RU" b="0" i="0" dirty="0" smtClean="0">
                <a:solidFill>
                  <a:srgbClr val="000000"/>
                </a:solidFill>
                <a:effectLst/>
                <a:latin typeface="verdana"/>
              </a:rPr>
              <a:t>В WPF при компоновке и расположении элементов внутри окна надо придерживаться следующих принципов: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lang="ru-RU" b="0" i="0" dirty="0" smtClean="0">
                <a:solidFill>
                  <a:srgbClr val="000000"/>
                </a:solidFill>
                <a:effectLst/>
                <a:latin typeface="verdana"/>
              </a:rPr>
              <a:t>Нежелательно указывать явные размеры элементов (за </a:t>
            </a:r>
            <a:r>
              <a:rPr lang="ru-RU" b="0" i="0" dirty="0" err="1" smtClean="0">
                <a:solidFill>
                  <a:srgbClr val="000000"/>
                </a:solidFill>
                <a:effectLst/>
                <a:latin typeface="verdana"/>
              </a:rPr>
              <a:t>исключеним</a:t>
            </a:r>
            <a:r>
              <a:rPr lang="ru-RU" b="0" i="0" dirty="0" smtClean="0">
                <a:solidFill>
                  <a:srgbClr val="000000"/>
                </a:solidFill>
                <a:effectLst/>
                <a:latin typeface="verdana"/>
              </a:rPr>
              <a:t> минимальных и максимальных размеров). Размеры должны определяться контейнерами.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lang="ru-RU" b="0" i="0" dirty="0" smtClean="0">
                <a:solidFill>
                  <a:srgbClr val="000000"/>
                </a:solidFill>
                <a:effectLst/>
                <a:latin typeface="verdana"/>
              </a:rPr>
              <a:t>Нежелательно указывать явные позицию и координаты элементов внутри окна. Позиционирование элементов всецело должно быть прерогативой контейнеров. 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lang="ru-RU" b="0" i="0" dirty="0" smtClean="0">
                <a:solidFill>
                  <a:srgbClr val="000000"/>
                </a:solidFill>
                <a:effectLst/>
                <a:latin typeface="verdana"/>
              </a:rPr>
              <a:t>Контейнер сам должен определять, как элемент будет располагаться. 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lang="ru-RU" b="0" i="0" dirty="0" smtClean="0">
                <a:solidFill>
                  <a:srgbClr val="000000"/>
                </a:solidFill>
                <a:effectLst/>
                <a:latin typeface="verdana"/>
              </a:rPr>
              <a:t>Если надо создать сложную систему компоновки, то можно вкладывать один контейнер в другой, чтобы добиться максимально удобного расположения элементов управления.</a:t>
            </a:r>
          </a:p>
          <a:p>
            <a:pPr>
              <a:spcAft>
                <a:spcPts val="600"/>
              </a:spcAft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0544898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i="0" dirty="0" smtClean="0">
                <a:solidFill>
                  <a:srgbClr val="000000"/>
                </a:solidFill>
                <a:effectLst/>
                <a:latin typeface="verdana"/>
              </a:rPr>
              <a:t>Процесс компоновки</a:t>
            </a:r>
            <a:br>
              <a:rPr lang="ru-RU" b="1" i="0" dirty="0" smtClean="0">
                <a:solidFill>
                  <a:srgbClr val="000000"/>
                </a:solidFill>
                <a:effectLst/>
                <a:latin typeface="verdana"/>
              </a:rPr>
            </a:b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124744"/>
            <a:ext cx="8229600" cy="5001419"/>
          </a:xfrm>
        </p:spPr>
        <p:txBody>
          <a:bodyPr>
            <a:normAutofit fontScale="92500" lnSpcReduction="20000"/>
          </a:bodyPr>
          <a:lstStyle/>
          <a:p>
            <a:pPr>
              <a:spcAft>
                <a:spcPts val="600"/>
              </a:spcAft>
            </a:pPr>
            <a:r>
              <a:rPr lang="ru-RU" b="0" i="0" dirty="0" smtClean="0">
                <a:solidFill>
                  <a:srgbClr val="000000"/>
                </a:solidFill>
                <a:effectLst/>
                <a:latin typeface="verdana"/>
              </a:rPr>
              <a:t>Процесс компоновки проходит два этапа: </a:t>
            </a:r>
          </a:p>
          <a:p>
            <a:pPr lvl="1">
              <a:spcAft>
                <a:spcPts val="600"/>
              </a:spcAft>
            </a:pPr>
            <a:r>
              <a:rPr lang="ru-RU" b="1" i="0" dirty="0" smtClean="0">
                <a:solidFill>
                  <a:srgbClr val="000000"/>
                </a:solidFill>
                <a:effectLst/>
                <a:latin typeface="verdana"/>
              </a:rPr>
              <a:t>измерение (</a:t>
            </a:r>
            <a:r>
              <a:rPr lang="ru-RU" b="1" i="0" dirty="0" err="1" smtClean="0">
                <a:solidFill>
                  <a:srgbClr val="000000"/>
                </a:solidFill>
                <a:effectLst/>
                <a:latin typeface="verdana"/>
              </a:rPr>
              <a:t>measure</a:t>
            </a:r>
            <a:r>
              <a:rPr lang="ru-RU" b="1" i="0" dirty="0" smtClean="0">
                <a:solidFill>
                  <a:srgbClr val="000000"/>
                </a:solidFill>
                <a:effectLst/>
                <a:latin typeface="verdana"/>
              </a:rPr>
              <a:t>) - </a:t>
            </a:r>
            <a:r>
              <a:rPr lang="ru-RU" dirty="0" smtClean="0">
                <a:solidFill>
                  <a:srgbClr val="000000"/>
                </a:solidFill>
                <a:latin typeface="verdana"/>
              </a:rPr>
              <a:t>контейнер производит </a:t>
            </a:r>
            <a:r>
              <a:rPr lang="ru-RU" dirty="0">
                <a:solidFill>
                  <a:srgbClr val="000000"/>
                </a:solidFill>
                <a:latin typeface="verdana"/>
              </a:rPr>
              <a:t>измерение предпочтительного для дочерних элементов места. Однако не всегда контейнер имеет достаточно места, чтобы расставить все элементы по их предпочтительным размером, поэтому их размеры приходится усекать</a:t>
            </a:r>
            <a:endParaRPr lang="ru-RU" b="0" i="0" dirty="0" smtClean="0">
              <a:solidFill>
                <a:srgbClr val="000000"/>
              </a:solidFill>
              <a:effectLst/>
              <a:latin typeface="verdana"/>
            </a:endParaRPr>
          </a:p>
          <a:p>
            <a:pPr lvl="1">
              <a:spcAft>
                <a:spcPts val="600"/>
              </a:spcAft>
            </a:pPr>
            <a:r>
              <a:rPr lang="ru-RU" b="1" i="0" dirty="0" smtClean="0">
                <a:solidFill>
                  <a:srgbClr val="000000"/>
                </a:solidFill>
                <a:effectLst/>
                <a:latin typeface="verdana"/>
              </a:rPr>
              <a:t>расстановка (</a:t>
            </a:r>
            <a:r>
              <a:rPr lang="ru-RU" b="1" i="0" dirty="0" err="1" smtClean="0">
                <a:solidFill>
                  <a:srgbClr val="000000"/>
                </a:solidFill>
                <a:effectLst/>
                <a:latin typeface="verdana"/>
              </a:rPr>
              <a:t>arrange</a:t>
            </a:r>
            <a:r>
              <a:rPr lang="ru-RU" b="1" i="0" dirty="0" smtClean="0">
                <a:solidFill>
                  <a:srgbClr val="000000"/>
                </a:solidFill>
                <a:effectLst/>
                <a:latin typeface="verdana"/>
              </a:rPr>
              <a:t>) </a:t>
            </a:r>
            <a:r>
              <a:rPr lang="ru-RU" b="0" i="0" dirty="0" smtClean="0">
                <a:solidFill>
                  <a:srgbClr val="000000"/>
                </a:solidFill>
                <a:effectLst/>
                <a:latin typeface="verdana"/>
              </a:rPr>
              <a:t>- </a:t>
            </a:r>
            <a:r>
              <a:rPr lang="ru-RU" dirty="0">
                <a:solidFill>
                  <a:srgbClr val="000000"/>
                </a:solidFill>
                <a:latin typeface="verdana"/>
              </a:rPr>
              <a:t>этап непосредственной расстановки дочерних элементов внутри контейнера</a:t>
            </a:r>
            <a:endParaRPr lang="ru-RU" b="0" i="0" dirty="0" smtClean="0">
              <a:solidFill>
                <a:srgbClr val="000000"/>
              </a:solidFill>
              <a:effectLst/>
              <a:latin typeface="verdana"/>
            </a:endParaRP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165612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06090"/>
          </a:xfrm>
        </p:spPr>
        <p:txBody>
          <a:bodyPr>
            <a:normAutofit/>
          </a:bodyPr>
          <a:lstStyle/>
          <a:p>
            <a:r>
              <a:rPr lang="en-GB" sz="3200" b="1" dirty="0" smtClean="0"/>
              <a:t>Grid</a:t>
            </a:r>
            <a:endParaRPr lang="ru-RU" sz="32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836712"/>
            <a:ext cx="8229600" cy="5289451"/>
          </a:xfrm>
        </p:spPr>
        <p:txBody>
          <a:bodyPr>
            <a:normAutofit fontScale="85000" lnSpcReduction="20000"/>
          </a:bodyPr>
          <a:lstStyle/>
          <a:p>
            <a:r>
              <a:rPr lang="ru-RU" sz="2300" b="0" i="0" dirty="0" smtClean="0">
                <a:solidFill>
                  <a:srgbClr val="000000"/>
                </a:solidFill>
                <a:effectLst/>
                <a:latin typeface="verdana"/>
              </a:rPr>
              <a:t>наиболее мощный и часто используемый контейнер, напоминающий обычную таблицу </a:t>
            </a:r>
          </a:p>
          <a:p>
            <a:r>
              <a:rPr lang="ru-RU" sz="2300" b="0" i="0" dirty="0" smtClean="0">
                <a:solidFill>
                  <a:srgbClr val="000000"/>
                </a:solidFill>
                <a:effectLst/>
                <a:latin typeface="verdana"/>
              </a:rPr>
              <a:t>содержит столбцы и строки, количество которых задает разработчик </a:t>
            </a:r>
          </a:p>
          <a:p>
            <a:pPr marL="0" indent="0">
              <a:buNone/>
            </a:pPr>
            <a:endParaRPr lang="en-US" b="0" i="0" dirty="0" smtClean="0">
              <a:solidFill>
                <a:srgbClr val="000000"/>
              </a:solidFill>
              <a:effectLst/>
              <a:latin typeface="verdana"/>
            </a:endParaRPr>
          </a:p>
          <a:p>
            <a:pPr marL="0" indent="0" fontAlgn="base">
              <a:buNone/>
            </a:pPr>
            <a:r>
              <a:rPr lang="en-US" sz="2600" dirty="0"/>
              <a:t>&lt;</a:t>
            </a:r>
            <a:r>
              <a:rPr lang="en-US" sz="2600" dirty="0" err="1"/>
              <a:t>Grid.RowDefinitions</a:t>
            </a:r>
            <a:r>
              <a:rPr lang="en-US" sz="2600" dirty="0"/>
              <a:t>&gt;</a:t>
            </a:r>
          </a:p>
          <a:p>
            <a:pPr marL="0" indent="0" fontAlgn="base">
              <a:buNone/>
            </a:pPr>
            <a:r>
              <a:rPr lang="en-US" sz="2600" dirty="0"/>
              <a:t>    &lt;</a:t>
            </a:r>
            <a:r>
              <a:rPr lang="en-US" sz="2600" dirty="0" err="1"/>
              <a:t>RowDefinition</a:t>
            </a:r>
            <a:r>
              <a:rPr lang="en-US" sz="2600" dirty="0"/>
              <a:t>&gt;&lt;/</a:t>
            </a:r>
            <a:r>
              <a:rPr lang="en-US" sz="2600" dirty="0" err="1"/>
              <a:t>RowDefinition</a:t>
            </a:r>
            <a:r>
              <a:rPr lang="en-US" sz="2600" dirty="0"/>
              <a:t>&gt;</a:t>
            </a:r>
          </a:p>
          <a:p>
            <a:pPr marL="0" indent="0" fontAlgn="base">
              <a:buNone/>
            </a:pPr>
            <a:r>
              <a:rPr lang="en-US" sz="2600" dirty="0"/>
              <a:t>    &lt;</a:t>
            </a:r>
            <a:r>
              <a:rPr lang="en-US" sz="2600" dirty="0" err="1"/>
              <a:t>RowDefinition</a:t>
            </a:r>
            <a:r>
              <a:rPr lang="en-US" sz="2600" dirty="0"/>
              <a:t>&gt;&lt;/</a:t>
            </a:r>
            <a:r>
              <a:rPr lang="en-US" sz="2600" dirty="0" err="1"/>
              <a:t>RowDefinition</a:t>
            </a:r>
            <a:r>
              <a:rPr lang="en-US" sz="2600" dirty="0"/>
              <a:t>&gt;</a:t>
            </a:r>
          </a:p>
          <a:p>
            <a:pPr marL="0" indent="0" fontAlgn="base">
              <a:buNone/>
            </a:pPr>
            <a:r>
              <a:rPr lang="en-US" sz="2600" dirty="0"/>
              <a:t>    &lt;</a:t>
            </a:r>
            <a:r>
              <a:rPr lang="en-US" sz="2600" dirty="0" err="1"/>
              <a:t>RowDefinition</a:t>
            </a:r>
            <a:r>
              <a:rPr lang="en-US" sz="2600" dirty="0"/>
              <a:t>&gt;&lt;/</a:t>
            </a:r>
            <a:r>
              <a:rPr lang="en-US" sz="2600" dirty="0" err="1"/>
              <a:t>RowDefinition</a:t>
            </a:r>
            <a:r>
              <a:rPr lang="en-US" sz="2600" dirty="0"/>
              <a:t>&gt;</a:t>
            </a:r>
          </a:p>
          <a:p>
            <a:pPr marL="0" indent="0" fontAlgn="base">
              <a:buNone/>
            </a:pPr>
            <a:r>
              <a:rPr lang="en-US" sz="2600" dirty="0"/>
              <a:t>&lt;/</a:t>
            </a:r>
            <a:r>
              <a:rPr lang="en-US" sz="2600" dirty="0" err="1"/>
              <a:t>Grid.RowDefinitions</a:t>
            </a:r>
            <a:r>
              <a:rPr lang="en-US" sz="2600" dirty="0"/>
              <a:t>&gt;</a:t>
            </a:r>
          </a:p>
          <a:p>
            <a:pPr marL="0" indent="0" fontAlgn="base">
              <a:buNone/>
            </a:pPr>
            <a:r>
              <a:rPr lang="en-US" sz="2600" dirty="0"/>
              <a:t>&lt;</a:t>
            </a:r>
            <a:r>
              <a:rPr lang="en-US" sz="2600" dirty="0" err="1"/>
              <a:t>Grid.ColumnDefinitions</a:t>
            </a:r>
            <a:r>
              <a:rPr lang="en-US" sz="2600" dirty="0"/>
              <a:t>&gt;</a:t>
            </a:r>
          </a:p>
          <a:p>
            <a:pPr marL="0" indent="0" fontAlgn="base">
              <a:buNone/>
            </a:pPr>
            <a:r>
              <a:rPr lang="en-US" sz="2600" dirty="0"/>
              <a:t>    &lt;</a:t>
            </a:r>
            <a:r>
              <a:rPr lang="en-US" sz="2600" dirty="0" err="1"/>
              <a:t>ColumnDefinition</a:t>
            </a:r>
            <a:r>
              <a:rPr lang="en-US" sz="2600" dirty="0"/>
              <a:t>&gt;&lt;/</a:t>
            </a:r>
            <a:r>
              <a:rPr lang="en-US" sz="2600" dirty="0" err="1"/>
              <a:t>ColumnDefinition</a:t>
            </a:r>
            <a:r>
              <a:rPr lang="en-US" sz="2600" dirty="0"/>
              <a:t>&gt;</a:t>
            </a:r>
          </a:p>
          <a:p>
            <a:pPr marL="0" indent="0" fontAlgn="base">
              <a:buNone/>
            </a:pPr>
            <a:r>
              <a:rPr lang="en-US" sz="2600" dirty="0"/>
              <a:t>    &lt;</a:t>
            </a:r>
            <a:r>
              <a:rPr lang="en-US" sz="2600" dirty="0" err="1"/>
              <a:t>ColumnDefinition</a:t>
            </a:r>
            <a:r>
              <a:rPr lang="en-US" sz="2600" dirty="0"/>
              <a:t>&gt;&lt;/</a:t>
            </a:r>
            <a:r>
              <a:rPr lang="en-US" sz="2600" dirty="0" err="1"/>
              <a:t>ColumnDefinition</a:t>
            </a:r>
            <a:r>
              <a:rPr lang="en-US" sz="2600" dirty="0"/>
              <a:t>&gt;</a:t>
            </a:r>
          </a:p>
          <a:p>
            <a:pPr marL="0" indent="0" fontAlgn="base">
              <a:buNone/>
            </a:pPr>
            <a:r>
              <a:rPr lang="en-US" sz="2600" dirty="0"/>
              <a:t>    &lt;</a:t>
            </a:r>
            <a:r>
              <a:rPr lang="en-US" sz="2600" dirty="0" err="1"/>
              <a:t>ColumnDefinition</a:t>
            </a:r>
            <a:r>
              <a:rPr lang="en-US" sz="2600" dirty="0"/>
              <a:t>&gt;&lt;/</a:t>
            </a:r>
            <a:r>
              <a:rPr lang="en-US" sz="2600" dirty="0" err="1"/>
              <a:t>ColumnDefinition</a:t>
            </a:r>
            <a:r>
              <a:rPr lang="en-US" sz="2600" dirty="0"/>
              <a:t>&gt;</a:t>
            </a:r>
          </a:p>
          <a:p>
            <a:pPr marL="0" indent="0" fontAlgn="base">
              <a:buNone/>
            </a:pPr>
            <a:r>
              <a:rPr lang="en-US" sz="2600" dirty="0"/>
              <a:t>&lt;/</a:t>
            </a:r>
            <a:r>
              <a:rPr lang="en-US" sz="2600" dirty="0" err="1"/>
              <a:t>Grid.ColumnDefinitions</a:t>
            </a:r>
            <a:r>
              <a:rPr lang="en-US" sz="2600" dirty="0"/>
              <a:t>&gt;</a:t>
            </a:r>
          </a:p>
          <a:p>
            <a:endParaRPr lang="ru-RU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5796136" y="3933056"/>
            <a:ext cx="3275856" cy="24622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lang="ru-RU" altLang="ru-RU" sz="1400" dirty="0">
                <a:solidFill>
                  <a:srgbClr val="000000"/>
                </a:solidFill>
                <a:latin typeface="Verdana" pitchFamily="34" charset="0"/>
                <a:cs typeface="Arial" pitchFamily="34" charset="0"/>
              </a:rPr>
              <a:t>Каждая строка задается с помощью вложенного элемента </a:t>
            </a:r>
            <a:r>
              <a:rPr lang="ru-RU" altLang="ru-RU" sz="1400" b="1" dirty="0" err="1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RowDefinition</a:t>
            </a:r>
            <a:r>
              <a:rPr lang="ru-RU" altLang="ru-RU" sz="1400" dirty="0">
                <a:solidFill>
                  <a:srgbClr val="000000"/>
                </a:solidFill>
                <a:latin typeface="Verdana" pitchFamily="34" charset="0"/>
                <a:cs typeface="Arial" pitchFamily="34" charset="0"/>
              </a:rPr>
              <a:t>, который имеет открывающий и закрывающий </a:t>
            </a:r>
            <a:r>
              <a:rPr lang="ru-RU" altLang="ru-RU" sz="1400" dirty="0" smtClean="0">
                <a:solidFill>
                  <a:srgbClr val="000000"/>
                </a:solidFill>
                <a:latin typeface="Verdana" pitchFamily="34" charset="0"/>
                <a:cs typeface="Arial" pitchFamily="34" charset="0"/>
              </a:rPr>
              <a:t>тег (задавать </a:t>
            </a:r>
            <a:r>
              <a:rPr lang="ru-RU" altLang="ru-RU" sz="1400" dirty="0">
                <a:solidFill>
                  <a:srgbClr val="000000"/>
                </a:solidFill>
                <a:latin typeface="Verdana" pitchFamily="34" charset="0"/>
                <a:cs typeface="Arial" pitchFamily="34" charset="0"/>
              </a:rPr>
              <a:t>дополнительную информацию </a:t>
            </a:r>
            <a:r>
              <a:rPr lang="ru-RU" altLang="ru-RU" sz="1400" dirty="0" smtClean="0">
                <a:solidFill>
                  <a:srgbClr val="000000"/>
                </a:solidFill>
                <a:latin typeface="Verdana" pitchFamily="34" charset="0"/>
                <a:cs typeface="Arial" pitchFamily="34" charset="0"/>
              </a:rPr>
              <a:t>необязательно). 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lang="ru-RU" altLang="ru-RU" sz="1400" dirty="0" smtClean="0">
                <a:solidFill>
                  <a:srgbClr val="000000"/>
                </a:solidFill>
                <a:latin typeface="Verdana" pitchFamily="34" charset="0"/>
                <a:cs typeface="Arial" pitchFamily="34" charset="0"/>
              </a:rPr>
              <a:t>Каждый </a:t>
            </a:r>
            <a:r>
              <a:rPr lang="ru-RU" altLang="ru-RU" sz="1400" dirty="0">
                <a:solidFill>
                  <a:srgbClr val="000000"/>
                </a:solidFill>
                <a:latin typeface="Verdana" pitchFamily="34" charset="0"/>
                <a:cs typeface="Arial" pitchFamily="34" charset="0"/>
              </a:rPr>
              <a:t>столбец задается с помощью вложенного элемента </a:t>
            </a:r>
            <a:r>
              <a:rPr lang="ru-RU" altLang="ru-RU" sz="1400" b="1" dirty="0" err="1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ColumnDefinition</a:t>
            </a:r>
            <a:r>
              <a:rPr lang="ru-RU" altLang="ru-RU" sz="1400" dirty="0">
                <a:solidFill>
                  <a:srgbClr val="000000"/>
                </a:solidFill>
                <a:latin typeface="Verdana" pitchFamily="34" charset="0"/>
                <a:cs typeface="Arial" pitchFamily="34" charset="0"/>
              </a:rPr>
              <a:t>. </a:t>
            </a:r>
            <a:endParaRPr lang="ru-RU" altLang="ru-RU" sz="1400" dirty="0" smtClean="0">
              <a:solidFill>
                <a:srgbClr val="000000"/>
              </a:solidFill>
              <a:latin typeface="Verdana" pitchFamily="34" charset="0"/>
              <a:cs typeface="Arial" pitchFamily="34" charset="0"/>
            </a:endParaRP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lang="ru-RU" altLang="ru-RU" sz="1400" dirty="0" err="1" smtClean="0">
                <a:solidFill>
                  <a:srgbClr val="000000"/>
                </a:solidFill>
                <a:latin typeface="Verdana" pitchFamily="34" charset="0"/>
                <a:cs typeface="Arial" pitchFamily="34" charset="0"/>
              </a:rPr>
              <a:t>т.о</a:t>
            </a:r>
            <a:r>
              <a:rPr lang="ru-RU" altLang="ru-RU" sz="1400" dirty="0" smtClean="0">
                <a:solidFill>
                  <a:srgbClr val="000000"/>
                </a:solidFill>
                <a:latin typeface="Verdana" pitchFamily="34" charset="0"/>
                <a:cs typeface="Arial" pitchFamily="34" charset="0"/>
              </a:rPr>
              <a:t>. есть таблица 3х3</a:t>
            </a:r>
            <a:endParaRPr lang="ru-RU" altLang="ru-RU" sz="14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5604633" y="2164572"/>
            <a:ext cx="3491880" cy="11695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400" dirty="0">
                <a:solidFill>
                  <a:srgbClr val="000000"/>
                </a:solidFill>
                <a:latin typeface="verdana"/>
              </a:rPr>
              <a:t>Для определения строк используется свойство </a:t>
            </a:r>
            <a:r>
              <a:rPr lang="ru-RU" sz="1400" b="1" dirty="0" err="1">
                <a:solidFill>
                  <a:srgbClr val="000000"/>
                </a:solidFill>
                <a:latin typeface="verdana"/>
              </a:rPr>
              <a:t>RowDefinitions</a:t>
            </a:r>
            <a:r>
              <a:rPr lang="ru-RU" sz="1400" dirty="0">
                <a:solidFill>
                  <a:srgbClr val="000000"/>
                </a:solidFill>
                <a:latin typeface="verdana"/>
              </a:rPr>
              <a:t>, </a:t>
            </a:r>
            <a:endParaRPr lang="ru-RU" sz="1400" dirty="0" smtClean="0">
              <a:solidFill>
                <a:srgbClr val="000000"/>
              </a:solidFill>
              <a:latin typeface="verdana"/>
            </a:endParaRPr>
          </a:p>
          <a:p>
            <a:r>
              <a:rPr lang="ru-RU" sz="1400" dirty="0" smtClean="0">
                <a:solidFill>
                  <a:srgbClr val="000000"/>
                </a:solidFill>
                <a:latin typeface="verdana"/>
              </a:rPr>
              <a:t>для </a:t>
            </a:r>
            <a:r>
              <a:rPr lang="ru-RU" sz="1400" dirty="0">
                <a:solidFill>
                  <a:srgbClr val="000000"/>
                </a:solidFill>
                <a:latin typeface="verdana"/>
              </a:rPr>
              <a:t>определения столбцов - свойство </a:t>
            </a:r>
            <a:r>
              <a:rPr lang="ru-RU" sz="1400" b="1" dirty="0" err="1">
                <a:solidFill>
                  <a:srgbClr val="000000"/>
                </a:solidFill>
                <a:latin typeface="verdana"/>
              </a:rPr>
              <a:t>ColumnDefinitions</a:t>
            </a:r>
            <a:endParaRPr lang="ru-RU" sz="1400" dirty="0"/>
          </a:p>
        </p:txBody>
      </p:sp>
      <p:cxnSp>
        <p:nvCxnSpPr>
          <p:cNvPr id="8" name="Прямая со стрелкой 7"/>
          <p:cNvCxnSpPr/>
          <p:nvPr/>
        </p:nvCxnSpPr>
        <p:spPr>
          <a:xfrm flipH="1">
            <a:off x="3060270" y="2276872"/>
            <a:ext cx="2592288" cy="256451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Прямая со стрелкой 9"/>
          <p:cNvCxnSpPr/>
          <p:nvPr/>
        </p:nvCxnSpPr>
        <p:spPr>
          <a:xfrm flipH="1">
            <a:off x="3275856" y="3068960"/>
            <a:ext cx="2376264" cy="115212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Прямая со стрелкой 11"/>
          <p:cNvCxnSpPr/>
          <p:nvPr/>
        </p:nvCxnSpPr>
        <p:spPr>
          <a:xfrm flipH="1" flipV="1">
            <a:off x="4644008" y="3212976"/>
            <a:ext cx="1152128" cy="86409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Прямая со стрелкой 13"/>
          <p:cNvCxnSpPr/>
          <p:nvPr/>
        </p:nvCxnSpPr>
        <p:spPr>
          <a:xfrm flipH="1" flipV="1">
            <a:off x="5436096" y="5337212"/>
            <a:ext cx="456569" cy="21602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896957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75555" y="146544"/>
            <a:ext cx="8856984" cy="4525963"/>
          </a:xfrm>
        </p:spPr>
        <p:txBody>
          <a:bodyPr>
            <a:normAutofit fontScale="25000" lnSpcReduction="20000"/>
          </a:bodyPr>
          <a:lstStyle/>
          <a:p>
            <a:pPr marL="0" indent="0">
              <a:buNone/>
            </a:pPr>
            <a:r>
              <a:rPr lang="en-GB" sz="5600" dirty="0"/>
              <a:t>&lt;Window x:Class="XamlApp.MainWindow"</a:t>
            </a:r>
          </a:p>
          <a:p>
            <a:pPr marL="0" indent="0">
              <a:buNone/>
            </a:pPr>
            <a:r>
              <a:rPr lang="ru-RU" sz="5600" dirty="0"/>
              <a:t>        </a:t>
            </a:r>
          </a:p>
          <a:p>
            <a:pPr marL="0" indent="0">
              <a:buNone/>
            </a:pPr>
            <a:r>
              <a:rPr lang="en-GB" sz="5600" dirty="0"/>
              <a:t>        </a:t>
            </a:r>
            <a:r>
              <a:rPr lang="en-GB" sz="5600" dirty="0" err="1"/>
              <a:t>xmlns</a:t>
            </a:r>
            <a:r>
              <a:rPr lang="en-GB" sz="5600" dirty="0"/>
              <a:t>="http://schemas.microsoft.com/</a:t>
            </a:r>
            <a:r>
              <a:rPr lang="en-GB" sz="5600" dirty="0" err="1"/>
              <a:t>winfx</a:t>
            </a:r>
            <a:r>
              <a:rPr lang="en-GB" sz="5600" dirty="0"/>
              <a:t>/2006/</a:t>
            </a:r>
            <a:r>
              <a:rPr lang="en-GB" sz="5600" dirty="0" err="1"/>
              <a:t>xaml</a:t>
            </a:r>
            <a:r>
              <a:rPr lang="en-GB" sz="5600" dirty="0"/>
              <a:t>/presentation"</a:t>
            </a:r>
          </a:p>
          <a:p>
            <a:pPr marL="0" indent="0">
              <a:buNone/>
            </a:pPr>
            <a:r>
              <a:rPr lang="en-GB" sz="5600" dirty="0"/>
              <a:t>        </a:t>
            </a:r>
            <a:r>
              <a:rPr lang="en-GB" sz="5600" dirty="0" err="1"/>
              <a:t>xmlns:x</a:t>
            </a:r>
            <a:r>
              <a:rPr lang="en-GB" sz="5600" dirty="0"/>
              <a:t>="http://schemas.microsoft.com/</a:t>
            </a:r>
            <a:r>
              <a:rPr lang="en-GB" sz="5600" dirty="0" err="1"/>
              <a:t>winfx</a:t>
            </a:r>
            <a:r>
              <a:rPr lang="en-GB" sz="5600" dirty="0"/>
              <a:t>/2006/</a:t>
            </a:r>
            <a:r>
              <a:rPr lang="en-GB" sz="5600" dirty="0" err="1"/>
              <a:t>xaml</a:t>
            </a:r>
            <a:r>
              <a:rPr lang="en-GB" sz="5600" dirty="0"/>
              <a:t>"</a:t>
            </a:r>
          </a:p>
          <a:p>
            <a:pPr marL="0" indent="0">
              <a:buNone/>
            </a:pPr>
            <a:r>
              <a:rPr lang="en-GB" sz="5600" dirty="0"/>
              <a:t>        </a:t>
            </a:r>
            <a:r>
              <a:rPr lang="en-GB" sz="5600" dirty="0" err="1"/>
              <a:t>xmlns:d</a:t>
            </a:r>
            <a:r>
              <a:rPr lang="en-GB" sz="5600" dirty="0"/>
              <a:t>="http://schemas.microsoft.com/expression/blend/2008"</a:t>
            </a:r>
          </a:p>
          <a:p>
            <a:pPr marL="0" indent="0">
              <a:buNone/>
            </a:pPr>
            <a:r>
              <a:rPr lang="en-GB" sz="5600" dirty="0"/>
              <a:t>        </a:t>
            </a:r>
            <a:r>
              <a:rPr lang="en-GB" sz="5600" dirty="0" err="1"/>
              <a:t>xmlns:mc</a:t>
            </a:r>
            <a:r>
              <a:rPr lang="en-GB" sz="5600" dirty="0"/>
              <a:t>="http://schemas.openxmlformats.org/</a:t>
            </a:r>
            <a:r>
              <a:rPr lang="en-GB" sz="5600" dirty="0" err="1"/>
              <a:t>markup</a:t>
            </a:r>
            <a:r>
              <a:rPr lang="en-GB" sz="5600" dirty="0"/>
              <a:t>-compatibility/2006"</a:t>
            </a:r>
          </a:p>
          <a:p>
            <a:pPr marL="0" indent="0">
              <a:buNone/>
            </a:pPr>
            <a:r>
              <a:rPr lang="en-GB" sz="5600" dirty="0"/>
              <a:t>        </a:t>
            </a:r>
            <a:r>
              <a:rPr lang="en-GB" sz="5600" dirty="0" err="1"/>
              <a:t>xmlns:local</a:t>
            </a:r>
            <a:r>
              <a:rPr lang="en-GB" sz="5600" dirty="0"/>
              <a:t>="</a:t>
            </a:r>
            <a:r>
              <a:rPr lang="en-GB" sz="5600" dirty="0" err="1"/>
              <a:t>clr-namespace:XamlApp</a:t>
            </a:r>
            <a:r>
              <a:rPr lang="en-GB" sz="5600" dirty="0"/>
              <a:t>"</a:t>
            </a:r>
          </a:p>
          <a:p>
            <a:pPr marL="0" indent="0">
              <a:buNone/>
            </a:pPr>
            <a:r>
              <a:rPr lang="en-GB" sz="5600" dirty="0"/>
              <a:t>        </a:t>
            </a:r>
            <a:r>
              <a:rPr lang="en-GB" sz="5600" dirty="0" err="1"/>
              <a:t>mc:Ignorable</a:t>
            </a:r>
            <a:r>
              <a:rPr lang="en-GB" sz="5600" dirty="0"/>
              <a:t>="d"</a:t>
            </a:r>
          </a:p>
          <a:p>
            <a:pPr marL="0" indent="0">
              <a:buNone/>
            </a:pPr>
            <a:r>
              <a:rPr lang="en-US" sz="5600" dirty="0"/>
              <a:t>        Title="Grid" Height="250" Width="350"&gt;</a:t>
            </a:r>
          </a:p>
          <a:p>
            <a:pPr marL="0" indent="0">
              <a:buNone/>
            </a:pPr>
            <a:r>
              <a:rPr lang="en-GB" sz="5600" dirty="0"/>
              <a:t>    &lt;Grid </a:t>
            </a:r>
            <a:r>
              <a:rPr lang="en-GB" sz="5600" dirty="0" err="1"/>
              <a:t>ShowGridLines</a:t>
            </a:r>
            <a:r>
              <a:rPr lang="en-GB" sz="5600" dirty="0"/>
              <a:t>="True"&gt;</a:t>
            </a:r>
          </a:p>
          <a:p>
            <a:pPr marL="0" indent="0">
              <a:buNone/>
            </a:pPr>
            <a:r>
              <a:rPr lang="en-GB" sz="5600" dirty="0"/>
              <a:t>        &lt;</a:t>
            </a:r>
            <a:r>
              <a:rPr lang="en-GB" sz="5600" dirty="0" err="1"/>
              <a:t>Grid.RowDefinitions</a:t>
            </a:r>
            <a:r>
              <a:rPr lang="en-GB" sz="5600" dirty="0"/>
              <a:t>&gt;</a:t>
            </a:r>
          </a:p>
          <a:p>
            <a:pPr marL="0" indent="0">
              <a:buNone/>
            </a:pPr>
            <a:r>
              <a:rPr lang="en-GB" sz="5600" dirty="0"/>
              <a:t>            &lt;</a:t>
            </a:r>
            <a:r>
              <a:rPr lang="en-GB" sz="5600" dirty="0" err="1"/>
              <a:t>RowDefinition</a:t>
            </a:r>
            <a:r>
              <a:rPr lang="en-GB" sz="5600" dirty="0"/>
              <a:t>&gt;&lt;/</a:t>
            </a:r>
            <a:r>
              <a:rPr lang="en-GB" sz="5600" dirty="0" err="1"/>
              <a:t>RowDefinition</a:t>
            </a:r>
            <a:r>
              <a:rPr lang="en-GB" sz="5600" dirty="0"/>
              <a:t>&gt;</a:t>
            </a:r>
          </a:p>
          <a:p>
            <a:pPr marL="0" indent="0">
              <a:buNone/>
            </a:pPr>
            <a:r>
              <a:rPr lang="en-GB" sz="5600" dirty="0"/>
              <a:t>            &lt;</a:t>
            </a:r>
            <a:r>
              <a:rPr lang="en-GB" sz="5600" dirty="0" err="1"/>
              <a:t>RowDefinition</a:t>
            </a:r>
            <a:r>
              <a:rPr lang="en-GB" sz="5600" dirty="0"/>
              <a:t>&gt;&lt;/</a:t>
            </a:r>
            <a:r>
              <a:rPr lang="en-GB" sz="5600" dirty="0" err="1"/>
              <a:t>RowDefinition</a:t>
            </a:r>
            <a:r>
              <a:rPr lang="en-GB" sz="5600" dirty="0"/>
              <a:t>&gt;</a:t>
            </a:r>
          </a:p>
          <a:p>
            <a:pPr marL="0" indent="0">
              <a:buNone/>
            </a:pPr>
            <a:r>
              <a:rPr lang="en-GB" sz="5600" dirty="0"/>
              <a:t>            &lt;</a:t>
            </a:r>
            <a:r>
              <a:rPr lang="en-GB" sz="5600" dirty="0" err="1"/>
              <a:t>RowDefinition</a:t>
            </a:r>
            <a:r>
              <a:rPr lang="en-GB" sz="5600" dirty="0"/>
              <a:t>&gt;&lt;/</a:t>
            </a:r>
            <a:r>
              <a:rPr lang="en-GB" sz="5600" dirty="0" err="1"/>
              <a:t>RowDefinition</a:t>
            </a:r>
            <a:r>
              <a:rPr lang="en-GB" sz="5600" dirty="0"/>
              <a:t>&gt;</a:t>
            </a:r>
          </a:p>
          <a:p>
            <a:pPr marL="0" indent="0">
              <a:buNone/>
            </a:pPr>
            <a:r>
              <a:rPr lang="en-GB" sz="5600" dirty="0"/>
              <a:t>        &lt;/</a:t>
            </a:r>
            <a:r>
              <a:rPr lang="en-GB" sz="5600" dirty="0" err="1"/>
              <a:t>Grid.RowDefinitions</a:t>
            </a:r>
            <a:r>
              <a:rPr lang="en-GB" sz="5600" dirty="0"/>
              <a:t>&gt;</a:t>
            </a:r>
          </a:p>
          <a:p>
            <a:pPr marL="0" indent="0">
              <a:buNone/>
            </a:pPr>
            <a:r>
              <a:rPr lang="en-GB" sz="5600" dirty="0"/>
              <a:t>        &lt;</a:t>
            </a:r>
            <a:r>
              <a:rPr lang="en-GB" sz="5600" dirty="0" err="1"/>
              <a:t>Grid.ColumnDefinitions</a:t>
            </a:r>
            <a:r>
              <a:rPr lang="en-GB" sz="5600" dirty="0"/>
              <a:t>&gt;</a:t>
            </a:r>
          </a:p>
          <a:p>
            <a:pPr marL="0" indent="0">
              <a:buNone/>
            </a:pPr>
            <a:r>
              <a:rPr lang="en-GB" sz="5600" dirty="0"/>
              <a:t>            &lt;</a:t>
            </a:r>
            <a:r>
              <a:rPr lang="en-GB" sz="5600" dirty="0" err="1"/>
              <a:t>ColumnDefinition</a:t>
            </a:r>
            <a:r>
              <a:rPr lang="en-GB" sz="5600" dirty="0"/>
              <a:t>&gt;&lt;/</a:t>
            </a:r>
            <a:r>
              <a:rPr lang="en-GB" sz="5600" dirty="0" err="1"/>
              <a:t>ColumnDefinition</a:t>
            </a:r>
            <a:r>
              <a:rPr lang="en-GB" sz="5600" dirty="0"/>
              <a:t>&gt;</a:t>
            </a:r>
          </a:p>
          <a:p>
            <a:pPr marL="0" indent="0">
              <a:buNone/>
            </a:pPr>
            <a:r>
              <a:rPr lang="en-GB" sz="5600" dirty="0"/>
              <a:t>            &lt;</a:t>
            </a:r>
            <a:r>
              <a:rPr lang="en-GB" sz="5600" dirty="0" err="1"/>
              <a:t>ColumnDefinition</a:t>
            </a:r>
            <a:r>
              <a:rPr lang="en-GB" sz="5600" dirty="0"/>
              <a:t>&gt;&lt;/</a:t>
            </a:r>
            <a:r>
              <a:rPr lang="en-GB" sz="5600" dirty="0" err="1"/>
              <a:t>ColumnDefinition</a:t>
            </a:r>
            <a:r>
              <a:rPr lang="en-GB" sz="5600" dirty="0"/>
              <a:t>&gt;</a:t>
            </a:r>
          </a:p>
          <a:p>
            <a:pPr marL="0" indent="0">
              <a:buNone/>
            </a:pPr>
            <a:r>
              <a:rPr lang="en-GB" sz="5600" dirty="0"/>
              <a:t>            &lt;</a:t>
            </a:r>
            <a:r>
              <a:rPr lang="en-GB" sz="5600" dirty="0" err="1"/>
              <a:t>ColumnDefinition</a:t>
            </a:r>
            <a:r>
              <a:rPr lang="en-GB" sz="5600" dirty="0"/>
              <a:t>&gt;&lt;/</a:t>
            </a:r>
            <a:r>
              <a:rPr lang="en-GB" sz="5600" dirty="0" err="1"/>
              <a:t>ColumnDefinition</a:t>
            </a:r>
            <a:r>
              <a:rPr lang="en-GB" sz="5600" dirty="0"/>
              <a:t>&gt;</a:t>
            </a:r>
          </a:p>
          <a:p>
            <a:pPr marL="0" indent="0">
              <a:buNone/>
            </a:pPr>
            <a:r>
              <a:rPr lang="en-GB" sz="5600" dirty="0"/>
              <a:t>        &lt;/</a:t>
            </a:r>
            <a:r>
              <a:rPr lang="en-GB" sz="5600" dirty="0" err="1"/>
              <a:t>Grid.ColumnDefinitions</a:t>
            </a:r>
            <a:r>
              <a:rPr lang="en-GB" sz="5600" dirty="0"/>
              <a:t>&gt;</a:t>
            </a:r>
          </a:p>
          <a:p>
            <a:pPr marL="0" indent="0">
              <a:buNone/>
            </a:pPr>
            <a:r>
              <a:rPr lang="en-GB" sz="5600" dirty="0"/>
              <a:t>        &lt;Button </a:t>
            </a:r>
            <a:r>
              <a:rPr lang="en-GB" sz="5600" dirty="0" err="1"/>
              <a:t>Grid.Column</a:t>
            </a:r>
            <a:r>
              <a:rPr lang="en-GB" sz="5600" dirty="0"/>
              <a:t>="0" </a:t>
            </a:r>
            <a:r>
              <a:rPr lang="en-GB" sz="5600" dirty="0" err="1"/>
              <a:t>Grid.Row</a:t>
            </a:r>
            <a:r>
              <a:rPr lang="en-GB" sz="5600" dirty="0"/>
              <a:t>="0" Content="</a:t>
            </a:r>
            <a:r>
              <a:rPr lang="ru-RU" sz="5600" dirty="0"/>
              <a:t>Строка 0 Столбец 0"  /&gt;</a:t>
            </a:r>
          </a:p>
          <a:p>
            <a:pPr marL="0" indent="0">
              <a:buNone/>
            </a:pPr>
            <a:r>
              <a:rPr lang="en-GB" sz="5600" dirty="0"/>
              <a:t>        &lt;Button </a:t>
            </a:r>
            <a:r>
              <a:rPr lang="en-GB" sz="5600" dirty="0" err="1"/>
              <a:t>Grid.Column</a:t>
            </a:r>
            <a:r>
              <a:rPr lang="en-GB" sz="5600" dirty="0"/>
              <a:t>="0" </a:t>
            </a:r>
            <a:r>
              <a:rPr lang="en-GB" sz="5600" dirty="0" err="1"/>
              <a:t>Grid.Row</a:t>
            </a:r>
            <a:r>
              <a:rPr lang="en-GB" sz="5600" dirty="0"/>
              <a:t>="1" Content="</a:t>
            </a:r>
            <a:r>
              <a:rPr lang="ru-RU" sz="5600" dirty="0"/>
              <a:t>Объединение трех столбцов" </a:t>
            </a:r>
            <a:r>
              <a:rPr lang="en-GB" sz="5600" dirty="0" err="1"/>
              <a:t>Grid.ColumnSpan</a:t>
            </a:r>
            <a:r>
              <a:rPr lang="en-GB" sz="5600" dirty="0"/>
              <a:t>="3"  /&gt;</a:t>
            </a:r>
          </a:p>
          <a:p>
            <a:pPr marL="0" indent="0">
              <a:buNone/>
            </a:pPr>
            <a:r>
              <a:rPr lang="en-GB" sz="5600" dirty="0"/>
              <a:t>        &lt;Button </a:t>
            </a:r>
            <a:r>
              <a:rPr lang="en-GB" sz="5600" dirty="0" err="1"/>
              <a:t>Grid.Column</a:t>
            </a:r>
            <a:r>
              <a:rPr lang="en-GB" sz="5600" dirty="0"/>
              <a:t>="2" </a:t>
            </a:r>
            <a:r>
              <a:rPr lang="en-GB" sz="5600" dirty="0" err="1"/>
              <a:t>Grid.Row</a:t>
            </a:r>
            <a:r>
              <a:rPr lang="en-GB" sz="5600" dirty="0"/>
              <a:t>="2" Content="</a:t>
            </a:r>
            <a:r>
              <a:rPr lang="ru-RU" sz="5600" dirty="0"/>
              <a:t>Строка 2 Столбец 2"  /&gt;</a:t>
            </a:r>
          </a:p>
          <a:p>
            <a:pPr marL="0" indent="0">
              <a:buNone/>
            </a:pPr>
            <a:r>
              <a:rPr lang="en-GB" sz="5600" dirty="0"/>
              <a:t>    &lt;/Grid&gt;</a:t>
            </a:r>
          </a:p>
          <a:p>
            <a:pPr marL="0" indent="0">
              <a:buNone/>
            </a:pPr>
            <a:r>
              <a:rPr lang="en-GB" sz="5600" dirty="0"/>
              <a:t>&lt;/Window&gt;</a:t>
            </a:r>
          </a:p>
          <a:p>
            <a:endParaRPr lang="ru-RU" dirty="0"/>
          </a:p>
        </p:txBody>
      </p:sp>
      <p:pic>
        <p:nvPicPr>
          <p:cNvPr id="1741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48064" y="1484784"/>
            <a:ext cx="3505025" cy="25202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Прямоугольник 4"/>
          <p:cNvSpPr/>
          <p:nvPr/>
        </p:nvSpPr>
        <p:spPr>
          <a:xfrm>
            <a:off x="4572000" y="5301208"/>
            <a:ext cx="417646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lang="ru-RU" altLang="ru-RU" sz="1200" dirty="0">
                <a:solidFill>
                  <a:srgbClr val="000000"/>
                </a:solidFill>
                <a:latin typeface="Verdana" pitchFamily="34" charset="0"/>
                <a:cs typeface="Arial" pitchFamily="34" charset="0"/>
              </a:rPr>
              <a:t>Атрибут </a:t>
            </a:r>
            <a:r>
              <a:rPr lang="ru-RU" altLang="ru-RU" sz="1200" b="1" dirty="0" err="1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ShowGridLines</a:t>
            </a:r>
            <a:r>
              <a:rPr lang="ru-RU" altLang="ru-RU" sz="12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="</a:t>
            </a:r>
            <a:r>
              <a:rPr lang="ru-RU" altLang="ru-RU" sz="1200" b="1" dirty="0" err="1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True</a:t>
            </a:r>
            <a:r>
              <a:rPr lang="ru-RU" altLang="ru-RU" sz="12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"</a:t>
            </a:r>
            <a:r>
              <a:rPr lang="ru-RU" altLang="ru-RU" sz="1200" dirty="0">
                <a:solidFill>
                  <a:srgbClr val="000000"/>
                </a:solidFill>
                <a:latin typeface="Verdana" pitchFamily="34" charset="0"/>
                <a:cs typeface="Arial" pitchFamily="34" charset="0"/>
              </a:rPr>
              <a:t> у элемента </a:t>
            </a:r>
            <a:r>
              <a:rPr lang="ru-RU" altLang="ru-RU" sz="1200" dirty="0" err="1">
                <a:solidFill>
                  <a:srgbClr val="000000"/>
                </a:solidFill>
                <a:latin typeface="Verdana" pitchFamily="34" charset="0"/>
                <a:cs typeface="Arial" pitchFamily="34" charset="0"/>
              </a:rPr>
              <a:t>Grid</a:t>
            </a:r>
            <a:r>
              <a:rPr lang="ru-RU" altLang="ru-RU" sz="1200" dirty="0">
                <a:solidFill>
                  <a:srgbClr val="000000"/>
                </a:solidFill>
                <a:latin typeface="Verdana" pitchFamily="34" charset="0"/>
                <a:cs typeface="Arial" pitchFamily="34" charset="0"/>
              </a:rPr>
              <a:t> задает видимость сетки, по умолчанию оно равно </a:t>
            </a:r>
            <a:r>
              <a:rPr lang="ru-RU" altLang="ru-RU" sz="1200" dirty="0" err="1" smtClean="0">
                <a:solidFill>
                  <a:srgbClr val="000000"/>
                </a:solidFill>
                <a:latin typeface="Verdana" pitchFamily="34" charset="0"/>
                <a:cs typeface="Arial" pitchFamily="34" charset="0"/>
              </a:rPr>
              <a:t>False</a:t>
            </a:r>
            <a:endParaRPr lang="ru-RU" altLang="ru-RU" sz="1200" dirty="0">
              <a:latin typeface="Arial" pitchFamily="34" charset="0"/>
              <a:cs typeface="Arial" pitchFamily="34" charset="0"/>
            </a:endParaRPr>
          </a:p>
        </p:txBody>
      </p:sp>
      <p:cxnSp>
        <p:nvCxnSpPr>
          <p:cNvPr id="7" name="Прямая со стрелкой 6"/>
          <p:cNvCxnSpPr/>
          <p:nvPr/>
        </p:nvCxnSpPr>
        <p:spPr>
          <a:xfrm flipH="1" flipV="1">
            <a:off x="2411760" y="2204864"/>
            <a:ext cx="2232248" cy="309634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Прямоугольник 9"/>
          <p:cNvSpPr/>
          <p:nvPr/>
        </p:nvSpPr>
        <p:spPr>
          <a:xfrm>
            <a:off x="4644007" y="6093296"/>
            <a:ext cx="408891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200" dirty="0">
                <a:solidFill>
                  <a:srgbClr val="000000"/>
                </a:solidFill>
                <a:latin typeface="Verdana" pitchFamily="34" charset="0"/>
                <a:cs typeface="Arial" pitchFamily="34" charset="0"/>
              </a:rPr>
              <a:t>растягивание элемента управления на несколько строк или столбцов - свойства </a:t>
            </a:r>
            <a:r>
              <a:rPr lang="ru-RU" sz="1200" b="1" dirty="0" err="1">
                <a:solidFill>
                  <a:srgbClr val="000000"/>
                </a:solidFill>
                <a:latin typeface="Verdana" pitchFamily="34" charset="0"/>
                <a:cs typeface="Arial" pitchFamily="34" charset="0"/>
              </a:rPr>
              <a:t>Grid.ColumnSpan</a:t>
            </a:r>
            <a:r>
              <a:rPr lang="ru-RU" sz="1200" dirty="0">
                <a:solidFill>
                  <a:srgbClr val="000000"/>
                </a:solidFill>
                <a:latin typeface="Verdana" pitchFamily="34" charset="0"/>
                <a:cs typeface="Arial" pitchFamily="34" charset="0"/>
              </a:rPr>
              <a:t> и </a:t>
            </a:r>
            <a:r>
              <a:rPr lang="ru-RU" sz="1200" b="1" dirty="0" err="1">
                <a:solidFill>
                  <a:srgbClr val="000000"/>
                </a:solidFill>
                <a:latin typeface="Verdana" pitchFamily="34" charset="0"/>
                <a:cs typeface="Arial" pitchFamily="34" charset="0"/>
              </a:rPr>
              <a:t>Grid.RowSpan</a:t>
            </a:r>
            <a:endParaRPr lang="ru-RU" sz="1200" b="1" dirty="0">
              <a:solidFill>
                <a:srgbClr val="000000"/>
              </a:solidFill>
              <a:latin typeface="Verdana" pitchFamily="34" charset="0"/>
              <a:cs typeface="Arial" pitchFamily="34" charset="0"/>
            </a:endParaRPr>
          </a:p>
        </p:txBody>
      </p:sp>
      <p:cxnSp>
        <p:nvCxnSpPr>
          <p:cNvPr id="12" name="Прямая со стрелкой 11"/>
          <p:cNvCxnSpPr/>
          <p:nvPr/>
        </p:nvCxnSpPr>
        <p:spPr>
          <a:xfrm flipH="1" flipV="1">
            <a:off x="6900576" y="4797152"/>
            <a:ext cx="551744" cy="129614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Прямоугольник 12"/>
          <p:cNvSpPr/>
          <p:nvPr/>
        </p:nvSpPr>
        <p:spPr>
          <a:xfrm>
            <a:off x="125760" y="5589240"/>
            <a:ext cx="4374232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200" dirty="0">
                <a:solidFill>
                  <a:srgbClr val="000000"/>
                </a:solidFill>
                <a:latin typeface="Verdana" pitchFamily="34" charset="0"/>
                <a:cs typeface="Arial" pitchFamily="34" charset="0"/>
              </a:rPr>
              <a:t>чтобы задать позицию элемента управления с привязкой к определенной ячейке </a:t>
            </a:r>
            <a:r>
              <a:rPr lang="ru-RU" sz="1200" dirty="0" err="1">
                <a:solidFill>
                  <a:srgbClr val="000000"/>
                </a:solidFill>
                <a:latin typeface="Verdana" pitchFamily="34" charset="0"/>
                <a:cs typeface="Arial" pitchFamily="34" charset="0"/>
              </a:rPr>
              <a:t>Grid</a:t>
            </a:r>
            <a:r>
              <a:rPr lang="ru-RU" sz="1200" dirty="0">
                <a:solidFill>
                  <a:srgbClr val="000000"/>
                </a:solidFill>
                <a:latin typeface="Verdana" pitchFamily="34" charset="0"/>
                <a:cs typeface="Arial" pitchFamily="34" charset="0"/>
              </a:rPr>
              <a:t>, в разметке элемента нужно прописать значения свойств </a:t>
            </a:r>
            <a:r>
              <a:rPr lang="ru-RU" sz="1200" dirty="0" err="1">
                <a:solidFill>
                  <a:srgbClr val="000000"/>
                </a:solidFill>
                <a:latin typeface="Verdana" pitchFamily="34" charset="0"/>
                <a:cs typeface="Arial" pitchFamily="34" charset="0"/>
              </a:rPr>
              <a:t>Grid.Column</a:t>
            </a:r>
            <a:r>
              <a:rPr lang="ru-RU" sz="1200" dirty="0">
                <a:solidFill>
                  <a:srgbClr val="000000"/>
                </a:solidFill>
                <a:latin typeface="Verdana" pitchFamily="34" charset="0"/>
                <a:cs typeface="Arial" pitchFamily="34" charset="0"/>
              </a:rPr>
              <a:t> и </a:t>
            </a:r>
            <a:r>
              <a:rPr lang="ru-RU" sz="1200" dirty="0" err="1">
                <a:solidFill>
                  <a:srgbClr val="000000"/>
                </a:solidFill>
                <a:latin typeface="Verdana" pitchFamily="34" charset="0"/>
                <a:cs typeface="Arial" pitchFamily="34" charset="0"/>
              </a:rPr>
              <a:t>Grid.Row</a:t>
            </a:r>
            <a:r>
              <a:rPr lang="ru-RU" sz="1200" dirty="0">
                <a:solidFill>
                  <a:srgbClr val="000000"/>
                </a:solidFill>
                <a:latin typeface="Verdana" pitchFamily="34" charset="0"/>
                <a:cs typeface="Arial" pitchFamily="34" charset="0"/>
              </a:rPr>
              <a:t>, </a:t>
            </a:r>
            <a:r>
              <a:rPr lang="ru-RU" sz="1200" dirty="0" smtClean="0">
                <a:solidFill>
                  <a:srgbClr val="000000"/>
                </a:solidFill>
                <a:latin typeface="Verdana" pitchFamily="34" charset="0"/>
                <a:cs typeface="Arial" pitchFamily="34" charset="0"/>
              </a:rPr>
              <a:t>т.е. указать, </a:t>
            </a:r>
            <a:r>
              <a:rPr lang="ru-RU" sz="1200" dirty="0">
                <a:solidFill>
                  <a:srgbClr val="000000"/>
                </a:solidFill>
                <a:latin typeface="Verdana" pitchFamily="34" charset="0"/>
                <a:cs typeface="Arial" pitchFamily="34" charset="0"/>
              </a:rPr>
              <a:t>в каком столбце и строке будет находиться элемент</a:t>
            </a:r>
          </a:p>
        </p:txBody>
      </p:sp>
      <p:cxnSp>
        <p:nvCxnSpPr>
          <p:cNvPr id="15" name="Прямая со стрелкой 14"/>
          <p:cNvCxnSpPr/>
          <p:nvPr/>
        </p:nvCxnSpPr>
        <p:spPr>
          <a:xfrm flipH="1" flipV="1">
            <a:off x="1763688" y="5013176"/>
            <a:ext cx="792088" cy="57606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352124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4082"/>
          </a:xfrm>
        </p:spPr>
        <p:txBody>
          <a:bodyPr>
            <a:normAutofit fontScale="90000"/>
          </a:bodyPr>
          <a:lstStyle/>
          <a:p>
            <a:r>
              <a:rPr lang="ru-RU" b="1" i="0" dirty="0" smtClean="0">
                <a:solidFill>
                  <a:srgbClr val="000000"/>
                </a:solidFill>
                <a:effectLst/>
                <a:latin typeface="verdana"/>
              </a:rPr>
              <a:t>Установка размеров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908720"/>
            <a:ext cx="8229600" cy="5832648"/>
          </a:xfrm>
        </p:spPr>
        <p:txBody>
          <a:bodyPr>
            <a:normAutofit/>
          </a:bodyPr>
          <a:lstStyle/>
          <a:p>
            <a:pPr marL="0" indent="0">
              <a:spcAft>
                <a:spcPts val="600"/>
              </a:spcAft>
              <a:buNone/>
            </a:pPr>
            <a:r>
              <a:rPr lang="ru-RU" sz="1800" b="0" i="0" dirty="0" smtClean="0">
                <a:solidFill>
                  <a:srgbClr val="000000"/>
                </a:solidFill>
                <a:effectLst/>
                <a:latin typeface="verdana"/>
              </a:rPr>
              <a:t>варианты настройки размеров:</a:t>
            </a:r>
          </a:p>
          <a:p>
            <a:pPr>
              <a:spcAft>
                <a:spcPts val="600"/>
              </a:spcAft>
            </a:pPr>
            <a:r>
              <a:rPr lang="ru-RU" sz="1800" b="1" i="0" dirty="0" smtClean="0">
                <a:solidFill>
                  <a:srgbClr val="000000"/>
                </a:solidFill>
                <a:effectLst/>
                <a:latin typeface="verdana"/>
              </a:rPr>
              <a:t>Автоматические размеры</a:t>
            </a:r>
          </a:p>
          <a:p>
            <a:pPr lvl="1">
              <a:spcAft>
                <a:spcPts val="600"/>
              </a:spcAft>
            </a:pPr>
            <a:r>
              <a:rPr lang="ru-RU" sz="1800" b="0" i="0" dirty="0" smtClean="0">
                <a:solidFill>
                  <a:srgbClr val="000000"/>
                </a:solidFill>
                <a:effectLst/>
                <a:latin typeface="verdana"/>
              </a:rPr>
              <a:t>столбец или строка занимает то место, которое им нужно</a:t>
            </a:r>
            <a:endParaRPr lang="en-US" sz="1800" b="0" i="0" dirty="0" smtClean="0">
              <a:solidFill>
                <a:srgbClr val="000000"/>
              </a:solidFill>
              <a:effectLst/>
              <a:latin typeface="verdana"/>
            </a:endParaRPr>
          </a:p>
          <a:p>
            <a:pPr marL="0" indent="0" fontAlgn="base"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7030A0"/>
                </a:solidFill>
              </a:rPr>
              <a:t>&lt;</a:t>
            </a:r>
            <a:r>
              <a:rPr lang="en-US" sz="1800" b="1" dirty="0" err="1">
                <a:solidFill>
                  <a:srgbClr val="7030A0"/>
                </a:solidFill>
              </a:rPr>
              <a:t>ColumnDefinition</a:t>
            </a:r>
            <a:r>
              <a:rPr lang="en-US" sz="1800" b="1" dirty="0">
                <a:solidFill>
                  <a:srgbClr val="7030A0"/>
                </a:solidFill>
              </a:rPr>
              <a:t> Width="Auto" /&gt;</a:t>
            </a:r>
          </a:p>
          <a:p>
            <a:pPr marL="0" indent="0" fontAlgn="base"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7030A0"/>
                </a:solidFill>
              </a:rPr>
              <a:t>&lt;</a:t>
            </a:r>
            <a:r>
              <a:rPr lang="en-US" sz="1800" b="1" dirty="0" err="1">
                <a:solidFill>
                  <a:srgbClr val="7030A0"/>
                </a:solidFill>
              </a:rPr>
              <a:t>RowDefinition</a:t>
            </a:r>
            <a:r>
              <a:rPr lang="en-US" sz="1800" b="1" dirty="0">
                <a:solidFill>
                  <a:srgbClr val="7030A0"/>
                </a:solidFill>
              </a:rPr>
              <a:t> Height="Auto" /&gt;</a:t>
            </a:r>
          </a:p>
          <a:p>
            <a:pPr>
              <a:spcAft>
                <a:spcPts val="600"/>
              </a:spcAft>
            </a:pPr>
            <a:r>
              <a:rPr lang="ru-RU" sz="1800" b="1" i="0" dirty="0" smtClean="0">
                <a:solidFill>
                  <a:srgbClr val="000000"/>
                </a:solidFill>
                <a:effectLst/>
                <a:latin typeface="verdana"/>
              </a:rPr>
              <a:t>Абсолютные размеры</a:t>
            </a:r>
          </a:p>
          <a:p>
            <a:pPr lvl="1">
              <a:spcAft>
                <a:spcPts val="600"/>
              </a:spcAft>
            </a:pPr>
            <a:r>
              <a:rPr lang="ru-RU" sz="1800" b="0" i="0" dirty="0" smtClean="0">
                <a:solidFill>
                  <a:srgbClr val="000000"/>
                </a:solidFill>
                <a:effectLst/>
                <a:latin typeface="verdana"/>
              </a:rPr>
              <a:t>высота и ширина указываются в единицах, независимых от устройства:</a:t>
            </a:r>
          </a:p>
          <a:p>
            <a:pPr marL="0" indent="0" fontAlgn="base"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7030A0"/>
                </a:solidFill>
              </a:rPr>
              <a:t>&lt;</a:t>
            </a:r>
            <a:r>
              <a:rPr lang="en-US" sz="1800" b="1" dirty="0" err="1">
                <a:solidFill>
                  <a:srgbClr val="7030A0"/>
                </a:solidFill>
              </a:rPr>
              <a:t>ColumnDefinition</a:t>
            </a:r>
            <a:r>
              <a:rPr lang="en-US" sz="1800" b="1" dirty="0">
                <a:solidFill>
                  <a:srgbClr val="7030A0"/>
                </a:solidFill>
              </a:rPr>
              <a:t> Width="150" /&gt;</a:t>
            </a:r>
          </a:p>
          <a:p>
            <a:pPr marL="0" indent="0" fontAlgn="base"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7030A0"/>
                </a:solidFill>
              </a:rPr>
              <a:t>&lt;</a:t>
            </a:r>
            <a:r>
              <a:rPr lang="en-US" sz="1800" b="1" dirty="0" err="1">
                <a:solidFill>
                  <a:srgbClr val="7030A0"/>
                </a:solidFill>
              </a:rPr>
              <a:t>RowDefinition</a:t>
            </a:r>
            <a:r>
              <a:rPr lang="en-US" sz="1800" b="1" dirty="0">
                <a:solidFill>
                  <a:srgbClr val="7030A0"/>
                </a:solidFill>
              </a:rPr>
              <a:t> Height="150" /&gt;</a:t>
            </a:r>
          </a:p>
          <a:p>
            <a:endParaRPr lang="ru-RU" b="0" i="0" dirty="0" smtClean="0">
              <a:solidFill>
                <a:srgbClr val="000000"/>
              </a:solidFill>
              <a:effectLst/>
              <a:latin typeface="verdana"/>
            </a:endParaRPr>
          </a:p>
          <a:p>
            <a:endParaRPr lang="ru-RU" dirty="0"/>
          </a:p>
        </p:txBody>
      </p:sp>
      <p:pic>
        <p:nvPicPr>
          <p:cNvPr id="1843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88024" y="3840428"/>
            <a:ext cx="4200525" cy="300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143105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7504" y="274638"/>
            <a:ext cx="8856984" cy="850106"/>
          </a:xfrm>
        </p:spPr>
        <p:txBody>
          <a:bodyPr>
            <a:noAutofit/>
          </a:bodyPr>
          <a:lstStyle/>
          <a:p>
            <a:r>
              <a:rPr lang="ru-RU" sz="2800" b="0" i="0" dirty="0" smtClean="0">
                <a:solidFill>
                  <a:srgbClr val="000000"/>
                </a:solidFill>
                <a:effectLst/>
                <a:latin typeface="verdana"/>
              </a:rPr>
              <a:t>абсолютные размеры можно задать в пикселях, дюймах, сантиметрах или точках:</a:t>
            </a:r>
            <a:endParaRPr lang="ru-RU" sz="2800" dirty="0"/>
          </a:p>
        </p:txBody>
      </p:sp>
      <p:graphicFrame>
        <p:nvGraphicFramePr>
          <p:cNvPr id="4" name="Объект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67206467"/>
              </p:ext>
            </p:extLst>
          </p:nvPr>
        </p:nvGraphicFramePr>
        <p:xfrm>
          <a:off x="457200" y="1600200"/>
          <a:ext cx="2962672" cy="296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8536"/>
                <a:gridCol w="1224136"/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>
                          <a:effectLst/>
                        </a:rPr>
                        <a:t>пиксели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>
                          <a:effectLst/>
                        </a:rPr>
                        <a:t>px</a:t>
                      </a:r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ru-RU">
                          <a:effectLst/>
                        </a:rPr>
                        <a:t>дюймы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>
                          <a:effectLst/>
                        </a:rPr>
                        <a:t>in</a:t>
                      </a:r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ru-RU">
                          <a:effectLst/>
                        </a:rPr>
                        <a:t>сантиметры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>
                          <a:effectLst/>
                        </a:rPr>
                        <a:t>cm</a:t>
                      </a:r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ru-RU">
                          <a:effectLst/>
                        </a:rPr>
                        <a:t>точки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>
                          <a:effectLst/>
                        </a:rPr>
                        <a:t>pt</a:t>
                      </a:r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Прямоугольник 4"/>
          <p:cNvSpPr/>
          <p:nvPr/>
        </p:nvSpPr>
        <p:spPr>
          <a:xfrm>
            <a:off x="1662035" y="5165210"/>
            <a:ext cx="146065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b="0" i="0" dirty="0" smtClean="0">
                <a:solidFill>
                  <a:srgbClr val="000000"/>
                </a:solidFill>
                <a:effectLst/>
                <a:latin typeface="verdana"/>
              </a:rPr>
              <a:t>Например,</a:t>
            </a:r>
            <a:endParaRPr lang="ru-RU" dirty="0"/>
          </a:p>
        </p:txBody>
      </p:sp>
      <p:sp>
        <p:nvSpPr>
          <p:cNvPr id="6" name="Прямоугольник 5"/>
          <p:cNvSpPr/>
          <p:nvPr/>
        </p:nvSpPr>
        <p:spPr>
          <a:xfrm>
            <a:off x="3851920" y="5312184"/>
            <a:ext cx="482453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/>
            <a:r>
              <a:rPr lang="en-US" b="1" i="0" dirty="0" smtClean="0">
                <a:solidFill>
                  <a:srgbClr val="7030A0"/>
                </a:solidFill>
                <a:effectLst/>
                <a:latin typeface="Consolas"/>
              </a:rPr>
              <a:t>&lt;</a:t>
            </a:r>
            <a:r>
              <a:rPr lang="en-US" b="1" i="0" dirty="0" err="1" smtClean="0">
                <a:solidFill>
                  <a:srgbClr val="7030A0"/>
                </a:solidFill>
                <a:effectLst/>
                <a:latin typeface="Consolas"/>
              </a:rPr>
              <a:t>ColumnDefinition</a:t>
            </a:r>
            <a:r>
              <a:rPr lang="en-US" b="1" i="0" dirty="0" smtClean="0">
                <a:solidFill>
                  <a:srgbClr val="7030A0"/>
                </a:solidFill>
                <a:effectLst/>
                <a:latin typeface="Consolas"/>
              </a:rPr>
              <a:t> Width="1 in" /&gt;</a:t>
            </a:r>
          </a:p>
          <a:p>
            <a:pPr fontAlgn="base"/>
            <a:r>
              <a:rPr lang="en-US" b="1" i="0" dirty="0" smtClean="0">
                <a:solidFill>
                  <a:srgbClr val="7030A0"/>
                </a:solidFill>
                <a:effectLst/>
                <a:latin typeface="Consolas"/>
              </a:rPr>
              <a:t>&lt;</a:t>
            </a:r>
            <a:r>
              <a:rPr lang="en-US" b="1" i="0" dirty="0" err="1" smtClean="0">
                <a:solidFill>
                  <a:srgbClr val="7030A0"/>
                </a:solidFill>
                <a:effectLst/>
                <a:latin typeface="Consolas"/>
              </a:rPr>
              <a:t>RowDefinition</a:t>
            </a:r>
            <a:r>
              <a:rPr lang="en-US" b="1" i="0" dirty="0" smtClean="0">
                <a:solidFill>
                  <a:srgbClr val="7030A0"/>
                </a:solidFill>
                <a:effectLst/>
                <a:latin typeface="Consolas"/>
              </a:rPr>
              <a:t> Height="10 </a:t>
            </a:r>
            <a:r>
              <a:rPr lang="en-US" b="1" i="0" dirty="0" err="1" smtClean="0">
                <a:solidFill>
                  <a:srgbClr val="7030A0"/>
                </a:solidFill>
                <a:effectLst/>
                <a:latin typeface="Consolas"/>
              </a:rPr>
              <a:t>px</a:t>
            </a:r>
            <a:r>
              <a:rPr lang="en-US" b="1" i="0" dirty="0" smtClean="0">
                <a:solidFill>
                  <a:srgbClr val="7030A0"/>
                </a:solidFill>
                <a:effectLst/>
                <a:latin typeface="Consolas"/>
              </a:rPr>
              <a:t>" /&gt;</a:t>
            </a:r>
            <a:endParaRPr lang="en-US" b="1" i="0" dirty="0">
              <a:solidFill>
                <a:srgbClr val="7030A0"/>
              </a:solidFill>
              <a:effectLst/>
              <a:latin typeface="Consolas"/>
            </a:endParaRPr>
          </a:p>
        </p:txBody>
      </p:sp>
    </p:spTree>
    <p:extLst>
      <p:ext uri="{BB962C8B-B14F-4D97-AF65-F5344CB8AC3E}">
        <p14:creationId xmlns:p14="http://schemas.microsoft.com/office/powerpoint/2010/main" val="2654365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i="0" dirty="0" smtClean="0">
                <a:solidFill>
                  <a:srgbClr val="000000"/>
                </a:solidFill>
                <a:effectLst/>
                <a:latin typeface="verdana"/>
              </a:rPr>
              <a:t>Пропорциональные размеры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2000" b="0" i="0" dirty="0" smtClean="0">
                <a:solidFill>
                  <a:srgbClr val="000000"/>
                </a:solidFill>
                <a:effectLst/>
                <a:latin typeface="verdana"/>
              </a:rPr>
              <a:t>задаются два столбца, второй из которых имеет ширину в четверть от ширины первого:</a:t>
            </a:r>
            <a:endParaRPr lang="en-US" sz="2000" b="0" i="0" dirty="0" smtClean="0">
              <a:solidFill>
                <a:srgbClr val="000000"/>
              </a:solidFill>
              <a:effectLst/>
              <a:latin typeface="verdana"/>
            </a:endParaRPr>
          </a:p>
          <a:p>
            <a:pPr marL="0" indent="0" fontAlgn="base">
              <a:buNone/>
            </a:pPr>
            <a:r>
              <a:rPr lang="en-US" sz="2000" b="1" dirty="0">
                <a:solidFill>
                  <a:srgbClr val="7030A0"/>
                </a:solidFill>
              </a:rPr>
              <a:t>&lt;</a:t>
            </a:r>
            <a:r>
              <a:rPr lang="en-US" sz="2000" b="1" dirty="0" err="1">
                <a:solidFill>
                  <a:srgbClr val="7030A0"/>
                </a:solidFill>
              </a:rPr>
              <a:t>ColumnDefinition</a:t>
            </a:r>
            <a:r>
              <a:rPr lang="en-US" sz="2000" b="1" dirty="0">
                <a:solidFill>
                  <a:srgbClr val="7030A0"/>
                </a:solidFill>
              </a:rPr>
              <a:t> Width="*" /&gt;</a:t>
            </a:r>
          </a:p>
          <a:p>
            <a:pPr marL="0" indent="0" fontAlgn="base">
              <a:buNone/>
            </a:pPr>
            <a:r>
              <a:rPr lang="en-US" sz="2000" b="1" dirty="0">
                <a:solidFill>
                  <a:srgbClr val="7030A0"/>
                </a:solidFill>
              </a:rPr>
              <a:t>&lt;</a:t>
            </a:r>
            <a:r>
              <a:rPr lang="en-US" sz="2000" b="1" dirty="0" err="1">
                <a:solidFill>
                  <a:srgbClr val="7030A0"/>
                </a:solidFill>
              </a:rPr>
              <a:t>ColumnDefinition</a:t>
            </a:r>
            <a:r>
              <a:rPr lang="en-US" sz="2000" b="1" dirty="0">
                <a:solidFill>
                  <a:srgbClr val="7030A0"/>
                </a:solidFill>
              </a:rPr>
              <a:t> Width="0.25</a:t>
            </a:r>
            <a:r>
              <a:rPr lang="en-US" sz="2000" dirty="0"/>
              <a:t>*" /&gt;</a:t>
            </a:r>
          </a:p>
          <a:p>
            <a:endParaRPr lang="ru-RU" sz="2000" dirty="0"/>
          </a:p>
        </p:txBody>
      </p:sp>
      <p:pic>
        <p:nvPicPr>
          <p:cNvPr id="19459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11960" y="3284984"/>
            <a:ext cx="4286250" cy="300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859122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79512" y="116632"/>
            <a:ext cx="8784976" cy="6009531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ru-RU" sz="1400" b="0" i="0" dirty="0" smtClean="0">
                <a:solidFill>
                  <a:srgbClr val="000000"/>
                </a:solidFill>
                <a:effectLst/>
                <a:latin typeface="verdana"/>
              </a:rPr>
              <a:t>Если строка или столбец имеет высоту, равную *, то данная строка или столбце будет занимать </a:t>
            </a:r>
            <a:r>
              <a:rPr lang="ru-RU" sz="1400" b="1" i="0" dirty="0" smtClean="0">
                <a:solidFill>
                  <a:srgbClr val="000000"/>
                </a:solidFill>
                <a:effectLst/>
                <a:latin typeface="verdana"/>
              </a:rPr>
              <a:t>все</a:t>
            </a:r>
            <a:r>
              <a:rPr lang="ru-RU" sz="1400" b="0" i="0" dirty="0" smtClean="0">
                <a:solidFill>
                  <a:srgbClr val="000000"/>
                </a:solidFill>
                <a:effectLst/>
                <a:latin typeface="verdana"/>
              </a:rPr>
              <a:t> оставшееся место. Если есть несколько сток или столбцов, высота которых равна *, то </a:t>
            </a:r>
            <a:r>
              <a:rPr lang="ru-RU" sz="1400" b="1" i="0" dirty="0" smtClean="0">
                <a:solidFill>
                  <a:srgbClr val="000000"/>
                </a:solidFill>
                <a:effectLst/>
                <a:latin typeface="verdana"/>
              </a:rPr>
              <a:t>все</a:t>
            </a:r>
            <a:r>
              <a:rPr lang="ru-RU" sz="1400" b="0" i="0" dirty="0" smtClean="0">
                <a:solidFill>
                  <a:srgbClr val="000000"/>
                </a:solidFill>
                <a:effectLst/>
                <a:latin typeface="verdana"/>
              </a:rPr>
              <a:t> доступное место делится </a:t>
            </a:r>
            <a:r>
              <a:rPr lang="ru-RU" sz="1400" b="1" i="0" dirty="0" smtClean="0">
                <a:solidFill>
                  <a:srgbClr val="000000"/>
                </a:solidFill>
                <a:effectLst/>
                <a:latin typeface="verdana"/>
              </a:rPr>
              <a:t>поровну</a:t>
            </a:r>
            <a:r>
              <a:rPr lang="ru-RU" sz="1400" b="0" i="0" dirty="0" smtClean="0">
                <a:solidFill>
                  <a:srgbClr val="000000"/>
                </a:solidFill>
                <a:effectLst/>
                <a:latin typeface="verdana"/>
              </a:rPr>
              <a:t> между всеми такими сроками и столбцами. </a:t>
            </a:r>
          </a:p>
          <a:p>
            <a:pPr>
              <a:spcAft>
                <a:spcPts val="600"/>
              </a:spcAft>
            </a:pPr>
            <a:r>
              <a:rPr lang="ru-RU" sz="1400" b="0" i="0" dirty="0" smtClean="0">
                <a:solidFill>
                  <a:srgbClr val="000000"/>
                </a:solidFill>
                <a:effectLst/>
                <a:latin typeface="verdana"/>
              </a:rPr>
              <a:t>Использование коэффициентов (0.25*) позволяет уменьшить или увеличить выделенное место на данный коэффициент. При этом все коэффициенты складываются (коэффициент * аналогичен 1*) и затем все пространство делится на сумму коэффициентов.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ru-RU" sz="1400" b="0" i="0" dirty="0" smtClean="0">
                <a:solidFill>
                  <a:srgbClr val="000000"/>
                </a:solidFill>
                <a:effectLst/>
                <a:latin typeface="verdana"/>
              </a:rPr>
              <a:t>Например, если три столбца:</a:t>
            </a:r>
          </a:p>
          <a:p>
            <a:pPr marL="0" indent="0" fontAlgn="base">
              <a:spcAft>
                <a:spcPts val="600"/>
              </a:spcAft>
              <a:buNone/>
            </a:pPr>
            <a:r>
              <a:rPr lang="en-US" sz="1400" b="1" i="0" dirty="0" smtClean="0">
                <a:solidFill>
                  <a:srgbClr val="7030A0"/>
                </a:solidFill>
                <a:effectLst/>
                <a:latin typeface="Consolas"/>
              </a:rPr>
              <a:t>&lt;</a:t>
            </a:r>
            <a:r>
              <a:rPr lang="en-US" sz="1400" b="1" i="0" dirty="0" err="1" smtClean="0">
                <a:solidFill>
                  <a:srgbClr val="7030A0"/>
                </a:solidFill>
                <a:effectLst/>
                <a:latin typeface="Consolas"/>
              </a:rPr>
              <a:t>ColumnDefinition</a:t>
            </a:r>
            <a:r>
              <a:rPr lang="en-US" sz="1400" b="1" i="0" dirty="0" smtClean="0">
                <a:solidFill>
                  <a:srgbClr val="7030A0"/>
                </a:solidFill>
                <a:effectLst/>
                <a:latin typeface="Consolas"/>
              </a:rPr>
              <a:t> Width="*" /&gt;</a:t>
            </a:r>
          </a:p>
          <a:p>
            <a:pPr marL="0" indent="0" fontAlgn="base">
              <a:spcAft>
                <a:spcPts val="600"/>
              </a:spcAft>
              <a:buNone/>
            </a:pPr>
            <a:r>
              <a:rPr lang="en-US" sz="1400" b="1" i="0" dirty="0" smtClean="0">
                <a:solidFill>
                  <a:srgbClr val="7030A0"/>
                </a:solidFill>
                <a:effectLst/>
                <a:latin typeface="Consolas"/>
              </a:rPr>
              <a:t>&lt;</a:t>
            </a:r>
            <a:r>
              <a:rPr lang="en-US" sz="1400" b="1" i="0" dirty="0" err="1" smtClean="0">
                <a:solidFill>
                  <a:srgbClr val="7030A0"/>
                </a:solidFill>
                <a:effectLst/>
                <a:latin typeface="Consolas"/>
              </a:rPr>
              <a:t>ColumnDefinition</a:t>
            </a:r>
            <a:r>
              <a:rPr lang="en-US" sz="1400" b="1" i="0" dirty="0" smtClean="0">
                <a:solidFill>
                  <a:srgbClr val="7030A0"/>
                </a:solidFill>
                <a:effectLst/>
                <a:latin typeface="Consolas"/>
              </a:rPr>
              <a:t> Width="0.5*" /&gt;</a:t>
            </a:r>
          </a:p>
          <a:p>
            <a:pPr marL="0" indent="0" fontAlgn="base">
              <a:spcAft>
                <a:spcPts val="600"/>
              </a:spcAft>
              <a:buNone/>
            </a:pPr>
            <a:r>
              <a:rPr lang="en-US" sz="1400" b="1" i="0" dirty="0" smtClean="0">
                <a:solidFill>
                  <a:srgbClr val="7030A0"/>
                </a:solidFill>
                <a:effectLst/>
                <a:latin typeface="Consolas"/>
              </a:rPr>
              <a:t>&lt;</a:t>
            </a:r>
            <a:r>
              <a:rPr lang="en-US" sz="1400" b="1" i="0" dirty="0" err="1" smtClean="0">
                <a:solidFill>
                  <a:srgbClr val="7030A0"/>
                </a:solidFill>
                <a:effectLst/>
                <a:latin typeface="Consolas"/>
              </a:rPr>
              <a:t>ColumnDefinition</a:t>
            </a:r>
            <a:r>
              <a:rPr lang="en-US" sz="1400" b="1" i="0" dirty="0" smtClean="0">
                <a:solidFill>
                  <a:srgbClr val="7030A0"/>
                </a:solidFill>
                <a:effectLst/>
                <a:latin typeface="Consolas"/>
              </a:rPr>
              <a:t> Width="1.5*" /&gt;</a:t>
            </a:r>
          </a:p>
          <a:p>
            <a:pPr marL="0" indent="0">
              <a:spcAft>
                <a:spcPts val="600"/>
              </a:spcAft>
              <a:buNone/>
            </a:pPr>
            <a:endParaRPr lang="ru-RU" sz="1400" b="0" i="0" dirty="0" smtClean="0">
              <a:solidFill>
                <a:srgbClr val="000000"/>
              </a:solidFill>
              <a:effectLst/>
              <a:latin typeface="verdana"/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16016" y="3717032"/>
            <a:ext cx="4358640" cy="2964180"/>
          </a:xfrm>
          <a:prstGeom prst="rect">
            <a:avLst/>
          </a:prstGeom>
        </p:spPr>
      </p:pic>
      <p:sp>
        <p:nvSpPr>
          <p:cNvPr id="4" name="Прямоугольник 3"/>
          <p:cNvSpPr/>
          <p:nvPr/>
        </p:nvSpPr>
        <p:spPr>
          <a:xfrm>
            <a:off x="144016" y="4509120"/>
            <a:ext cx="4572000" cy="1600438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spcAft>
                <a:spcPts val="600"/>
              </a:spcAft>
            </a:pPr>
            <a:r>
              <a:rPr lang="ru-RU" sz="1400" dirty="0">
                <a:solidFill>
                  <a:srgbClr val="000000"/>
                </a:solidFill>
                <a:latin typeface="verdana"/>
              </a:rPr>
              <a:t>Можно комбинировать все типы размеров. В этом случае от ширины/высоты </a:t>
            </a:r>
            <a:r>
              <a:rPr lang="ru-RU" sz="1400" dirty="0" err="1">
                <a:solidFill>
                  <a:srgbClr val="000000"/>
                </a:solidFill>
                <a:latin typeface="verdana"/>
              </a:rPr>
              <a:t>грида</a:t>
            </a:r>
            <a:r>
              <a:rPr lang="ru-RU" sz="1400" dirty="0">
                <a:solidFill>
                  <a:srgbClr val="000000"/>
                </a:solidFill>
                <a:latin typeface="verdana"/>
              </a:rPr>
              <a:t> отнимается ширина/высота столбцов/строк с абсолютными или автоматическими размерами, и затем оставшееся место распределяется между столбцами/строками с пропорциональными размерами</a:t>
            </a:r>
            <a:endParaRPr lang="ru-RU" sz="1400" dirty="0"/>
          </a:p>
        </p:txBody>
      </p:sp>
      <p:sp>
        <p:nvSpPr>
          <p:cNvPr id="6" name="Прямоугольник 5"/>
          <p:cNvSpPr/>
          <p:nvPr/>
        </p:nvSpPr>
        <p:spPr>
          <a:xfrm>
            <a:off x="4355976" y="1997839"/>
            <a:ext cx="4572000" cy="160043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sz="1400" dirty="0">
                <a:solidFill>
                  <a:srgbClr val="000000"/>
                </a:solidFill>
                <a:latin typeface="verdana"/>
              </a:rPr>
              <a:t>В этом случае сумма коэффициентов равна 1* + 0.5* + 1.5* = 3*. Если </a:t>
            </a:r>
            <a:r>
              <a:rPr lang="ru-RU" sz="1400" dirty="0" err="1">
                <a:solidFill>
                  <a:srgbClr val="000000"/>
                </a:solidFill>
                <a:latin typeface="verdana"/>
              </a:rPr>
              <a:t>грид</a:t>
            </a:r>
            <a:r>
              <a:rPr lang="ru-RU" sz="1400" dirty="0">
                <a:solidFill>
                  <a:srgbClr val="000000"/>
                </a:solidFill>
                <a:latin typeface="verdana"/>
              </a:rPr>
              <a:t> имеет ширину 300 единиц, то для </a:t>
            </a:r>
            <a:r>
              <a:rPr lang="ru-RU" sz="1400" dirty="0" err="1">
                <a:solidFill>
                  <a:srgbClr val="000000"/>
                </a:solidFill>
                <a:latin typeface="verdana"/>
              </a:rPr>
              <a:t>коэфициент</a:t>
            </a:r>
            <a:r>
              <a:rPr lang="ru-RU" sz="1400" dirty="0">
                <a:solidFill>
                  <a:srgbClr val="000000"/>
                </a:solidFill>
                <a:latin typeface="verdana"/>
              </a:rPr>
              <a:t> 1* будет соответствовать пространству 300 / 3 = 100 единиц. Поэтому первый столбец будет иметь ширину в 100 единиц, второй - 100*0.5=50 единиц, а третий - 100 * 1.5 = 150 единиц</a:t>
            </a:r>
            <a:endParaRPr lang="ru-RU" sz="1400" dirty="0"/>
          </a:p>
        </p:txBody>
      </p:sp>
    </p:spTree>
    <p:extLst>
      <p:ext uri="{BB962C8B-B14F-4D97-AF65-F5344CB8AC3E}">
        <p14:creationId xmlns:p14="http://schemas.microsoft.com/office/powerpoint/2010/main" val="23083054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4082"/>
          </a:xfrm>
        </p:spPr>
        <p:txBody>
          <a:bodyPr>
            <a:normAutofit fontScale="90000"/>
          </a:bodyPr>
          <a:lstStyle/>
          <a:p>
            <a:r>
              <a:rPr lang="en-GB" b="1" i="0" dirty="0" err="1" smtClean="0">
                <a:solidFill>
                  <a:srgbClr val="000000"/>
                </a:solidFill>
                <a:effectLst/>
                <a:latin typeface="verdana"/>
              </a:rPr>
              <a:t>UniformGrid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836712"/>
            <a:ext cx="8229600" cy="5688632"/>
          </a:xfrm>
        </p:spPr>
        <p:txBody>
          <a:bodyPr>
            <a:normAutofit/>
          </a:bodyPr>
          <a:lstStyle/>
          <a:p>
            <a:r>
              <a:rPr lang="ru-RU" sz="1800" b="0" i="0" dirty="0" smtClean="0">
                <a:solidFill>
                  <a:srgbClr val="000000"/>
                </a:solidFill>
                <a:effectLst/>
                <a:latin typeface="verdana"/>
              </a:rPr>
              <a:t>Аналогичен контейнеру </a:t>
            </a:r>
            <a:r>
              <a:rPr lang="ru-RU" sz="1800" b="1" i="0" dirty="0" err="1" smtClean="0">
                <a:solidFill>
                  <a:srgbClr val="000000"/>
                </a:solidFill>
                <a:effectLst/>
                <a:latin typeface="verdana"/>
              </a:rPr>
              <a:t>Grid</a:t>
            </a:r>
            <a:r>
              <a:rPr lang="ru-RU" sz="1800" b="0" i="0" dirty="0" smtClean="0">
                <a:solidFill>
                  <a:srgbClr val="000000"/>
                </a:solidFill>
                <a:effectLst/>
                <a:latin typeface="verdana"/>
              </a:rPr>
              <a:t>, только в этом случае все столбцы и строки одинакового размера и используется упрощенный синтаксис для их определения:</a:t>
            </a:r>
            <a:endParaRPr lang="en-US" sz="1800" b="0" i="0" dirty="0" smtClean="0">
              <a:solidFill>
                <a:srgbClr val="000000"/>
              </a:solidFill>
              <a:effectLst/>
              <a:latin typeface="verdana"/>
            </a:endParaRPr>
          </a:p>
          <a:p>
            <a:pPr marL="0" indent="0">
              <a:buNone/>
            </a:pPr>
            <a:r>
              <a:rPr lang="en-US" sz="1800" dirty="0"/>
              <a:t> </a:t>
            </a:r>
            <a:r>
              <a:rPr lang="en-US" sz="1800" b="1" dirty="0">
                <a:solidFill>
                  <a:srgbClr val="7030A0"/>
                </a:solidFill>
              </a:rPr>
              <a:t>&lt;</a:t>
            </a:r>
            <a:r>
              <a:rPr lang="en-US" sz="1800" b="1" dirty="0" err="1">
                <a:solidFill>
                  <a:srgbClr val="7030A0"/>
                </a:solidFill>
              </a:rPr>
              <a:t>UniformGrid</a:t>
            </a:r>
            <a:r>
              <a:rPr lang="en-US" sz="1800" b="1" dirty="0">
                <a:solidFill>
                  <a:srgbClr val="7030A0"/>
                </a:solidFill>
              </a:rPr>
              <a:t> Rows="2" Columns="2"&gt;</a:t>
            </a:r>
          </a:p>
          <a:p>
            <a:pPr marL="0" indent="0">
              <a:buNone/>
            </a:pPr>
            <a:r>
              <a:rPr lang="en-GB" sz="1800" b="1" dirty="0">
                <a:solidFill>
                  <a:srgbClr val="7030A0"/>
                </a:solidFill>
              </a:rPr>
              <a:t>            &lt;Button Content="Left Top" /&gt;</a:t>
            </a:r>
          </a:p>
          <a:p>
            <a:pPr marL="0" indent="0">
              <a:buNone/>
            </a:pPr>
            <a:r>
              <a:rPr lang="en-GB" sz="1800" b="1" dirty="0">
                <a:solidFill>
                  <a:srgbClr val="7030A0"/>
                </a:solidFill>
              </a:rPr>
              <a:t>            &lt;Button Content="Right Top" /&gt;</a:t>
            </a:r>
          </a:p>
          <a:p>
            <a:pPr marL="0" indent="0">
              <a:buNone/>
            </a:pPr>
            <a:r>
              <a:rPr lang="en-GB" sz="1800" b="1" dirty="0">
                <a:solidFill>
                  <a:srgbClr val="7030A0"/>
                </a:solidFill>
              </a:rPr>
              <a:t>            &lt;Button Content="Left Bottom" /&gt;</a:t>
            </a:r>
          </a:p>
          <a:p>
            <a:pPr marL="0" indent="0">
              <a:buNone/>
            </a:pPr>
            <a:r>
              <a:rPr lang="en-GB" sz="1800" b="1" dirty="0">
                <a:solidFill>
                  <a:srgbClr val="7030A0"/>
                </a:solidFill>
              </a:rPr>
              <a:t>            &lt;Button Content="Right Bottom" /&gt;</a:t>
            </a:r>
          </a:p>
          <a:p>
            <a:pPr marL="0" indent="0">
              <a:buNone/>
            </a:pPr>
            <a:r>
              <a:rPr lang="en-GB" sz="1800" b="1" dirty="0">
                <a:solidFill>
                  <a:srgbClr val="7030A0"/>
                </a:solidFill>
              </a:rPr>
              <a:t>        &lt;/</a:t>
            </a:r>
            <a:r>
              <a:rPr lang="en-GB" sz="1800" b="1" dirty="0" err="1">
                <a:solidFill>
                  <a:srgbClr val="7030A0"/>
                </a:solidFill>
              </a:rPr>
              <a:t>UniformGrid</a:t>
            </a:r>
            <a:r>
              <a:rPr lang="en-GB" sz="1800" b="1" dirty="0">
                <a:solidFill>
                  <a:srgbClr val="7030A0"/>
                </a:solidFill>
              </a:rPr>
              <a:t>&gt;</a:t>
            </a:r>
            <a:endParaRPr lang="ru-RU" sz="1800" b="1" dirty="0">
              <a:solidFill>
                <a:srgbClr val="7030A0"/>
              </a:solidFill>
            </a:endParaRPr>
          </a:p>
        </p:txBody>
      </p:sp>
      <p:pic>
        <p:nvPicPr>
          <p:cNvPr id="2253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16016" y="3645024"/>
            <a:ext cx="4191000" cy="3019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261904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4082"/>
          </a:xfrm>
        </p:spPr>
        <p:txBody>
          <a:bodyPr>
            <a:normAutofit fontScale="90000"/>
          </a:bodyPr>
          <a:lstStyle/>
          <a:p>
            <a:r>
              <a:rPr lang="en-GB" b="1" dirty="0" err="1" smtClean="0"/>
              <a:t>GridSplitter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052736"/>
            <a:ext cx="8229600" cy="5073427"/>
          </a:xfrm>
        </p:spPr>
        <p:txBody>
          <a:bodyPr>
            <a:normAutofit/>
          </a:bodyPr>
          <a:lstStyle/>
          <a:p>
            <a:r>
              <a:rPr lang="ru-RU" dirty="0"/>
              <a:t> помогает создавать интерфейсы наподобие элемента </a:t>
            </a:r>
            <a:r>
              <a:rPr lang="ru-RU" dirty="0" err="1"/>
              <a:t>SplitContainer</a:t>
            </a:r>
            <a:r>
              <a:rPr lang="ru-RU" dirty="0"/>
              <a:t> в </a:t>
            </a:r>
            <a:r>
              <a:rPr lang="ru-RU" dirty="0" err="1"/>
              <a:t>WinForms</a:t>
            </a:r>
            <a:r>
              <a:rPr lang="ru-RU" dirty="0"/>
              <a:t>, только более </a:t>
            </a:r>
            <a:r>
              <a:rPr lang="ru-RU" dirty="0" smtClean="0"/>
              <a:t>функциональные</a:t>
            </a:r>
          </a:p>
          <a:p>
            <a:r>
              <a:rPr lang="ru-RU" dirty="0" smtClean="0"/>
              <a:t>представляет </a:t>
            </a:r>
            <a:r>
              <a:rPr lang="ru-RU" dirty="0"/>
              <a:t>собой некоторый разделитель между столбцами или строками, путем сдвига которого можно регулировать ширину столбцов и высоту строк. </a:t>
            </a:r>
          </a:p>
        </p:txBody>
      </p:sp>
    </p:spTree>
    <p:extLst>
      <p:ext uri="{BB962C8B-B14F-4D97-AF65-F5344CB8AC3E}">
        <p14:creationId xmlns:p14="http://schemas.microsoft.com/office/powerpoint/2010/main" val="34308721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2132856"/>
            <a:ext cx="8229600" cy="4525963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n-GB" sz="2600" b="1" dirty="0">
                <a:solidFill>
                  <a:srgbClr val="7030A0"/>
                </a:solidFill>
              </a:rPr>
              <a:t> </a:t>
            </a:r>
            <a:r>
              <a:rPr lang="en-GB" sz="2400" b="1" dirty="0">
                <a:solidFill>
                  <a:srgbClr val="7030A0"/>
                </a:solidFill>
              </a:rPr>
              <a:t>&lt;Grid&gt;</a:t>
            </a:r>
          </a:p>
          <a:p>
            <a:pPr marL="0" indent="0">
              <a:buNone/>
            </a:pPr>
            <a:r>
              <a:rPr lang="en-GB" sz="2400" b="1" dirty="0">
                <a:solidFill>
                  <a:srgbClr val="7030A0"/>
                </a:solidFill>
              </a:rPr>
              <a:t>        &lt;</a:t>
            </a:r>
            <a:r>
              <a:rPr lang="en-GB" sz="2400" b="1" dirty="0" err="1">
                <a:solidFill>
                  <a:srgbClr val="7030A0"/>
                </a:solidFill>
              </a:rPr>
              <a:t>Grid.ColumnDefinitions</a:t>
            </a:r>
            <a:r>
              <a:rPr lang="en-GB" sz="2400" b="1" dirty="0">
                <a:solidFill>
                  <a:srgbClr val="7030A0"/>
                </a:solidFill>
              </a:rPr>
              <a:t>&gt;</a:t>
            </a:r>
          </a:p>
          <a:p>
            <a:pPr marL="0" indent="0">
              <a:buNone/>
            </a:pPr>
            <a:r>
              <a:rPr lang="en-GB" sz="2400" b="1" dirty="0">
                <a:solidFill>
                  <a:srgbClr val="7030A0"/>
                </a:solidFill>
              </a:rPr>
              <a:t>            &lt;</a:t>
            </a:r>
            <a:r>
              <a:rPr lang="en-GB" sz="2400" b="1" dirty="0" err="1">
                <a:solidFill>
                  <a:srgbClr val="7030A0"/>
                </a:solidFill>
              </a:rPr>
              <a:t>ColumnDefinition</a:t>
            </a:r>
            <a:r>
              <a:rPr lang="en-GB" sz="2400" b="1" dirty="0">
                <a:solidFill>
                  <a:srgbClr val="7030A0"/>
                </a:solidFill>
              </a:rPr>
              <a:t> Width="*" /&gt;</a:t>
            </a:r>
          </a:p>
          <a:p>
            <a:pPr marL="0" indent="0">
              <a:buNone/>
            </a:pPr>
            <a:r>
              <a:rPr lang="en-GB" sz="2400" b="1" dirty="0">
                <a:solidFill>
                  <a:srgbClr val="7030A0"/>
                </a:solidFill>
              </a:rPr>
              <a:t>            &lt;</a:t>
            </a:r>
            <a:r>
              <a:rPr lang="en-GB" sz="2400" b="1" dirty="0" err="1">
                <a:solidFill>
                  <a:srgbClr val="7030A0"/>
                </a:solidFill>
              </a:rPr>
              <a:t>ColumnDefinition</a:t>
            </a:r>
            <a:r>
              <a:rPr lang="en-GB" sz="2400" b="1" dirty="0">
                <a:solidFill>
                  <a:srgbClr val="7030A0"/>
                </a:solidFill>
              </a:rPr>
              <a:t> Width="Auto" /&gt;</a:t>
            </a:r>
          </a:p>
          <a:p>
            <a:pPr marL="0" indent="0">
              <a:buNone/>
            </a:pPr>
            <a:r>
              <a:rPr lang="en-GB" sz="2400" b="1" dirty="0">
                <a:solidFill>
                  <a:srgbClr val="7030A0"/>
                </a:solidFill>
              </a:rPr>
              <a:t>            &lt;</a:t>
            </a:r>
            <a:r>
              <a:rPr lang="en-GB" sz="2400" b="1" dirty="0" err="1">
                <a:solidFill>
                  <a:srgbClr val="7030A0"/>
                </a:solidFill>
              </a:rPr>
              <a:t>ColumnDefinition</a:t>
            </a:r>
            <a:r>
              <a:rPr lang="en-GB" sz="2400" b="1" dirty="0">
                <a:solidFill>
                  <a:srgbClr val="7030A0"/>
                </a:solidFill>
              </a:rPr>
              <a:t> Width="*" /&gt;</a:t>
            </a:r>
          </a:p>
          <a:p>
            <a:pPr marL="0" indent="0">
              <a:buNone/>
            </a:pPr>
            <a:r>
              <a:rPr lang="en-GB" sz="2400" b="1" dirty="0">
                <a:solidFill>
                  <a:srgbClr val="7030A0"/>
                </a:solidFill>
              </a:rPr>
              <a:t>        &lt;/</a:t>
            </a:r>
            <a:r>
              <a:rPr lang="en-GB" sz="2400" b="1" dirty="0" err="1">
                <a:solidFill>
                  <a:srgbClr val="7030A0"/>
                </a:solidFill>
              </a:rPr>
              <a:t>Grid.ColumnDefinitions</a:t>
            </a:r>
            <a:r>
              <a:rPr lang="en-GB" sz="2400" b="1" dirty="0">
                <a:solidFill>
                  <a:srgbClr val="7030A0"/>
                </a:solidFill>
              </a:rPr>
              <a:t>&gt;</a:t>
            </a:r>
          </a:p>
          <a:p>
            <a:pPr marL="0" indent="0">
              <a:buNone/>
            </a:pPr>
            <a:r>
              <a:rPr lang="en-GB" sz="2400" b="1" dirty="0">
                <a:solidFill>
                  <a:srgbClr val="7030A0"/>
                </a:solidFill>
              </a:rPr>
              <a:t>        &lt;Button </a:t>
            </a:r>
            <a:r>
              <a:rPr lang="en-GB" sz="2400" b="1" dirty="0" err="1">
                <a:solidFill>
                  <a:srgbClr val="7030A0"/>
                </a:solidFill>
              </a:rPr>
              <a:t>Grid.Column</a:t>
            </a:r>
            <a:r>
              <a:rPr lang="en-GB" sz="2400" b="1" dirty="0">
                <a:solidFill>
                  <a:srgbClr val="7030A0"/>
                </a:solidFill>
              </a:rPr>
              <a:t>="0" Content="</a:t>
            </a:r>
            <a:r>
              <a:rPr lang="ru-RU" sz="2400" b="1" dirty="0">
                <a:solidFill>
                  <a:srgbClr val="7030A0"/>
                </a:solidFill>
              </a:rPr>
              <a:t>Левая кнопка" /&gt;</a:t>
            </a:r>
          </a:p>
          <a:p>
            <a:pPr marL="0" indent="0">
              <a:buNone/>
            </a:pPr>
            <a:r>
              <a:rPr lang="en-US" sz="2400" b="1" dirty="0">
                <a:solidFill>
                  <a:srgbClr val="7030A0"/>
                </a:solidFill>
              </a:rPr>
              <a:t>        &lt;</a:t>
            </a:r>
            <a:r>
              <a:rPr lang="en-US" sz="2400" b="1" dirty="0" err="1">
                <a:solidFill>
                  <a:srgbClr val="7030A0"/>
                </a:solidFill>
              </a:rPr>
              <a:t>GridSplitter</a:t>
            </a:r>
            <a:r>
              <a:rPr lang="en-US" sz="2400" b="1" dirty="0">
                <a:solidFill>
                  <a:srgbClr val="7030A0"/>
                </a:solidFill>
              </a:rPr>
              <a:t> </a:t>
            </a:r>
            <a:r>
              <a:rPr lang="en-US" sz="2400" b="1" dirty="0" err="1">
                <a:solidFill>
                  <a:srgbClr val="7030A0"/>
                </a:solidFill>
              </a:rPr>
              <a:t>Grid.Column</a:t>
            </a:r>
            <a:r>
              <a:rPr lang="en-US" sz="2400" b="1" dirty="0">
                <a:solidFill>
                  <a:srgbClr val="7030A0"/>
                </a:solidFill>
              </a:rPr>
              <a:t>="1" </a:t>
            </a:r>
            <a:r>
              <a:rPr lang="en-US" sz="2400" b="1" dirty="0" err="1">
                <a:solidFill>
                  <a:srgbClr val="7030A0"/>
                </a:solidFill>
              </a:rPr>
              <a:t>ShowsPreview</a:t>
            </a:r>
            <a:r>
              <a:rPr lang="en-US" sz="2400" b="1" dirty="0">
                <a:solidFill>
                  <a:srgbClr val="7030A0"/>
                </a:solidFill>
              </a:rPr>
              <a:t>="False" Width="48"</a:t>
            </a:r>
          </a:p>
          <a:p>
            <a:pPr marL="0" indent="0">
              <a:buNone/>
            </a:pPr>
            <a:r>
              <a:rPr lang="en-GB" sz="2400" b="1" dirty="0">
                <a:solidFill>
                  <a:srgbClr val="7030A0"/>
                </a:solidFill>
              </a:rPr>
              <a:t>        </a:t>
            </a:r>
            <a:r>
              <a:rPr lang="en-GB" sz="2400" b="1" dirty="0" err="1">
                <a:solidFill>
                  <a:srgbClr val="7030A0"/>
                </a:solidFill>
              </a:rPr>
              <a:t>HorizontalAlignment</a:t>
            </a:r>
            <a:r>
              <a:rPr lang="en-GB" sz="2400" b="1" dirty="0">
                <a:solidFill>
                  <a:srgbClr val="7030A0"/>
                </a:solidFill>
              </a:rPr>
              <a:t>="</a:t>
            </a:r>
            <a:r>
              <a:rPr lang="en-GB" sz="2400" b="1" dirty="0" err="1">
                <a:solidFill>
                  <a:srgbClr val="7030A0"/>
                </a:solidFill>
              </a:rPr>
              <a:t>Center</a:t>
            </a:r>
            <a:r>
              <a:rPr lang="en-GB" sz="2400" b="1" dirty="0">
                <a:solidFill>
                  <a:srgbClr val="7030A0"/>
                </a:solidFill>
              </a:rPr>
              <a:t>" </a:t>
            </a:r>
            <a:r>
              <a:rPr lang="en-GB" sz="2400" b="1" dirty="0" err="1">
                <a:solidFill>
                  <a:srgbClr val="7030A0"/>
                </a:solidFill>
              </a:rPr>
              <a:t>VerticalAlignment</a:t>
            </a:r>
            <a:r>
              <a:rPr lang="en-GB" sz="2400" b="1" dirty="0">
                <a:solidFill>
                  <a:srgbClr val="7030A0"/>
                </a:solidFill>
              </a:rPr>
              <a:t>="Stretch" Margin="0,0,118,0" </a:t>
            </a:r>
            <a:r>
              <a:rPr lang="en-GB" sz="2400" b="1" dirty="0" err="1">
                <a:solidFill>
                  <a:srgbClr val="7030A0"/>
                </a:solidFill>
              </a:rPr>
              <a:t>Grid.ColumnSpan</a:t>
            </a:r>
            <a:r>
              <a:rPr lang="en-GB" sz="2400" b="1" dirty="0">
                <a:solidFill>
                  <a:srgbClr val="7030A0"/>
                </a:solidFill>
              </a:rPr>
              <a:t>="2" /&gt;</a:t>
            </a:r>
          </a:p>
          <a:p>
            <a:pPr marL="0" indent="0">
              <a:buNone/>
            </a:pPr>
            <a:r>
              <a:rPr lang="en-GB" sz="2400" b="1" dirty="0">
                <a:solidFill>
                  <a:srgbClr val="7030A0"/>
                </a:solidFill>
              </a:rPr>
              <a:t>        &lt;Button Content="</a:t>
            </a:r>
            <a:r>
              <a:rPr lang="ru-RU" sz="2400" b="1" dirty="0">
                <a:solidFill>
                  <a:srgbClr val="7030A0"/>
                </a:solidFill>
              </a:rPr>
              <a:t>Правая кнопка" </a:t>
            </a:r>
            <a:r>
              <a:rPr lang="en-GB" sz="2400" b="1" dirty="0" err="1">
                <a:solidFill>
                  <a:srgbClr val="7030A0"/>
                </a:solidFill>
              </a:rPr>
              <a:t>Grid.ColumnSpan</a:t>
            </a:r>
            <a:r>
              <a:rPr lang="en-GB" sz="2400" b="1" dirty="0">
                <a:solidFill>
                  <a:srgbClr val="7030A0"/>
                </a:solidFill>
              </a:rPr>
              <a:t>="3" Margin="103,0,0,0" /&gt;</a:t>
            </a:r>
          </a:p>
          <a:p>
            <a:pPr marL="0" indent="0">
              <a:buNone/>
            </a:pPr>
            <a:r>
              <a:rPr lang="en-GB" sz="2400" b="1" dirty="0">
                <a:solidFill>
                  <a:srgbClr val="7030A0"/>
                </a:solidFill>
              </a:rPr>
              <a:t>    &lt;/Grid&gt;</a:t>
            </a:r>
          </a:p>
          <a:p>
            <a:endParaRPr lang="ru-RU" dirty="0"/>
          </a:p>
        </p:txBody>
      </p:sp>
      <p:pic>
        <p:nvPicPr>
          <p:cNvPr id="2355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4048" y="0"/>
            <a:ext cx="3806577" cy="27715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59675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67544" y="404664"/>
            <a:ext cx="8229600" cy="5721499"/>
          </a:xfrm>
        </p:spPr>
        <p:txBody>
          <a:bodyPr>
            <a:normAutofit/>
          </a:bodyPr>
          <a:lstStyle/>
          <a:p>
            <a:r>
              <a:rPr lang="ru-RU" sz="1800" dirty="0" smtClean="0"/>
              <a:t>элемент </a:t>
            </a:r>
            <a:r>
              <a:rPr lang="ru-RU" sz="1800" dirty="0" err="1"/>
              <a:t>GridSplitter</a:t>
            </a:r>
            <a:r>
              <a:rPr lang="ru-RU" sz="1800" dirty="0"/>
              <a:t>, </a:t>
            </a:r>
            <a:r>
              <a:rPr lang="ru-RU" sz="1800" dirty="0" smtClean="0"/>
              <a:t>надо </a:t>
            </a:r>
            <a:r>
              <a:rPr lang="ru-RU" sz="1800" dirty="0"/>
              <a:t>поместить </a:t>
            </a:r>
            <a:r>
              <a:rPr lang="ru-RU" sz="1800" dirty="0" smtClean="0"/>
              <a:t>в </a:t>
            </a:r>
            <a:r>
              <a:rPr lang="ru-RU" sz="1800" dirty="0"/>
              <a:t>ячейку в </a:t>
            </a:r>
            <a:r>
              <a:rPr lang="ru-RU" sz="1800" dirty="0" err="1" smtClean="0"/>
              <a:t>Gride</a:t>
            </a:r>
            <a:r>
              <a:rPr lang="ru-RU" sz="1800" dirty="0" smtClean="0"/>
              <a:t>, т.е. это </a:t>
            </a:r>
            <a:r>
              <a:rPr lang="ru-RU" sz="1800" dirty="0"/>
              <a:t>обычный элемент, такой же, как </a:t>
            </a:r>
            <a:r>
              <a:rPr lang="ru-RU" sz="1800" dirty="0" smtClean="0"/>
              <a:t>кнопка</a:t>
            </a:r>
          </a:p>
          <a:p>
            <a:endParaRPr lang="ru-RU" dirty="0"/>
          </a:p>
          <a:p>
            <a:pPr marL="0" indent="0" fontAlgn="base">
              <a:buNone/>
            </a:pPr>
            <a:r>
              <a:rPr lang="en-GB" sz="1600" b="1" dirty="0" smtClean="0">
                <a:solidFill>
                  <a:srgbClr val="7030A0"/>
                </a:solidFill>
              </a:rPr>
              <a:t>&lt;</a:t>
            </a:r>
            <a:r>
              <a:rPr lang="en-GB" sz="1600" b="1" dirty="0" err="1">
                <a:solidFill>
                  <a:srgbClr val="7030A0"/>
                </a:solidFill>
              </a:rPr>
              <a:t>Grid.ColumnDefinitions</a:t>
            </a:r>
            <a:r>
              <a:rPr lang="en-GB" sz="1600" b="1" dirty="0">
                <a:solidFill>
                  <a:srgbClr val="7030A0"/>
                </a:solidFill>
              </a:rPr>
              <a:t>&gt;</a:t>
            </a:r>
          </a:p>
          <a:p>
            <a:pPr marL="0" indent="0" fontAlgn="base">
              <a:buNone/>
            </a:pPr>
            <a:r>
              <a:rPr lang="en-GB" sz="1600" b="1" dirty="0">
                <a:solidFill>
                  <a:srgbClr val="7030A0"/>
                </a:solidFill>
              </a:rPr>
              <a:t>    &lt;</a:t>
            </a:r>
            <a:r>
              <a:rPr lang="en-GB" sz="1600" b="1" dirty="0" err="1">
                <a:solidFill>
                  <a:srgbClr val="7030A0"/>
                </a:solidFill>
              </a:rPr>
              <a:t>ColumnDefinition</a:t>
            </a:r>
            <a:r>
              <a:rPr lang="en-GB" sz="1600" b="1" dirty="0">
                <a:solidFill>
                  <a:srgbClr val="7030A0"/>
                </a:solidFill>
              </a:rPr>
              <a:t> Width="*" /&gt;</a:t>
            </a:r>
          </a:p>
          <a:p>
            <a:pPr marL="0" indent="0" fontAlgn="base">
              <a:buNone/>
            </a:pPr>
            <a:r>
              <a:rPr lang="en-GB" sz="1600" b="1" dirty="0">
                <a:solidFill>
                  <a:srgbClr val="7030A0"/>
                </a:solidFill>
              </a:rPr>
              <a:t>    &lt;</a:t>
            </a:r>
            <a:r>
              <a:rPr lang="en-GB" sz="1600" b="1" dirty="0" err="1">
                <a:solidFill>
                  <a:srgbClr val="7030A0"/>
                </a:solidFill>
              </a:rPr>
              <a:t>ColumnDefinition</a:t>
            </a:r>
            <a:r>
              <a:rPr lang="en-GB" sz="1600" b="1" dirty="0">
                <a:solidFill>
                  <a:srgbClr val="7030A0"/>
                </a:solidFill>
              </a:rPr>
              <a:t> Width="Auto" /&gt;</a:t>
            </a:r>
          </a:p>
          <a:p>
            <a:pPr marL="0" indent="0" fontAlgn="base">
              <a:buNone/>
            </a:pPr>
            <a:r>
              <a:rPr lang="en-GB" sz="1600" b="1" dirty="0">
                <a:solidFill>
                  <a:srgbClr val="7030A0"/>
                </a:solidFill>
              </a:rPr>
              <a:t>    &lt;</a:t>
            </a:r>
            <a:r>
              <a:rPr lang="en-GB" sz="1600" b="1" dirty="0" err="1">
                <a:solidFill>
                  <a:srgbClr val="7030A0"/>
                </a:solidFill>
              </a:rPr>
              <a:t>ColumnDefinition</a:t>
            </a:r>
            <a:r>
              <a:rPr lang="en-GB" sz="1600" b="1" dirty="0">
                <a:solidFill>
                  <a:srgbClr val="7030A0"/>
                </a:solidFill>
              </a:rPr>
              <a:t> Width="*" /&gt;</a:t>
            </a:r>
          </a:p>
          <a:p>
            <a:pPr marL="0" indent="0" fontAlgn="base">
              <a:buNone/>
            </a:pPr>
            <a:r>
              <a:rPr lang="en-GB" sz="1600" b="1" dirty="0">
                <a:solidFill>
                  <a:srgbClr val="7030A0"/>
                </a:solidFill>
              </a:rPr>
              <a:t>&lt;/</a:t>
            </a:r>
            <a:r>
              <a:rPr lang="en-GB" sz="1600" b="1" dirty="0" err="1">
                <a:solidFill>
                  <a:srgbClr val="7030A0"/>
                </a:solidFill>
              </a:rPr>
              <a:t>Grid.ColumnDefinitions</a:t>
            </a:r>
            <a:r>
              <a:rPr lang="en-GB" sz="1600" b="1" dirty="0">
                <a:solidFill>
                  <a:srgbClr val="7030A0"/>
                </a:solidFill>
              </a:rPr>
              <a:t>&gt;</a:t>
            </a:r>
          </a:p>
          <a:p>
            <a:pPr marL="0" indent="0" fontAlgn="base">
              <a:buNone/>
            </a:pPr>
            <a:r>
              <a:rPr lang="en-GB" sz="1600" b="1" dirty="0">
                <a:solidFill>
                  <a:srgbClr val="7030A0"/>
                </a:solidFill>
              </a:rPr>
              <a:t>&lt;</a:t>
            </a:r>
            <a:r>
              <a:rPr lang="en-GB" sz="1600" b="1" dirty="0" err="1">
                <a:solidFill>
                  <a:srgbClr val="7030A0"/>
                </a:solidFill>
              </a:rPr>
              <a:t>Grid.RowDefinitions</a:t>
            </a:r>
            <a:r>
              <a:rPr lang="en-GB" sz="1600" b="1" dirty="0">
                <a:solidFill>
                  <a:srgbClr val="7030A0"/>
                </a:solidFill>
              </a:rPr>
              <a:t>&gt;</a:t>
            </a:r>
          </a:p>
          <a:p>
            <a:pPr marL="0" indent="0" fontAlgn="base">
              <a:buNone/>
            </a:pPr>
            <a:r>
              <a:rPr lang="en-GB" sz="1600" b="1" dirty="0">
                <a:solidFill>
                  <a:srgbClr val="7030A0"/>
                </a:solidFill>
              </a:rPr>
              <a:t>    &lt;</a:t>
            </a:r>
            <a:r>
              <a:rPr lang="en-GB" sz="1600" b="1" dirty="0" err="1">
                <a:solidFill>
                  <a:srgbClr val="7030A0"/>
                </a:solidFill>
              </a:rPr>
              <a:t>RowDefinition</a:t>
            </a:r>
            <a:r>
              <a:rPr lang="en-GB" sz="1600" b="1" dirty="0">
                <a:solidFill>
                  <a:srgbClr val="7030A0"/>
                </a:solidFill>
              </a:rPr>
              <a:t>&gt;&lt;/</a:t>
            </a:r>
            <a:r>
              <a:rPr lang="en-GB" sz="1600" b="1" dirty="0" err="1">
                <a:solidFill>
                  <a:srgbClr val="7030A0"/>
                </a:solidFill>
              </a:rPr>
              <a:t>RowDefinition</a:t>
            </a:r>
            <a:r>
              <a:rPr lang="en-GB" sz="1600" b="1" dirty="0">
                <a:solidFill>
                  <a:srgbClr val="7030A0"/>
                </a:solidFill>
              </a:rPr>
              <a:t>&gt;</a:t>
            </a:r>
          </a:p>
          <a:p>
            <a:pPr marL="0" indent="0" fontAlgn="base">
              <a:buNone/>
            </a:pPr>
            <a:r>
              <a:rPr lang="en-GB" sz="1600" b="1" dirty="0">
                <a:solidFill>
                  <a:srgbClr val="7030A0"/>
                </a:solidFill>
              </a:rPr>
              <a:t>    &lt;</a:t>
            </a:r>
            <a:r>
              <a:rPr lang="en-GB" sz="1600" b="1" dirty="0" err="1">
                <a:solidFill>
                  <a:srgbClr val="7030A0"/>
                </a:solidFill>
              </a:rPr>
              <a:t>RowDefinition</a:t>
            </a:r>
            <a:r>
              <a:rPr lang="en-GB" sz="1600" b="1" dirty="0">
                <a:solidFill>
                  <a:srgbClr val="7030A0"/>
                </a:solidFill>
              </a:rPr>
              <a:t>&gt;&lt;/</a:t>
            </a:r>
            <a:r>
              <a:rPr lang="en-GB" sz="1600" b="1" dirty="0" err="1">
                <a:solidFill>
                  <a:srgbClr val="7030A0"/>
                </a:solidFill>
              </a:rPr>
              <a:t>RowDefinition</a:t>
            </a:r>
            <a:r>
              <a:rPr lang="en-GB" sz="1600" b="1" dirty="0">
                <a:solidFill>
                  <a:srgbClr val="7030A0"/>
                </a:solidFill>
              </a:rPr>
              <a:t>&gt;</a:t>
            </a:r>
          </a:p>
          <a:p>
            <a:pPr marL="0" indent="0" fontAlgn="base">
              <a:buNone/>
            </a:pPr>
            <a:r>
              <a:rPr lang="en-GB" sz="1600" b="1" dirty="0">
                <a:solidFill>
                  <a:srgbClr val="7030A0"/>
                </a:solidFill>
              </a:rPr>
              <a:t>&lt;/</a:t>
            </a:r>
            <a:r>
              <a:rPr lang="en-GB" sz="1600" b="1" dirty="0" err="1">
                <a:solidFill>
                  <a:srgbClr val="7030A0"/>
                </a:solidFill>
              </a:rPr>
              <a:t>Grid.RowDefinitions</a:t>
            </a:r>
            <a:r>
              <a:rPr lang="en-GB" sz="1600" b="1" dirty="0">
                <a:solidFill>
                  <a:srgbClr val="7030A0"/>
                </a:solidFill>
              </a:rPr>
              <a:t>&gt;</a:t>
            </a:r>
          </a:p>
          <a:p>
            <a:pPr marL="0" indent="0" fontAlgn="base">
              <a:buNone/>
            </a:pPr>
            <a:r>
              <a:rPr lang="en-GB" sz="1600" b="1" dirty="0">
                <a:solidFill>
                  <a:srgbClr val="7030A0"/>
                </a:solidFill>
              </a:rPr>
              <a:t>&lt;</a:t>
            </a:r>
            <a:r>
              <a:rPr lang="en-GB" sz="1600" b="1" dirty="0" err="1">
                <a:solidFill>
                  <a:srgbClr val="7030A0"/>
                </a:solidFill>
              </a:rPr>
              <a:t>GridSplitter</a:t>
            </a:r>
            <a:r>
              <a:rPr lang="en-GB" sz="1600" b="1" dirty="0">
                <a:solidFill>
                  <a:srgbClr val="7030A0"/>
                </a:solidFill>
              </a:rPr>
              <a:t> </a:t>
            </a:r>
            <a:r>
              <a:rPr lang="en-GB" sz="1600" b="1" dirty="0" err="1">
                <a:solidFill>
                  <a:srgbClr val="7030A0"/>
                </a:solidFill>
              </a:rPr>
              <a:t>Grid.Column</a:t>
            </a:r>
            <a:r>
              <a:rPr lang="en-GB" sz="1600" b="1" dirty="0">
                <a:solidFill>
                  <a:srgbClr val="7030A0"/>
                </a:solidFill>
              </a:rPr>
              <a:t>="1" </a:t>
            </a:r>
            <a:r>
              <a:rPr lang="en-GB" sz="1600" b="1" dirty="0" err="1">
                <a:solidFill>
                  <a:srgbClr val="7030A0"/>
                </a:solidFill>
              </a:rPr>
              <a:t>Grid.RowSpan</a:t>
            </a:r>
            <a:r>
              <a:rPr lang="en-GB" sz="1600" b="1" dirty="0">
                <a:solidFill>
                  <a:srgbClr val="7030A0"/>
                </a:solidFill>
              </a:rPr>
              <a:t>="2" </a:t>
            </a:r>
            <a:r>
              <a:rPr lang="en-GB" sz="1600" b="1" dirty="0" err="1">
                <a:solidFill>
                  <a:srgbClr val="7030A0"/>
                </a:solidFill>
              </a:rPr>
              <a:t>ShowsPreview</a:t>
            </a:r>
            <a:r>
              <a:rPr lang="en-GB" sz="1600" b="1" dirty="0">
                <a:solidFill>
                  <a:srgbClr val="7030A0"/>
                </a:solidFill>
              </a:rPr>
              <a:t>="False" Width="3"</a:t>
            </a:r>
          </a:p>
          <a:p>
            <a:pPr marL="0" indent="0" fontAlgn="base">
              <a:buNone/>
            </a:pPr>
            <a:r>
              <a:rPr lang="en-GB" sz="1600" b="1" dirty="0">
                <a:solidFill>
                  <a:srgbClr val="7030A0"/>
                </a:solidFill>
              </a:rPr>
              <a:t>    </a:t>
            </a:r>
            <a:r>
              <a:rPr lang="en-GB" sz="1600" b="1" dirty="0" err="1">
                <a:solidFill>
                  <a:srgbClr val="7030A0"/>
                </a:solidFill>
              </a:rPr>
              <a:t>HorizontalAlignment</a:t>
            </a:r>
            <a:r>
              <a:rPr lang="en-GB" sz="1600" b="1" dirty="0">
                <a:solidFill>
                  <a:srgbClr val="7030A0"/>
                </a:solidFill>
              </a:rPr>
              <a:t>="</a:t>
            </a:r>
            <a:r>
              <a:rPr lang="en-GB" sz="1600" b="1" dirty="0" err="1">
                <a:solidFill>
                  <a:srgbClr val="7030A0"/>
                </a:solidFill>
              </a:rPr>
              <a:t>Center</a:t>
            </a:r>
            <a:r>
              <a:rPr lang="en-GB" sz="1600" b="1" dirty="0">
                <a:solidFill>
                  <a:srgbClr val="7030A0"/>
                </a:solidFill>
              </a:rPr>
              <a:t>" </a:t>
            </a:r>
            <a:r>
              <a:rPr lang="en-GB" sz="1600" b="1" dirty="0" err="1">
                <a:solidFill>
                  <a:srgbClr val="7030A0"/>
                </a:solidFill>
              </a:rPr>
              <a:t>VerticalAlignment</a:t>
            </a:r>
            <a:r>
              <a:rPr lang="en-GB" sz="1600" b="1" dirty="0">
                <a:solidFill>
                  <a:srgbClr val="7030A0"/>
                </a:solidFill>
              </a:rPr>
              <a:t>="Stretch" /&gt;</a:t>
            </a:r>
          </a:p>
          <a:p>
            <a:endParaRPr lang="ru-RU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4355976" y="5589240"/>
            <a:ext cx="4572000" cy="73866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sz="1400" dirty="0"/>
              <a:t>Если у нас несколько строк, и мы хотим, чтобы разделитель распространялся на несколько строк, то </a:t>
            </a:r>
            <a:r>
              <a:rPr lang="ru-RU" sz="1400" dirty="0" smtClean="0"/>
              <a:t>можем </a:t>
            </a:r>
            <a:r>
              <a:rPr lang="ru-RU" sz="1400" dirty="0"/>
              <a:t>задать свойство </a:t>
            </a:r>
            <a:r>
              <a:rPr lang="ru-RU" sz="1400" dirty="0" err="1"/>
              <a:t>Grid.RowSpan</a:t>
            </a:r>
            <a:endParaRPr lang="ru-RU" sz="1400" dirty="0"/>
          </a:p>
        </p:txBody>
      </p:sp>
      <p:cxnSp>
        <p:nvCxnSpPr>
          <p:cNvPr id="6" name="Прямая со стрелкой 5"/>
          <p:cNvCxnSpPr/>
          <p:nvPr/>
        </p:nvCxnSpPr>
        <p:spPr>
          <a:xfrm flipH="1" flipV="1">
            <a:off x="4283968" y="4509120"/>
            <a:ext cx="1224136" cy="115212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Прямоугольник 7"/>
          <p:cNvSpPr/>
          <p:nvPr/>
        </p:nvSpPr>
        <p:spPr>
          <a:xfrm>
            <a:off x="5017206" y="1340768"/>
            <a:ext cx="4020552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400" dirty="0"/>
              <a:t>Обычно строка или столбец, в которые помещают элемент, имеет для свойств </a:t>
            </a:r>
            <a:r>
              <a:rPr lang="ru-RU" sz="1400" dirty="0" err="1"/>
              <a:t>Height</a:t>
            </a:r>
            <a:r>
              <a:rPr lang="ru-RU" sz="1400" dirty="0"/>
              <a:t> или </a:t>
            </a:r>
            <a:r>
              <a:rPr lang="ru-RU" sz="1400" dirty="0" err="1"/>
              <a:t>Width</a:t>
            </a:r>
            <a:r>
              <a:rPr lang="ru-RU" sz="1400" dirty="0"/>
              <a:t> значение </a:t>
            </a:r>
            <a:r>
              <a:rPr lang="ru-RU" sz="1400" dirty="0" err="1"/>
              <a:t>Auto</a:t>
            </a:r>
            <a:endParaRPr lang="ru-RU" sz="1400" dirty="0"/>
          </a:p>
        </p:txBody>
      </p:sp>
      <p:cxnSp>
        <p:nvCxnSpPr>
          <p:cNvPr id="10" name="Прямая со стрелкой 9"/>
          <p:cNvCxnSpPr/>
          <p:nvPr/>
        </p:nvCxnSpPr>
        <p:spPr>
          <a:xfrm flipH="1">
            <a:off x="3851920" y="1988840"/>
            <a:ext cx="1296144" cy="32403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Прямоугольник 12"/>
          <p:cNvSpPr/>
          <p:nvPr/>
        </p:nvSpPr>
        <p:spPr>
          <a:xfrm>
            <a:off x="4357676" y="2177301"/>
            <a:ext cx="4572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sz="1200" dirty="0" smtClean="0">
                <a:solidFill>
                  <a:srgbClr val="000000"/>
                </a:solidFill>
                <a:latin typeface="verdana"/>
              </a:rPr>
              <a:t>Если свойство</a:t>
            </a:r>
            <a:r>
              <a:rPr lang="ru-RU" sz="1200" dirty="0">
                <a:solidFill>
                  <a:srgbClr val="000000"/>
                </a:solidFill>
                <a:latin typeface="verdana"/>
              </a:rPr>
              <a:t> </a:t>
            </a:r>
            <a:r>
              <a:rPr lang="ru-RU" sz="1200" b="1" dirty="0" err="1" smtClean="0">
                <a:solidFill>
                  <a:srgbClr val="000000"/>
                </a:solidFill>
                <a:latin typeface="verdana"/>
              </a:rPr>
              <a:t>ShowsPreview</a:t>
            </a:r>
            <a:r>
              <a:rPr lang="ru-RU" sz="1200" dirty="0" smtClean="0">
                <a:solidFill>
                  <a:srgbClr val="000000"/>
                </a:solidFill>
                <a:latin typeface="verdana"/>
              </a:rPr>
              <a:t> </a:t>
            </a:r>
            <a:r>
              <a:rPr lang="ru-RU" sz="1200" dirty="0">
                <a:solidFill>
                  <a:srgbClr val="000000"/>
                </a:solidFill>
                <a:latin typeface="verdana"/>
              </a:rPr>
              <a:t>равно </a:t>
            </a:r>
            <a:r>
              <a:rPr lang="ru-RU" sz="1200" dirty="0" err="1">
                <a:solidFill>
                  <a:srgbClr val="000000"/>
                </a:solidFill>
                <a:latin typeface="verdana"/>
              </a:rPr>
              <a:t>False</a:t>
            </a:r>
            <a:r>
              <a:rPr lang="ru-RU" sz="1200" dirty="0">
                <a:solidFill>
                  <a:srgbClr val="000000"/>
                </a:solidFill>
                <a:latin typeface="verdana"/>
              </a:rPr>
              <a:t>, то изменение границ кнопок будет происходить сразу же при перемещении </a:t>
            </a:r>
            <a:r>
              <a:rPr lang="ru-RU" sz="1200" dirty="0" err="1" smtClean="0">
                <a:solidFill>
                  <a:srgbClr val="000000"/>
                </a:solidFill>
                <a:latin typeface="verdana"/>
              </a:rPr>
              <a:t>сплитера</a:t>
            </a:r>
            <a:r>
              <a:rPr lang="ru-RU" sz="1200" dirty="0" smtClean="0">
                <a:solidFill>
                  <a:srgbClr val="000000"/>
                </a:solidFill>
                <a:latin typeface="verdana"/>
              </a:rPr>
              <a:t>, если -</a:t>
            </a:r>
            <a:r>
              <a:rPr lang="ru-RU" sz="1200" dirty="0" err="1" smtClean="0">
                <a:solidFill>
                  <a:srgbClr val="000000"/>
                </a:solidFill>
                <a:latin typeface="verdana"/>
              </a:rPr>
              <a:t>True</a:t>
            </a:r>
            <a:r>
              <a:rPr lang="ru-RU" sz="1200" dirty="0">
                <a:solidFill>
                  <a:srgbClr val="000000"/>
                </a:solidFill>
                <a:latin typeface="verdana"/>
              </a:rPr>
              <a:t>, тогда изменение границ будет происходить только после того, как перемещение </a:t>
            </a:r>
            <a:r>
              <a:rPr lang="ru-RU" sz="1200" dirty="0" err="1">
                <a:solidFill>
                  <a:srgbClr val="000000"/>
                </a:solidFill>
                <a:latin typeface="verdana"/>
              </a:rPr>
              <a:t>сплитера</a:t>
            </a:r>
            <a:r>
              <a:rPr lang="ru-RU" sz="1200" dirty="0">
                <a:solidFill>
                  <a:srgbClr val="000000"/>
                </a:solidFill>
                <a:latin typeface="verdana"/>
              </a:rPr>
              <a:t> завершится, и при перемещении </a:t>
            </a:r>
            <a:r>
              <a:rPr lang="ru-RU" sz="1200" dirty="0" err="1">
                <a:solidFill>
                  <a:srgbClr val="000000"/>
                </a:solidFill>
                <a:latin typeface="verdana"/>
              </a:rPr>
              <a:t>сплиттера</a:t>
            </a:r>
            <a:r>
              <a:rPr lang="ru-RU" sz="1200" dirty="0">
                <a:solidFill>
                  <a:srgbClr val="000000"/>
                </a:solidFill>
                <a:latin typeface="verdana"/>
              </a:rPr>
              <a:t> </a:t>
            </a:r>
            <a:r>
              <a:rPr lang="ru-RU" sz="1200" dirty="0" smtClean="0">
                <a:solidFill>
                  <a:srgbClr val="000000"/>
                </a:solidFill>
                <a:latin typeface="verdana"/>
              </a:rPr>
              <a:t>увидим </a:t>
            </a:r>
            <a:r>
              <a:rPr lang="ru-RU" sz="1200" dirty="0">
                <a:solidFill>
                  <a:srgbClr val="000000"/>
                </a:solidFill>
                <a:latin typeface="verdana"/>
              </a:rPr>
              <a:t>его </a:t>
            </a:r>
            <a:r>
              <a:rPr lang="ru-RU" sz="1200" dirty="0" smtClean="0">
                <a:solidFill>
                  <a:srgbClr val="000000"/>
                </a:solidFill>
                <a:latin typeface="verdana"/>
              </a:rPr>
              <a:t>проекцию</a:t>
            </a:r>
            <a:endParaRPr lang="ru-RU" sz="1200" dirty="0">
              <a:solidFill>
                <a:srgbClr val="000000"/>
              </a:solidFill>
              <a:latin typeface="verdana"/>
            </a:endParaRPr>
          </a:p>
        </p:txBody>
      </p:sp>
      <p:cxnSp>
        <p:nvCxnSpPr>
          <p:cNvPr id="15" name="Прямая со стрелкой 14"/>
          <p:cNvCxnSpPr/>
          <p:nvPr/>
        </p:nvCxnSpPr>
        <p:spPr>
          <a:xfrm flipH="1">
            <a:off x="5652120" y="3377630"/>
            <a:ext cx="991556" cy="98747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368376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06090"/>
          </a:xfrm>
        </p:spPr>
        <p:txBody>
          <a:bodyPr>
            <a:normAutofit fontScale="90000"/>
          </a:bodyPr>
          <a:lstStyle/>
          <a:p>
            <a:r>
              <a:rPr lang="en-GB" b="1" dirty="0" err="1"/>
              <a:t>GridSplitter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124744"/>
            <a:ext cx="8229600" cy="5001419"/>
          </a:xfrm>
        </p:spPr>
        <p:txBody>
          <a:bodyPr>
            <a:normAutofit fontScale="70000" lnSpcReduction="20000"/>
          </a:bodyPr>
          <a:lstStyle/>
          <a:p>
            <a:pPr>
              <a:spcAft>
                <a:spcPts val="600"/>
              </a:spcAft>
            </a:pPr>
            <a:r>
              <a:rPr lang="ru-RU" b="0" i="0" dirty="0" smtClean="0">
                <a:solidFill>
                  <a:srgbClr val="000000"/>
                </a:solidFill>
                <a:effectLst/>
                <a:latin typeface="verdana"/>
              </a:rPr>
              <a:t>если задаем горизонтальный разделитель, то тогда надо использовать свойство </a:t>
            </a:r>
            <a:r>
              <a:rPr lang="ru-RU" b="1" i="0" dirty="0" err="1" smtClean="0">
                <a:solidFill>
                  <a:srgbClr val="000000"/>
                </a:solidFill>
                <a:effectLst/>
                <a:latin typeface="verdana"/>
              </a:rPr>
              <a:t>Grid.ColumnSpan</a:t>
            </a:r>
            <a:endParaRPr lang="ru-RU" b="1" i="0" dirty="0" smtClean="0">
              <a:solidFill>
                <a:srgbClr val="000000"/>
              </a:solidFill>
              <a:effectLst/>
              <a:latin typeface="verdana"/>
            </a:endParaRPr>
          </a:p>
          <a:p>
            <a:pPr>
              <a:spcAft>
                <a:spcPts val="600"/>
              </a:spcAft>
            </a:pPr>
            <a:r>
              <a:rPr lang="ru-RU" b="0" i="0" dirty="0" smtClean="0">
                <a:solidFill>
                  <a:srgbClr val="000000"/>
                </a:solidFill>
                <a:effectLst/>
                <a:latin typeface="verdana"/>
              </a:rPr>
              <a:t>надо настроить свойства:</a:t>
            </a:r>
          </a:p>
          <a:p>
            <a:pPr lvl="1">
              <a:spcAft>
                <a:spcPts val="600"/>
              </a:spcAft>
            </a:pPr>
            <a:r>
              <a:rPr lang="ru-RU" b="0" i="0" dirty="0" smtClean="0">
                <a:solidFill>
                  <a:srgbClr val="000000"/>
                </a:solidFill>
                <a:effectLst/>
                <a:latin typeface="verdana"/>
              </a:rPr>
              <a:t>надо настроить ширину (</a:t>
            </a:r>
            <a:r>
              <a:rPr lang="ru-RU" b="0" i="0" dirty="0" err="1" smtClean="0">
                <a:solidFill>
                  <a:srgbClr val="000000"/>
                </a:solidFill>
                <a:effectLst/>
                <a:latin typeface="verdana"/>
              </a:rPr>
              <a:t>Width</a:t>
            </a:r>
            <a:r>
              <a:rPr lang="ru-RU" b="0" i="0" dirty="0" smtClean="0">
                <a:solidFill>
                  <a:srgbClr val="000000"/>
                </a:solidFill>
                <a:effectLst/>
                <a:latin typeface="verdana"/>
              </a:rPr>
              <a:t>) для вертикальных </a:t>
            </a:r>
            <a:r>
              <a:rPr lang="ru-RU" b="0" i="0" dirty="0" err="1" smtClean="0">
                <a:solidFill>
                  <a:srgbClr val="000000"/>
                </a:solidFill>
                <a:effectLst/>
                <a:latin typeface="verdana"/>
              </a:rPr>
              <a:t>сплитеров</a:t>
            </a:r>
            <a:r>
              <a:rPr lang="ru-RU" dirty="0" smtClean="0">
                <a:solidFill>
                  <a:srgbClr val="000000"/>
                </a:solidFill>
                <a:latin typeface="verdana"/>
              </a:rPr>
              <a:t>, </a:t>
            </a:r>
            <a:r>
              <a:rPr lang="ru-RU" b="0" i="0" dirty="0" smtClean="0">
                <a:solidFill>
                  <a:srgbClr val="000000"/>
                </a:solidFill>
                <a:effectLst/>
                <a:latin typeface="verdana"/>
              </a:rPr>
              <a:t>высоту (</a:t>
            </a:r>
            <a:r>
              <a:rPr lang="ru-RU" b="0" i="0" dirty="0" err="1" smtClean="0">
                <a:solidFill>
                  <a:srgbClr val="000000"/>
                </a:solidFill>
                <a:effectLst/>
                <a:latin typeface="verdana"/>
              </a:rPr>
              <a:t>Height</a:t>
            </a:r>
            <a:r>
              <a:rPr lang="ru-RU" b="0" i="0" dirty="0" smtClean="0">
                <a:solidFill>
                  <a:srgbClr val="000000"/>
                </a:solidFill>
                <a:effectLst/>
                <a:latin typeface="verdana"/>
              </a:rPr>
              <a:t>) для горизонтальных. </a:t>
            </a:r>
          </a:p>
          <a:p>
            <a:pPr marL="457200" lvl="1" indent="0">
              <a:spcAft>
                <a:spcPts val="600"/>
              </a:spcAft>
              <a:buNone/>
            </a:pPr>
            <a:r>
              <a:rPr lang="ru-RU" b="0" i="0" dirty="0" smtClean="0">
                <a:solidFill>
                  <a:srgbClr val="000000"/>
                </a:solidFill>
                <a:effectLst/>
                <a:latin typeface="verdana"/>
              </a:rPr>
              <a:t>Если не задать соответствующее свойство, то </a:t>
            </a:r>
            <a:r>
              <a:rPr lang="ru-RU" b="0" i="0" dirty="0" err="1" smtClean="0">
                <a:solidFill>
                  <a:srgbClr val="000000"/>
                </a:solidFill>
                <a:effectLst/>
                <a:latin typeface="verdana"/>
              </a:rPr>
              <a:t>сплитер</a:t>
            </a:r>
            <a:r>
              <a:rPr lang="ru-RU" b="0" i="0" dirty="0" smtClean="0">
                <a:solidFill>
                  <a:srgbClr val="000000"/>
                </a:solidFill>
                <a:effectLst/>
                <a:latin typeface="verdana"/>
              </a:rPr>
              <a:t> не увидим, так как он изначально </a:t>
            </a:r>
            <a:r>
              <a:rPr lang="ru-RU" b="1" i="0" dirty="0" smtClean="0">
                <a:solidFill>
                  <a:srgbClr val="C00000"/>
                </a:solidFill>
                <a:effectLst/>
                <a:latin typeface="verdana"/>
              </a:rPr>
              <a:t>очень мал</a:t>
            </a:r>
            <a:r>
              <a:rPr lang="ru-RU" b="0" i="0" dirty="0" smtClean="0">
                <a:solidFill>
                  <a:srgbClr val="000000"/>
                </a:solidFill>
                <a:effectLst/>
                <a:latin typeface="verdana"/>
              </a:rPr>
              <a:t>.</a:t>
            </a:r>
          </a:p>
          <a:p>
            <a:pPr lvl="1">
              <a:spcAft>
                <a:spcPts val="600"/>
              </a:spcAft>
            </a:pPr>
            <a:r>
              <a:rPr lang="ru-RU" b="0" i="0" dirty="0" smtClean="0">
                <a:solidFill>
                  <a:srgbClr val="000000"/>
                </a:solidFill>
                <a:effectLst/>
                <a:latin typeface="verdana"/>
              </a:rPr>
              <a:t>надо задать выравнивание. </a:t>
            </a:r>
          </a:p>
          <a:p>
            <a:pPr marL="457200" lvl="1" indent="0">
              <a:spcAft>
                <a:spcPts val="600"/>
              </a:spcAft>
              <a:buNone/>
            </a:pPr>
            <a:r>
              <a:rPr lang="ru-RU" b="0" i="0" dirty="0" smtClean="0">
                <a:solidFill>
                  <a:srgbClr val="000000"/>
                </a:solidFill>
                <a:effectLst/>
                <a:latin typeface="verdana"/>
              </a:rPr>
              <a:t>Если хотим, что </a:t>
            </a:r>
            <a:r>
              <a:rPr lang="ru-RU" b="0" i="0" dirty="0" err="1" smtClean="0">
                <a:solidFill>
                  <a:srgbClr val="000000"/>
                </a:solidFill>
                <a:effectLst/>
                <a:latin typeface="verdana"/>
              </a:rPr>
              <a:t>сплитер</a:t>
            </a:r>
            <a:r>
              <a:rPr lang="ru-RU" b="0" i="0" dirty="0" smtClean="0">
                <a:solidFill>
                  <a:srgbClr val="000000"/>
                </a:solidFill>
                <a:effectLst/>
                <a:latin typeface="verdana"/>
              </a:rPr>
              <a:t> заполнял всю высоту доступной области (то есть если у нас вертикальный </a:t>
            </a:r>
            <a:r>
              <a:rPr lang="ru-RU" b="0" i="0" dirty="0" err="1" smtClean="0">
                <a:solidFill>
                  <a:srgbClr val="000000"/>
                </a:solidFill>
                <a:effectLst/>
                <a:latin typeface="verdana"/>
              </a:rPr>
              <a:t>сплитер</a:t>
            </a:r>
            <a:r>
              <a:rPr lang="ru-RU" b="0" i="0" dirty="0" smtClean="0">
                <a:solidFill>
                  <a:srgbClr val="000000"/>
                </a:solidFill>
                <a:effectLst/>
                <a:latin typeface="verdana"/>
              </a:rPr>
              <a:t>), то надо установить для свойства </a:t>
            </a:r>
            <a:r>
              <a:rPr lang="ru-RU" b="1" i="0" dirty="0" err="1" smtClean="0">
                <a:solidFill>
                  <a:srgbClr val="000000"/>
                </a:solidFill>
                <a:effectLst/>
                <a:latin typeface="verdana"/>
              </a:rPr>
              <a:t>VerticalAlignment</a:t>
            </a:r>
            <a:r>
              <a:rPr lang="ru-RU" b="0" i="0" dirty="0" smtClean="0">
                <a:solidFill>
                  <a:srgbClr val="000000"/>
                </a:solidFill>
                <a:effectLst/>
                <a:latin typeface="verdana"/>
              </a:rPr>
              <a:t> значение </a:t>
            </a:r>
            <a:r>
              <a:rPr lang="ru-RU" b="0" i="0" dirty="0" err="1" smtClean="0">
                <a:solidFill>
                  <a:srgbClr val="000000"/>
                </a:solidFill>
                <a:effectLst/>
                <a:latin typeface="verdana"/>
              </a:rPr>
              <a:t>Stretch</a:t>
            </a:r>
            <a:r>
              <a:rPr lang="ru-RU" b="0" i="0" dirty="0" smtClean="0">
                <a:solidFill>
                  <a:srgbClr val="000000"/>
                </a:solidFill>
                <a:effectLst/>
                <a:latin typeface="verdana"/>
              </a:rPr>
              <a:t>.</a:t>
            </a:r>
          </a:p>
          <a:p>
            <a:pPr marL="457200" lvl="1" indent="0">
              <a:spcAft>
                <a:spcPts val="600"/>
              </a:spcAft>
              <a:buNone/>
            </a:pPr>
            <a:r>
              <a:rPr lang="ru-RU" b="0" i="0" dirty="0" smtClean="0">
                <a:solidFill>
                  <a:srgbClr val="000000"/>
                </a:solidFill>
                <a:effectLst/>
                <a:latin typeface="verdana"/>
              </a:rPr>
              <a:t>Если горизонтальный </a:t>
            </a:r>
            <a:r>
              <a:rPr lang="ru-RU" b="0" i="0" dirty="0" err="1" smtClean="0">
                <a:solidFill>
                  <a:srgbClr val="000000"/>
                </a:solidFill>
                <a:effectLst/>
                <a:latin typeface="verdana"/>
              </a:rPr>
              <a:t>сплитер</a:t>
            </a:r>
            <a:r>
              <a:rPr lang="ru-RU" b="0" i="0" dirty="0" smtClean="0">
                <a:solidFill>
                  <a:srgbClr val="000000"/>
                </a:solidFill>
                <a:effectLst/>
                <a:latin typeface="verdana"/>
              </a:rPr>
              <a:t> - свойство </a:t>
            </a:r>
            <a:r>
              <a:rPr lang="ru-RU" b="1" i="0" dirty="0" err="1" smtClean="0">
                <a:solidFill>
                  <a:srgbClr val="000000"/>
                </a:solidFill>
                <a:effectLst/>
                <a:latin typeface="verdana"/>
              </a:rPr>
              <a:t>HorizontalAlignment</a:t>
            </a:r>
            <a:r>
              <a:rPr lang="ru-RU" b="0" i="0" dirty="0" smtClean="0">
                <a:solidFill>
                  <a:srgbClr val="000000"/>
                </a:solidFill>
                <a:effectLst/>
                <a:latin typeface="verdana"/>
              </a:rPr>
              <a:t> в </a:t>
            </a:r>
            <a:r>
              <a:rPr lang="ru-RU" b="0" i="0" dirty="0" err="1" smtClean="0">
                <a:solidFill>
                  <a:srgbClr val="000000"/>
                </a:solidFill>
                <a:effectLst/>
                <a:latin typeface="verdana"/>
              </a:rPr>
              <a:t>Stretch</a:t>
            </a:r>
            <a:endParaRPr lang="ru-RU" b="0" i="0" dirty="0" smtClean="0">
              <a:solidFill>
                <a:srgbClr val="000000"/>
              </a:solidFill>
              <a:effectLst/>
              <a:latin typeface="verdana"/>
            </a:endParaRP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5986580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7504" y="274638"/>
            <a:ext cx="5040560" cy="922114"/>
          </a:xfrm>
        </p:spPr>
        <p:txBody>
          <a:bodyPr>
            <a:normAutofit fontScale="90000"/>
          </a:bodyPr>
          <a:lstStyle/>
          <a:p>
            <a:r>
              <a:rPr lang="ru-RU" sz="1800" dirty="0"/>
              <a:t>В отличие от элемента </a:t>
            </a:r>
            <a:r>
              <a:rPr lang="ru-RU" sz="1800" dirty="0" err="1"/>
              <a:t>SplitContainer</a:t>
            </a:r>
            <a:r>
              <a:rPr lang="ru-RU" sz="1800" dirty="0"/>
              <a:t> в </a:t>
            </a:r>
            <a:r>
              <a:rPr lang="ru-RU" sz="1800" dirty="0" err="1"/>
              <a:t>WinForms</a:t>
            </a:r>
            <a:r>
              <a:rPr lang="ru-RU" sz="1800" dirty="0"/>
              <a:t>, в WPF можно установить различное количество динамически регулируемых частей </a:t>
            </a:r>
            <a:r>
              <a:rPr lang="ru-RU" sz="1800" dirty="0" smtClean="0"/>
              <a:t>окна</a:t>
            </a:r>
            <a:br>
              <a:rPr lang="ru-RU" sz="1800" dirty="0" smtClean="0"/>
            </a:br>
            <a:r>
              <a:rPr lang="ru-RU" sz="1800" dirty="0" smtClean="0"/>
              <a:t>сразу </a:t>
            </a:r>
            <a:r>
              <a:rPr lang="ru-RU" sz="1800" dirty="0"/>
              <a:t>два </a:t>
            </a:r>
            <a:r>
              <a:rPr lang="ru-RU" sz="1800" dirty="0" err="1"/>
              <a:t>сплитера</a:t>
            </a:r>
            <a:r>
              <a:rPr lang="ru-RU" sz="1800" dirty="0"/>
              <a:t>: один между двумя верхними и нижней панелями, а второй - между правой и левой </a:t>
            </a:r>
            <a:r>
              <a:rPr lang="ru-RU" sz="1800" dirty="0" smtClean="0"/>
              <a:t>панелями</a:t>
            </a:r>
            <a:endParaRPr lang="ru-RU" sz="18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79512" y="1268760"/>
            <a:ext cx="8507288" cy="5589240"/>
          </a:xfrm>
        </p:spPr>
        <p:txBody>
          <a:bodyPr>
            <a:normAutofit fontScale="32500" lnSpcReduction="20000"/>
          </a:bodyPr>
          <a:lstStyle/>
          <a:p>
            <a:pPr marL="0" indent="0" fontAlgn="base">
              <a:buNone/>
            </a:pPr>
            <a:r>
              <a:rPr lang="en-GB" sz="4300" dirty="0"/>
              <a:t>&lt;Grid&gt;</a:t>
            </a:r>
          </a:p>
          <a:p>
            <a:pPr marL="0" indent="0" fontAlgn="base">
              <a:buNone/>
            </a:pPr>
            <a:r>
              <a:rPr lang="en-GB" sz="4300" dirty="0"/>
              <a:t>    &lt;</a:t>
            </a:r>
            <a:r>
              <a:rPr lang="en-GB" sz="4300" dirty="0" err="1"/>
              <a:t>Grid.ColumnDefinitions</a:t>
            </a:r>
            <a:r>
              <a:rPr lang="en-GB" sz="4300" dirty="0"/>
              <a:t>&gt;</a:t>
            </a:r>
          </a:p>
          <a:p>
            <a:pPr marL="0" indent="0" fontAlgn="base">
              <a:buNone/>
            </a:pPr>
            <a:r>
              <a:rPr lang="en-GB" sz="4300" dirty="0"/>
              <a:t>        &lt;</a:t>
            </a:r>
            <a:r>
              <a:rPr lang="en-GB" sz="4300" dirty="0" err="1"/>
              <a:t>ColumnDefinition</a:t>
            </a:r>
            <a:r>
              <a:rPr lang="en-GB" sz="4300" dirty="0"/>
              <a:t> Width="*" /&gt;</a:t>
            </a:r>
          </a:p>
          <a:p>
            <a:pPr marL="0" indent="0" fontAlgn="base">
              <a:buNone/>
            </a:pPr>
            <a:r>
              <a:rPr lang="en-GB" sz="4300" dirty="0"/>
              <a:t>        &lt;</a:t>
            </a:r>
            <a:r>
              <a:rPr lang="en-GB" sz="4300" dirty="0" err="1"/>
              <a:t>ColumnDefinition</a:t>
            </a:r>
            <a:r>
              <a:rPr lang="en-GB" sz="4300" dirty="0"/>
              <a:t> Width="Auto" /&gt;</a:t>
            </a:r>
          </a:p>
          <a:p>
            <a:pPr marL="0" indent="0" fontAlgn="base">
              <a:buNone/>
            </a:pPr>
            <a:r>
              <a:rPr lang="en-GB" sz="4300" dirty="0"/>
              <a:t>        &lt;</a:t>
            </a:r>
            <a:r>
              <a:rPr lang="en-GB" sz="4300" dirty="0" err="1"/>
              <a:t>ColumnDefinition</a:t>
            </a:r>
            <a:r>
              <a:rPr lang="en-GB" sz="4300" dirty="0"/>
              <a:t> Width="*" /&gt;</a:t>
            </a:r>
          </a:p>
          <a:p>
            <a:pPr marL="0" indent="0" fontAlgn="base">
              <a:buNone/>
            </a:pPr>
            <a:r>
              <a:rPr lang="en-GB" sz="4300" dirty="0"/>
              <a:t>    &lt;/</a:t>
            </a:r>
            <a:r>
              <a:rPr lang="en-GB" sz="4300" dirty="0" err="1"/>
              <a:t>Grid.ColumnDefinitions</a:t>
            </a:r>
            <a:r>
              <a:rPr lang="en-GB" sz="4300" dirty="0"/>
              <a:t>&gt;</a:t>
            </a:r>
          </a:p>
          <a:p>
            <a:pPr marL="0" indent="0" fontAlgn="base">
              <a:buNone/>
            </a:pPr>
            <a:r>
              <a:rPr lang="en-GB" sz="4300" dirty="0"/>
              <a:t>    &lt;</a:t>
            </a:r>
            <a:r>
              <a:rPr lang="en-GB" sz="4300" dirty="0" err="1"/>
              <a:t>Grid.RowDefinitions</a:t>
            </a:r>
            <a:r>
              <a:rPr lang="en-GB" sz="4300" dirty="0"/>
              <a:t>&gt;</a:t>
            </a:r>
          </a:p>
          <a:p>
            <a:pPr marL="0" indent="0" fontAlgn="base">
              <a:buNone/>
            </a:pPr>
            <a:r>
              <a:rPr lang="en-GB" sz="4300" dirty="0"/>
              <a:t>        &lt;</a:t>
            </a:r>
            <a:r>
              <a:rPr lang="en-GB" sz="4300" dirty="0" err="1"/>
              <a:t>RowDefinition</a:t>
            </a:r>
            <a:r>
              <a:rPr lang="en-GB" sz="4300" dirty="0"/>
              <a:t> Height="*"&gt;&lt;/</a:t>
            </a:r>
            <a:r>
              <a:rPr lang="en-GB" sz="4300" dirty="0" err="1"/>
              <a:t>RowDefinition</a:t>
            </a:r>
            <a:r>
              <a:rPr lang="en-GB" sz="4300" dirty="0"/>
              <a:t>&gt;</a:t>
            </a:r>
          </a:p>
          <a:p>
            <a:pPr marL="0" indent="0" fontAlgn="base">
              <a:buNone/>
            </a:pPr>
            <a:r>
              <a:rPr lang="en-GB" sz="4300" dirty="0"/>
              <a:t>        &lt;</a:t>
            </a:r>
            <a:r>
              <a:rPr lang="en-GB" sz="4300" dirty="0" err="1"/>
              <a:t>RowDefinition</a:t>
            </a:r>
            <a:r>
              <a:rPr lang="en-GB" sz="4300" dirty="0"/>
              <a:t> Height="Auto"&gt;&lt;/</a:t>
            </a:r>
            <a:r>
              <a:rPr lang="en-GB" sz="4300" dirty="0" err="1"/>
              <a:t>RowDefinition</a:t>
            </a:r>
            <a:r>
              <a:rPr lang="en-GB" sz="4300" dirty="0"/>
              <a:t>&gt;</a:t>
            </a:r>
          </a:p>
          <a:p>
            <a:pPr marL="0" indent="0" fontAlgn="base">
              <a:buNone/>
            </a:pPr>
            <a:r>
              <a:rPr lang="en-GB" sz="4300" dirty="0"/>
              <a:t>        &lt;</a:t>
            </a:r>
            <a:r>
              <a:rPr lang="en-GB" sz="4300" dirty="0" err="1"/>
              <a:t>RowDefinition</a:t>
            </a:r>
            <a:r>
              <a:rPr lang="en-GB" sz="4300" dirty="0"/>
              <a:t> Height="*"&gt;&lt;/</a:t>
            </a:r>
            <a:r>
              <a:rPr lang="en-GB" sz="4300" dirty="0" err="1"/>
              <a:t>RowDefinition</a:t>
            </a:r>
            <a:r>
              <a:rPr lang="en-GB" sz="4300" dirty="0"/>
              <a:t>&gt;</a:t>
            </a:r>
          </a:p>
          <a:p>
            <a:pPr marL="0" indent="0" fontAlgn="base">
              <a:buNone/>
            </a:pPr>
            <a:r>
              <a:rPr lang="en-GB" sz="4300" dirty="0"/>
              <a:t>    &lt;/</a:t>
            </a:r>
            <a:r>
              <a:rPr lang="en-GB" sz="4300" dirty="0" err="1"/>
              <a:t>Grid.RowDefinitions</a:t>
            </a:r>
            <a:r>
              <a:rPr lang="en-GB" sz="4300" dirty="0"/>
              <a:t>&gt;</a:t>
            </a:r>
          </a:p>
          <a:p>
            <a:pPr marL="0" indent="0" fontAlgn="base">
              <a:buNone/>
            </a:pPr>
            <a:r>
              <a:rPr lang="en-GB" sz="4300" dirty="0"/>
              <a:t>    &lt;</a:t>
            </a:r>
            <a:r>
              <a:rPr lang="en-GB" sz="4300" dirty="0" err="1"/>
              <a:t>GridSplitter</a:t>
            </a:r>
            <a:r>
              <a:rPr lang="en-GB" sz="4300" dirty="0"/>
              <a:t> </a:t>
            </a:r>
            <a:r>
              <a:rPr lang="en-GB" sz="4300" dirty="0" err="1"/>
              <a:t>Grid.Column</a:t>
            </a:r>
            <a:r>
              <a:rPr lang="en-GB" sz="4300" dirty="0"/>
              <a:t>="1"  </a:t>
            </a:r>
            <a:r>
              <a:rPr lang="en-GB" sz="4300" dirty="0" err="1"/>
              <a:t>Grid.Row</a:t>
            </a:r>
            <a:r>
              <a:rPr lang="en-GB" sz="4300" dirty="0"/>
              <a:t>="0" </a:t>
            </a:r>
            <a:r>
              <a:rPr lang="en-GB" sz="4300" dirty="0" err="1"/>
              <a:t>ShowsPreview</a:t>
            </a:r>
            <a:r>
              <a:rPr lang="en-GB" sz="4300" dirty="0"/>
              <a:t>="False" Width="3"</a:t>
            </a:r>
          </a:p>
          <a:p>
            <a:pPr marL="0" indent="0" fontAlgn="base">
              <a:buNone/>
            </a:pPr>
            <a:r>
              <a:rPr lang="en-GB" sz="4300" dirty="0"/>
              <a:t>        </a:t>
            </a:r>
            <a:r>
              <a:rPr lang="en-GB" sz="4300" dirty="0" err="1"/>
              <a:t>HorizontalAlignment</a:t>
            </a:r>
            <a:r>
              <a:rPr lang="en-GB" sz="4300" dirty="0"/>
              <a:t>="</a:t>
            </a:r>
            <a:r>
              <a:rPr lang="en-GB" sz="4300" dirty="0" err="1"/>
              <a:t>Center</a:t>
            </a:r>
            <a:r>
              <a:rPr lang="en-GB" sz="4300" dirty="0"/>
              <a:t>" </a:t>
            </a:r>
            <a:r>
              <a:rPr lang="en-GB" sz="4300" dirty="0" err="1"/>
              <a:t>VerticalAlignment</a:t>
            </a:r>
            <a:r>
              <a:rPr lang="en-GB" sz="4300" dirty="0"/>
              <a:t>="Stretch" /&gt;</a:t>
            </a:r>
          </a:p>
          <a:p>
            <a:pPr marL="0" indent="0" fontAlgn="base">
              <a:buNone/>
            </a:pPr>
            <a:r>
              <a:rPr lang="en-GB" sz="4300" dirty="0"/>
              <a:t>    &lt;</a:t>
            </a:r>
            <a:r>
              <a:rPr lang="en-GB" sz="4300" dirty="0" err="1"/>
              <a:t>GridSplitter</a:t>
            </a:r>
            <a:r>
              <a:rPr lang="en-GB" sz="4300" dirty="0"/>
              <a:t> </a:t>
            </a:r>
            <a:r>
              <a:rPr lang="en-GB" sz="4300" dirty="0" err="1"/>
              <a:t>Grid.Row</a:t>
            </a:r>
            <a:r>
              <a:rPr lang="en-GB" sz="4300" dirty="0"/>
              <a:t>="1" </a:t>
            </a:r>
            <a:r>
              <a:rPr lang="en-GB" sz="4300" dirty="0" err="1"/>
              <a:t>Grid.ColumnSpan</a:t>
            </a:r>
            <a:r>
              <a:rPr lang="en-GB" sz="4300" dirty="0"/>
              <a:t>="3" Height="3"</a:t>
            </a:r>
          </a:p>
          <a:p>
            <a:pPr marL="0" indent="0" fontAlgn="base">
              <a:buNone/>
            </a:pPr>
            <a:r>
              <a:rPr lang="en-GB" sz="4300" dirty="0"/>
              <a:t>        </a:t>
            </a:r>
            <a:r>
              <a:rPr lang="en-GB" sz="4300" dirty="0" err="1"/>
              <a:t>HorizontalAlignment</a:t>
            </a:r>
            <a:r>
              <a:rPr lang="en-GB" sz="4300" dirty="0"/>
              <a:t>="Stretch" </a:t>
            </a:r>
            <a:r>
              <a:rPr lang="en-GB" sz="4300" dirty="0" err="1"/>
              <a:t>VerticalAlignment</a:t>
            </a:r>
            <a:r>
              <a:rPr lang="en-GB" sz="4300" dirty="0"/>
              <a:t>="</a:t>
            </a:r>
            <a:r>
              <a:rPr lang="en-GB" sz="4300" dirty="0" err="1"/>
              <a:t>Center</a:t>
            </a:r>
            <a:r>
              <a:rPr lang="en-GB" sz="4300" dirty="0"/>
              <a:t>" /&gt;</a:t>
            </a:r>
          </a:p>
          <a:p>
            <a:pPr marL="0" indent="0" fontAlgn="base">
              <a:buNone/>
            </a:pPr>
            <a:r>
              <a:rPr lang="en-GB" sz="4300" dirty="0"/>
              <a:t>    &lt;Canvas </a:t>
            </a:r>
            <a:r>
              <a:rPr lang="en-GB" sz="4300" dirty="0" err="1"/>
              <a:t>Grid.Column</a:t>
            </a:r>
            <a:r>
              <a:rPr lang="en-GB" sz="4300" dirty="0"/>
              <a:t>="0" </a:t>
            </a:r>
            <a:r>
              <a:rPr lang="en-GB" sz="4300" dirty="0" err="1"/>
              <a:t>Grid.Row</a:t>
            </a:r>
            <a:r>
              <a:rPr lang="en-GB" sz="4300" dirty="0"/>
              <a:t>="0"&gt;</a:t>
            </a:r>
          </a:p>
          <a:p>
            <a:pPr marL="0" indent="0" fontAlgn="base">
              <a:buNone/>
            </a:pPr>
            <a:r>
              <a:rPr lang="en-GB" sz="4300" dirty="0"/>
              <a:t>        &lt;</a:t>
            </a:r>
            <a:r>
              <a:rPr lang="en-GB" sz="4300" dirty="0" err="1"/>
              <a:t>TextBlock</a:t>
            </a:r>
            <a:r>
              <a:rPr lang="en-GB" sz="4300" dirty="0"/>
              <a:t>&gt;</a:t>
            </a:r>
            <a:r>
              <a:rPr lang="ru-RU" sz="4300" dirty="0"/>
              <a:t>Левая панель&lt;/</a:t>
            </a:r>
            <a:r>
              <a:rPr lang="en-GB" sz="4300" dirty="0" err="1"/>
              <a:t>TextBlock</a:t>
            </a:r>
            <a:r>
              <a:rPr lang="en-GB" sz="4300" dirty="0"/>
              <a:t>&gt;</a:t>
            </a:r>
          </a:p>
          <a:p>
            <a:pPr marL="0" indent="0" fontAlgn="base">
              <a:buNone/>
            </a:pPr>
            <a:r>
              <a:rPr lang="en-GB" sz="4300" dirty="0"/>
              <a:t>    &lt;/Canvas&gt;</a:t>
            </a:r>
          </a:p>
          <a:p>
            <a:pPr marL="0" indent="0" fontAlgn="base">
              <a:buNone/>
            </a:pPr>
            <a:r>
              <a:rPr lang="en-GB" sz="4300" dirty="0"/>
              <a:t>    &lt;Canvas </a:t>
            </a:r>
            <a:r>
              <a:rPr lang="en-GB" sz="4300" dirty="0" err="1"/>
              <a:t>Grid.Column</a:t>
            </a:r>
            <a:r>
              <a:rPr lang="en-GB" sz="4300" dirty="0"/>
              <a:t>="2" </a:t>
            </a:r>
            <a:r>
              <a:rPr lang="en-GB" sz="4300" dirty="0" err="1"/>
              <a:t>Grid.Row</a:t>
            </a:r>
            <a:r>
              <a:rPr lang="en-GB" sz="4300" dirty="0"/>
              <a:t>="0" Background="</a:t>
            </a:r>
            <a:r>
              <a:rPr lang="en-GB" sz="4300" dirty="0" err="1"/>
              <a:t>LightGreen</a:t>
            </a:r>
            <a:r>
              <a:rPr lang="en-GB" sz="4300" dirty="0"/>
              <a:t>"&gt;</a:t>
            </a:r>
          </a:p>
          <a:p>
            <a:pPr marL="0" indent="0" fontAlgn="base">
              <a:buNone/>
            </a:pPr>
            <a:r>
              <a:rPr lang="en-GB" sz="4300" dirty="0"/>
              <a:t>        &lt;</a:t>
            </a:r>
            <a:r>
              <a:rPr lang="en-GB" sz="4300" dirty="0" err="1"/>
              <a:t>TextBlock</a:t>
            </a:r>
            <a:r>
              <a:rPr lang="en-GB" sz="4300" dirty="0"/>
              <a:t>&gt;</a:t>
            </a:r>
            <a:r>
              <a:rPr lang="ru-RU" sz="4300" dirty="0"/>
              <a:t>Правая панель&lt;/</a:t>
            </a:r>
            <a:r>
              <a:rPr lang="en-GB" sz="4300" dirty="0" err="1"/>
              <a:t>TextBlock</a:t>
            </a:r>
            <a:r>
              <a:rPr lang="en-GB" sz="4300" dirty="0"/>
              <a:t>&gt;</a:t>
            </a:r>
          </a:p>
          <a:p>
            <a:pPr marL="0" indent="0" fontAlgn="base">
              <a:buNone/>
            </a:pPr>
            <a:r>
              <a:rPr lang="en-GB" sz="4300" dirty="0"/>
              <a:t>    &lt;/Canvas&gt;</a:t>
            </a:r>
          </a:p>
          <a:p>
            <a:pPr marL="0" indent="0" fontAlgn="base">
              <a:buNone/>
            </a:pPr>
            <a:r>
              <a:rPr lang="en-GB" sz="4300" dirty="0"/>
              <a:t>    &lt;Canvas </a:t>
            </a:r>
            <a:r>
              <a:rPr lang="en-GB" sz="4300" dirty="0" err="1"/>
              <a:t>Grid.ColumnSpan</a:t>
            </a:r>
            <a:r>
              <a:rPr lang="en-GB" sz="4300" dirty="0"/>
              <a:t>="3" </a:t>
            </a:r>
            <a:r>
              <a:rPr lang="en-GB" sz="4300" dirty="0" err="1"/>
              <a:t>Grid.Row</a:t>
            </a:r>
            <a:r>
              <a:rPr lang="en-GB" sz="4300" dirty="0"/>
              <a:t>="2" Background="#</a:t>
            </a:r>
            <a:r>
              <a:rPr lang="en-GB" sz="4300" dirty="0" err="1"/>
              <a:t>dfffff</a:t>
            </a:r>
            <a:r>
              <a:rPr lang="en-GB" sz="4300" dirty="0"/>
              <a:t>"&gt;</a:t>
            </a:r>
          </a:p>
          <a:p>
            <a:pPr marL="0" indent="0" fontAlgn="base">
              <a:buNone/>
            </a:pPr>
            <a:r>
              <a:rPr lang="en-GB" sz="4300" dirty="0"/>
              <a:t>        &lt;</a:t>
            </a:r>
            <a:r>
              <a:rPr lang="en-GB" sz="4300" dirty="0" err="1"/>
              <a:t>TextBlock</a:t>
            </a:r>
            <a:r>
              <a:rPr lang="en-GB" sz="4300" dirty="0"/>
              <a:t> </a:t>
            </a:r>
            <a:r>
              <a:rPr lang="en-GB" sz="4300" dirty="0" err="1"/>
              <a:t>Canvas.Left</a:t>
            </a:r>
            <a:r>
              <a:rPr lang="en-GB" sz="4300" dirty="0"/>
              <a:t>="60"&gt;</a:t>
            </a:r>
            <a:r>
              <a:rPr lang="ru-RU" sz="4300" dirty="0"/>
              <a:t>Нижняя панель&lt;/</a:t>
            </a:r>
            <a:r>
              <a:rPr lang="en-GB" sz="4300" dirty="0" err="1"/>
              <a:t>TextBlock</a:t>
            </a:r>
            <a:r>
              <a:rPr lang="en-GB" sz="4300" dirty="0"/>
              <a:t>&gt;</a:t>
            </a:r>
          </a:p>
          <a:p>
            <a:pPr marL="0" indent="0" fontAlgn="base">
              <a:buNone/>
            </a:pPr>
            <a:r>
              <a:rPr lang="en-GB" sz="4300" dirty="0"/>
              <a:t>    &lt;/Canvas&gt;</a:t>
            </a:r>
          </a:p>
          <a:p>
            <a:pPr marL="0" indent="0" fontAlgn="base">
              <a:buNone/>
            </a:pPr>
            <a:r>
              <a:rPr lang="en-GB" sz="4300" dirty="0"/>
              <a:t>&lt;/Grid&gt;</a:t>
            </a:r>
          </a:p>
          <a:p>
            <a:endParaRPr lang="ru-RU" dirty="0"/>
          </a:p>
        </p:txBody>
      </p:sp>
      <p:pic>
        <p:nvPicPr>
          <p:cNvPr id="2457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48064" y="260648"/>
            <a:ext cx="4028651" cy="28944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5054421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4082"/>
          </a:xfrm>
        </p:spPr>
        <p:txBody>
          <a:bodyPr>
            <a:normAutofit fontScale="90000"/>
          </a:bodyPr>
          <a:lstStyle/>
          <a:p>
            <a:r>
              <a:rPr lang="en-GB" b="1" i="0" dirty="0" err="1" smtClean="0">
                <a:solidFill>
                  <a:srgbClr val="000000"/>
                </a:solidFill>
                <a:effectLst/>
                <a:latin typeface="verdana"/>
              </a:rPr>
              <a:t>StackPanel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908720"/>
            <a:ext cx="8229600" cy="5217443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ru-RU" sz="2000" b="0" i="0" dirty="0" smtClean="0">
                <a:solidFill>
                  <a:srgbClr val="000000"/>
                </a:solidFill>
                <a:effectLst/>
                <a:latin typeface="verdana"/>
              </a:rPr>
              <a:t>располагает все элементы в ряд либо по горизонтали, либо по вертикали в зависимости от ориентации</a:t>
            </a:r>
          </a:p>
          <a:p>
            <a:pPr marL="0" indent="0" fontAlgn="base">
              <a:buNone/>
            </a:pPr>
            <a:r>
              <a:rPr lang="en-US" sz="2000" dirty="0"/>
              <a:t> </a:t>
            </a:r>
            <a:r>
              <a:rPr lang="en-US" sz="2000" b="1" dirty="0">
                <a:solidFill>
                  <a:srgbClr val="7030A0"/>
                </a:solidFill>
              </a:rPr>
              <a:t>   &lt;Grid&gt;</a:t>
            </a:r>
          </a:p>
          <a:p>
            <a:pPr marL="0" indent="0" fontAlgn="base">
              <a:buNone/>
            </a:pPr>
            <a:r>
              <a:rPr lang="en-US" sz="2000" b="1" dirty="0">
                <a:solidFill>
                  <a:srgbClr val="7030A0"/>
                </a:solidFill>
              </a:rPr>
              <a:t>        &lt;</a:t>
            </a:r>
            <a:r>
              <a:rPr lang="en-US" sz="2000" b="1" dirty="0" err="1">
                <a:solidFill>
                  <a:srgbClr val="7030A0"/>
                </a:solidFill>
              </a:rPr>
              <a:t>StackPanel</a:t>
            </a:r>
            <a:r>
              <a:rPr lang="en-US" sz="2000" b="1" dirty="0">
                <a:solidFill>
                  <a:srgbClr val="7030A0"/>
                </a:solidFill>
              </a:rPr>
              <a:t>&gt;</a:t>
            </a:r>
          </a:p>
          <a:p>
            <a:pPr marL="0" indent="0" fontAlgn="base">
              <a:buNone/>
            </a:pPr>
            <a:r>
              <a:rPr lang="en-US" sz="2000" b="1" dirty="0">
                <a:solidFill>
                  <a:srgbClr val="7030A0"/>
                </a:solidFill>
              </a:rPr>
              <a:t>            &lt;Button Background="Blue" Content="1" /&gt;</a:t>
            </a:r>
          </a:p>
          <a:p>
            <a:pPr marL="0" indent="0" fontAlgn="base">
              <a:buNone/>
            </a:pPr>
            <a:r>
              <a:rPr lang="en-US" sz="2000" b="1" dirty="0">
                <a:solidFill>
                  <a:srgbClr val="7030A0"/>
                </a:solidFill>
              </a:rPr>
              <a:t>            &lt;Button Background="White" Content="2" /&gt;</a:t>
            </a:r>
          </a:p>
          <a:p>
            <a:pPr marL="0" indent="0" fontAlgn="base">
              <a:buNone/>
            </a:pPr>
            <a:r>
              <a:rPr lang="en-US" sz="2000" b="1" dirty="0">
                <a:solidFill>
                  <a:srgbClr val="7030A0"/>
                </a:solidFill>
              </a:rPr>
              <a:t>            &lt;Button Background="Red" Content="3" /&gt;</a:t>
            </a:r>
          </a:p>
          <a:p>
            <a:pPr marL="0" indent="0" fontAlgn="base">
              <a:buNone/>
            </a:pPr>
            <a:r>
              <a:rPr lang="en-US" sz="2000" b="1" dirty="0">
                <a:solidFill>
                  <a:srgbClr val="7030A0"/>
                </a:solidFill>
              </a:rPr>
              <a:t>        &lt;/</a:t>
            </a:r>
            <a:r>
              <a:rPr lang="en-US" sz="2000" b="1" dirty="0" err="1">
                <a:solidFill>
                  <a:srgbClr val="7030A0"/>
                </a:solidFill>
              </a:rPr>
              <a:t>StackPanel</a:t>
            </a:r>
            <a:r>
              <a:rPr lang="en-US" sz="2000" b="1" dirty="0">
                <a:solidFill>
                  <a:srgbClr val="7030A0"/>
                </a:solidFill>
              </a:rPr>
              <a:t>&gt;</a:t>
            </a:r>
          </a:p>
          <a:p>
            <a:pPr marL="0" indent="0" fontAlgn="base">
              <a:buNone/>
            </a:pPr>
            <a:r>
              <a:rPr lang="en-US" sz="2000" b="1" dirty="0">
                <a:solidFill>
                  <a:srgbClr val="7030A0"/>
                </a:solidFill>
              </a:rPr>
              <a:t>    &lt;/Grid&gt;</a:t>
            </a:r>
          </a:p>
          <a:p>
            <a:pPr>
              <a:spcAft>
                <a:spcPts val="600"/>
              </a:spcAft>
            </a:pPr>
            <a:endParaRPr lang="ru-RU" sz="2000" dirty="0"/>
          </a:p>
        </p:txBody>
      </p:sp>
      <p:pic>
        <p:nvPicPr>
          <p:cNvPr id="2560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95528" y="3645024"/>
            <a:ext cx="4210050" cy="302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Прямоугольник 3"/>
          <p:cNvSpPr/>
          <p:nvPr/>
        </p:nvSpPr>
        <p:spPr>
          <a:xfrm>
            <a:off x="323528" y="4581128"/>
            <a:ext cx="4572000" cy="1477328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spcAft>
                <a:spcPts val="600"/>
              </a:spcAft>
            </a:pPr>
            <a:r>
              <a:rPr lang="ru-RU" dirty="0"/>
              <a:t>В данном случае для свойства </a:t>
            </a:r>
            <a:r>
              <a:rPr lang="ru-RU" dirty="0" err="1"/>
              <a:t>Orientation</a:t>
            </a:r>
            <a:r>
              <a:rPr lang="ru-RU" dirty="0"/>
              <a:t> по умолчанию используется значение </a:t>
            </a:r>
            <a:r>
              <a:rPr lang="ru-RU" dirty="0" err="1"/>
              <a:t>Vertical</a:t>
            </a:r>
            <a:r>
              <a:rPr lang="ru-RU" dirty="0"/>
              <a:t>, то есть </a:t>
            </a:r>
            <a:r>
              <a:rPr lang="ru-RU" dirty="0" err="1"/>
              <a:t>StackPanel</a:t>
            </a:r>
            <a:r>
              <a:rPr lang="ru-RU" dirty="0"/>
              <a:t> создает вертикальный ряд, в который помещает все вложенные элементы сверху </a:t>
            </a:r>
            <a:r>
              <a:rPr lang="ru-RU" dirty="0" smtClean="0"/>
              <a:t>вниз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769440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4082"/>
          </a:xfrm>
        </p:spPr>
        <p:txBody>
          <a:bodyPr>
            <a:normAutofit/>
          </a:bodyPr>
          <a:lstStyle/>
          <a:p>
            <a:r>
              <a:rPr lang="ru-RU" sz="1600" b="1" i="0" dirty="0" smtClean="0">
                <a:solidFill>
                  <a:srgbClr val="000000"/>
                </a:solidFill>
                <a:effectLst/>
                <a:latin typeface="verdana"/>
              </a:rPr>
              <a:t>горизонтальный стек</a:t>
            </a:r>
            <a:br>
              <a:rPr lang="ru-RU" sz="1600" b="1" i="0" dirty="0" smtClean="0">
                <a:solidFill>
                  <a:srgbClr val="000000"/>
                </a:solidFill>
                <a:effectLst/>
                <a:latin typeface="verdana"/>
              </a:rPr>
            </a:br>
            <a:r>
              <a:rPr lang="ru-RU" sz="1600" b="1" i="0" dirty="0" smtClean="0">
                <a:solidFill>
                  <a:srgbClr val="000000"/>
                </a:solidFill>
                <a:effectLst/>
                <a:latin typeface="verdana"/>
              </a:rPr>
              <a:t>свойство </a:t>
            </a:r>
            <a:r>
              <a:rPr lang="ru-RU" sz="1600" b="1" dirty="0" err="1" smtClean="0"/>
              <a:t>Orientation</a:t>
            </a:r>
            <a:r>
              <a:rPr lang="ru-RU" sz="1600" b="1" dirty="0" smtClean="0"/>
              <a:t>="</a:t>
            </a:r>
            <a:r>
              <a:rPr lang="ru-RU" sz="1600" b="1" dirty="0" err="1" smtClean="0"/>
              <a:t>Horizontal</a:t>
            </a:r>
            <a:r>
              <a:rPr lang="ru-RU" sz="1600" b="1" dirty="0" smtClean="0"/>
              <a:t>"</a:t>
            </a:r>
            <a:r>
              <a:rPr lang="ru-RU" sz="1600" b="1" i="0" dirty="0" smtClean="0">
                <a:solidFill>
                  <a:srgbClr val="000000"/>
                </a:solidFill>
                <a:effectLst/>
                <a:latin typeface="verdana"/>
              </a:rPr>
              <a:t>:</a:t>
            </a:r>
            <a:endParaRPr lang="ru-RU" sz="1600" b="1" dirty="0"/>
          </a:p>
        </p:txBody>
      </p:sp>
      <p:pic>
        <p:nvPicPr>
          <p:cNvPr id="266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9712" y="836712"/>
            <a:ext cx="7056784" cy="59156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Прямоугольник 2"/>
          <p:cNvSpPr/>
          <p:nvPr/>
        </p:nvSpPr>
        <p:spPr>
          <a:xfrm>
            <a:off x="395536" y="1124744"/>
            <a:ext cx="4010988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lang="ru-RU" altLang="ru-RU" sz="1200" dirty="0">
                <a:solidFill>
                  <a:srgbClr val="000000"/>
                </a:solidFill>
                <a:latin typeface="Verdana" pitchFamily="34" charset="0"/>
                <a:cs typeface="Arial" pitchFamily="34" charset="0"/>
              </a:rPr>
              <a:t>При горизонтальной ориентации все вложенные элементы располагаются слева направо. </a:t>
            </a:r>
            <a:endParaRPr lang="ru-RU" altLang="ru-RU" sz="1200" dirty="0" smtClean="0">
              <a:solidFill>
                <a:srgbClr val="000000"/>
              </a:solidFill>
              <a:latin typeface="Verdana" pitchFamily="34" charset="0"/>
              <a:cs typeface="Arial" pitchFamily="34" charset="0"/>
            </a:endParaRP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lang="ru-RU" altLang="ru-RU" sz="1200" dirty="0" smtClean="0">
                <a:solidFill>
                  <a:srgbClr val="000000"/>
                </a:solidFill>
                <a:latin typeface="Verdana" pitchFamily="34" charset="0"/>
                <a:cs typeface="Arial" pitchFamily="34" charset="0"/>
              </a:rPr>
              <a:t>чтобы </a:t>
            </a:r>
            <a:r>
              <a:rPr lang="ru-RU" altLang="ru-RU" sz="1200" dirty="0">
                <a:solidFill>
                  <a:srgbClr val="000000"/>
                </a:solidFill>
                <a:latin typeface="Verdana" pitchFamily="34" charset="0"/>
                <a:cs typeface="Arial" pitchFamily="34" charset="0"/>
              </a:rPr>
              <a:t>наполнение стека начиналось справа налево, то </a:t>
            </a:r>
            <a:r>
              <a:rPr lang="ru-RU" altLang="ru-RU" sz="1200" dirty="0" smtClean="0">
                <a:solidFill>
                  <a:srgbClr val="000000"/>
                </a:solidFill>
                <a:latin typeface="Verdana" pitchFamily="34" charset="0"/>
                <a:cs typeface="Arial" pitchFamily="34" charset="0"/>
              </a:rPr>
              <a:t>надо </a:t>
            </a:r>
            <a:r>
              <a:rPr lang="ru-RU" altLang="ru-RU" sz="1200" dirty="0">
                <a:solidFill>
                  <a:srgbClr val="000000"/>
                </a:solidFill>
                <a:latin typeface="Verdana" pitchFamily="34" charset="0"/>
                <a:cs typeface="Arial" pitchFamily="34" charset="0"/>
              </a:rPr>
              <a:t>задать свойство </a:t>
            </a:r>
            <a:endParaRPr lang="ru-RU" altLang="ru-RU" sz="1200" dirty="0" smtClean="0">
              <a:solidFill>
                <a:srgbClr val="000000"/>
              </a:solidFill>
              <a:latin typeface="Verdana" pitchFamily="34" charset="0"/>
              <a:cs typeface="Arial" pitchFamily="34" charset="0"/>
            </a:endParaRP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lang="ru-RU" altLang="ru-RU" sz="1200" dirty="0" err="1" smtClean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FlowDirection</a:t>
            </a:r>
            <a:r>
              <a:rPr lang="ru-RU" altLang="ru-RU" sz="1200" dirty="0">
                <a:solidFill>
                  <a:srgbClr val="000000"/>
                </a:solidFill>
                <a:latin typeface="Verdana" pitchFamily="34" charset="0"/>
                <a:cs typeface="Arial" pitchFamily="34" charset="0"/>
              </a:rPr>
              <a:t>: </a:t>
            </a:r>
            <a:r>
              <a:rPr lang="ru-RU" altLang="ru-RU" sz="1200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&lt;</a:t>
            </a:r>
            <a:r>
              <a:rPr lang="ru-RU" altLang="ru-RU" sz="1200" dirty="0" err="1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StackPanel</a:t>
            </a:r>
            <a:r>
              <a:rPr lang="ru-RU" altLang="ru-RU" sz="1200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ru-RU" altLang="ru-RU" sz="1200" dirty="0" err="1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Orientation</a:t>
            </a:r>
            <a:r>
              <a:rPr lang="ru-RU" altLang="ru-RU" sz="1200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="</a:t>
            </a:r>
            <a:r>
              <a:rPr lang="ru-RU" altLang="ru-RU" sz="1200" dirty="0" err="1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Horizontal</a:t>
            </a:r>
            <a:r>
              <a:rPr lang="ru-RU" altLang="ru-RU" sz="1200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" </a:t>
            </a:r>
            <a:r>
              <a:rPr lang="ru-RU" altLang="ru-RU" sz="1200" dirty="0" err="1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FlowDirection</a:t>
            </a:r>
            <a:r>
              <a:rPr lang="ru-RU" altLang="ru-RU" sz="1200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="</a:t>
            </a:r>
            <a:r>
              <a:rPr lang="ru-RU" altLang="ru-RU" sz="1200" dirty="0" err="1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RightToLeft</a:t>
            </a:r>
            <a:r>
              <a:rPr lang="ru-RU" altLang="ru-RU" sz="1200" dirty="0" smtClean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"&gt;</a:t>
            </a:r>
            <a:endParaRPr lang="ru-RU" altLang="ru-RU" sz="1200" dirty="0" smtClean="0">
              <a:solidFill>
                <a:srgbClr val="000000"/>
              </a:solidFill>
              <a:latin typeface="Verdana" pitchFamily="34" charset="0"/>
              <a:cs typeface="Arial" pitchFamily="34" charset="0"/>
            </a:endParaRP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lang="ru-RU" altLang="ru-RU" sz="1200" dirty="0" smtClean="0">
                <a:solidFill>
                  <a:srgbClr val="000000"/>
                </a:solidFill>
                <a:latin typeface="Verdana" pitchFamily="34" charset="0"/>
                <a:cs typeface="Arial" pitchFamily="34" charset="0"/>
              </a:rPr>
              <a:t>По </a:t>
            </a:r>
            <a:r>
              <a:rPr lang="ru-RU" altLang="ru-RU" sz="1200" dirty="0">
                <a:solidFill>
                  <a:srgbClr val="000000"/>
                </a:solidFill>
                <a:latin typeface="Verdana" pitchFamily="34" charset="0"/>
                <a:cs typeface="Arial" pitchFamily="34" charset="0"/>
              </a:rPr>
              <a:t>умолчанию это свойство имеет значение </a:t>
            </a:r>
            <a:r>
              <a:rPr lang="ru-RU" altLang="ru-RU" sz="1200" dirty="0" err="1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LeftToRight</a:t>
            </a:r>
            <a:r>
              <a:rPr lang="ru-RU" altLang="ru-RU" sz="1200" dirty="0">
                <a:solidFill>
                  <a:srgbClr val="000000"/>
                </a:solidFill>
                <a:latin typeface="Verdana" pitchFamily="34" charset="0"/>
                <a:cs typeface="Arial" pitchFamily="34" charset="0"/>
              </a:rPr>
              <a:t> - то есть слева </a:t>
            </a:r>
            <a:r>
              <a:rPr lang="ru-RU" altLang="ru-RU" sz="1200" dirty="0" smtClean="0">
                <a:solidFill>
                  <a:srgbClr val="000000"/>
                </a:solidFill>
                <a:latin typeface="Verdana" pitchFamily="34" charset="0"/>
                <a:cs typeface="Arial" pitchFamily="34" charset="0"/>
              </a:rPr>
              <a:t>направо</a:t>
            </a:r>
            <a:endParaRPr lang="ru-RU" altLang="ru-RU" sz="1200"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542370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06090"/>
          </a:xfrm>
        </p:spPr>
        <p:txBody>
          <a:bodyPr>
            <a:normAutofit fontScale="90000"/>
          </a:bodyPr>
          <a:lstStyle/>
          <a:p>
            <a:r>
              <a:rPr lang="en-GB" b="1" i="0" dirty="0" err="1" smtClean="0">
                <a:solidFill>
                  <a:srgbClr val="000000"/>
                </a:solidFill>
                <a:effectLst/>
                <a:latin typeface="verdana"/>
              </a:rPr>
              <a:t>DockPanel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836712"/>
            <a:ext cx="8229600" cy="5289451"/>
          </a:xfrm>
        </p:spPr>
        <p:txBody>
          <a:bodyPr/>
          <a:lstStyle/>
          <a:p>
            <a:r>
              <a:rPr lang="ru-RU" b="0" i="0" dirty="0" smtClean="0">
                <a:solidFill>
                  <a:srgbClr val="000000"/>
                </a:solidFill>
                <a:effectLst/>
                <a:latin typeface="verdana"/>
              </a:rPr>
              <a:t>контейнер прижимает свое содержимое к определенной стороне внешнего контейнера. </a:t>
            </a:r>
          </a:p>
          <a:p>
            <a:r>
              <a:rPr lang="ru-RU" b="0" i="0" dirty="0" smtClean="0">
                <a:solidFill>
                  <a:srgbClr val="000000"/>
                </a:solidFill>
                <a:effectLst/>
                <a:latin typeface="verdana"/>
              </a:rPr>
              <a:t>Для вложенных элементов надо установить сторону, к которой они будут прижиматься с помощью свойства </a:t>
            </a:r>
            <a:r>
              <a:rPr lang="ru-RU" dirty="0" err="1" smtClean="0"/>
              <a:t>DockPanel.Dock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274518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276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7624" y="1268994"/>
            <a:ext cx="7776222" cy="54919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Прямоугольник 2"/>
          <p:cNvSpPr/>
          <p:nvPr/>
        </p:nvSpPr>
        <p:spPr>
          <a:xfrm>
            <a:off x="107504" y="74235"/>
            <a:ext cx="4572000" cy="2677656"/>
          </a:xfrm>
          <a:prstGeom prst="rect">
            <a:avLst/>
          </a:prstGeom>
        </p:spPr>
        <p:txBody>
          <a:bodyPr>
            <a:spAutoFit/>
          </a:bodyPr>
          <a:lstStyle/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lang="ru-RU" altLang="ru-RU" sz="1400" dirty="0" smtClean="0">
                <a:solidFill>
                  <a:srgbClr val="000000"/>
                </a:solidFill>
                <a:latin typeface="Verdana" pitchFamily="34" charset="0"/>
                <a:cs typeface="Arial" pitchFamily="34" charset="0"/>
              </a:rPr>
              <a:t>у </a:t>
            </a:r>
            <a:r>
              <a:rPr lang="ru-RU" altLang="ru-RU" sz="1400" dirty="0">
                <a:solidFill>
                  <a:srgbClr val="000000"/>
                </a:solidFill>
                <a:latin typeface="Verdana" pitchFamily="34" charset="0"/>
                <a:cs typeface="Arial" pitchFamily="34" charset="0"/>
              </a:rPr>
              <a:t>последней кнопки </a:t>
            </a:r>
            <a:r>
              <a:rPr lang="ru-RU" altLang="ru-RU" sz="1400" dirty="0" smtClean="0">
                <a:solidFill>
                  <a:srgbClr val="000000"/>
                </a:solidFill>
                <a:latin typeface="Verdana" pitchFamily="34" charset="0"/>
                <a:cs typeface="Arial" pitchFamily="34" charset="0"/>
              </a:rPr>
              <a:t>можно </a:t>
            </a:r>
            <a:r>
              <a:rPr lang="ru-RU" altLang="ru-RU" sz="1400" dirty="0">
                <a:solidFill>
                  <a:srgbClr val="000000"/>
                </a:solidFill>
                <a:latin typeface="Verdana" pitchFamily="34" charset="0"/>
                <a:cs typeface="Arial" pitchFamily="34" charset="0"/>
              </a:rPr>
              <a:t>не устанавливать свойство </a:t>
            </a:r>
            <a:r>
              <a:rPr lang="ru-RU" altLang="ru-RU" sz="1400" dirty="0" err="1" smtClean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DockPanel.Dock</a:t>
            </a:r>
            <a:r>
              <a:rPr lang="ru-RU" altLang="ru-RU" sz="1400" dirty="0" smtClean="0">
                <a:solidFill>
                  <a:srgbClr val="000000"/>
                </a:solidFill>
                <a:latin typeface="Verdana" pitchFamily="34" charset="0"/>
                <a:cs typeface="Arial" pitchFamily="34" charset="0"/>
              </a:rPr>
              <a:t>, она уже </a:t>
            </a:r>
            <a:r>
              <a:rPr lang="ru-RU" altLang="ru-RU" sz="1400" dirty="0">
                <a:solidFill>
                  <a:srgbClr val="000000"/>
                </a:solidFill>
                <a:latin typeface="Verdana" pitchFamily="34" charset="0"/>
                <a:cs typeface="Arial" pitchFamily="34" charset="0"/>
              </a:rPr>
              <a:t>заполняет все оставшееся пространство. </a:t>
            </a:r>
            <a:endParaRPr lang="ru-RU" altLang="ru-RU" sz="1400" dirty="0" smtClean="0">
              <a:solidFill>
                <a:srgbClr val="000000"/>
              </a:solidFill>
              <a:latin typeface="Verdana" pitchFamily="34" charset="0"/>
              <a:cs typeface="Arial" pitchFamily="34" charset="0"/>
            </a:endParaRP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lang="ru-RU" altLang="ru-RU" sz="1400" dirty="0" smtClean="0">
                <a:solidFill>
                  <a:srgbClr val="000000"/>
                </a:solidFill>
                <a:latin typeface="Verdana" pitchFamily="34" charset="0"/>
                <a:cs typeface="Arial" pitchFamily="34" charset="0"/>
              </a:rPr>
              <a:t>Такой </a:t>
            </a:r>
            <a:r>
              <a:rPr lang="ru-RU" altLang="ru-RU" sz="1400" dirty="0">
                <a:solidFill>
                  <a:srgbClr val="000000"/>
                </a:solidFill>
                <a:latin typeface="Verdana" pitchFamily="34" charset="0"/>
                <a:cs typeface="Arial" pitchFamily="34" charset="0"/>
              </a:rPr>
              <a:t>эффект получается благодаря установке у </a:t>
            </a:r>
            <a:r>
              <a:rPr lang="ru-RU" altLang="ru-RU" sz="1400" dirty="0" err="1">
                <a:solidFill>
                  <a:srgbClr val="000000"/>
                </a:solidFill>
                <a:latin typeface="Verdana" pitchFamily="34" charset="0"/>
                <a:cs typeface="Arial" pitchFamily="34" charset="0"/>
              </a:rPr>
              <a:t>DockPanel</a:t>
            </a:r>
            <a:r>
              <a:rPr lang="ru-RU" altLang="ru-RU" sz="1400" dirty="0">
                <a:solidFill>
                  <a:srgbClr val="000000"/>
                </a:solidFill>
                <a:latin typeface="Verdana" pitchFamily="34" charset="0"/>
                <a:cs typeface="Arial" pitchFamily="34" charset="0"/>
              </a:rPr>
              <a:t> свойства </a:t>
            </a:r>
            <a:r>
              <a:rPr lang="ru-RU" altLang="ru-RU" sz="1400" dirty="0" err="1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LastChildFill</a:t>
            </a:r>
            <a:r>
              <a:rPr lang="ru-RU" altLang="ru-RU" sz="1400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="</a:t>
            </a:r>
            <a:r>
              <a:rPr lang="ru-RU" altLang="ru-RU" sz="1400" dirty="0" err="1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True</a:t>
            </a:r>
            <a:r>
              <a:rPr lang="ru-RU" altLang="ru-RU" sz="1400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"</a:t>
            </a:r>
            <a:r>
              <a:rPr lang="ru-RU" altLang="ru-RU" sz="1400" dirty="0">
                <a:solidFill>
                  <a:srgbClr val="000000"/>
                </a:solidFill>
                <a:latin typeface="Verdana" pitchFamily="34" charset="0"/>
                <a:cs typeface="Arial" pitchFamily="34" charset="0"/>
              </a:rPr>
              <a:t>, которое означает, что последний элемент заполняет все оставшееся место. </a:t>
            </a:r>
            <a:endParaRPr lang="ru-RU" altLang="ru-RU" sz="1400" dirty="0" smtClean="0">
              <a:solidFill>
                <a:srgbClr val="000000"/>
              </a:solidFill>
              <a:latin typeface="Verdana" pitchFamily="34" charset="0"/>
              <a:cs typeface="Arial" pitchFamily="34" charset="0"/>
            </a:endParaRP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lang="ru-RU" altLang="ru-RU" sz="1400" dirty="0" smtClean="0">
                <a:solidFill>
                  <a:srgbClr val="000000"/>
                </a:solidFill>
                <a:latin typeface="Verdana" pitchFamily="34" charset="0"/>
                <a:cs typeface="Arial" pitchFamily="34" charset="0"/>
              </a:rPr>
              <a:t>Если </a:t>
            </a:r>
            <a:r>
              <a:rPr lang="ru-RU" altLang="ru-RU" sz="1400" dirty="0">
                <a:solidFill>
                  <a:srgbClr val="000000"/>
                </a:solidFill>
                <a:latin typeface="Verdana" pitchFamily="34" charset="0"/>
                <a:cs typeface="Arial" pitchFamily="34" charset="0"/>
              </a:rPr>
              <a:t>у этого свойства поменять </a:t>
            </a:r>
            <a:r>
              <a:rPr lang="ru-RU" altLang="ru-RU" sz="1400" dirty="0" err="1">
                <a:solidFill>
                  <a:srgbClr val="000000"/>
                </a:solidFill>
                <a:latin typeface="Verdana" pitchFamily="34" charset="0"/>
                <a:cs typeface="Arial" pitchFamily="34" charset="0"/>
              </a:rPr>
              <a:t>True</a:t>
            </a:r>
            <a:r>
              <a:rPr lang="ru-RU" altLang="ru-RU" sz="1400" dirty="0">
                <a:solidFill>
                  <a:srgbClr val="000000"/>
                </a:solidFill>
                <a:latin typeface="Verdana" pitchFamily="34" charset="0"/>
                <a:cs typeface="Arial" pitchFamily="34" charset="0"/>
              </a:rPr>
              <a:t> на </a:t>
            </a:r>
            <a:r>
              <a:rPr lang="ru-RU" altLang="ru-RU" sz="1400" dirty="0" err="1">
                <a:solidFill>
                  <a:srgbClr val="000000"/>
                </a:solidFill>
                <a:latin typeface="Verdana" pitchFamily="34" charset="0"/>
                <a:cs typeface="Arial" pitchFamily="34" charset="0"/>
              </a:rPr>
              <a:t>False</a:t>
            </a:r>
            <a:r>
              <a:rPr lang="ru-RU" altLang="ru-RU" sz="1400" dirty="0">
                <a:solidFill>
                  <a:srgbClr val="000000"/>
                </a:solidFill>
                <a:latin typeface="Verdana" pitchFamily="34" charset="0"/>
                <a:cs typeface="Arial" pitchFamily="34" charset="0"/>
              </a:rPr>
              <a:t>, то кнопка прижмется к левой стороне, заполнив только о место, которое ей необходимо.</a:t>
            </a:r>
            <a:r>
              <a:rPr lang="ru-RU" altLang="ru-RU" sz="1400" dirty="0">
                <a:latin typeface="Arial" pitchFamily="34" charset="0"/>
                <a:cs typeface="Arial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1713350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 dirty="0"/>
          </a:p>
        </p:txBody>
      </p:sp>
      <p:pic>
        <p:nvPicPr>
          <p:cNvPr id="2867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4828" y="188640"/>
            <a:ext cx="7859173" cy="58326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Прямоугольник 4"/>
          <p:cNvSpPr/>
          <p:nvPr/>
        </p:nvSpPr>
        <p:spPr>
          <a:xfrm>
            <a:off x="4427984" y="6199626"/>
            <a:ext cx="4572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dirty="0"/>
              <a:t>В этом случае нижняя кнопка уже будет заполнять меньшее </a:t>
            </a:r>
            <a:r>
              <a:rPr lang="ru-RU" dirty="0" smtClean="0"/>
              <a:t>место</a:t>
            </a:r>
            <a:endParaRPr lang="ru-RU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179512" y="188640"/>
            <a:ext cx="4572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lang="ru-RU" altLang="ru-RU" dirty="0" smtClean="0">
                <a:solidFill>
                  <a:srgbClr val="000000"/>
                </a:solidFill>
                <a:latin typeface="Verdana" pitchFamily="34" charset="0"/>
                <a:cs typeface="Arial" pitchFamily="34" charset="0"/>
              </a:rPr>
              <a:t>изменили </a:t>
            </a:r>
            <a:r>
              <a:rPr lang="ru-RU" altLang="ru-RU" dirty="0">
                <a:solidFill>
                  <a:srgbClr val="000000"/>
                </a:solidFill>
                <a:latin typeface="Verdana" pitchFamily="34" charset="0"/>
                <a:cs typeface="Arial" pitchFamily="34" charset="0"/>
              </a:rPr>
              <a:t>порядок прикрепления к кнопкам свойства </a:t>
            </a:r>
            <a:r>
              <a:rPr lang="ru-RU" altLang="ru-RU" dirty="0" err="1" smtClean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DockPanel.Dock</a:t>
            </a:r>
            <a:r>
              <a:rPr lang="ru-RU" altLang="ru-RU" dirty="0" smtClean="0">
                <a:solidFill>
                  <a:srgbClr val="000000"/>
                </a:solidFill>
                <a:latin typeface="Verdana" pitchFamily="34" charset="0"/>
                <a:cs typeface="Arial" pitchFamily="34" charset="0"/>
              </a:rPr>
              <a:t>:</a:t>
            </a:r>
            <a:r>
              <a:rPr lang="ru-RU" altLang="ru-RU" sz="800" dirty="0" smtClean="0">
                <a:latin typeface="Arial" pitchFamily="34" charset="0"/>
                <a:cs typeface="Arial" pitchFamily="34" charset="0"/>
              </a:rPr>
              <a:t> </a:t>
            </a:r>
            <a:endParaRPr lang="ru-RU" altLang="ru-RU" sz="4400"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558272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69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9672" y="122505"/>
            <a:ext cx="7596336" cy="5545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Прямоугольник 4"/>
          <p:cNvSpPr/>
          <p:nvPr/>
        </p:nvSpPr>
        <p:spPr>
          <a:xfrm>
            <a:off x="16850" y="5589240"/>
            <a:ext cx="9127150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Контейнер </a:t>
            </a:r>
            <a:r>
              <a:rPr lang="ru-RU" dirty="0" err="1"/>
              <a:t>DockPanel</a:t>
            </a:r>
            <a:r>
              <a:rPr lang="ru-RU" dirty="0"/>
              <a:t> </a:t>
            </a:r>
            <a:r>
              <a:rPr lang="ru-RU" dirty="0" smtClean="0"/>
              <a:t>удобно </a:t>
            </a:r>
            <a:r>
              <a:rPr lang="ru-RU" dirty="0"/>
              <a:t>использовать для создания стандартных интерфейсов, где верхнюю и левую часть могут занимать какие-либо меню, нижнюю - строка состояния, правую - какая-то дополнительная информация, а в центре будет находиться основное содержание.</a:t>
            </a:r>
          </a:p>
          <a:p>
            <a:r>
              <a:rPr lang="ru-RU" dirty="0" smtClean="0"/>
              <a:t/>
            </a:r>
            <a:br>
              <a:rPr lang="ru-RU" dirty="0" smtClean="0"/>
            </a:br>
            <a:endParaRPr lang="ru-RU" dirty="0"/>
          </a:p>
        </p:txBody>
      </p:sp>
      <p:sp>
        <p:nvSpPr>
          <p:cNvPr id="6" name="Прямоугольник 5"/>
          <p:cNvSpPr/>
          <p:nvPr/>
        </p:nvSpPr>
        <p:spPr>
          <a:xfrm>
            <a:off x="179512" y="156252"/>
            <a:ext cx="4572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dirty="0" smtClean="0"/>
              <a:t>можем </a:t>
            </a:r>
            <a:r>
              <a:rPr lang="ru-RU" dirty="0"/>
              <a:t>прижать к одной стороне сразу несколько элементов. В этом случае они просто будут располагаться по порядку:</a:t>
            </a:r>
          </a:p>
        </p:txBody>
      </p:sp>
    </p:spTree>
    <p:extLst>
      <p:ext uri="{BB962C8B-B14F-4D97-AF65-F5344CB8AC3E}">
        <p14:creationId xmlns:p14="http://schemas.microsoft.com/office/powerpoint/2010/main" val="3523716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b="1" dirty="0" err="1" smtClean="0"/>
              <a:t>WrapPanel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/>
          </a:p>
        </p:txBody>
      </p:sp>
      <p:pic>
        <p:nvPicPr>
          <p:cNvPr id="307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54891" y="0"/>
            <a:ext cx="6583913" cy="58052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Прямоугольник 5"/>
          <p:cNvSpPr/>
          <p:nvPr/>
        </p:nvSpPr>
        <p:spPr>
          <a:xfrm>
            <a:off x="0" y="5733256"/>
            <a:ext cx="9036496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600" dirty="0"/>
              <a:t>Эта панель, подобно </a:t>
            </a:r>
            <a:r>
              <a:rPr lang="ru-RU" sz="1600" dirty="0" err="1"/>
              <a:t>StackPanel</a:t>
            </a:r>
            <a:r>
              <a:rPr lang="ru-RU" sz="1600" dirty="0"/>
              <a:t>, располагает все элементы в одной строке или колонке в зависимости от того, какое значение имеет свойство </a:t>
            </a:r>
            <a:r>
              <a:rPr lang="ru-RU" sz="1600" dirty="0" err="1"/>
              <a:t>Orientation</a:t>
            </a:r>
            <a:r>
              <a:rPr lang="ru-RU" sz="1600" dirty="0"/>
              <a:t> - </a:t>
            </a:r>
            <a:r>
              <a:rPr lang="ru-RU" sz="1600" dirty="0" err="1"/>
              <a:t>Horizontal</a:t>
            </a:r>
            <a:r>
              <a:rPr lang="ru-RU" sz="1600" dirty="0"/>
              <a:t> или </a:t>
            </a:r>
            <a:r>
              <a:rPr lang="ru-RU" sz="1600" dirty="0" err="1"/>
              <a:t>Vertical</a:t>
            </a:r>
            <a:r>
              <a:rPr lang="ru-RU" sz="1600" dirty="0"/>
              <a:t>. </a:t>
            </a:r>
            <a:endParaRPr lang="ru-RU" sz="1600" dirty="0" smtClean="0"/>
          </a:p>
          <a:p>
            <a:r>
              <a:rPr lang="ru-RU" sz="1600" dirty="0" smtClean="0"/>
              <a:t>Главное </a:t>
            </a:r>
            <a:r>
              <a:rPr lang="ru-RU" sz="1600" dirty="0"/>
              <a:t>отличие от </a:t>
            </a:r>
            <a:r>
              <a:rPr lang="ru-RU" sz="1600" dirty="0" err="1"/>
              <a:t>StackPanel</a:t>
            </a:r>
            <a:r>
              <a:rPr lang="ru-RU" sz="1600" dirty="0"/>
              <a:t> - если элементы не помещаются в строке или столбце, создаются </a:t>
            </a:r>
            <a:r>
              <a:rPr lang="ru-RU" sz="1600" b="1" dirty="0"/>
              <a:t>новые</a:t>
            </a:r>
            <a:r>
              <a:rPr lang="ru-RU" sz="1600" dirty="0"/>
              <a:t> столбец или строка для не поместившихся </a:t>
            </a:r>
            <a:r>
              <a:rPr lang="ru-RU" sz="1600" dirty="0" smtClean="0"/>
              <a:t>элементов</a:t>
            </a:r>
            <a:endParaRPr lang="ru-RU" sz="1600" dirty="0"/>
          </a:p>
        </p:txBody>
      </p:sp>
      <p:sp>
        <p:nvSpPr>
          <p:cNvPr id="7" name="Прямоугольник 6"/>
          <p:cNvSpPr/>
          <p:nvPr/>
        </p:nvSpPr>
        <p:spPr>
          <a:xfrm>
            <a:off x="107504" y="260648"/>
            <a:ext cx="5040559" cy="1107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 </a:t>
            </a:r>
            <a:r>
              <a:rPr lang="ru-RU" sz="1600" dirty="0"/>
              <a:t>горизонтальном стеке те элементы, у которых явным образом не установлена высота, будут автоматически принимать высоту самого большого элемента из </a:t>
            </a:r>
            <a:r>
              <a:rPr lang="ru-RU" sz="1600" dirty="0" smtClean="0"/>
              <a:t>стека</a:t>
            </a:r>
            <a:endParaRPr lang="ru-RU" sz="1600" dirty="0"/>
          </a:p>
          <a:p>
            <a:r>
              <a:rPr lang="ru-RU" sz="1600" dirty="0"/>
              <a:t>Вертикальный </a:t>
            </a:r>
            <a:r>
              <a:rPr lang="ru-RU" sz="1600" b="1" dirty="0" err="1"/>
              <a:t>WrapPanel</a:t>
            </a:r>
            <a:r>
              <a:rPr lang="ru-RU" sz="1600" dirty="0"/>
              <a:t> делается аналогично:</a:t>
            </a:r>
          </a:p>
        </p:txBody>
      </p:sp>
    </p:spTree>
    <p:extLst>
      <p:ext uri="{BB962C8B-B14F-4D97-AF65-F5344CB8AC3E}">
        <p14:creationId xmlns:p14="http://schemas.microsoft.com/office/powerpoint/2010/main" val="38354004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174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1680" y="116632"/>
            <a:ext cx="7238924" cy="6360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Прямоугольник 4"/>
          <p:cNvSpPr/>
          <p:nvPr/>
        </p:nvSpPr>
        <p:spPr>
          <a:xfrm>
            <a:off x="395536" y="404664"/>
            <a:ext cx="4572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dirty="0"/>
              <a:t>В вертикальном стеке элементы, у которых явным образом не указана ширина, автоматически принимают ширину самого широкого элемента.</a:t>
            </a:r>
          </a:p>
        </p:txBody>
      </p:sp>
      <p:cxnSp>
        <p:nvCxnSpPr>
          <p:cNvPr id="4" name="Прямая со стрелкой 3"/>
          <p:cNvCxnSpPr/>
          <p:nvPr/>
        </p:nvCxnSpPr>
        <p:spPr>
          <a:xfrm>
            <a:off x="2051720" y="1604993"/>
            <a:ext cx="2304256" cy="333617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Прямая со стрелкой 6"/>
          <p:cNvCxnSpPr/>
          <p:nvPr/>
        </p:nvCxnSpPr>
        <p:spPr>
          <a:xfrm>
            <a:off x="1979712" y="1604993"/>
            <a:ext cx="1800200" cy="3912239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Прямая со стрелкой 8"/>
          <p:cNvCxnSpPr/>
          <p:nvPr/>
        </p:nvCxnSpPr>
        <p:spPr>
          <a:xfrm>
            <a:off x="1979712" y="1604993"/>
            <a:ext cx="1512168" cy="4344287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26097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277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39527" y="0"/>
            <a:ext cx="7071844" cy="6033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Прямоугольник 2"/>
          <p:cNvSpPr/>
          <p:nvPr/>
        </p:nvSpPr>
        <p:spPr>
          <a:xfrm>
            <a:off x="251520" y="188640"/>
            <a:ext cx="4572000" cy="1477328"/>
          </a:xfrm>
          <a:prstGeom prst="rect">
            <a:avLst/>
          </a:prstGeom>
        </p:spPr>
        <p:txBody>
          <a:bodyPr>
            <a:spAutoFit/>
          </a:bodyPr>
          <a:lstStyle/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lang="ru-RU" altLang="ru-RU" dirty="0" smtClean="0">
                <a:solidFill>
                  <a:srgbClr val="000000"/>
                </a:solidFill>
                <a:latin typeface="Verdana" pitchFamily="34" charset="0"/>
                <a:cs typeface="Arial" pitchFamily="34" charset="0"/>
              </a:rPr>
              <a:t>можем </a:t>
            </a:r>
            <a:r>
              <a:rPr lang="ru-RU" altLang="ru-RU" dirty="0">
                <a:solidFill>
                  <a:srgbClr val="000000"/>
                </a:solidFill>
                <a:latin typeface="Verdana" pitchFamily="34" charset="0"/>
                <a:cs typeface="Arial" pitchFamily="34" charset="0"/>
              </a:rPr>
              <a:t>установить для всех вложенных элементов какую-нибудь определенную ширину (с помощью свойства </a:t>
            </a:r>
            <a:r>
              <a:rPr lang="ru-RU" altLang="ru-RU" b="1" dirty="0" err="1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ItemWidth</a:t>
            </a:r>
            <a:r>
              <a:rPr lang="ru-RU" altLang="ru-RU" dirty="0">
                <a:solidFill>
                  <a:srgbClr val="000000"/>
                </a:solidFill>
                <a:latin typeface="Verdana" pitchFamily="34" charset="0"/>
                <a:cs typeface="Arial" pitchFamily="34" charset="0"/>
              </a:rPr>
              <a:t>) или высоту (свойство </a:t>
            </a:r>
            <a:r>
              <a:rPr lang="ru-RU" altLang="ru-RU" b="1" dirty="0" err="1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ItemHeight</a:t>
            </a:r>
            <a:r>
              <a:rPr lang="ru-RU" altLang="ru-RU" dirty="0">
                <a:solidFill>
                  <a:srgbClr val="000000"/>
                </a:solidFill>
                <a:latin typeface="Verdana" pitchFamily="34" charset="0"/>
                <a:cs typeface="Arial" pitchFamily="34" charset="0"/>
              </a:rPr>
              <a:t>):</a:t>
            </a:r>
            <a:r>
              <a:rPr lang="ru-RU" altLang="ru-RU" sz="800" dirty="0">
                <a:latin typeface="Arial" pitchFamily="34" charset="0"/>
                <a:cs typeface="Arial" pitchFamily="34" charset="0"/>
              </a:rPr>
              <a:t> </a:t>
            </a:r>
            <a:endParaRPr lang="ru-RU" altLang="ru-RU" sz="4400" dirty="0">
              <a:latin typeface="Arial" pitchFamily="34" charset="0"/>
              <a:cs typeface="Arial" pitchFamily="34" charset="0"/>
            </a:endParaRPr>
          </a:p>
        </p:txBody>
      </p:sp>
      <p:cxnSp>
        <p:nvCxnSpPr>
          <p:cNvPr id="6" name="Прямая со стрелкой 5"/>
          <p:cNvCxnSpPr/>
          <p:nvPr/>
        </p:nvCxnSpPr>
        <p:spPr>
          <a:xfrm>
            <a:off x="3707904" y="1665968"/>
            <a:ext cx="1656184" cy="255512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Прямая со стрелкой 7"/>
          <p:cNvCxnSpPr/>
          <p:nvPr/>
        </p:nvCxnSpPr>
        <p:spPr>
          <a:xfrm>
            <a:off x="3707904" y="1665968"/>
            <a:ext cx="720080" cy="255512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686667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4082"/>
          </a:xfrm>
        </p:spPr>
        <p:txBody>
          <a:bodyPr>
            <a:normAutofit fontScale="90000"/>
          </a:bodyPr>
          <a:lstStyle/>
          <a:p>
            <a:r>
              <a:rPr lang="en-GB" b="1" i="0" dirty="0" smtClean="0">
                <a:solidFill>
                  <a:srgbClr val="000000"/>
                </a:solidFill>
                <a:effectLst/>
                <a:latin typeface="verdana"/>
              </a:rPr>
              <a:t>Canvas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980728"/>
            <a:ext cx="8229600" cy="5688632"/>
          </a:xfrm>
        </p:spPr>
        <p:txBody>
          <a:bodyPr>
            <a:normAutofit fontScale="47500" lnSpcReduction="20000"/>
          </a:bodyPr>
          <a:lstStyle/>
          <a:p>
            <a:pPr>
              <a:spcAft>
                <a:spcPts val="600"/>
              </a:spcAft>
            </a:pPr>
            <a:r>
              <a:rPr lang="ru-RU" b="0" i="0" dirty="0" smtClean="0">
                <a:solidFill>
                  <a:srgbClr val="000000"/>
                </a:solidFill>
                <a:effectLst/>
                <a:latin typeface="verdana"/>
              </a:rPr>
              <a:t>Для размещения на нем необходимо указать для элементов точные координаты относительно сторон </a:t>
            </a:r>
            <a:r>
              <a:rPr lang="ru-RU" b="0" i="0" dirty="0" err="1" smtClean="0">
                <a:solidFill>
                  <a:srgbClr val="000000"/>
                </a:solidFill>
                <a:effectLst/>
                <a:latin typeface="verdana"/>
              </a:rPr>
              <a:t>Canvas</a:t>
            </a:r>
            <a:r>
              <a:rPr lang="ru-RU" b="0" i="0" dirty="0" smtClean="0">
                <a:solidFill>
                  <a:srgbClr val="000000"/>
                </a:solidFill>
                <a:effectLst/>
                <a:latin typeface="verdana"/>
              </a:rPr>
              <a:t>.</a:t>
            </a:r>
          </a:p>
          <a:p>
            <a:pPr>
              <a:spcAft>
                <a:spcPts val="600"/>
              </a:spcAft>
            </a:pPr>
            <a:r>
              <a:rPr lang="ru-RU" b="0" i="0" dirty="0" smtClean="0">
                <a:solidFill>
                  <a:srgbClr val="000000"/>
                </a:solidFill>
                <a:effectLst/>
                <a:latin typeface="verdana"/>
              </a:rPr>
              <a:t> Для установки координат элементов используются свойства </a:t>
            </a:r>
          </a:p>
          <a:p>
            <a:pPr lvl="1">
              <a:spcAft>
                <a:spcPts val="600"/>
              </a:spcAft>
            </a:pPr>
            <a:r>
              <a:rPr lang="ru-RU" b="0" i="0" dirty="0" err="1" smtClean="0">
                <a:solidFill>
                  <a:srgbClr val="000000"/>
                </a:solidFill>
                <a:effectLst/>
                <a:latin typeface="verdana"/>
              </a:rPr>
              <a:t>Canvas.Left</a:t>
            </a:r>
            <a:r>
              <a:rPr lang="ru-RU" b="0" i="0" dirty="0" smtClean="0">
                <a:solidFill>
                  <a:srgbClr val="000000"/>
                </a:solidFill>
                <a:effectLst/>
                <a:latin typeface="verdana"/>
              </a:rPr>
              <a:t>, </a:t>
            </a:r>
            <a:r>
              <a:rPr lang="ru-RU" dirty="0">
                <a:solidFill>
                  <a:srgbClr val="000000"/>
                </a:solidFill>
                <a:latin typeface="verdana"/>
              </a:rPr>
              <a:t>указывает, на сколько единиц от левой стороны контейнера будет находиться элемент</a:t>
            </a:r>
          </a:p>
          <a:p>
            <a:pPr lvl="1">
              <a:spcAft>
                <a:spcPts val="600"/>
              </a:spcAft>
            </a:pPr>
            <a:r>
              <a:rPr lang="ru-RU" b="0" i="0" dirty="0" err="1" smtClean="0">
                <a:solidFill>
                  <a:srgbClr val="000000"/>
                </a:solidFill>
                <a:effectLst/>
                <a:latin typeface="verdana"/>
              </a:rPr>
              <a:t>Canvas.Right</a:t>
            </a:r>
            <a:r>
              <a:rPr lang="ru-RU" b="0" i="0" dirty="0" smtClean="0">
                <a:solidFill>
                  <a:srgbClr val="000000"/>
                </a:solidFill>
                <a:effectLst/>
                <a:latin typeface="verdana"/>
              </a:rPr>
              <a:t>, </a:t>
            </a:r>
          </a:p>
          <a:p>
            <a:pPr lvl="1">
              <a:spcAft>
                <a:spcPts val="600"/>
              </a:spcAft>
            </a:pPr>
            <a:r>
              <a:rPr lang="ru-RU" b="0" i="0" dirty="0" err="1" smtClean="0">
                <a:solidFill>
                  <a:srgbClr val="000000"/>
                </a:solidFill>
                <a:effectLst/>
                <a:latin typeface="verdana"/>
              </a:rPr>
              <a:t>Canvas.Bottom</a:t>
            </a:r>
            <a:r>
              <a:rPr lang="ru-RU" b="0" i="0" dirty="0" smtClean="0">
                <a:solidFill>
                  <a:srgbClr val="000000"/>
                </a:solidFill>
                <a:effectLst/>
                <a:latin typeface="verdana"/>
              </a:rPr>
              <a:t>, </a:t>
            </a:r>
          </a:p>
          <a:p>
            <a:pPr lvl="1">
              <a:spcAft>
                <a:spcPts val="600"/>
              </a:spcAft>
            </a:pPr>
            <a:r>
              <a:rPr lang="ru-RU" b="0" i="0" dirty="0" err="1" smtClean="0">
                <a:solidFill>
                  <a:srgbClr val="000000"/>
                </a:solidFill>
                <a:effectLst/>
                <a:latin typeface="verdana"/>
              </a:rPr>
              <a:t>Canvas.Top</a:t>
            </a:r>
            <a:r>
              <a:rPr lang="ru-RU" b="0" i="0" dirty="0" smtClean="0">
                <a:solidFill>
                  <a:srgbClr val="000000"/>
                </a:solidFill>
                <a:effectLst/>
                <a:latin typeface="verdana"/>
              </a:rPr>
              <a:t> – </a:t>
            </a:r>
            <a:r>
              <a:rPr lang="ru-RU" dirty="0" smtClean="0">
                <a:solidFill>
                  <a:srgbClr val="000000"/>
                </a:solidFill>
                <a:latin typeface="verdana"/>
              </a:rPr>
              <a:t>на сколько </a:t>
            </a:r>
            <a:r>
              <a:rPr lang="ru-RU" dirty="0">
                <a:solidFill>
                  <a:srgbClr val="000000"/>
                </a:solidFill>
                <a:latin typeface="verdana"/>
              </a:rPr>
              <a:t>единиц ниже верхней границы контейнера находится элемент</a:t>
            </a:r>
            <a:endParaRPr lang="ru-RU" b="0" i="0" dirty="0" smtClean="0">
              <a:solidFill>
                <a:srgbClr val="000000"/>
              </a:solidFill>
              <a:effectLst/>
              <a:latin typeface="verdana"/>
            </a:endParaRPr>
          </a:p>
          <a:p>
            <a:pPr>
              <a:spcAft>
                <a:spcPts val="600"/>
              </a:spcAft>
            </a:pPr>
            <a:r>
              <a:rPr lang="ru-RU" b="0" i="0" dirty="0" smtClean="0">
                <a:solidFill>
                  <a:srgbClr val="000000"/>
                </a:solidFill>
                <a:effectLst/>
                <a:latin typeface="verdana"/>
              </a:rPr>
              <a:t>в качестве единиц используются не пиксели, а </a:t>
            </a:r>
            <a:r>
              <a:rPr lang="ru-RU" b="1" i="0" dirty="0" smtClean="0">
                <a:solidFill>
                  <a:srgbClr val="000000"/>
                </a:solidFill>
                <a:effectLst/>
                <a:latin typeface="verdana"/>
              </a:rPr>
              <a:t>независимые от устройства единицы</a:t>
            </a:r>
            <a:r>
              <a:rPr lang="ru-RU" b="0" i="0" dirty="0" smtClean="0">
                <a:solidFill>
                  <a:srgbClr val="000000"/>
                </a:solidFill>
                <a:effectLst/>
                <a:latin typeface="verdana"/>
              </a:rPr>
              <a:t>, которые помогают эффективно управлять масштабированием элементов. </a:t>
            </a:r>
          </a:p>
          <a:p>
            <a:pPr>
              <a:spcAft>
                <a:spcPts val="600"/>
              </a:spcAft>
            </a:pPr>
            <a:r>
              <a:rPr lang="ru-RU" b="0" i="0" dirty="0" smtClean="0">
                <a:solidFill>
                  <a:srgbClr val="000000"/>
                </a:solidFill>
                <a:effectLst/>
                <a:latin typeface="verdana"/>
              </a:rPr>
              <a:t>Каждая единица равна 1 /96 дюйма, и при стандартной установке в 96 </a:t>
            </a:r>
            <a:r>
              <a:rPr lang="ru-RU" b="0" i="0" dirty="0" err="1" smtClean="0">
                <a:solidFill>
                  <a:srgbClr val="000000"/>
                </a:solidFill>
                <a:effectLst/>
                <a:latin typeface="verdana"/>
              </a:rPr>
              <a:t>dpi</a:t>
            </a:r>
            <a:r>
              <a:rPr lang="ru-RU" b="0" i="0" dirty="0" smtClean="0">
                <a:solidFill>
                  <a:srgbClr val="000000"/>
                </a:solidFill>
                <a:effectLst/>
                <a:latin typeface="verdana"/>
              </a:rPr>
              <a:t> эта независимая от устройства единица будет равна физическому пикселю(т. к. 1/96 дюйма * 96 </a:t>
            </a:r>
            <a:r>
              <a:rPr lang="ru-RU" b="0" i="0" dirty="0" err="1" smtClean="0">
                <a:solidFill>
                  <a:srgbClr val="000000"/>
                </a:solidFill>
                <a:effectLst/>
                <a:latin typeface="verdana"/>
              </a:rPr>
              <a:t>dpi</a:t>
            </a:r>
            <a:r>
              <a:rPr lang="ru-RU" b="0" i="0" dirty="0" smtClean="0">
                <a:solidFill>
                  <a:srgbClr val="000000"/>
                </a:solidFill>
                <a:effectLst/>
                <a:latin typeface="verdana"/>
              </a:rPr>
              <a:t> (96 точек на дюйм) = 1). При работе на других мониторах или при других установленных размеры, установленные в приложении, будут эффективно масштабироваться. </a:t>
            </a:r>
          </a:p>
          <a:p>
            <a:pPr>
              <a:spcAft>
                <a:spcPts val="600"/>
              </a:spcAft>
            </a:pPr>
            <a:r>
              <a:rPr lang="ru-RU" b="0" i="0" dirty="0" smtClean="0">
                <a:solidFill>
                  <a:srgbClr val="000000"/>
                </a:solidFill>
                <a:effectLst/>
                <a:latin typeface="verdana"/>
              </a:rPr>
              <a:t>Если элемент не использует свойства </a:t>
            </a:r>
            <a:r>
              <a:rPr lang="ru-RU" b="1" i="0" dirty="0" err="1" smtClean="0">
                <a:solidFill>
                  <a:srgbClr val="000000"/>
                </a:solidFill>
                <a:effectLst/>
                <a:latin typeface="verdana"/>
              </a:rPr>
              <a:t>Canvas.Top</a:t>
            </a:r>
            <a:r>
              <a:rPr lang="ru-RU" b="0" i="0" dirty="0" smtClean="0">
                <a:solidFill>
                  <a:srgbClr val="000000"/>
                </a:solidFill>
                <a:effectLst/>
                <a:latin typeface="verdana"/>
              </a:rPr>
              <a:t> и другие, то по умолчанию свойства </a:t>
            </a:r>
            <a:r>
              <a:rPr lang="ru-RU" b="1" dirty="0" err="1">
                <a:solidFill>
                  <a:srgbClr val="000000"/>
                </a:solidFill>
                <a:latin typeface="verdana"/>
              </a:rPr>
              <a:t>Canvas.Left</a:t>
            </a:r>
            <a:r>
              <a:rPr lang="ru-RU" b="0" i="0" dirty="0" smtClean="0">
                <a:solidFill>
                  <a:srgbClr val="000000"/>
                </a:solidFill>
                <a:effectLst/>
                <a:latin typeface="verdana"/>
              </a:rPr>
              <a:t> и </a:t>
            </a:r>
            <a:r>
              <a:rPr lang="ru-RU" b="1" dirty="0" err="1">
                <a:solidFill>
                  <a:srgbClr val="000000"/>
                </a:solidFill>
                <a:latin typeface="verdana"/>
              </a:rPr>
              <a:t>Canvas.Top</a:t>
            </a:r>
            <a:r>
              <a:rPr lang="ru-RU" b="1" dirty="0">
                <a:solidFill>
                  <a:srgbClr val="000000"/>
                </a:solidFill>
                <a:latin typeface="verdana"/>
              </a:rPr>
              <a:t> </a:t>
            </a:r>
            <a:r>
              <a:rPr lang="ru-RU" b="0" i="0" dirty="0" smtClean="0">
                <a:solidFill>
                  <a:srgbClr val="000000"/>
                </a:solidFill>
                <a:effectLst/>
                <a:latin typeface="verdana"/>
              </a:rPr>
              <a:t>будут равны </a:t>
            </a:r>
            <a:r>
              <a:rPr lang="ru-RU" b="1" dirty="0">
                <a:solidFill>
                  <a:srgbClr val="000000"/>
                </a:solidFill>
                <a:latin typeface="verdana"/>
              </a:rPr>
              <a:t>нулю</a:t>
            </a:r>
            <a:r>
              <a:rPr lang="ru-RU" b="0" i="0" dirty="0" smtClean="0">
                <a:solidFill>
                  <a:srgbClr val="000000"/>
                </a:solidFill>
                <a:effectLst/>
                <a:latin typeface="verdana"/>
              </a:rPr>
              <a:t>, то есть он будет находиться в верхнем левом углу.</a:t>
            </a:r>
          </a:p>
          <a:p>
            <a:pPr>
              <a:spcAft>
                <a:spcPts val="600"/>
              </a:spcAft>
            </a:pPr>
            <a:r>
              <a:rPr lang="ru-RU" b="0" i="0" dirty="0" smtClean="0">
                <a:solidFill>
                  <a:srgbClr val="000000"/>
                </a:solidFill>
                <a:effectLst/>
                <a:latin typeface="verdana"/>
              </a:rPr>
              <a:t>нельзя одновременно задавать </a:t>
            </a:r>
            <a:r>
              <a:rPr lang="ru-RU" b="1" dirty="0" err="1">
                <a:solidFill>
                  <a:srgbClr val="000000"/>
                </a:solidFill>
                <a:latin typeface="verdana"/>
              </a:rPr>
              <a:t>Canvas.Left</a:t>
            </a:r>
            <a:r>
              <a:rPr lang="ru-RU" b="0" i="0" dirty="0" smtClean="0">
                <a:solidFill>
                  <a:srgbClr val="000000"/>
                </a:solidFill>
                <a:effectLst/>
                <a:latin typeface="verdana"/>
              </a:rPr>
              <a:t> и </a:t>
            </a:r>
            <a:r>
              <a:rPr lang="ru-RU" b="1" dirty="0" err="1">
                <a:solidFill>
                  <a:srgbClr val="000000"/>
                </a:solidFill>
                <a:latin typeface="verdana"/>
              </a:rPr>
              <a:t>Canvas.Right</a:t>
            </a:r>
            <a:r>
              <a:rPr lang="ru-RU" b="0" i="0" dirty="0" smtClean="0">
                <a:solidFill>
                  <a:srgbClr val="000000"/>
                </a:solidFill>
                <a:effectLst/>
                <a:latin typeface="verdana"/>
              </a:rPr>
              <a:t> или </a:t>
            </a:r>
            <a:r>
              <a:rPr lang="ru-RU" b="1" dirty="0" err="1">
                <a:solidFill>
                  <a:srgbClr val="000000"/>
                </a:solidFill>
                <a:latin typeface="verdana"/>
              </a:rPr>
              <a:t>Canvas.Bottom</a:t>
            </a:r>
            <a:r>
              <a:rPr lang="ru-RU" b="0" i="0" dirty="0" smtClean="0">
                <a:solidFill>
                  <a:srgbClr val="000000"/>
                </a:solidFill>
                <a:effectLst/>
                <a:latin typeface="verdana"/>
              </a:rPr>
              <a:t> и </a:t>
            </a:r>
            <a:r>
              <a:rPr lang="ru-RU" b="1" dirty="0" err="1">
                <a:solidFill>
                  <a:srgbClr val="000000"/>
                </a:solidFill>
                <a:latin typeface="verdana"/>
              </a:rPr>
              <a:t>Canvas.Top</a:t>
            </a:r>
            <a:r>
              <a:rPr lang="ru-RU" b="0" i="0" dirty="0" smtClean="0">
                <a:solidFill>
                  <a:srgbClr val="000000"/>
                </a:solidFill>
                <a:effectLst/>
                <a:latin typeface="verdana"/>
              </a:rPr>
              <a:t>. Если подобное произойдет, то последнее заданное свойство не будет учитываться. 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6686021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379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19" y="188640"/>
            <a:ext cx="8846397" cy="57606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Прямоугольник 2"/>
          <p:cNvSpPr/>
          <p:nvPr/>
        </p:nvSpPr>
        <p:spPr>
          <a:xfrm>
            <a:off x="2843808" y="5575851"/>
            <a:ext cx="5868144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400" dirty="0">
                <a:solidFill>
                  <a:srgbClr val="000000"/>
                </a:solidFill>
                <a:latin typeface="verdana"/>
              </a:rPr>
              <a:t>нельзя одновременно задавать </a:t>
            </a:r>
            <a:r>
              <a:rPr lang="ru-RU" sz="1400" b="1" dirty="0" err="1">
                <a:solidFill>
                  <a:srgbClr val="000000"/>
                </a:solidFill>
                <a:latin typeface="verdana"/>
              </a:rPr>
              <a:t>Canvas.Left</a:t>
            </a:r>
            <a:r>
              <a:rPr lang="ru-RU" sz="1400" dirty="0">
                <a:solidFill>
                  <a:srgbClr val="000000"/>
                </a:solidFill>
                <a:latin typeface="verdana"/>
              </a:rPr>
              <a:t> и </a:t>
            </a:r>
            <a:r>
              <a:rPr lang="ru-RU" sz="1400" b="1" dirty="0" err="1">
                <a:solidFill>
                  <a:srgbClr val="000000"/>
                </a:solidFill>
                <a:latin typeface="verdana"/>
              </a:rPr>
              <a:t>Canvas.Right</a:t>
            </a:r>
            <a:r>
              <a:rPr lang="ru-RU" sz="1400" dirty="0">
                <a:solidFill>
                  <a:srgbClr val="000000"/>
                </a:solidFill>
                <a:latin typeface="verdana"/>
              </a:rPr>
              <a:t> или </a:t>
            </a:r>
            <a:r>
              <a:rPr lang="ru-RU" sz="1400" b="1" dirty="0" err="1">
                <a:solidFill>
                  <a:srgbClr val="000000"/>
                </a:solidFill>
                <a:latin typeface="verdana"/>
              </a:rPr>
              <a:t>Canvas.Bottom</a:t>
            </a:r>
            <a:r>
              <a:rPr lang="ru-RU" sz="1400" dirty="0">
                <a:solidFill>
                  <a:srgbClr val="000000"/>
                </a:solidFill>
                <a:latin typeface="verdana"/>
              </a:rPr>
              <a:t> и </a:t>
            </a:r>
            <a:r>
              <a:rPr lang="ru-RU" sz="1400" b="1" dirty="0" err="1">
                <a:solidFill>
                  <a:srgbClr val="000000"/>
                </a:solidFill>
                <a:latin typeface="verdana"/>
              </a:rPr>
              <a:t>Canvas.Top</a:t>
            </a:r>
            <a:r>
              <a:rPr lang="ru-RU" sz="1400" dirty="0">
                <a:solidFill>
                  <a:srgbClr val="000000"/>
                </a:solidFill>
                <a:latin typeface="verdana"/>
              </a:rPr>
              <a:t>. Если подобное произойдет, то последнее заданное свойство не будет учитываться</a:t>
            </a:r>
            <a:endParaRPr lang="ru-RU" sz="1400" dirty="0"/>
          </a:p>
        </p:txBody>
      </p:sp>
      <p:cxnSp>
        <p:nvCxnSpPr>
          <p:cNvPr id="5" name="Прямая со стрелкой 4"/>
          <p:cNvCxnSpPr/>
          <p:nvPr/>
        </p:nvCxnSpPr>
        <p:spPr>
          <a:xfrm flipV="1">
            <a:off x="6012160" y="5013176"/>
            <a:ext cx="360040" cy="64807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Прямая со стрелкой 6"/>
          <p:cNvCxnSpPr/>
          <p:nvPr/>
        </p:nvCxnSpPr>
        <p:spPr>
          <a:xfrm flipV="1">
            <a:off x="6156176" y="5013176"/>
            <a:ext cx="1656184" cy="64807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867351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62074"/>
          </a:xfrm>
        </p:spPr>
        <p:txBody>
          <a:bodyPr>
            <a:noAutofit/>
          </a:bodyPr>
          <a:lstStyle/>
          <a:p>
            <a:r>
              <a:rPr lang="ru-RU" sz="3200" b="1" i="0" dirty="0" smtClean="0">
                <a:solidFill>
                  <a:srgbClr val="000000"/>
                </a:solidFill>
                <a:effectLst/>
                <a:latin typeface="verdana"/>
              </a:rPr>
              <a:t>Свойства компоновки элементов</a:t>
            </a:r>
            <a:endParaRPr lang="ru-RU" sz="32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764704"/>
            <a:ext cx="8229600" cy="5904656"/>
          </a:xfrm>
        </p:spPr>
        <p:txBody>
          <a:bodyPr>
            <a:normAutofit fontScale="47500" lnSpcReduction="20000"/>
          </a:bodyPr>
          <a:lstStyle/>
          <a:p>
            <a:pPr>
              <a:spcAft>
                <a:spcPts val="600"/>
              </a:spcAft>
            </a:pPr>
            <a:r>
              <a:rPr lang="ru-RU" b="0" i="0" dirty="0" smtClean="0">
                <a:solidFill>
                  <a:srgbClr val="000000"/>
                </a:solidFill>
                <a:effectLst/>
                <a:latin typeface="verdana"/>
              </a:rPr>
              <a:t>Элементы WPF обладают набором свойств, которые помогают позиционировать данные элементы. </a:t>
            </a:r>
          </a:p>
          <a:p>
            <a:pPr>
              <a:spcAft>
                <a:spcPts val="600"/>
              </a:spcAft>
            </a:pPr>
            <a:r>
              <a:rPr lang="ru-RU" b="1" i="0" dirty="0" smtClean="0">
                <a:solidFill>
                  <a:srgbClr val="000000"/>
                </a:solidFill>
                <a:effectLst/>
                <a:latin typeface="verdana"/>
              </a:rPr>
              <a:t>Ширина и высота</a:t>
            </a:r>
          </a:p>
          <a:p>
            <a:pPr>
              <a:spcAft>
                <a:spcPts val="600"/>
              </a:spcAft>
            </a:pPr>
            <a:r>
              <a:rPr lang="ru-RU" b="0" i="0" dirty="0" smtClean="0">
                <a:solidFill>
                  <a:srgbClr val="000000"/>
                </a:solidFill>
                <a:effectLst/>
                <a:latin typeface="verdana"/>
              </a:rPr>
              <a:t>У элемента можно установить ширину с помощью свойства </a:t>
            </a:r>
            <a:r>
              <a:rPr lang="ru-RU" b="1" dirty="0" err="1">
                <a:solidFill>
                  <a:srgbClr val="000000"/>
                </a:solidFill>
                <a:latin typeface="verdana"/>
              </a:rPr>
              <a:t>Width</a:t>
            </a:r>
            <a:r>
              <a:rPr lang="ru-RU" b="0" i="0" dirty="0" smtClean="0">
                <a:solidFill>
                  <a:srgbClr val="000000"/>
                </a:solidFill>
                <a:effectLst/>
                <a:latin typeface="verdana"/>
              </a:rPr>
              <a:t> и высоту с помощью свойства </a:t>
            </a:r>
            <a:r>
              <a:rPr lang="ru-RU" b="1" dirty="0" err="1">
                <a:solidFill>
                  <a:srgbClr val="000000"/>
                </a:solidFill>
                <a:latin typeface="verdana"/>
              </a:rPr>
              <a:t>Height</a:t>
            </a:r>
            <a:r>
              <a:rPr lang="ru-RU" b="0" i="0" dirty="0" smtClean="0">
                <a:solidFill>
                  <a:srgbClr val="000000"/>
                </a:solidFill>
                <a:effectLst/>
                <a:latin typeface="verdana"/>
              </a:rPr>
              <a:t>. Эти свойства принимают значение типа </a:t>
            </a:r>
            <a:r>
              <a:rPr lang="ru-RU" b="1" dirty="0" err="1">
                <a:solidFill>
                  <a:srgbClr val="000000"/>
                </a:solidFill>
                <a:latin typeface="verdana"/>
              </a:rPr>
              <a:t>double</a:t>
            </a:r>
            <a:r>
              <a:rPr lang="ru-RU" b="0" i="0" dirty="0" smtClean="0">
                <a:solidFill>
                  <a:srgbClr val="000000"/>
                </a:solidFill>
                <a:effectLst/>
                <a:latin typeface="verdana"/>
              </a:rPr>
              <a:t>. Хотя общая рекомендация состоит в том, что желательно избегать жестко закодированных в коде ширины и высоты.</a:t>
            </a:r>
          </a:p>
          <a:p>
            <a:pPr>
              <a:spcAft>
                <a:spcPts val="600"/>
              </a:spcAft>
            </a:pPr>
            <a:r>
              <a:rPr lang="ru-RU" b="0" i="0" dirty="0" smtClean="0">
                <a:solidFill>
                  <a:srgbClr val="000000"/>
                </a:solidFill>
                <a:effectLst/>
                <a:latin typeface="verdana"/>
              </a:rPr>
              <a:t>можно задать возможный диапазон ширины и высоты с помощью свойств </a:t>
            </a:r>
            <a:r>
              <a:rPr lang="ru-RU" b="1" i="0" dirty="0" err="1" smtClean="0">
                <a:solidFill>
                  <a:srgbClr val="000000"/>
                </a:solidFill>
                <a:effectLst/>
                <a:latin typeface="verdana"/>
              </a:rPr>
              <a:t>MinWidth</a:t>
            </a:r>
            <a:r>
              <a:rPr lang="ru-RU" b="1" i="0" dirty="0" smtClean="0">
                <a:solidFill>
                  <a:srgbClr val="000000"/>
                </a:solidFill>
                <a:effectLst/>
                <a:latin typeface="verdana"/>
              </a:rPr>
              <a:t>/</a:t>
            </a:r>
            <a:r>
              <a:rPr lang="ru-RU" b="1" i="0" dirty="0" err="1" smtClean="0">
                <a:solidFill>
                  <a:srgbClr val="000000"/>
                </a:solidFill>
                <a:effectLst/>
                <a:latin typeface="verdana"/>
              </a:rPr>
              <a:t>MaxWidth</a:t>
            </a:r>
            <a:r>
              <a:rPr lang="ru-RU" b="0" i="0" dirty="0" smtClean="0">
                <a:solidFill>
                  <a:srgbClr val="000000"/>
                </a:solidFill>
                <a:effectLst/>
                <a:latin typeface="verdana"/>
              </a:rPr>
              <a:t> и </a:t>
            </a:r>
            <a:r>
              <a:rPr lang="ru-RU" b="1" dirty="0" err="1" smtClean="0">
                <a:solidFill>
                  <a:srgbClr val="000000"/>
                </a:solidFill>
                <a:latin typeface="verdana"/>
              </a:rPr>
              <a:t>MinHeight</a:t>
            </a:r>
            <a:r>
              <a:rPr lang="ru-RU" b="1" dirty="0" smtClean="0">
                <a:solidFill>
                  <a:srgbClr val="000000"/>
                </a:solidFill>
                <a:latin typeface="verdana"/>
              </a:rPr>
              <a:t>/</a:t>
            </a:r>
            <a:r>
              <a:rPr lang="ru-RU" b="1" dirty="0" err="1" smtClean="0">
                <a:solidFill>
                  <a:srgbClr val="000000"/>
                </a:solidFill>
                <a:latin typeface="verdana"/>
              </a:rPr>
              <a:t>MaxHeight</a:t>
            </a:r>
            <a:r>
              <a:rPr lang="ru-RU" b="1" dirty="0" smtClean="0">
                <a:solidFill>
                  <a:srgbClr val="000000"/>
                </a:solidFill>
                <a:latin typeface="verdana"/>
              </a:rPr>
              <a:t>(</a:t>
            </a:r>
            <a:r>
              <a:rPr lang="ru-RU" b="0" i="0" dirty="0" smtClean="0">
                <a:solidFill>
                  <a:srgbClr val="000000"/>
                </a:solidFill>
                <a:effectLst/>
                <a:latin typeface="verdana"/>
              </a:rPr>
              <a:t>при растяжении или сжатии контейнеров элементы с данными заданными свойствами не будут выходить за пределы установленных значений)</a:t>
            </a:r>
          </a:p>
          <a:p>
            <a:pPr>
              <a:spcAft>
                <a:spcPts val="600"/>
              </a:spcAft>
            </a:pPr>
            <a:r>
              <a:rPr lang="ru-RU" b="0" i="0" dirty="0" smtClean="0">
                <a:solidFill>
                  <a:srgbClr val="000000"/>
                </a:solidFill>
                <a:effectLst/>
                <a:latin typeface="verdana"/>
              </a:rPr>
              <a:t>В WPF можно использовать несколько единиц измерения: </a:t>
            </a:r>
          </a:p>
          <a:p>
            <a:pPr lvl="1">
              <a:spcAft>
                <a:spcPts val="600"/>
              </a:spcAft>
            </a:pPr>
            <a:r>
              <a:rPr lang="ru-RU" b="0" i="0" dirty="0" smtClean="0">
                <a:solidFill>
                  <a:srgbClr val="000000"/>
                </a:solidFill>
                <a:effectLst/>
                <a:latin typeface="verdana"/>
              </a:rPr>
              <a:t>сантиметры (</a:t>
            </a:r>
            <a:r>
              <a:rPr lang="ru-RU" b="0" i="0" dirty="0" err="1" smtClean="0">
                <a:solidFill>
                  <a:srgbClr val="000000"/>
                </a:solidFill>
                <a:effectLst/>
                <a:latin typeface="verdana"/>
              </a:rPr>
              <a:t>cm</a:t>
            </a:r>
            <a:r>
              <a:rPr lang="ru-RU" b="0" i="0" dirty="0" smtClean="0">
                <a:solidFill>
                  <a:srgbClr val="000000"/>
                </a:solidFill>
                <a:effectLst/>
                <a:latin typeface="verdana"/>
              </a:rPr>
              <a:t>), </a:t>
            </a:r>
            <a:endParaRPr lang="ru-RU" dirty="0">
              <a:solidFill>
                <a:srgbClr val="000000"/>
              </a:solidFill>
              <a:latin typeface="verdana"/>
            </a:endParaRPr>
          </a:p>
          <a:p>
            <a:pPr lvl="1">
              <a:spcAft>
                <a:spcPts val="600"/>
              </a:spcAft>
            </a:pPr>
            <a:r>
              <a:rPr lang="ru-RU" b="0" i="0" dirty="0" smtClean="0">
                <a:solidFill>
                  <a:srgbClr val="000000"/>
                </a:solidFill>
                <a:effectLst/>
                <a:latin typeface="verdana"/>
              </a:rPr>
              <a:t>точки (</a:t>
            </a:r>
            <a:r>
              <a:rPr lang="ru-RU" b="0" i="0" dirty="0" err="1" smtClean="0">
                <a:solidFill>
                  <a:srgbClr val="000000"/>
                </a:solidFill>
                <a:effectLst/>
                <a:latin typeface="verdana"/>
              </a:rPr>
              <a:t>pt</a:t>
            </a:r>
            <a:r>
              <a:rPr lang="ru-RU" b="0" i="0" dirty="0" smtClean="0">
                <a:solidFill>
                  <a:srgbClr val="000000"/>
                </a:solidFill>
                <a:effectLst/>
                <a:latin typeface="verdana"/>
              </a:rPr>
              <a:t>), </a:t>
            </a:r>
          </a:p>
          <a:p>
            <a:pPr lvl="1">
              <a:spcAft>
                <a:spcPts val="600"/>
              </a:spcAft>
            </a:pPr>
            <a:r>
              <a:rPr lang="ru-RU" b="0" i="0" dirty="0" smtClean="0">
                <a:solidFill>
                  <a:srgbClr val="000000"/>
                </a:solidFill>
                <a:effectLst/>
                <a:latin typeface="verdana"/>
              </a:rPr>
              <a:t>дюймы (</a:t>
            </a:r>
            <a:r>
              <a:rPr lang="ru-RU" b="0" i="0" dirty="0" err="1" smtClean="0">
                <a:solidFill>
                  <a:srgbClr val="000000"/>
                </a:solidFill>
                <a:effectLst/>
                <a:latin typeface="verdana"/>
              </a:rPr>
              <a:t>in</a:t>
            </a:r>
            <a:r>
              <a:rPr lang="ru-RU" b="0" i="0" dirty="0" smtClean="0">
                <a:solidFill>
                  <a:srgbClr val="000000"/>
                </a:solidFill>
                <a:effectLst/>
                <a:latin typeface="verdana"/>
              </a:rPr>
              <a:t>) </a:t>
            </a:r>
          </a:p>
          <a:p>
            <a:pPr lvl="1">
              <a:spcAft>
                <a:spcPts val="600"/>
              </a:spcAft>
            </a:pPr>
            <a:r>
              <a:rPr lang="ru-RU" b="0" i="0" dirty="0" smtClean="0">
                <a:solidFill>
                  <a:srgbClr val="000000"/>
                </a:solidFill>
                <a:effectLst/>
                <a:latin typeface="verdana"/>
              </a:rPr>
              <a:t>пиксели (</a:t>
            </a:r>
            <a:r>
              <a:rPr lang="ru-RU" b="0" i="0" dirty="0" err="1" smtClean="0">
                <a:solidFill>
                  <a:srgbClr val="000000"/>
                </a:solidFill>
                <a:effectLst/>
                <a:latin typeface="verdana"/>
              </a:rPr>
              <a:t>px</a:t>
            </a:r>
            <a:r>
              <a:rPr lang="ru-RU" b="0" i="0" dirty="0" smtClean="0">
                <a:solidFill>
                  <a:srgbClr val="000000"/>
                </a:solidFill>
                <a:effectLst/>
                <a:latin typeface="verdana"/>
              </a:rPr>
              <a:t>). 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ru-RU" b="0" i="0" dirty="0" smtClean="0">
                <a:solidFill>
                  <a:srgbClr val="000000"/>
                </a:solidFill>
                <a:effectLst/>
                <a:latin typeface="verdana"/>
              </a:rPr>
              <a:t>Например, зададим размеры в других единицах: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ru-RU" b="0" i="0" dirty="0" smtClean="0">
                <a:solidFill>
                  <a:srgbClr val="000000"/>
                </a:solidFill>
                <a:effectLst/>
                <a:latin typeface="verdana"/>
              </a:rPr>
              <a:t> </a:t>
            </a:r>
            <a:r>
              <a:rPr lang="ru-RU" b="1" dirty="0">
                <a:solidFill>
                  <a:srgbClr val="000000"/>
                </a:solidFill>
                <a:latin typeface="verdana"/>
              </a:rPr>
              <a:t>&lt;</a:t>
            </a:r>
            <a:r>
              <a:rPr lang="ru-RU" b="1" dirty="0" err="1">
                <a:solidFill>
                  <a:srgbClr val="000000"/>
                </a:solidFill>
                <a:latin typeface="verdana"/>
              </a:rPr>
              <a:t>Button</a:t>
            </a:r>
            <a:r>
              <a:rPr lang="ru-RU" b="1" dirty="0">
                <a:solidFill>
                  <a:srgbClr val="000000"/>
                </a:solidFill>
                <a:latin typeface="verdana"/>
              </a:rPr>
              <a:t> </a:t>
            </a:r>
            <a:r>
              <a:rPr lang="ru-RU" b="1" dirty="0" err="1">
                <a:solidFill>
                  <a:srgbClr val="000000"/>
                </a:solidFill>
                <a:latin typeface="verdana"/>
              </a:rPr>
              <a:t>Content</a:t>
            </a:r>
            <a:r>
              <a:rPr lang="ru-RU" b="1" dirty="0">
                <a:solidFill>
                  <a:srgbClr val="000000"/>
                </a:solidFill>
                <a:latin typeface="verdana"/>
              </a:rPr>
              <a:t>="Кнопка" </a:t>
            </a:r>
            <a:r>
              <a:rPr lang="ru-RU" b="1" dirty="0" err="1">
                <a:solidFill>
                  <a:srgbClr val="000000"/>
                </a:solidFill>
                <a:latin typeface="verdana"/>
              </a:rPr>
              <a:t>Width</a:t>
            </a:r>
            <a:r>
              <a:rPr lang="ru-RU" b="1" dirty="0">
                <a:solidFill>
                  <a:srgbClr val="000000"/>
                </a:solidFill>
                <a:latin typeface="verdana"/>
              </a:rPr>
              <a:t>="5cm" </a:t>
            </a:r>
            <a:r>
              <a:rPr lang="ru-RU" b="1" dirty="0" err="1">
                <a:solidFill>
                  <a:srgbClr val="000000"/>
                </a:solidFill>
                <a:latin typeface="verdana"/>
              </a:rPr>
              <a:t>Height</a:t>
            </a:r>
            <a:r>
              <a:rPr lang="ru-RU" b="1" dirty="0">
                <a:solidFill>
                  <a:srgbClr val="000000"/>
                </a:solidFill>
                <a:latin typeface="verdana"/>
              </a:rPr>
              <a:t>="0.4in" /&gt;</a:t>
            </a:r>
          </a:p>
          <a:p>
            <a:pPr>
              <a:spcAft>
                <a:spcPts val="600"/>
              </a:spcAft>
            </a:pPr>
            <a:r>
              <a:rPr lang="ru-RU" b="0" i="0" dirty="0" smtClean="0">
                <a:solidFill>
                  <a:srgbClr val="000000"/>
                </a:solidFill>
                <a:effectLst/>
                <a:latin typeface="verdana"/>
              </a:rPr>
              <a:t>Если единица измерения </a:t>
            </a:r>
            <a:r>
              <a:rPr lang="ru-RU" b="1" i="0" dirty="0" smtClean="0">
                <a:solidFill>
                  <a:srgbClr val="000000"/>
                </a:solidFill>
                <a:effectLst/>
                <a:latin typeface="verdana"/>
              </a:rPr>
              <a:t>не задана явно</a:t>
            </a:r>
            <a:r>
              <a:rPr lang="ru-RU" b="0" i="0" dirty="0" smtClean="0">
                <a:solidFill>
                  <a:srgbClr val="000000"/>
                </a:solidFill>
                <a:effectLst/>
                <a:latin typeface="verdana"/>
              </a:rPr>
              <a:t>, а просто стоит число, то используются по умолчанию </a:t>
            </a:r>
            <a:r>
              <a:rPr lang="ru-RU" b="1" i="0" dirty="0" smtClean="0">
                <a:solidFill>
                  <a:srgbClr val="000000"/>
                </a:solidFill>
                <a:effectLst/>
                <a:latin typeface="verdana"/>
              </a:rPr>
              <a:t>пиксели(</a:t>
            </a:r>
            <a:r>
              <a:rPr lang="ru-RU" b="0" i="0" dirty="0" smtClean="0">
                <a:solidFill>
                  <a:srgbClr val="000000"/>
                </a:solidFill>
                <a:effectLst/>
                <a:latin typeface="verdana"/>
              </a:rPr>
              <a:t>эти пиксели не равны обычным пикселям, а являются своего рода "логическими пикселями", независимыми от конкретного устройства, каждый такой пиксель представляет 1/96 дюйма вне зависимости от разрешения экрана).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052305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18058"/>
          </a:xfrm>
        </p:spPr>
        <p:txBody>
          <a:bodyPr>
            <a:normAutofit fontScale="90000"/>
          </a:bodyPr>
          <a:lstStyle/>
          <a:p>
            <a:r>
              <a:rPr lang="ru-RU" b="1" i="0" dirty="0" smtClean="0">
                <a:solidFill>
                  <a:srgbClr val="000000"/>
                </a:solidFill>
                <a:effectLst/>
                <a:latin typeface="verdana"/>
              </a:rPr>
              <a:t>Выравнивание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980728"/>
            <a:ext cx="8229600" cy="514543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ru-RU" sz="2000" b="0" i="0" dirty="0" smtClean="0">
                <a:solidFill>
                  <a:srgbClr val="000000"/>
                </a:solidFill>
                <a:effectLst/>
                <a:latin typeface="verdana"/>
              </a:rPr>
              <a:t>Свойство </a:t>
            </a:r>
            <a:r>
              <a:rPr lang="ru-RU" sz="2000" b="1" i="0" dirty="0" err="1" smtClean="0">
                <a:solidFill>
                  <a:srgbClr val="000000"/>
                </a:solidFill>
                <a:effectLst/>
                <a:latin typeface="verdana"/>
              </a:rPr>
              <a:t>HorizontalAlignment</a:t>
            </a:r>
            <a:r>
              <a:rPr lang="ru-RU" sz="2000" b="0" i="0" dirty="0" smtClean="0">
                <a:solidFill>
                  <a:srgbClr val="000000"/>
                </a:solidFill>
                <a:effectLst/>
                <a:latin typeface="verdana"/>
              </a:rPr>
              <a:t> выравнивает элемент по горизонтали относительно правой или левой стороны контейнера и соответственно может принимать значения:</a:t>
            </a:r>
          </a:p>
          <a:p>
            <a:pPr lvl="1">
              <a:spcAft>
                <a:spcPts val="600"/>
              </a:spcAft>
            </a:pPr>
            <a:r>
              <a:rPr lang="ru-RU" sz="2000" b="0" i="0" dirty="0" smtClean="0">
                <a:solidFill>
                  <a:srgbClr val="000000"/>
                </a:solidFill>
                <a:effectLst/>
                <a:latin typeface="verdana"/>
              </a:rPr>
              <a:t> </a:t>
            </a:r>
            <a:r>
              <a:rPr lang="ru-RU" sz="2000" b="0" i="0" dirty="0" err="1" smtClean="0">
                <a:solidFill>
                  <a:srgbClr val="000000"/>
                </a:solidFill>
                <a:effectLst/>
                <a:latin typeface="verdana"/>
              </a:rPr>
              <a:t>Left</a:t>
            </a:r>
            <a:r>
              <a:rPr lang="ru-RU" sz="2000" b="0" i="0" dirty="0" smtClean="0">
                <a:solidFill>
                  <a:srgbClr val="000000"/>
                </a:solidFill>
                <a:effectLst/>
                <a:latin typeface="verdana"/>
              </a:rPr>
              <a:t>, </a:t>
            </a:r>
          </a:p>
          <a:p>
            <a:pPr lvl="1">
              <a:spcAft>
                <a:spcPts val="600"/>
              </a:spcAft>
            </a:pPr>
            <a:r>
              <a:rPr lang="ru-RU" sz="2000" b="0" i="0" dirty="0" err="1" smtClean="0">
                <a:solidFill>
                  <a:srgbClr val="000000"/>
                </a:solidFill>
                <a:effectLst/>
                <a:latin typeface="verdana"/>
              </a:rPr>
              <a:t>Right</a:t>
            </a:r>
            <a:r>
              <a:rPr lang="ru-RU" sz="2000" b="0" i="0" dirty="0" smtClean="0">
                <a:solidFill>
                  <a:srgbClr val="000000"/>
                </a:solidFill>
                <a:effectLst/>
                <a:latin typeface="verdana"/>
              </a:rPr>
              <a:t>, </a:t>
            </a:r>
          </a:p>
          <a:p>
            <a:pPr lvl="1">
              <a:spcAft>
                <a:spcPts val="600"/>
              </a:spcAft>
            </a:pPr>
            <a:r>
              <a:rPr lang="ru-RU" sz="2000" b="0" i="0" dirty="0" err="1" smtClean="0">
                <a:solidFill>
                  <a:srgbClr val="000000"/>
                </a:solidFill>
                <a:effectLst/>
                <a:latin typeface="verdana"/>
              </a:rPr>
              <a:t>Center</a:t>
            </a:r>
            <a:r>
              <a:rPr lang="ru-RU" sz="2000" b="0" i="0" dirty="0" smtClean="0">
                <a:solidFill>
                  <a:srgbClr val="000000"/>
                </a:solidFill>
                <a:effectLst/>
                <a:latin typeface="verdana"/>
              </a:rPr>
              <a:t> (положение по центру), </a:t>
            </a:r>
          </a:p>
          <a:p>
            <a:pPr lvl="1">
              <a:spcAft>
                <a:spcPts val="600"/>
              </a:spcAft>
            </a:pPr>
            <a:r>
              <a:rPr lang="ru-RU" sz="2000" b="0" i="0" dirty="0" err="1" smtClean="0">
                <a:solidFill>
                  <a:srgbClr val="000000"/>
                </a:solidFill>
                <a:effectLst/>
                <a:latin typeface="verdana"/>
              </a:rPr>
              <a:t>Stretch</a:t>
            </a:r>
            <a:r>
              <a:rPr lang="ru-RU" sz="2000" b="0" i="0" dirty="0" smtClean="0">
                <a:solidFill>
                  <a:srgbClr val="000000"/>
                </a:solidFill>
                <a:effectLst/>
                <a:latin typeface="verdana"/>
              </a:rPr>
              <a:t> (растяжение по всей ширине)</a:t>
            </a:r>
          </a:p>
          <a:p>
            <a:pPr>
              <a:spcAft>
                <a:spcPts val="600"/>
              </a:spcAft>
            </a:pPr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31531843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48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836712"/>
            <a:ext cx="8612202" cy="54726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704039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90066"/>
          </a:xfrm>
        </p:spPr>
        <p:txBody>
          <a:bodyPr>
            <a:normAutofit fontScale="90000"/>
          </a:bodyPr>
          <a:lstStyle/>
          <a:p>
            <a:r>
              <a:rPr lang="en-US" b="1" i="0" dirty="0" smtClean="0">
                <a:solidFill>
                  <a:srgbClr val="000000"/>
                </a:solidFill>
                <a:effectLst/>
                <a:latin typeface="verdana"/>
              </a:rPr>
              <a:t>V</a:t>
            </a:r>
            <a:r>
              <a:rPr lang="ru-RU" b="1" i="0" dirty="0" err="1" smtClean="0">
                <a:solidFill>
                  <a:srgbClr val="000000"/>
                </a:solidFill>
                <a:effectLst/>
                <a:latin typeface="verdana"/>
              </a:rPr>
              <a:t>erticalAlignment</a:t>
            </a:r>
            <a:endParaRPr lang="ru-RU" dirty="0"/>
          </a:p>
        </p:txBody>
      </p:sp>
      <p:pic>
        <p:nvPicPr>
          <p:cNvPr id="3584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1172" y="620688"/>
            <a:ext cx="8168711" cy="59046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Прямоугольник 4"/>
          <p:cNvSpPr/>
          <p:nvPr/>
        </p:nvSpPr>
        <p:spPr>
          <a:xfrm>
            <a:off x="323528" y="980728"/>
            <a:ext cx="4176464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400" b="0" i="0" dirty="0" smtClean="0">
                <a:solidFill>
                  <a:srgbClr val="000000"/>
                </a:solidFill>
                <a:effectLst/>
                <a:latin typeface="verdana"/>
              </a:rPr>
              <a:t>свойство </a:t>
            </a:r>
            <a:r>
              <a:rPr lang="ru-RU" sz="1400" b="1" i="0" dirty="0" err="1" smtClean="0">
                <a:solidFill>
                  <a:srgbClr val="000000"/>
                </a:solidFill>
                <a:effectLst/>
                <a:latin typeface="verdana"/>
              </a:rPr>
              <a:t>VerticalAlignment</a:t>
            </a:r>
            <a:r>
              <a:rPr lang="ru-RU" sz="1400" b="0" i="0" dirty="0" smtClean="0">
                <a:solidFill>
                  <a:srgbClr val="000000"/>
                </a:solidFill>
                <a:effectLst/>
                <a:latin typeface="verdana"/>
              </a:rPr>
              <a:t>, принимает значения: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400" b="0" i="0" dirty="0" err="1" smtClean="0">
                <a:solidFill>
                  <a:srgbClr val="000000"/>
                </a:solidFill>
                <a:effectLst/>
                <a:latin typeface="verdana"/>
              </a:rPr>
              <a:t>Top</a:t>
            </a:r>
            <a:r>
              <a:rPr lang="ru-RU" sz="1400" b="0" i="0" dirty="0" smtClean="0">
                <a:solidFill>
                  <a:srgbClr val="000000"/>
                </a:solidFill>
                <a:effectLst/>
                <a:latin typeface="verdana"/>
              </a:rPr>
              <a:t> (положение в верху контейнера),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400" b="0" i="0" dirty="0" err="1" smtClean="0">
                <a:solidFill>
                  <a:srgbClr val="000000"/>
                </a:solidFill>
                <a:effectLst/>
                <a:latin typeface="verdana"/>
              </a:rPr>
              <a:t>Bottom</a:t>
            </a:r>
            <a:r>
              <a:rPr lang="ru-RU" sz="1400" b="0" i="0" dirty="0" smtClean="0">
                <a:solidFill>
                  <a:srgbClr val="000000"/>
                </a:solidFill>
                <a:effectLst/>
                <a:latin typeface="verdana"/>
              </a:rPr>
              <a:t> (положение внизу),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400" b="0" i="0" dirty="0" err="1" smtClean="0">
                <a:solidFill>
                  <a:srgbClr val="000000"/>
                </a:solidFill>
                <a:effectLst/>
                <a:latin typeface="verdana"/>
              </a:rPr>
              <a:t>Center</a:t>
            </a:r>
            <a:r>
              <a:rPr lang="ru-RU" sz="1400" b="0" i="0" dirty="0" smtClean="0">
                <a:solidFill>
                  <a:srgbClr val="000000"/>
                </a:solidFill>
                <a:effectLst/>
                <a:latin typeface="verdana"/>
              </a:rPr>
              <a:t> (положение по центру),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400" b="0" i="0" dirty="0" err="1" smtClean="0">
                <a:solidFill>
                  <a:srgbClr val="000000"/>
                </a:solidFill>
                <a:effectLst/>
                <a:latin typeface="verdana"/>
              </a:rPr>
              <a:t>Stretch</a:t>
            </a:r>
            <a:r>
              <a:rPr lang="ru-RU" sz="1400" b="0" i="0" dirty="0" smtClean="0">
                <a:solidFill>
                  <a:srgbClr val="000000"/>
                </a:solidFill>
                <a:effectLst/>
                <a:latin typeface="verdana"/>
              </a:rPr>
              <a:t> (растяжение по всей высоте)</a:t>
            </a:r>
          </a:p>
        </p:txBody>
      </p:sp>
    </p:spTree>
    <p:extLst>
      <p:ext uri="{BB962C8B-B14F-4D97-AF65-F5344CB8AC3E}">
        <p14:creationId xmlns:p14="http://schemas.microsoft.com/office/powerpoint/2010/main" val="5211511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86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1680" y="2210"/>
            <a:ext cx="7428651" cy="65026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Прямоугольник 3"/>
          <p:cNvSpPr/>
          <p:nvPr/>
        </p:nvSpPr>
        <p:spPr>
          <a:xfrm>
            <a:off x="120080" y="678706"/>
            <a:ext cx="553204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Свойство </a:t>
            </a:r>
            <a:r>
              <a:rPr lang="ru-RU" b="1" dirty="0" err="1"/>
              <a:t>Margin</a:t>
            </a:r>
            <a:r>
              <a:rPr lang="ru-RU" dirty="0"/>
              <a:t> устанавливает отступы вокруг элемента. Синтаксис: </a:t>
            </a:r>
            <a:endParaRPr lang="ru-RU" dirty="0" smtClean="0"/>
          </a:p>
          <a:p>
            <a:r>
              <a:rPr lang="ru-RU" b="1" dirty="0" err="1" smtClean="0"/>
              <a:t>Margin</a:t>
            </a:r>
            <a:r>
              <a:rPr lang="ru-RU" b="1" dirty="0"/>
              <a:t>="</a:t>
            </a:r>
            <a:r>
              <a:rPr lang="ru-RU" b="1" dirty="0" err="1"/>
              <a:t>левый_отступ</a:t>
            </a:r>
            <a:r>
              <a:rPr lang="ru-RU" b="1" dirty="0"/>
              <a:t> </a:t>
            </a:r>
            <a:r>
              <a:rPr lang="ru-RU" b="1" dirty="0" err="1"/>
              <a:t>верхний_отступ</a:t>
            </a:r>
            <a:r>
              <a:rPr lang="ru-RU" b="1" dirty="0"/>
              <a:t> </a:t>
            </a:r>
            <a:r>
              <a:rPr lang="ru-RU" b="1" dirty="0" err="1"/>
              <a:t>правый_отступ</a:t>
            </a:r>
            <a:r>
              <a:rPr lang="ru-RU" b="1" dirty="0"/>
              <a:t> </a:t>
            </a:r>
            <a:r>
              <a:rPr lang="ru-RU" b="1" dirty="0" err="1"/>
              <a:t>нижний_отступ</a:t>
            </a:r>
            <a:r>
              <a:rPr lang="ru-RU" b="1" dirty="0" smtClean="0"/>
              <a:t>"</a:t>
            </a:r>
            <a:endParaRPr lang="ru-RU" b="1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3923928" y="6021288"/>
            <a:ext cx="51125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Если </a:t>
            </a:r>
            <a:r>
              <a:rPr lang="ru-RU" dirty="0" smtClean="0"/>
              <a:t>зададим </a:t>
            </a:r>
            <a:r>
              <a:rPr lang="ru-RU" dirty="0"/>
              <a:t>свойство </a:t>
            </a:r>
            <a:r>
              <a:rPr lang="ru-RU" dirty="0" smtClean="0"/>
              <a:t>:</a:t>
            </a:r>
          </a:p>
          <a:p>
            <a:r>
              <a:rPr lang="ru-RU" b="1" dirty="0" err="1" smtClean="0"/>
              <a:t>Margin</a:t>
            </a:r>
            <a:r>
              <a:rPr lang="ru-RU" b="1" dirty="0"/>
              <a:t>="20" </a:t>
            </a:r>
            <a:r>
              <a:rPr lang="ru-RU" b="1" dirty="0" smtClean="0"/>
              <a:t>- </a:t>
            </a:r>
            <a:r>
              <a:rPr lang="ru-RU" dirty="0" smtClean="0"/>
              <a:t>отступ </a:t>
            </a:r>
            <a:r>
              <a:rPr lang="ru-RU" dirty="0"/>
              <a:t>для всех четырех </a:t>
            </a:r>
            <a:r>
              <a:rPr lang="ru-RU" dirty="0" smtClean="0"/>
              <a:t>сторон</a:t>
            </a:r>
            <a:endParaRPr lang="ru-RU" dirty="0"/>
          </a:p>
        </p:txBody>
      </p:sp>
      <p:sp>
        <p:nvSpPr>
          <p:cNvPr id="7" name="Заголовок 1"/>
          <p:cNvSpPr txBox="1">
            <a:spLocks/>
          </p:cNvSpPr>
          <p:nvPr/>
        </p:nvSpPr>
        <p:spPr>
          <a:xfrm>
            <a:off x="120080" y="116632"/>
            <a:ext cx="4978896" cy="56207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3200" b="1" dirty="0" smtClean="0">
                <a:solidFill>
                  <a:srgbClr val="000000"/>
                </a:solidFill>
                <a:latin typeface="verdana"/>
              </a:rPr>
              <a:t>Margin</a:t>
            </a:r>
            <a:r>
              <a:rPr lang="ru-RU" sz="3200" b="1" dirty="0" smtClean="0">
                <a:solidFill>
                  <a:srgbClr val="000000"/>
                </a:solidFill>
                <a:latin typeface="verdana"/>
              </a:rPr>
              <a:t>(Отступы)</a:t>
            </a:r>
            <a:endParaRPr lang="ru-RU" sz="3200" dirty="0"/>
          </a:p>
        </p:txBody>
      </p:sp>
    </p:spTree>
    <p:extLst>
      <p:ext uri="{BB962C8B-B14F-4D97-AF65-F5344CB8AC3E}">
        <p14:creationId xmlns:p14="http://schemas.microsoft.com/office/powerpoint/2010/main" val="18837676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89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3714" y="116632"/>
            <a:ext cx="8127469" cy="59046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Заголовок 1"/>
          <p:cNvSpPr txBox="1">
            <a:spLocks/>
          </p:cNvSpPr>
          <p:nvPr/>
        </p:nvSpPr>
        <p:spPr>
          <a:xfrm>
            <a:off x="457200" y="274638"/>
            <a:ext cx="3898776" cy="6340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3200" b="1" smtClean="0">
                <a:solidFill>
                  <a:srgbClr val="000000"/>
                </a:solidFill>
                <a:latin typeface="verdana"/>
              </a:rPr>
              <a:t>Panel.ZIndex</a:t>
            </a:r>
            <a:endParaRPr lang="ru-RU" sz="3200" dirty="0"/>
          </a:p>
        </p:txBody>
      </p:sp>
      <p:sp>
        <p:nvSpPr>
          <p:cNvPr id="7" name="Прямоугольник 6"/>
          <p:cNvSpPr/>
          <p:nvPr/>
        </p:nvSpPr>
        <p:spPr>
          <a:xfrm>
            <a:off x="0" y="764704"/>
            <a:ext cx="4355976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lang="ru-RU" altLang="ru-RU" sz="1400" dirty="0" smtClean="0">
                <a:solidFill>
                  <a:srgbClr val="000000"/>
                </a:solidFill>
                <a:latin typeface="Verdana" pitchFamily="34" charset="0"/>
                <a:cs typeface="Arial" pitchFamily="34" charset="0"/>
              </a:rPr>
              <a:t>По </a:t>
            </a:r>
            <a:r>
              <a:rPr lang="ru-RU" altLang="ru-RU" sz="1400" dirty="0">
                <a:solidFill>
                  <a:srgbClr val="000000"/>
                </a:solidFill>
                <a:latin typeface="Verdana" pitchFamily="34" charset="0"/>
                <a:cs typeface="Arial" pitchFamily="34" charset="0"/>
              </a:rPr>
              <a:t>умолчанию те элементы, которые определены позже, перекрывают те элементы, которые определены ранее. Однако </a:t>
            </a:r>
            <a:r>
              <a:rPr lang="ru-RU" altLang="ru-RU" sz="1400" dirty="0" smtClean="0">
                <a:solidFill>
                  <a:srgbClr val="000000"/>
                </a:solidFill>
                <a:latin typeface="Verdana" pitchFamily="34" charset="0"/>
                <a:cs typeface="Arial" pitchFamily="34" charset="0"/>
              </a:rPr>
              <a:t>можно </a:t>
            </a:r>
            <a:r>
              <a:rPr lang="ru-RU" altLang="ru-RU" sz="1400" dirty="0">
                <a:solidFill>
                  <a:srgbClr val="000000"/>
                </a:solidFill>
                <a:latin typeface="Verdana" pitchFamily="34" charset="0"/>
                <a:cs typeface="Arial" pitchFamily="34" charset="0"/>
              </a:rPr>
              <a:t>изменить </a:t>
            </a:r>
            <a:r>
              <a:rPr lang="ru-RU" altLang="ru-RU" sz="1400" dirty="0" smtClean="0">
                <a:solidFill>
                  <a:srgbClr val="000000"/>
                </a:solidFill>
                <a:latin typeface="Verdana" pitchFamily="34" charset="0"/>
                <a:cs typeface="Arial" pitchFamily="34" charset="0"/>
              </a:rPr>
              <a:t>с </a:t>
            </a:r>
            <a:r>
              <a:rPr lang="ru-RU" altLang="ru-RU" sz="1400" dirty="0">
                <a:solidFill>
                  <a:srgbClr val="000000"/>
                </a:solidFill>
                <a:latin typeface="Verdana" pitchFamily="34" charset="0"/>
                <a:cs typeface="Arial" pitchFamily="34" charset="0"/>
              </a:rPr>
              <a:t>помощью свойства </a:t>
            </a:r>
            <a:r>
              <a:rPr lang="ru-RU" altLang="ru-RU" sz="1400" b="1" dirty="0" err="1">
                <a:solidFill>
                  <a:srgbClr val="000000"/>
                </a:solidFill>
                <a:latin typeface="Verdana" pitchFamily="34" charset="0"/>
                <a:cs typeface="Arial" pitchFamily="34" charset="0"/>
              </a:rPr>
              <a:t>Panel.ZIndex</a:t>
            </a:r>
            <a:r>
              <a:rPr lang="ru-RU" altLang="ru-RU" sz="1400" dirty="0">
                <a:solidFill>
                  <a:srgbClr val="000000"/>
                </a:solidFill>
                <a:latin typeface="Verdana" pitchFamily="34" charset="0"/>
                <a:cs typeface="Arial" pitchFamily="34" charset="0"/>
              </a:rPr>
              <a:t>.</a:t>
            </a:r>
            <a:endParaRPr lang="ru-RU" altLang="ru-RU" sz="1400" dirty="0">
              <a:latin typeface="Arial" pitchFamily="34" charset="0"/>
              <a:cs typeface="Arial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ru-RU" altLang="ru-RU" sz="1400" dirty="0">
                <a:solidFill>
                  <a:srgbClr val="000000"/>
                </a:solidFill>
                <a:latin typeface="Verdana" pitchFamily="34" charset="0"/>
                <a:cs typeface="Arial" pitchFamily="34" charset="0"/>
              </a:rPr>
              <a:t>По умолчанию для всех создаваемых элементов </a:t>
            </a:r>
            <a:r>
              <a:rPr lang="ru-RU" altLang="ru-RU" sz="1400" dirty="0" err="1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Panel.ZIndex</a:t>
            </a:r>
            <a:r>
              <a:rPr lang="ru-RU" altLang="ru-RU" sz="1400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="0"</a:t>
            </a:r>
            <a:r>
              <a:rPr lang="ru-RU" altLang="ru-RU" sz="1400" dirty="0">
                <a:solidFill>
                  <a:srgbClr val="000000"/>
                </a:solidFill>
                <a:latin typeface="Verdana" pitchFamily="34" charset="0"/>
                <a:cs typeface="Arial" pitchFamily="34" charset="0"/>
              </a:rPr>
              <a:t>. </a:t>
            </a:r>
            <a:r>
              <a:rPr lang="ru-RU" altLang="ru-RU" sz="1400" dirty="0" smtClean="0">
                <a:solidFill>
                  <a:srgbClr val="000000"/>
                </a:solidFill>
                <a:latin typeface="Verdana" pitchFamily="34" charset="0"/>
                <a:cs typeface="Arial" pitchFamily="34" charset="0"/>
              </a:rPr>
              <a:t>Но </a:t>
            </a:r>
            <a:r>
              <a:rPr lang="ru-RU" altLang="ru-RU" sz="1400" dirty="0">
                <a:solidFill>
                  <a:srgbClr val="000000"/>
                </a:solidFill>
                <a:latin typeface="Verdana" pitchFamily="34" charset="0"/>
                <a:cs typeface="Arial" pitchFamily="34" charset="0"/>
              </a:rPr>
              <a:t>назначив данному свойству более высокое значение, </a:t>
            </a:r>
            <a:r>
              <a:rPr lang="ru-RU" altLang="ru-RU" sz="1400" dirty="0" smtClean="0">
                <a:solidFill>
                  <a:srgbClr val="000000"/>
                </a:solidFill>
                <a:latin typeface="Verdana" pitchFamily="34" charset="0"/>
                <a:cs typeface="Arial" pitchFamily="34" charset="0"/>
              </a:rPr>
              <a:t>можно передвинуть </a:t>
            </a:r>
            <a:r>
              <a:rPr lang="ru-RU" altLang="ru-RU" sz="1400" dirty="0">
                <a:solidFill>
                  <a:srgbClr val="000000"/>
                </a:solidFill>
                <a:latin typeface="Verdana" pitchFamily="34" charset="0"/>
                <a:cs typeface="Arial" pitchFamily="34" charset="0"/>
              </a:rPr>
              <a:t>его на передний план. </a:t>
            </a:r>
            <a:endParaRPr lang="ru-RU" altLang="ru-RU" sz="14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8" name="Прямоугольник 7"/>
          <p:cNvSpPr/>
          <p:nvPr/>
        </p:nvSpPr>
        <p:spPr>
          <a:xfrm>
            <a:off x="4211960" y="5805264"/>
            <a:ext cx="4572000" cy="738664"/>
          </a:xfrm>
          <a:prstGeom prst="rect">
            <a:avLst/>
          </a:prstGeom>
        </p:spPr>
        <p:txBody>
          <a:bodyPr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ru-RU" altLang="ru-RU" sz="1400" dirty="0">
                <a:solidFill>
                  <a:srgbClr val="000000"/>
                </a:solidFill>
                <a:latin typeface="Verdana" pitchFamily="34" charset="0"/>
                <a:cs typeface="Arial" pitchFamily="34" charset="0"/>
              </a:rPr>
              <a:t>Элементы с большим значением этого свойства будут перекрывать те элементы, у которых меньшее значение этого </a:t>
            </a:r>
            <a:r>
              <a:rPr lang="ru-RU" altLang="ru-RU" sz="1400" dirty="0" smtClean="0">
                <a:solidFill>
                  <a:srgbClr val="000000"/>
                </a:solidFill>
                <a:latin typeface="Verdana" pitchFamily="34" charset="0"/>
                <a:cs typeface="Arial" pitchFamily="34" charset="0"/>
              </a:rPr>
              <a:t>свойства</a:t>
            </a:r>
            <a:endParaRPr lang="ru-RU" altLang="ru-RU" sz="1400" dirty="0">
              <a:latin typeface="Arial" pitchFamily="34" charset="0"/>
              <a:cs typeface="Arial" pitchFamily="34" charset="0"/>
            </a:endParaRPr>
          </a:p>
        </p:txBody>
      </p:sp>
      <p:cxnSp>
        <p:nvCxnSpPr>
          <p:cNvPr id="10" name="Прямая со стрелкой 9"/>
          <p:cNvCxnSpPr/>
          <p:nvPr/>
        </p:nvCxnSpPr>
        <p:spPr>
          <a:xfrm flipH="1" flipV="1">
            <a:off x="5868144" y="4797152"/>
            <a:ext cx="432048" cy="115212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803767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722</TotalTime>
  <Words>3061</Words>
  <Application>Microsoft Office PowerPoint</Application>
  <PresentationFormat>Экран (4:3)</PresentationFormat>
  <Paragraphs>595</Paragraphs>
  <Slides>61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61</vt:i4>
      </vt:variant>
    </vt:vector>
  </HeadingPairs>
  <TitlesOfParts>
    <vt:vector size="62" baseType="lpstr">
      <vt:lpstr>Тема Office</vt:lpstr>
      <vt:lpstr>WPF </vt:lpstr>
      <vt:lpstr>Преимущества WPF</vt:lpstr>
      <vt:lpstr>Архитектура WPF</vt:lpstr>
      <vt:lpstr>XAML eXtensible Application Markup Language </vt:lpstr>
      <vt:lpstr>Структура и пространства имен XAML</vt:lpstr>
      <vt:lpstr>Пространства имен XAML</vt:lpstr>
      <vt:lpstr>http://schemas.microsoft.com/winfx/2006/xaml/presentation  подключает в проект пространства имен: </vt:lpstr>
      <vt:lpstr>Комментарии в XAML</vt:lpstr>
      <vt:lpstr>Элементы и их атрибуты</vt:lpstr>
      <vt:lpstr>кнопка в разметке окна:</vt:lpstr>
      <vt:lpstr>Специальные символы</vt:lpstr>
      <vt:lpstr>Презентация PowerPoint</vt:lpstr>
      <vt:lpstr>Файлы отделенного кода</vt:lpstr>
      <vt:lpstr>Презентация PowerPoint</vt:lpstr>
      <vt:lpstr>Взаимодействие кода C# и XAML</vt:lpstr>
      <vt:lpstr>кнопка и текстовое поле</vt:lpstr>
      <vt:lpstr>файл отделенного кода, добавив в него обработчик нажатия кнопки:</vt:lpstr>
      <vt:lpstr>Презентация PowerPoint</vt:lpstr>
      <vt:lpstr>Создание элементов в коде C#</vt:lpstr>
      <vt:lpstr>Презентация PowerPoint</vt:lpstr>
      <vt:lpstr>Сложные свойства и конвертеры типов</vt:lpstr>
      <vt:lpstr>Определение кнопки в коде c#</vt:lpstr>
      <vt:lpstr>type conventer  конвертеры типов</vt:lpstr>
      <vt:lpstr>Презентация PowerPoint</vt:lpstr>
      <vt:lpstr>явное использование этих объектов в коде XAML:</vt:lpstr>
      <vt:lpstr>Пространства имен из C# в XAML</vt:lpstr>
      <vt:lpstr>Презентация PowerPoint</vt:lpstr>
      <vt:lpstr>можно подключить любые пространства имен, классы которых хотим использовать в приложении:</vt:lpstr>
      <vt:lpstr>Компоновка</vt:lpstr>
      <vt:lpstr>контейнеры компоновки наследуются от абстрактного класса Panel</vt:lpstr>
      <vt:lpstr>Презентация PowerPoint</vt:lpstr>
      <vt:lpstr>Процесс компоновки </vt:lpstr>
      <vt:lpstr>Grid</vt:lpstr>
      <vt:lpstr>Презентация PowerPoint</vt:lpstr>
      <vt:lpstr>Установка размеров</vt:lpstr>
      <vt:lpstr>абсолютные размеры можно задать в пикселях, дюймах, сантиметрах или точках:</vt:lpstr>
      <vt:lpstr>Пропорциональные размеры</vt:lpstr>
      <vt:lpstr>Презентация PowerPoint</vt:lpstr>
      <vt:lpstr>UniformGrid</vt:lpstr>
      <vt:lpstr>GridSplitter</vt:lpstr>
      <vt:lpstr>Презентация PowerPoint</vt:lpstr>
      <vt:lpstr>Презентация PowerPoint</vt:lpstr>
      <vt:lpstr>GridSplitter</vt:lpstr>
      <vt:lpstr>В отличие от элемента SplitContainer в WinForms, в WPF можно установить различное количество динамически регулируемых частей окна сразу два сплитера: один между двумя верхними и нижней панелями, а второй - между правой и левой панелями</vt:lpstr>
      <vt:lpstr>StackPanel</vt:lpstr>
      <vt:lpstr>горизонтальный стек свойство Orientation="Horizontal":</vt:lpstr>
      <vt:lpstr>DockPanel</vt:lpstr>
      <vt:lpstr>Презентация PowerPoint</vt:lpstr>
      <vt:lpstr>Презентация PowerPoint</vt:lpstr>
      <vt:lpstr>Презентация PowerPoint</vt:lpstr>
      <vt:lpstr>WrapPanel</vt:lpstr>
      <vt:lpstr>Презентация PowerPoint</vt:lpstr>
      <vt:lpstr>Презентация PowerPoint</vt:lpstr>
      <vt:lpstr>Canvas</vt:lpstr>
      <vt:lpstr>Презентация PowerPoint</vt:lpstr>
      <vt:lpstr>Свойства компоновки элементов</vt:lpstr>
      <vt:lpstr>Выравнивание</vt:lpstr>
      <vt:lpstr>Презентация PowerPoint</vt:lpstr>
      <vt:lpstr>VerticalAlignment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Sony</dc:creator>
  <cp:lastModifiedBy>Sony</cp:lastModifiedBy>
  <cp:revision>52</cp:revision>
  <dcterms:created xsi:type="dcterms:W3CDTF">2016-12-04T11:47:16Z</dcterms:created>
  <dcterms:modified xsi:type="dcterms:W3CDTF">2016-12-12T13:18:15Z</dcterms:modified>
</cp:coreProperties>
</file>