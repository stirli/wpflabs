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96" r:id="rId18"/>
    <p:sldId id="274" r:id="rId19"/>
    <p:sldId id="275" r:id="rId20"/>
    <p:sldId id="276" r:id="rId21"/>
    <p:sldId id="270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A0F36-47EA-472D-97E8-B843130BED43}" type="datetimeFigureOut">
              <a:rPr lang="ru-RU" smtClean="0"/>
              <a:pPr/>
              <a:t>2016-12-19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D01DD-1553-48A5-BDA6-72A89C777BD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microsoft.com/winfx/2006/xaml" TargetMode="External"/><Relationship Id="rId2" Type="http://schemas.openxmlformats.org/officeDocument/2006/relationships/hyperlink" Target="http://schemas.microsoft.com/winfx/2006/xaml/presentati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chemas.openxmlformats.org/markup-compatibility/2006" TargetMode="External"/><Relationship Id="rId4" Type="http://schemas.openxmlformats.org/officeDocument/2006/relationships/hyperlink" Target="http://schemas.microsoft.com/expression/blend/2008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Модель событий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Маршрутизация событий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чтобы взаимодействовать</a:t>
            </a:r>
            <a:r>
              <a:rPr lang="en-US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 элементами управления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надо использовать модель событий</a:t>
            </a:r>
          </a:p>
          <a:p>
            <a:pPr>
              <a:spcAft>
                <a:spcPts val="12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WPF в отличие от других технологий, например, от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Windows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Forms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предлагает новую концепцию событий - 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маршрутизированные события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routed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events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).</a:t>
            </a:r>
          </a:p>
          <a:p>
            <a:pPr>
              <a:spcAft>
                <a:spcPts val="12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Для элементов управления в WPF определено события: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клавиатуры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мыши</a:t>
            </a: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стилуса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сенсорного экрана/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мультитач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12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жизненного цикла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Подключение обработчиков событий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786478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Подключить обработчики событий можно декларативно в файле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-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кода, а можно стандартным способом в файле отделенного кода.</a:t>
            </a:r>
          </a:p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C00000"/>
                </a:solidFill>
                <a:latin typeface="verdana"/>
              </a:rPr>
              <a:t>Декларативное подключение:</a:t>
            </a:r>
          </a:p>
          <a:p>
            <a:pPr fontAlgn="base"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Button x:Name="Button1" Content="Click" Click="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C00000"/>
                </a:solidFill>
                <a:latin typeface="verdana"/>
              </a:rPr>
              <a:t>подключим еще один обработчик в коде, чтобы при нажатии на кнопку срабатывали сразу два обработчика: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public partial class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: Window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public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    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InitializeComponent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Button1.Click += Button1_Click;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b="0" i="0" dirty="0" smtClean="0">
                <a:solidFill>
                  <a:srgbClr val="00B050"/>
                </a:solidFill>
                <a:latin typeface="Consolas"/>
              </a:rPr>
              <a:t>  //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обработчик, подключаемый в </a:t>
            </a:r>
            <a:r>
              <a:rPr lang="en-US" b="0" i="0" dirty="0" smtClean="0">
                <a:solidFill>
                  <a:srgbClr val="00B050"/>
                </a:solidFill>
                <a:latin typeface="Consolas"/>
              </a:rPr>
              <a:t>XAML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    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("Hi from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310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sz="3100" dirty="0" smtClean="0">
                <a:solidFill>
                  <a:srgbClr val="00B050"/>
                </a:solidFill>
                <a:latin typeface="Consolas"/>
              </a:rPr>
              <a:t>обработчик, подключаемый в конструкторе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Button1_Click(object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    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("Hi from Button1_Click");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8715436" cy="439718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>
                <a:solidFill>
                  <a:srgbClr val="000000"/>
                </a:solidFill>
                <a:latin typeface="verdana"/>
              </a:rPr>
              <a:t>Определение маршрутизированных событий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571480"/>
            <a:ext cx="8786874" cy="6143668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Определение маршрутизированных событий отличается от стандартного определения событий в языке 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C#. </a:t>
            </a: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Для определения маршрутизированных событий в классе создавалось статическое поле по типу </a:t>
            </a:r>
            <a:r>
              <a:rPr lang="en-US" sz="1100" b="1" i="0" dirty="0" err="1" smtClean="0">
                <a:solidFill>
                  <a:srgbClr val="000000"/>
                </a:solidFill>
                <a:latin typeface="verdana"/>
              </a:rPr>
              <a:t>RoutedEvent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sz="1100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public static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RoutedEvent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Событие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Event</a:t>
            </a: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//</a:t>
            </a:r>
            <a:r>
              <a:rPr lang="ru-RU" sz="1100" b="0" i="0" dirty="0" smtClean="0">
                <a:solidFill>
                  <a:srgbClr val="00B050"/>
                </a:solidFill>
                <a:latin typeface="verdana"/>
              </a:rPr>
              <a:t>Это поле, как правило, имеет суффикс </a:t>
            </a:r>
            <a:r>
              <a:rPr lang="en-US" sz="1100" b="0" i="1" dirty="0" smtClean="0">
                <a:solidFill>
                  <a:srgbClr val="00B050"/>
                </a:solidFill>
                <a:latin typeface="verdana"/>
              </a:rPr>
              <a:t>Event</a:t>
            </a:r>
            <a:r>
              <a:rPr lang="ru-RU" sz="1100" dirty="0" smtClean="0">
                <a:solidFill>
                  <a:srgbClr val="00B050"/>
                </a:solidFill>
                <a:latin typeface="verdana"/>
              </a:rPr>
              <a:t>,</a:t>
            </a:r>
            <a:r>
              <a:rPr lang="en-US" sz="1100" b="0" i="0" dirty="0" smtClean="0">
                <a:solidFill>
                  <a:srgbClr val="00B050"/>
                </a:solidFill>
                <a:latin typeface="verdana"/>
              </a:rPr>
              <a:t> </a:t>
            </a:r>
            <a:endParaRPr lang="ru-RU" sz="1100" b="0" i="0" dirty="0" smtClean="0">
              <a:solidFill>
                <a:srgbClr val="00B050"/>
              </a:solidFill>
              <a:latin typeface="verdana"/>
            </a:endParaRPr>
          </a:p>
          <a:p>
            <a:pPr lvl="6" fontAlgn="base">
              <a:spcAft>
                <a:spcPts val="600"/>
              </a:spcAft>
              <a:buNone/>
            </a:pPr>
            <a:r>
              <a:rPr lang="ru-RU" sz="1100" dirty="0" smtClean="0">
                <a:solidFill>
                  <a:srgbClr val="00B050"/>
                </a:solidFill>
                <a:latin typeface="verdana"/>
              </a:rPr>
              <a:t>//затем это событие регистрируется в статическом конструкторе</a:t>
            </a:r>
          </a:p>
          <a:p>
            <a:pPr>
              <a:spcAft>
                <a:spcPts val="600"/>
              </a:spcAft>
            </a:pP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И также класс, в котором создается событие, как правило определяет объект-обертку над обычным событием. В этой обертке с помощью метода </a:t>
            </a:r>
            <a:r>
              <a:rPr lang="en-US" sz="1100" b="1" i="0" dirty="0" err="1" smtClean="0">
                <a:solidFill>
                  <a:srgbClr val="000000"/>
                </a:solidFill>
                <a:latin typeface="verdana"/>
              </a:rPr>
              <a:t>AddHandler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 </a:t>
            </a: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происходит добавление обработчика для данного события, а с помощью метода </a:t>
            </a:r>
            <a:r>
              <a:rPr lang="en-US" sz="1100" b="1" i="0" dirty="0" err="1" smtClean="0">
                <a:solidFill>
                  <a:srgbClr val="000000"/>
                </a:solidFill>
                <a:latin typeface="verdana"/>
              </a:rPr>
              <a:t>RemoveHandler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удаление обработчика.</a:t>
            </a:r>
          </a:p>
          <a:p>
            <a:pPr>
              <a:spcAft>
                <a:spcPts val="600"/>
              </a:spcAft>
            </a:pP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Например, встроенный класс </a:t>
            </a:r>
            <a:r>
              <a:rPr lang="en-US" sz="1100" b="0" i="0" dirty="0" err="1" smtClean="0">
                <a:solidFill>
                  <a:srgbClr val="000000"/>
                </a:solidFill>
                <a:latin typeface="verdana"/>
              </a:rPr>
              <a:t>ButtonBase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 - </a:t>
            </a:r>
            <a:r>
              <a:rPr lang="ru-RU" sz="1100" b="0" i="0" dirty="0" smtClean="0">
                <a:solidFill>
                  <a:srgbClr val="000000"/>
                </a:solidFill>
                <a:latin typeface="verdana"/>
              </a:rPr>
              <a:t>базовый класс для всех кнопок, который определяет ряд событий, в том числе событие </a:t>
            </a:r>
            <a:r>
              <a:rPr lang="en-US" sz="1100" b="1" i="0" dirty="0" smtClean="0">
                <a:solidFill>
                  <a:srgbClr val="000000"/>
                </a:solidFill>
                <a:latin typeface="verdana"/>
              </a:rPr>
              <a:t>Click</a:t>
            </a:r>
            <a:r>
              <a:rPr lang="en-US" sz="1100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public abstract class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ContentControl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, ...{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US" sz="1100" dirty="0" smtClean="0">
                <a:solidFill>
                  <a:srgbClr val="00B050"/>
                </a:solidFill>
                <a:latin typeface="Consolas"/>
              </a:rPr>
              <a:t> // </a:t>
            </a:r>
            <a:r>
              <a:rPr lang="ru-RU" sz="1100" dirty="0" smtClean="0">
                <a:solidFill>
                  <a:srgbClr val="00B050"/>
                </a:solidFill>
                <a:latin typeface="Consolas"/>
              </a:rPr>
              <a:t>определение событие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public static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readonly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RoutedEvent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ClickEvent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;     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static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()    {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   // 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регистрация маршрутизированного события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ButtonBase.ClickEvent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EventManager.RegisterRoutedEvent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("Click", 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RoutingStrategy.Bubble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RoutedEventHandler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),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typeof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//................................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  // 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обертка над событием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public event 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RoutedEventHandler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 Click    {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add        {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   // 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добавление обработчика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base.AddHandler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ButtonBase.ClickEvent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, value);        }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remove        {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// 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удаление обработчика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            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base.RemoveHandler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0" i="0" dirty="0" err="1" smtClean="0">
                <a:solidFill>
                  <a:srgbClr val="000000"/>
                </a:solidFill>
                <a:latin typeface="Consolas"/>
              </a:rPr>
              <a:t>ButtonBase.ClickEvent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, value);        }</a:t>
            </a: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fontAlgn="base">
              <a:buNone/>
            </a:pPr>
            <a:r>
              <a:rPr lang="en-US" sz="1100" b="0" i="0" dirty="0" smtClean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100" b="0" i="0" dirty="0" smtClean="0">
                <a:solidFill>
                  <a:srgbClr val="00B050"/>
                </a:solidFill>
                <a:latin typeface="Consolas"/>
              </a:rPr>
              <a:t> // </a:t>
            </a:r>
            <a:r>
              <a:rPr lang="ru-RU" sz="1100" b="0" i="0" dirty="0" smtClean="0">
                <a:solidFill>
                  <a:srgbClr val="00B050"/>
                </a:solidFill>
                <a:latin typeface="Consolas"/>
              </a:rPr>
              <a:t>остальное содержимое класса</a:t>
            </a:r>
          </a:p>
          <a:p>
            <a:pPr fontAlgn="base">
              <a:buNone/>
            </a:pPr>
            <a:r>
              <a:rPr lang="ru-RU" sz="1100" b="0" i="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ru-RU" sz="1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86512" y="4000504"/>
            <a:ext cx="2857488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Маршрутизированные события регистрируются с помощью метода </a:t>
            </a:r>
            <a:r>
              <a:rPr lang="en-US" sz="1200" dirty="0" err="1" smtClean="0">
                <a:solidFill>
                  <a:srgbClr val="7030A0"/>
                </a:solidFill>
                <a:latin typeface="verdana"/>
              </a:rPr>
              <a:t>EventManager.RegisterRoutedEvent</a:t>
            </a:r>
            <a:r>
              <a:rPr lang="en-US" sz="1200" dirty="0" smtClean="0">
                <a:solidFill>
                  <a:srgbClr val="7030A0"/>
                </a:solidFill>
                <a:latin typeface="verdana"/>
              </a:rPr>
              <a:t>()</a:t>
            </a:r>
            <a:r>
              <a:rPr lang="en-US" sz="120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ru-RU" sz="120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В этот метод передаются последовательно имя события, тип события (поднимающееся, прямое, опускающееся), тип делегата, предназначенного для обработки события, и класс, который владеет этим событием.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Маршрутизация событий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643602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События, возникнув на одном элементе, могут обрабатываться на другом. 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могут подниматься и опускаться по дереву элементов.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маршрутизируемые события делятся на три вида: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Прямые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direct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events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 - возникают 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отрабытывают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на одном элементе и никуда дальше не передаются. Действуют как обычные события.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Поднимающиеся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bubbling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events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 - возникают на одном элементе, а потом передаются дальше к родителю - элементу-контейнеру и далее, пока не достигнет наивысшего родителя в дереве элементов.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Опускающиеся, туннельные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tunneling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events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 - начинает отрабатывать в корневом элементе окна приложения и идет далее по вложенным элементам, пока не достигнет элемента, вызвавшего это событие.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Все маршрутизируемые события используют класс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RoutedEventArgs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(или его наследников), который представляет доступ к следующим свойствам: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Sorce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элемент логического дерева, являющийся источником события.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OriginalSource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элемент визуального дерева, являющийся источником события. Обычно то же самое, что 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Source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RoutedEvent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представляет имя события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Handled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если это свойство установлено 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событие не будет подниматься и опускаться, а ограничится непосредственным источником.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Поднимающиеся события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85794"/>
            <a:ext cx="8229600" cy="5786478"/>
          </a:xfrm>
        </p:spPr>
        <p:txBody>
          <a:bodyPr>
            <a:normAutofit fontScale="40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Имеется разметка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&lt;Window x:Class="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EventsApp.MainWindow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2"/>
              </a:rPr>
              <a:t>http://schemas.microsoft.com/winfx/2006/xaml/presentation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3"/>
              </a:rPr>
              <a:t>http://schemas.microsoft.com/winfx/2006/xaml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xmlns:d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xmlns:mc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5"/>
              </a:rPr>
              <a:t>http://schemas.openxmlformats.org/markup-compatibility/2006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clr-namespace:EventsApp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Height="250" Width="400"&gt;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&lt;Grid&gt;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Width="Auto"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ColumnDefinition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="Center"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&lt;Button x:Name="button1" Width="80" Height="50"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Margin="10" 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    &lt;Ellipse Width="30" Height="30" Fill="Red"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&lt;/Button&gt;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x:Name="textBlock1"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 Padding="10" /&gt;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&lt;/Window&gt;</a:t>
            </a:r>
          </a:p>
          <a:p>
            <a:endParaRPr lang="ru-RU" dirty="0"/>
          </a:p>
        </p:txBody>
      </p:sp>
      <p:pic>
        <p:nvPicPr>
          <p:cNvPr id="4" name="Picture 2" descr="Дерево элементов в WP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15140" y="1857364"/>
            <a:ext cx="2286000" cy="22574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715008" y="785794"/>
            <a:ext cx="3428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>
                <a:solidFill>
                  <a:srgbClr val="000000"/>
                </a:solidFill>
                <a:latin typeface="verdana"/>
              </a:rPr>
              <a:t>три элемента имеют привязку к одному обработчику события, которое возникает при нажатии правой кнопки мыши</a:t>
            </a:r>
            <a:endParaRPr 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42852"/>
            <a:ext cx="4614866" cy="3268667"/>
          </a:xfrm>
        </p:spPr>
        <p:txBody>
          <a:bodyPr>
            <a:normAutofit/>
          </a:bodyPr>
          <a:lstStyle/>
          <a:p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Определим этот обработчик в файле кода </a:t>
            </a:r>
            <a:r>
              <a:rPr lang="en-US" sz="1200" b="0" i="0" dirty="0" smtClean="0">
                <a:solidFill>
                  <a:srgbClr val="000000"/>
                </a:solidFill>
                <a:latin typeface="verdana"/>
              </a:rPr>
              <a:t>C#:</a:t>
            </a:r>
            <a:endParaRPr lang="ru-RU" sz="1200" b="0" i="0" dirty="0" smtClean="0">
              <a:solidFill>
                <a:srgbClr val="000000"/>
              </a:solidFill>
              <a:latin typeface="verdana"/>
            </a:endParaRPr>
          </a:p>
          <a:p>
            <a:endParaRPr lang="en-US" sz="1200" b="0" i="0" dirty="0" smtClean="0">
              <a:solidFill>
                <a:srgbClr val="000000"/>
              </a:solidFill>
              <a:latin typeface="verdana"/>
            </a:endParaRP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MouseButtonEventArgs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textBlock1.Text = textBlock1.Text + "sender: " +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sender.ToString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() + "\n";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    textBlock1.Text = textBlock1.Text + "source: " + </a:t>
            </a:r>
            <a:r>
              <a:rPr lang="en-US" sz="1200" b="0" i="0" dirty="0" err="1" smtClean="0">
                <a:solidFill>
                  <a:srgbClr val="000000"/>
                </a:solidFill>
                <a:latin typeface="Consolas"/>
              </a:rPr>
              <a:t>e.Source.ToString</a:t>
            </a: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() + "\n\n";</a:t>
            </a:r>
          </a:p>
          <a:p>
            <a:pPr fontAlgn="base"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ru-RU" sz="1200" b="0" i="0" dirty="0" smtClean="0">
                <a:solidFill>
                  <a:srgbClr val="000000"/>
                </a:solidFill>
                <a:latin typeface="verdana"/>
              </a:rPr>
              <a:t>Обработчик выводит информацию о событии в текстовый блок.</a:t>
            </a:r>
          </a:p>
          <a:p>
            <a:endParaRPr lang="ru-RU" dirty="0"/>
          </a:p>
        </p:txBody>
      </p:sp>
      <p:pic>
        <p:nvPicPr>
          <p:cNvPr id="5" name="Picture 2" descr="http://metanit.com/sharp/wpf/pics/6.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4" y="142852"/>
            <a:ext cx="3676650" cy="2314575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571472" y="3143249"/>
            <a:ext cx="592935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событие </a:t>
            </a:r>
            <a:r>
              <a:rPr lang="ru-RU" sz="1400" b="1" dirty="0" err="1" smtClean="0">
                <a:solidFill>
                  <a:srgbClr val="000000"/>
                </a:solidFill>
                <a:latin typeface="verdana"/>
              </a:rPr>
              <a:t>MouseDown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 является поднимающимся, то при нажатии правой кнопкой мыши на элемент самого нижнего уровня -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Ellipse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, событие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MouseDown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 будет подниматься к контейнерам и отработает три раза последовательно для всех элементов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Ellipse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Button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StackPanel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614866" cy="725470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rgbClr val="000000"/>
                </a:solidFill>
                <a:latin typeface="verdana"/>
              </a:rPr>
              <a:t>Туннельные события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3672408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Туннельные события действуют прямо противоположным способом: все они начинаются со слова </a:t>
            </a:r>
            <a:r>
              <a:rPr lang="en-US" b="1" i="0" dirty="0" smtClean="0">
                <a:solidFill>
                  <a:srgbClr val="000000"/>
                </a:solidFill>
                <a:latin typeface="verdana"/>
              </a:rPr>
              <a:t>Preview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.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Предыдущий пример,  заменили событие </a:t>
            </a:r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MouseDown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на </a:t>
            </a:r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PreviewMouseDown</a:t>
            </a:r>
            <a:endParaRPr lang="en-US" b="1" i="0" dirty="0" smtClean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VerticalAlignment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="Center"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PreviewMouseDown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&lt;Button x:Name="button1" Width="80" Height="50"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PreviewMouseDown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Margin="10" 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&lt;Ellipse Width="30" Height="30" Fill="Red"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PreviewMouseDown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Control_MouseDown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&lt;/Button&gt;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нажатии на элемент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Ellipse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событие сначала отработает на элементе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StackPanel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последовательно на элементе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Button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закончится на элементе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Ellipse</a:t>
            </a:r>
          </a:p>
          <a:p>
            <a:endParaRPr lang="ru-RU" dirty="0"/>
          </a:p>
        </p:txBody>
      </p:sp>
      <p:pic>
        <p:nvPicPr>
          <p:cNvPr id="3074" name="Picture 2" descr="http://metanit.com/sharp/wpf/pics/6.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4365104"/>
            <a:ext cx="3676650" cy="2314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verdana"/>
              </a:rPr>
              <a:t>Прикрепляемые события (</a:t>
            </a:r>
            <a:r>
              <a:rPr lang="en-US" sz="2800" b="1" dirty="0">
                <a:solidFill>
                  <a:srgbClr val="000000"/>
                </a:solidFill>
                <a:latin typeface="verdana"/>
              </a:rPr>
              <a:t>Attached events</a:t>
            </a:r>
            <a:r>
              <a:rPr lang="en-US" sz="2800" b="1" dirty="0" smtClean="0">
                <a:solidFill>
                  <a:srgbClr val="000000"/>
                </a:solidFill>
                <a:latin typeface="verdana"/>
              </a:rPr>
              <a:t>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904656"/>
          </a:xfrm>
        </p:spPr>
        <p:txBody>
          <a:bodyPr>
            <a:normAutofit fontScale="400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у нас есть несколько элементов одного и того же типа и хотим привязать их к одному событию, то можно воспользоваться прикрепляемыми событиями.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группа элементов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и, чтобы вывести при выборе любого из них выбранное значение, приходилось у каждого определять обработчик события(не оптимальная модель), применим прикрепляемые события: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x:Name="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menuSelector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Grid.Column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RadioButton.Checked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="menu" Content="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Салат Оливье"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="menu" Content="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Котлета по-киевски"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="menu" Content="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Пицца с овощами"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GroupName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="menu" Content="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Мясной рулет" /&gt;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StackPanel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Обработчик для прикрепляемого события задается в формате 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1" i="1" dirty="0" err="1" smtClean="0">
                <a:solidFill>
                  <a:srgbClr val="FF0000"/>
                </a:solidFill>
                <a:latin typeface="verdana"/>
              </a:rPr>
              <a:t>Имя_класса.Название_события</a:t>
            </a:r>
            <a:r>
              <a:rPr lang="ru-RU" b="1" i="1" dirty="0" smtClean="0">
                <a:solidFill>
                  <a:srgbClr val="FF0000"/>
                </a:solidFill>
                <a:latin typeface="verdana"/>
              </a:rPr>
              <a:t>="</a:t>
            </a:r>
            <a:r>
              <a:rPr lang="ru-RU" b="1" i="1" dirty="0">
                <a:solidFill>
                  <a:srgbClr val="FF0000"/>
                </a:solidFill>
                <a:latin typeface="verdana"/>
              </a:rPr>
              <a:t>Обработчик" </a:t>
            </a:r>
            <a:endParaRPr lang="ru-RU" b="1" dirty="0">
              <a:solidFill>
                <a:srgbClr val="FF0000"/>
              </a:solidFill>
              <a:latin typeface="verdan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коде можно прописать: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selectedRadio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e.Source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textBlock1.Text = 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Вы выбрали: " +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selectedRadio.Content.ToString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на текстовый блок выводится выбранный пункт.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Также обработчик для прикрепляемого события можно задать в коде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c#: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menuSelector.AddHandler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RadioButton.CheckedEvent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, new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RoutedEventHandler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RadioButton_Click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));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56176" y="2708920"/>
            <a:ext cx="298782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атрибут </a:t>
            </a:r>
            <a:r>
              <a:rPr lang="en-US" sz="1400" dirty="0" err="1">
                <a:solidFill>
                  <a:srgbClr val="000000"/>
                </a:solidFill>
                <a:latin typeface="verdana"/>
              </a:rPr>
              <a:t>RadioButton.Checked</a:t>
            </a:r>
            <a:r>
              <a:rPr lang="en-US" sz="1400" dirty="0">
                <a:solidFill>
                  <a:srgbClr val="000000"/>
                </a:solidFill>
                <a:latin typeface="verdana"/>
              </a:rPr>
              <a:t>="</a:t>
            </a:r>
            <a:r>
              <a:rPr lang="en-US" sz="1400" dirty="0" err="1">
                <a:solidFill>
                  <a:srgbClr val="000000"/>
                </a:solidFill>
                <a:latin typeface="verdana"/>
              </a:rPr>
              <a:t>RadioButton_Click</a:t>
            </a:r>
            <a:r>
              <a:rPr lang="en-US" sz="1400" dirty="0">
                <a:solidFill>
                  <a:srgbClr val="000000"/>
                </a:solidFill>
                <a:latin typeface="verdana"/>
              </a:rPr>
              <a:t>" </a:t>
            </a:r>
            <a:endParaRPr lang="ru-RU" sz="14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закрепляет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все радиокнопки на </a:t>
            </a:r>
            <a:r>
              <a:rPr lang="en-US" sz="1400" dirty="0" err="1">
                <a:solidFill>
                  <a:srgbClr val="000000"/>
                </a:solidFill>
                <a:latin typeface="verdana"/>
              </a:rPr>
              <a:t>StackPanel</a:t>
            </a:r>
            <a:r>
              <a:rPr lang="en-US" sz="14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за одним обработчиком 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6372200" y="1988840"/>
            <a:ext cx="72008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События клавиатуры</a:t>
            </a:r>
            <a:br>
              <a:rPr lang="ru-RU" b="1" i="0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071547"/>
          <a:ext cx="8229600" cy="339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974"/>
                <a:gridCol w="1857388"/>
                <a:gridCol w="4186238"/>
              </a:tblGrid>
              <a:tr h="500065">
                <a:tc>
                  <a:txBody>
                    <a:bodyPr/>
                    <a:lstStyle/>
                    <a:p>
                      <a:r>
                        <a:rPr lang="ru-RU" dirty="0"/>
                        <a:t>Событие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Тип события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KeyDown</a:t>
                      </a:r>
                      <a:endParaRPr lang="en-US" dirty="0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нажатии клавиши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PreviewKeyDown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Возникает </a:t>
                      </a:r>
                      <a:r>
                        <a:rPr lang="ru-RU" dirty="0"/>
                        <a:t>при нажатии клавиши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KeyUp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освобождении клавиши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PreviewKeyUp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освобождении клавиши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TextInput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получении элементом текстового ввода (генерируется не только клавиатурой, но и стилусом)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PreviewTextInput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получении элементом текстового ввода</a:t>
                      </a: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775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клавиатуры 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KeyUp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/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PreviewKeyUp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/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PreviewKeyDown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 принимают в качестве аргумента объект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KeyEventArgs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у которого следующие свойства: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Key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получить нажатую или отпущенную клавишу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SystemKey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узнать, нажата ли системная клавиша, например,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Alt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KeyboardDevice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получает объект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KeyboardDevice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представляющее устройство клавиатуры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IsRepeat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указывает, что клавиша удерживается в нажатом положении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IsUp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и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указывает, была ли клавиша нажата или отпущена</a:t>
            </a:r>
          </a:p>
          <a:p>
            <a:pPr lvl="1"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IsToggled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указывает, была ли клавиша включена - относится только к включаемым клавишам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Caps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Scroll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Num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22912" cy="490066"/>
          </a:xfrm>
        </p:spPr>
        <p:txBody>
          <a:bodyPr>
            <a:normAutofit fontScale="90000"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событие </a:t>
            </a:r>
            <a:r>
              <a:rPr lang="en-US" sz="1600" dirty="0" err="1">
                <a:solidFill>
                  <a:srgbClr val="000000"/>
                </a:solidFill>
                <a:latin typeface="verdana"/>
              </a:rPr>
              <a:t>KeyDown</a:t>
            </a:r>
            <a:r>
              <a:rPr lang="en-US" sz="1600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для текстового поля и </a:t>
            </a:r>
            <a:r>
              <a:rPr lang="ru-RU" sz="1600" dirty="0" smtClean="0">
                <a:solidFill>
                  <a:srgbClr val="000000"/>
                </a:solidFill>
                <a:latin typeface="verdana"/>
              </a:rPr>
              <a:t>вывод данных </a:t>
            </a:r>
            <a:r>
              <a:rPr lang="ru-RU" sz="1600" dirty="0">
                <a:solidFill>
                  <a:srgbClr val="000000"/>
                </a:solidFill>
                <a:latin typeface="verdana"/>
              </a:rPr>
              <a:t>о нажатой клавише в текстовый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блок:</a:t>
            </a:r>
            <a:br>
              <a:rPr lang="ru-RU" sz="1400" dirty="0">
                <a:solidFill>
                  <a:srgbClr val="000000"/>
                </a:solidFill>
                <a:latin typeface="verdana"/>
              </a:rPr>
            </a:br>
            <a:endParaRPr lang="ru-RU" sz="1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904656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Window x:Class="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EventsApp.MainWindow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2"/>
              </a:rPr>
              <a:t>http://schemas.microsoft.com/winfx/2006/xaml/presentation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3"/>
              </a:rPr>
              <a:t>http://schemas.microsoft.com/winfx/2006/xaml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xmlns:d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xmlns:mc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smtClean="0">
                <a:solidFill>
                  <a:srgbClr val="DB003E"/>
                </a:solidFill>
                <a:latin typeface="Consolas"/>
                <a:hlinkClick r:id="rId5"/>
              </a:rPr>
              <a:t>http://schemas.openxmlformats.org/markup-compatibility/2006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clr-namespace:EventsApp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Height="250" Width="400"&gt;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&lt;Grid&gt;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KeyDown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TextBox_KeyDown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  /&gt;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TextBlock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x:Name="textBlock1"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Grid.Row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="1" /&gt;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&lt;/Window&gt;</a:t>
            </a:r>
          </a:p>
          <a:p>
            <a:pPr marL="0" indent="0">
              <a:buNone/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файле кода обработчик 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TextBox_KeyDown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: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endParaRPr lang="en-US" b="0" i="0" dirty="0" smtClean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TextBox_KeyDown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KeyEventArgs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textBlock1.Text +=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e.Key.ToString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marL="0" indent="0"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текстовый блок добавляется текстовое представление нажатой клавиши в текстовом поле</a:t>
            </a:r>
            <a:endParaRPr lang="ru-RU" dirty="0"/>
          </a:p>
        </p:txBody>
      </p:sp>
      <p:pic>
        <p:nvPicPr>
          <p:cNvPr id="17410" name="Picture 2" descr="События клавиатуры в WP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67350" y="116632"/>
            <a:ext cx="3676650" cy="2314575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5148064" y="2564904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при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нажатии специальных клавиш или кавычек будут добавляться их полные текстовые представления, например, для кавычек - </a:t>
            </a:r>
            <a:r>
              <a:rPr lang="ru-RU" sz="1400" dirty="0" err="1" smtClean="0">
                <a:solidFill>
                  <a:srgbClr val="000000"/>
                </a:solidFill>
                <a:latin typeface="verdana"/>
              </a:rPr>
              <a:t>OemQuotes</a:t>
            </a:r>
            <a:endParaRPr lang="ru-RU" sz="1400" dirty="0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260648"/>
            <a:ext cx="8589640" cy="6441579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надо отловить нажатие какой-то определенной клавиши, то можно ее проверить через перечисление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Key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if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e.Key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==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Key.OemQuotes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textBlock1.Text += "'"; // добавляем кавычки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else</a:t>
            </a:r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textBlock1.Text +=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e.Key.ToString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Объект 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KeyboardDevice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нам получить ряд дополнительных данных о событиях клавиатуры через свойства 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методовы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Modifiers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узнать, какая клавиша была нажата вместе с основной (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Ctrl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Shift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Alt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)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IsKeyDown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определяет, была ли нажата определенная клавиша во время события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IsKeyUp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узнать, была ли отжата определенная клавиша во время события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IsKeyToggled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позволяет узнать, была ли во время события включена клавиша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Caps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Scroll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или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Num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Lock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GetKeyStates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 возвращает одно из значений перечисления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KeyStates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которое указывает на состояние клавиши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285728"/>
            <a:ext cx="8572560" cy="6286544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Пример использования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KeyEventArgs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 одновременном нажатии двух клавиш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Shift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F1: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TextBox_KeyDown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KeyEventArgs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if (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e.KeyboardDevice.Modifiers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ModifierKeys.Shift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&amp;&amp;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e.Key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== Key.F1)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("HELLO");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События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/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PreviewTextInput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качестве параметра принимают объект </a:t>
            </a:r>
            <a:r>
              <a:rPr lang="en-US" b="1" i="0" dirty="0" err="1" smtClean="0">
                <a:solidFill>
                  <a:srgbClr val="000000"/>
                </a:solidFill>
                <a:latin typeface="verdana"/>
              </a:rPr>
              <a:t>TextCompositionEventArgs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.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Из его свойств стоит отметить, пожалуй, только свойство 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Text,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которое получает введенный текст, именно текст, а не текстовое представление клавиши. Для этого добавим к текстовому полю обработчик:</a:t>
            </a:r>
          </a:p>
          <a:p>
            <a:pPr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Height="40" Width="260"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PreviewTextInput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TextBox_TextInput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 /&gt;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определим обработчик в файле кода: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TextBox_TextInput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TextCompositionEventArgs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textBlock1.Text +=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e.Text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Причем в данном случае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обрабатыв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ается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именно событие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PreviewTextInput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а не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так как элемент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TextBox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подавляет событие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,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вместо него генерирует событие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TextChanged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. 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большинства других элементов управления, например, кнопок, событие 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TextInput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прекрасно срабатывает.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200" b="1" dirty="0" err="1">
                <a:solidFill>
                  <a:srgbClr val="000000"/>
                </a:solidFill>
                <a:latin typeface="verdana"/>
              </a:rPr>
              <a:t>Валидация</a:t>
            </a:r>
            <a:r>
              <a:rPr lang="ru-RU" sz="3200" b="1" dirty="0">
                <a:solidFill>
                  <a:srgbClr val="000000"/>
                </a:solidFill>
                <a:latin typeface="verdana"/>
              </a:rPr>
              <a:t> текстового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ввода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92696"/>
            <a:ext cx="8712968" cy="5832648"/>
          </a:xfrm>
        </p:spPr>
        <p:txBody>
          <a:bodyPr>
            <a:normAutofit fontScale="40000" lnSpcReduction="20000"/>
          </a:bodyPr>
          <a:lstStyle/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ввод номера телефона, обработка двух событий в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xaml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TextBox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PreviewTextInput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TextBox_PreviewTextInput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PreviewKeyDown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TextBox_PreviewKeyDown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  /&gt;</a:t>
            </a:r>
          </a:p>
          <a:p>
            <a:pPr marL="0" indent="0" fontAlgn="base">
              <a:buNone/>
            </a:pPr>
            <a:endParaRPr lang="ru-RU" b="0" i="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в файле кода обработчики:</a:t>
            </a:r>
          </a:p>
          <a:p>
            <a:pPr marL="0" indent="0"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private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void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TextBox_PreviewTextInput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object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sender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TextCompositionEventArgs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int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val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if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(!Int32.TryParse(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e.Text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out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val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) &amp;&amp;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e.Text!=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"-")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{    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e.Handled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ru-RU" b="0" i="0" dirty="0" smtClean="0">
                <a:solidFill>
                  <a:srgbClr val="00B050"/>
                </a:solidFill>
                <a:latin typeface="Consolas"/>
              </a:rPr>
              <a:t>// отклоняем ввод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marL="0" indent="0" fontAlgn="base">
              <a:buNone/>
            </a:pP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private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void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TextBox_PreviewKeyDown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object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sender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KeyEventArgs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if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(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e.Key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==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Key.Space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{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e.Handled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ru-RU" b="0" i="0" dirty="0" err="1" smtClean="0">
                <a:solidFill>
                  <a:srgbClr val="000000"/>
                </a:solidFill>
                <a:latin typeface="Consolas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; </a:t>
            </a:r>
            <a:r>
              <a:rPr lang="ru-RU" sz="3300" dirty="0">
                <a:solidFill>
                  <a:srgbClr val="00B050"/>
                </a:solidFill>
                <a:latin typeface="Consolas"/>
              </a:rPr>
              <a:t>// если пробел, отклоняем ввод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    }</a:t>
            </a:r>
          </a:p>
          <a:p>
            <a:pPr marL="0" indent="0" fontAlgn="base"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Для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валидации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ввода надо использовать обработчики для двух событий -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PreviewKeyDown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PreviewTextInput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нажатия не всех клавиш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PreviewTextInput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обрабатывает(нажатие на клавишу пробела не обрабатывается). Поэтому также применяется обработка и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PreviewKeyDown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</a:t>
            </a:r>
          </a:p>
          <a:p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Сами обработчики проверяют ввод и если ввод соответствует критериям, то он отклоняется с помощью установки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e.Handled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 =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true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. Т. е. событие обработано, а введенные текстовые символы не будут появляться в текстовом поле(в данном случае пользователь может вводить только цифровые символы и пробел в соответствии с форматом телефонного номера)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События мыши и фокуса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214281" y="714356"/>
          <a:ext cx="8929719" cy="548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711"/>
                <a:gridCol w="1785950"/>
                <a:gridCol w="3929058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Событие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события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GotMouseCapture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получении фокуса с помощью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LostMouseCapture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потере фокуса с помощью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MouseEnter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Прямое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вхождении указателя мыши в пределы элемента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MouseLeave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Прямое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Возникает, когда указатель мыши выходит за пределы элемента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MouseLeftButtonDown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нажатии левой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PreviewMouseLeftButtonDown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нажатии левой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MouseLeftButtonUp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освобождении левой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PreviewMouseLeftButtonUp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Возникает при освобождении левой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MouseRightButtonDown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правой кнопки мыши</a:t>
                      </a: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57255149"/>
              </p:ext>
            </p:extLst>
          </p:nvPr>
        </p:nvGraphicFramePr>
        <p:xfrm>
          <a:off x="208698" y="188640"/>
          <a:ext cx="8929719" cy="6221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711"/>
                <a:gridCol w="1785950"/>
                <a:gridCol w="3929058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Событие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события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PreviewMouseRightButtonDown</a:t>
                      </a:r>
                      <a:endParaRPr lang="en-US" dirty="0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правой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MouseRightButtonUp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освобождении правой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PreviewMouseRightButtonUp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освобождении правой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PreviewMouseDown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нажатии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MouseUp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освобождении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PreviewMouseUp</a:t>
                      </a:r>
                      <a:endParaRPr lang="en-US" dirty="0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освобождении кнопки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MouseMove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передвижении указателя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PreviewMouseMove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передвижении указателя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MouseWheel</a:t>
                      </a:r>
                      <a:endParaRPr lang="en-US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Поднимающееся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передвижении колесика мыши</a:t>
                      </a:r>
                    </a:p>
                  </a:txBody>
                  <a:tcPr marL="9525" marR="9525" marT="9525" marB="9525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PreviewMouseWheel</a:t>
                      </a:r>
                      <a:endParaRPr lang="en-US" dirty="0"/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/>
                        <a:t>Туннельное</a:t>
                      </a: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Возникает при передвижении колесика мыши</a:t>
                      </a: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8204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332656"/>
            <a:ext cx="8712968" cy="6336704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Если не хотим, чтобы элемент генерировал события мыши, то можно у него установить свойство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IsHitTestVisible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="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False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"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Большинство обработчиков событий мыши в качестве параметра получают объект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MouseEventArgs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свойства и методы: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ButtonState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возвращает состояние кнопки мыши. Хранит одно из значений перечисления 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MouseButtonState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Pressed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кнопка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наата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Released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кнопка отжата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ChangedButton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получает кнопку, которая ассоциирована с данным событием. Хранит одно из значений перечисления </a:t>
            </a: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MouseButton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Left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левая кнопка мыши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Middle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средняя кнопка мыши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Right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правая кнопка мыши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XButton1: дополнительная кнопка мыши</a:t>
            </a:r>
          </a:p>
          <a:p>
            <a:pPr lvl="1">
              <a:spcAft>
                <a:spcPts val="600"/>
              </a:spcAft>
              <a:buFont typeface="Arial"/>
              <a:buChar char="•"/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XButton2: дополнительная кнопка мыши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ClickCount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число сделанных нажатий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LeftButton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состояние левой кнопки мыши в виде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MouseButtonState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MiddleButton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состояние средней кнопки мыши в виде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MouseButtonState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RightButton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состояние правой кнопки мыши в виде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MouseButtonState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XButton1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состояние первой дополнительной кнопки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XButton2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хранит состояние второй дополнительной кнопки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i="0" dirty="0" err="1" smtClean="0">
                <a:solidFill>
                  <a:srgbClr val="000000"/>
                </a:solidFill>
                <a:latin typeface="verdana"/>
              </a:rPr>
              <a:t>GetPosition</a:t>
            </a:r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: метод, который возвращает координаты нажатия в виде объекта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Point</a:t>
            </a:r>
            <a:endParaRPr lang="ru-RU" b="0" i="0" dirty="0" smtClean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104457"/>
          </a:xfrm>
        </p:spPr>
        <p:txBody>
          <a:bodyPr>
            <a:normAutofit fontScale="62500" lnSpcReduction="20000"/>
          </a:bodyPr>
          <a:lstStyle/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используем метод </a:t>
            </a:r>
            <a:r>
              <a:rPr lang="en-US" b="0" i="0" dirty="0" err="1" smtClean="0">
                <a:solidFill>
                  <a:srgbClr val="000000"/>
                </a:solidFill>
                <a:latin typeface="verdana"/>
              </a:rPr>
              <a:t>GetPosition</a:t>
            </a:r>
            <a:r>
              <a:rPr lang="en-US" b="0" i="0" dirty="0" smtClean="0">
                <a:solidFill>
                  <a:srgbClr val="000000"/>
                </a:solidFill>
                <a:latin typeface="verdana"/>
              </a:rPr>
              <a:t>()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, для этого установим для </a:t>
            </a:r>
            <a:r>
              <a:rPr lang="ru-RU" b="0" i="0" dirty="0" err="1" smtClean="0">
                <a:solidFill>
                  <a:srgbClr val="000000"/>
                </a:solidFill>
                <a:latin typeface="verdana"/>
              </a:rPr>
              <a:t>грида</a:t>
            </a: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 обработчик: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Grid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="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"&gt;</a:t>
            </a:r>
          </a:p>
          <a:p>
            <a:pPr>
              <a:spcAft>
                <a:spcPts val="600"/>
              </a:spcAft>
            </a:pPr>
            <a:r>
              <a:rPr lang="ru-RU" b="0" i="0" dirty="0" smtClean="0">
                <a:solidFill>
                  <a:srgbClr val="000000"/>
                </a:solidFill>
                <a:latin typeface="verdana"/>
              </a:rPr>
              <a:t>И определим этот обработчик: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Grid_MouseDown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MouseButtonEventArgs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Point p = 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e.GetPosition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(this);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("</a:t>
            </a:r>
            <a:r>
              <a:rPr lang="ru-RU" b="0" i="0" dirty="0" smtClean="0">
                <a:solidFill>
                  <a:srgbClr val="000000"/>
                </a:solidFill>
                <a:latin typeface="Consolas"/>
              </a:rPr>
              <a:t>Координата 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x=" +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p.X.ToString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()+ " y="+</a:t>
            </a:r>
            <a:r>
              <a:rPr lang="en-US" b="0" i="0" dirty="0" err="1" smtClean="0">
                <a:solidFill>
                  <a:srgbClr val="000000"/>
                </a:solidFill>
                <a:latin typeface="Consolas"/>
              </a:rPr>
              <a:t>p.Y.ToString</a:t>
            </a: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en-US" b="0" i="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i="0" dirty="0" smtClean="0">
                <a:solidFill>
                  <a:srgbClr val="000000"/>
                </a:solidFill>
                <a:latin typeface="verdana"/>
              </a:rPr>
              <a:t>События перетаскивания</a:t>
            </a:r>
            <a:br>
              <a:rPr lang="ru-RU" b="1" i="0" dirty="0" smtClean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latin typeface="verdana"/>
              </a:rPr>
              <a:t>События перетаскивания (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drag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&amp;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drop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) связаны с перетаскиванием элементов, когда пользователь, нажимая на элементе мышкой и удерживая мышь нажатой, перемещает указатель на другой элемент, тем самым перемещая на этот элемент ранее нажатый.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0000"/>
                </a:solidFill>
                <a:latin typeface="verdana"/>
              </a:rPr>
              <a:t>События перетаскивания</a:t>
            </a:r>
            <a:br>
              <a:rPr lang="ru-RU" b="1" dirty="0">
                <a:solidFill>
                  <a:srgbClr val="000000"/>
                </a:solidFill>
                <a:latin typeface="verdana"/>
              </a:rPr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26662632"/>
              </p:ext>
            </p:extLst>
          </p:nvPr>
        </p:nvGraphicFramePr>
        <p:xfrm>
          <a:off x="251520" y="980728"/>
          <a:ext cx="8712968" cy="455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124"/>
                <a:gridCol w="1982173"/>
                <a:gridCol w="4737671"/>
              </a:tblGrid>
              <a:tr h="432048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Событие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Тип события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>
                          <a:effectLst/>
                        </a:rPr>
                        <a:t>Описание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 dirty="0" err="1">
                          <a:effectLst/>
                        </a:rPr>
                        <a:t>DragEnter</a:t>
                      </a:r>
                      <a:endParaRPr lang="en-GB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перетаскивании при вхождении указателя мыши в пределы элемента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DragOver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перемещении курсора в пределах границ элемента управления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DragLeave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перемещении курсора мыши за пределы элемента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Drop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завершении перетаскивания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 dirty="0" err="1">
                          <a:effectLst/>
                        </a:rPr>
                        <a:t>PreviewDragEnter</a:t>
                      </a:r>
                      <a:endParaRPr lang="en-GB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 err="1">
                          <a:effectLst/>
                        </a:rPr>
                        <a:t>Тунельное</a:t>
                      </a:r>
                      <a:endParaRPr lang="ru-RU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перетаскивании при вхождении указателя мыши в пределы элемента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PreviewDragOver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 err="1">
                          <a:effectLst/>
                        </a:rPr>
                        <a:t>Тунельное</a:t>
                      </a:r>
                      <a:endParaRPr lang="ru-RU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перемещении курсора в пределах границ элемента управления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PreviewDragLeave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 err="1">
                          <a:effectLst/>
                        </a:rPr>
                        <a:t>Тунельное</a:t>
                      </a:r>
                      <a:endParaRPr lang="ru-RU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перемещении курсора мыши за пределы элемента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GB" b="1">
                          <a:effectLst/>
                        </a:rPr>
                        <a:t>PreviewDrop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ru-RU" dirty="0" err="1">
                          <a:effectLst/>
                        </a:rPr>
                        <a:t>Тунельное</a:t>
                      </a:r>
                      <a:endParaRPr lang="ru-RU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dirty="0">
                          <a:effectLst/>
                        </a:rPr>
                        <a:t>Возникает при завершении перетаскивания</a:t>
                      </a:r>
                    </a:p>
                  </a:txBody>
                  <a:tcPr marL="7620" marR="7620" marT="7620" marB="76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События </a:t>
            </a:r>
            <a:r>
              <a:rPr lang="ru-RU" sz="3200" b="1" dirty="0" smtClean="0">
                <a:solidFill>
                  <a:srgbClr val="000000"/>
                </a:solidFill>
                <a:latin typeface="verdana"/>
              </a:rPr>
              <a:t>перетаскивания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764704"/>
            <a:ext cx="8856984" cy="5976664"/>
          </a:xfrm>
        </p:spPr>
        <p:txBody>
          <a:bodyPr>
            <a:normAutofit fontScale="5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используют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объект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DragEventArgs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который имеет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свойства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методы: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GetPosition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возвращает позицию мыши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Data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объект, представляющий буфер обмена - то есть те данные, которые перемещаются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Effects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и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AllowedEffects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представляют эффект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перетаскивния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Хранят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одно из значений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перечисления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DragDropEffects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All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данные копируются из источника в целевой элемент с удалением из источника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Copy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данные просто копируются из источника в целевой элемент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Link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данные из источника связываются с данными из целевого элемента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Move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данные перемещаются из источника в целевой элемент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None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отсутствие эффекта</a:t>
            </a:r>
          </a:p>
          <a:p>
            <a:pPr lvl="1">
              <a:buFont typeface="Arial"/>
              <a:buChar char="•"/>
            </a:pPr>
            <a:r>
              <a:rPr lang="ru-RU" dirty="0" err="1">
                <a:solidFill>
                  <a:srgbClr val="000000"/>
                </a:solidFill>
                <a:latin typeface="verdana"/>
              </a:rPr>
              <a:t>Scroll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данные прокручиваются при копировании в целевой элемент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ru-RU" b="1" dirty="0" err="1">
                <a:solidFill>
                  <a:srgbClr val="000000"/>
                </a:solidFill>
                <a:latin typeface="verdana"/>
              </a:rPr>
              <a:t>KeyStates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 хранит значение из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перечисления </a:t>
            </a:r>
            <a:r>
              <a:rPr lang="ru-RU" b="1" dirty="0" err="1" smtClean="0">
                <a:solidFill>
                  <a:srgbClr val="000000"/>
                </a:solidFill>
                <a:latin typeface="verdana"/>
              </a:rPr>
              <a:t>DragDropKeyStates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, которое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указывает, какая клавиша клавиатуры или мыши зажата во время перетаскивания: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LeftMouseButton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RightMouseButton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MiddleMouseButton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ShiftKey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ControlKey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AltKey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 lvl="1">
              <a:buFont typeface="Arial"/>
              <a:buChar char="•"/>
            </a:pP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None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8609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en-GB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Window x:Class="EventsApp.MainWindow"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xmlns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2"/>
              </a:rPr>
              <a:t>http://schemas.microsoft.com/</a:t>
            </a:r>
            <a:r>
              <a:rPr lang="en-GB" dirty="0" err="1">
                <a:solidFill>
                  <a:srgbClr val="DB003E"/>
                </a:solidFill>
                <a:latin typeface="Consolas"/>
                <a:hlinkClick r:id="rId2"/>
              </a:rPr>
              <a:t>winfx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2"/>
              </a:rPr>
              <a:t>/2006/</a:t>
            </a:r>
            <a:r>
              <a:rPr lang="en-GB" dirty="0" err="1">
                <a:solidFill>
                  <a:srgbClr val="DB003E"/>
                </a:solidFill>
                <a:latin typeface="Consolas"/>
                <a:hlinkClick r:id="rId2"/>
              </a:rPr>
              <a:t>xaml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2"/>
              </a:rPr>
              <a:t>/presentation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xmlns:x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3"/>
              </a:rPr>
              <a:t>http://schemas.microsoft.com/</a:t>
            </a:r>
            <a:r>
              <a:rPr lang="en-GB" dirty="0" err="1">
                <a:solidFill>
                  <a:srgbClr val="DB003E"/>
                </a:solidFill>
                <a:latin typeface="Consolas"/>
                <a:hlinkClick r:id="rId3"/>
              </a:rPr>
              <a:t>winfx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3"/>
              </a:rPr>
              <a:t>/2006/</a:t>
            </a:r>
            <a:r>
              <a:rPr lang="en-GB" dirty="0" err="1">
                <a:solidFill>
                  <a:srgbClr val="DB003E"/>
                </a:solidFill>
                <a:latin typeface="Consolas"/>
                <a:hlinkClick r:id="rId3"/>
              </a:rPr>
              <a:t>xaml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xmlns:d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4"/>
              </a:rPr>
              <a:t>http://schemas.microsoft.com/expression/blend/2008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xmlns:mc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5"/>
              </a:rPr>
              <a:t>http://schemas.openxmlformats.org/</a:t>
            </a:r>
            <a:r>
              <a:rPr lang="en-GB" dirty="0" err="1">
                <a:solidFill>
                  <a:srgbClr val="DB003E"/>
                </a:solidFill>
                <a:latin typeface="Consolas"/>
                <a:hlinkClick r:id="rId5"/>
              </a:rPr>
              <a:t>markup</a:t>
            </a:r>
            <a:r>
              <a:rPr lang="en-GB" dirty="0">
                <a:solidFill>
                  <a:srgbClr val="DB003E"/>
                </a:solidFill>
                <a:latin typeface="Consolas"/>
                <a:hlinkClick r:id="rId5"/>
              </a:rPr>
              <a:t>-compatibility/2006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xmlns:local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clr-namespace:EventsApp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mc:Ignorable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="d"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Title="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MainWindow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 Height="250" Width="400"&gt;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&lt;Grid&gt;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RowDefinition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/&gt;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Grid.RowDefinitions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    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x:Name="textBox1"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MouseDown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="textBox1_MouseDown" /&gt;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&lt;/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DockPanel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    &lt;Button x:Name="button1"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Grid.Row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="1"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AllowDrop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="True" Drop="button1_Drop"  /&gt;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&lt;/Grid&gt;</a:t>
            </a:r>
          </a:p>
          <a:p>
            <a:pPr marL="0" indent="0" fontAlgn="base"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&lt;/Window&gt;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83568" y="116632"/>
            <a:ext cx="7812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/>
              </a:rPr>
              <a:t>перемещение введенного текста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из текстового поля на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кнопку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99992" y="5157192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чтобы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кнопка могла принимать перемещаемые объекты, установим ее свойство 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AllowDrop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="</a:t>
            </a:r>
            <a:r>
              <a:rPr lang="ru-RU" sz="1400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". </a:t>
            </a:r>
            <a:endParaRPr lang="ru-RU" sz="1400" dirty="0" smtClean="0">
              <a:solidFill>
                <a:srgbClr val="000000"/>
              </a:solidFill>
              <a:latin typeface="verdana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Одни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элементы на другие, то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надо </a:t>
            </a:r>
            <a:r>
              <a:rPr lang="ru-RU" sz="1400" dirty="0">
                <a:solidFill>
                  <a:srgbClr val="000000"/>
                </a:solidFill>
                <a:latin typeface="verdana"/>
              </a:rPr>
              <a:t>у элементов-приемников всегда устанавливать данное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свойство</a:t>
            </a:r>
            <a:endParaRPr lang="ru-RU" sz="1400" dirty="0"/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6084168" y="4797152"/>
            <a:ext cx="36004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2290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0871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подключены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два обработчика события, которые мы зададим в коде C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#: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verdana"/>
            </a:endParaRPr>
          </a:p>
          <a:p>
            <a:pPr marL="0" indent="0" fontAlgn="base">
              <a:buNone/>
            </a:pPr>
            <a:r>
              <a:rPr lang="ru-RU" dirty="0" err="1">
                <a:solidFill>
                  <a:srgbClr val="000000"/>
                </a:solidFill>
                <a:latin typeface="Consolas"/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textBox1_MouseDown(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object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sender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MouseButtonEventArgs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DragDrop.DoDragDrop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(textBox1, textBox1.Text,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DragDropEffects.Copy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</a:t>
            </a:r>
          </a:p>
          <a:p>
            <a:pPr marL="0" indent="0" fontAlgn="base">
              <a:buNone/>
            </a:pPr>
            <a:r>
              <a:rPr lang="ru-RU" dirty="0" err="1">
                <a:solidFill>
                  <a:srgbClr val="000000"/>
                </a:solidFill>
                <a:latin typeface="Consolas"/>
              </a:rPr>
              <a:t>private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button1_Drop(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object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sender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DragEventArgs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    button1.Content = 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e.Data.GetData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(</a:t>
            </a:r>
            <a:r>
              <a:rPr lang="ru-RU" dirty="0" err="1">
                <a:solidFill>
                  <a:srgbClr val="000000"/>
                </a:solidFill>
                <a:latin typeface="Consolas"/>
              </a:rPr>
              <a:t>DataFormats.Text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 fontAlgn="base">
              <a:buNone/>
            </a:pPr>
            <a:r>
              <a:rPr lang="ru-RU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 fontAlgn="base">
              <a:buNone/>
            </a:pPr>
            <a:endParaRPr lang="ru-RU" dirty="0">
              <a:solidFill>
                <a:srgbClr val="000000"/>
              </a:solidFill>
              <a:latin typeface="Consolas"/>
            </a:endParaRP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Чтобы захватить элемент для переноса,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надо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вызвать метод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DragDrop.DoDragDrop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который в качестве первого параметра принимает элемент-источник, с которого идет перетаскивание, второй параметр - что перетаскиваем (в данном случае текст), и третий параметр - тип эффекта. </a:t>
            </a:r>
            <a:endParaRPr lang="ru-RU" dirty="0" smtClean="0">
              <a:solidFill>
                <a:srgbClr val="000000"/>
              </a:solidFill>
              <a:latin typeface="verdana"/>
            </a:endParaRPr>
          </a:p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Также можно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использовать и другие константы: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Move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None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Link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Scroll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, </a:t>
            </a:r>
            <a:r>
              <a:rPr lang="ru-RU" dirty="0" err="1">
                <a:solidFill>
                  <a:srgbClr val="000000"/>
                </a:solidFill>
                <a:latin typeface="verdana"/>
              </a:rPr>
              <a:t>All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Введем текст в текстовое поле, выделим его, нажмем правой кнопкой и, не отпуская, переместим курсор в пределы кнопки. И отпустим. Здесь уже возникнет событие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Drop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кнопки, обработчик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которого: присваиваем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ее содержимому данные перетаскивания. </a:t>
            </a:r>
            <a:r>
              <a:rPr lang="ru-RU" dirty="0" err="1" smtClean="0">
                <a:solidFill>
                  <a:srgbClr val="000000"/>
                </a:solidFill>
                <a:latin typeface="verdana"/>
              </a:rPr>
              <a:t>Т.к.перетаскиваем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текст, то в качестве параметра выставляем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DataFormats.Text</a:t>
            </a:r>
            <a:endParaRPr lang="ru-RU" dirty="0">
              <a:solidFill>
                <a:srgbClr val="000000"/>
              </a:solidFill>
              <a:latin typeface="verdana"/>
            </a:endParaRP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660232" y="1844824"/>
            <a:ext cx="24837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verdana"/>
              </a:rPr>
              <a:t>Т. к. в данном случае </a:t>
            </a:r>
            <a:r>
              <a:rPr lang="ru-RU" sz="1400" dirty="0" smtClean="0">
                <a:solidFill>
                  <a:srgbClr val="000000"/>
                </a:solidFill>
                <a:latin typeface="verdana"/>
              </a:rPr>
              <a:t>копирование </a:t>
            </a:r>
            <a:endParaRPr lang="ru-RU" sz="1400" dirty="0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6876256" y="1412776"/>
            <a:ext cx="36004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>
            <a:off x="8244408" y="2368044"/>
            <a:ext cx="72008" cy="1493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V="1">
            <a:off x="2771800" y="2492896"/>
            <a:ext cx="432048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8132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События получения/потери фокуса</a:t>
            </a:r>
            <a:br>
              <a:rPr lang="ru-RU" sz="3200" b="1" dirty="0">
                <a:solidFill>
                  <a:srgbClr val="000000"/>
                </a:solidFill>
                <a:latin typeface="verdana"/>
              </a:rPr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При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обработке событий фокуса следует помнить, что элемент может получать фокус только в том случае, если его свойство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Focusable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 имеет значение 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true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dirty="0">
                <a:solidFill>
                  <a:srgbClr val="000000"/>
                </a:solidFill>
                <a:latin typeface="verdana"/>
              </a:rPr>
              <a:t>Чтобы программным способом передать элементу фокус, надо вызвать у него методы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Focus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 или </a:t>
            </a:r>
            <a:r>
              <a:rPr lang="ru-RU" b="1" dirty="0" err="1">
                <a:solidFill>
                  <a:srgbClr val="000000"/>
                </a:solidFill>
                <a:latin typeface="verdana"/>
              </a:rPr>
              <a:t>MoveFocus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marL="0" indent="0" fontAlgn="base">
              <a:spcAft>
                <a:spcPts val="6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textBox1.Focus();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6506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latin typeface="verdana"/>
              </a:rPr>
              <a:t>События получения/потери фокуса</a:t>
            </a:r>
            <a:endParaRPr lang="ru-RU" sz="3200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27601775"/>
              </p:ext>
            </p:extLst>
          </p:nvPr>
        </p:nvGraphicFramePr>
        <p:xfrm>
          <a:off x="457200" y="1600200"/>
          <a:ext cx="8229600" cy="336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75656"/>
                <a:gridCol w="3610744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Событие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Тип события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Описание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GotFocus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Возникает при получении фокуса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LostFocus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Возникает при потере фокуса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 err="1">
                          <a:effectLst/>
                        </a:rPr>
                        <a:t>GotKeyboardFocus</a:t>
                      </a:r>
                      <a:endParaRPr lang="en-GB" dirty="0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Возникает при получении фокуса с помощью клавиатуры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PreviewGotKeyboardFocus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Туннельное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Возникает при получении фокуса с помощью клавиатуры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LostKeyboardFocus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Поднимающееся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Возникает при потере фокуса с помощью клавиатуры</a:t>
                      </a:r>
                    </a:p>
                  </a:txBody>
                  <a:tcPr marL="7620" marR="7620" marT="7620" marB="76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b="1">
                          <a:effectLst/>
                        </a:rPr>
                        <a:t>PreviewLostKeyboardFocus</a:t>
                      </a:r>
                      <a:endParaRPr lang="en-GB">
                        <a:effectLst/>
                      </a:endParaRP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Туннельное</a:t>
                      </a:r>
                    </a:p>
                  </a:txBody>
                  <a:tcPr marL="7620" marR="7620" marT="7620" marB="762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Возникает при потере фокуса с помощью клавиатуры</a:t>
                      </a:r>
                    </a:p>
                  </a:txBody>
                  <a:tcPr marL="7620" marR="7620" marT="7620" marB="76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3856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Обработка события 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получения фокуса для текстового поля:</a:t>
            </a:r>
          </a:p>
          <a:p>
            <a:pPr marL="0" indent="0" fontAlgn="base">
              <a:spcAft>
                <a:spcPts val="12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GotFocus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="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TextBox_GotFocus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"  /&gt;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verdana"/>
              </a:rPr>
              <a:t>В файле кода </a:t>
            </a:r>
            <a:r>
              <a:rPr lang="ru-RU" dirty="0" smtClean="0">
                <a:solidFill>
                  <a:srgbClr val="000000"/>
                </a:solidFill>
                <a:latin typeface="verdana"/>
              </a:rPr>
              <a:t>обработчик</a:t>
            </a:r>
            <a:r>
              <a:rPr lang="ru-RU" dirty="0">
                <a:solidFill>
                  <a:srgbClr val="000000"/>
                </a:solidFill>
                <a:latin typeface="verdana"/>
              </a:rPr>
              <a:t>:</a:t>
            </a:r>
          </a:p>
          <a:p>
            <a:pPr marL="0" indent="0" fontAlgn="base">
              <a:spcAft>
                <a:spcPts val="12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private void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TextBox_GotFocus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(object sender, 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RoutedEventArgs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 e)</a:t>
            </a:r>
          </a:p>
          <a:p>
            <a:pPr marL="0" indent="0" fontAlgn="base">
              <a:spcAft>
                <a:spcPts val="12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 fontAlgn="base">
              <a:spcAft>
                <a:spcPts val="12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GB" dirty="0" err="1">
                <a:solidFill>
                  <a:srgbClr val="000000"/>
                </a:solidFill>
                <a:latin typeface="Consolas"/>
              </a:rPr>
              <a:t>MessageBox.Show</a:t>
            </a:r>
            <a:r>
              <a:rPr lang="en-GB" dirty="0">
                <a:solidFill>
                  <a:srgbClr val="000000"/>
                </a:solidFill>
                <a:latin typeface="Consolas"/>
              </a:rPr>
              <a:t>("</a:t>
            </a:r>
            <a:r>
              <a:rPr lang="ru-RU" dirty="0">
                <a:solidFill>
                  <a:srgbClr val="000000"/>
                </a:solidFill>
                <a:latin typeface="Consolas"/>
              </a:rPr>
              <a:t>Получение фокуса");</a:t>
            </a:r>
          </a:p>
          <a:p>
            <a:pPr marL="0" indent="0" fontAlgn="base">
              <a:spcAft>
                <a:spcPts val="1200"/>
              </a:spcAft>
              <a:buNone/>
            </a:pPr>
            <a:r>
              <a:rPr lang="ru-RU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2838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973</Words>
  <Application>Microsoft Office PowerPoint</Application>
  <PresentationFormat>Экран (4:3)</PresentationFormat>
  <Paragraphs>454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Тема Office</vt:lpstr>
      <vt:lpstr>Модель событий</vt:lpstr>
      <vt:lpstr>Маршрутизация событий </vt:lpstr>
      <vt:lpstr>Подключение обработчиков событий</vt:lpstr>
      <vt:lpstr>Определение маршрутизированных событий</vt:lpstr>
      <vt:lpstr>Маршрутизация событий</vt:lpstr>
      <vt:lpstr>Поднимающиеся события</vt:lpstr>
      <vt:lpstr>Слайд 7</vt:lpstr>
      <vt:lpstr>Туннельные события</vt:lpstr>
      <vt:lpstr>Прикрепляемые события (Attached events)</vt:lpstr>
      <vt:lpstr>События клавиатуры </vt:lpstr>
      <vt:lpstr>Слайд 11</vt:lpstr>
      <vt:lpstr>событие KeyDown для текстового поля и вывод данных о нажатой клавише в текстовый блок: </vt:lpstr>
      <vt:lpstr>Слайд 13</vt:lpstr>
      <vt:lpstr>Слайд 14</vt:lpstr>
      <vt:lpstr>Валидация текстового ввода</vt:lpstr>
      <vt:lpstr>События мыши и фокуса</vt:lpstr>
      <vt:lpstr>Слайд 17</vt:lpstr>
      <vt:lpstr>Слайд 18</vt:lpstr>
      <vt:lpstr>Слайд 19</vt:lpstr>
      <vt:lpstr>События перетаскивания </vt:lpstr>
      <vt:lpstr>События перетаскивания </vt:lpstr>
      <vt:lpstr>События перетаскивания</vt:lpstr>
      <vt:lpstr>Слайд 23</vt:lpstr>
      <vt:lpstr>Слайд 24</vt:lpstr>
      <vt:lpstr>События получения/потери фокуса </vt:lpstr>
      <vt:lpstr>События получения/потери фокуса</vt:lpstr>
      <vt:lpstr>Слайд 27</vt:lpstr>
    </vt:vector>
  </TitlesOfParts>
  <Company>iit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событий</dc:title>
  <dc:creator>spfuser</dc:creator>
  <cp:lastModifiedBy>spfuser</cp:lastModifiedBy>
  <cp:revision>19</cp:revision>
  <dcterms:created xsi:type="dcterms:W3CDTF">2016-12-08T18:16:12Z</dcterms:created>
  <dcterms:modified xsi:type="dcterms:W3CDTF">2016-12-19T17:57:56Z</dcterms:modified>
</cp:coreProperties>
</file>